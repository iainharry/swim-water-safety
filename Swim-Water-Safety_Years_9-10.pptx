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62000"/>
            <a:ext cx="734733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 9–10 HPE · VICTORIAN CURRICULUM 2.0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4163526" y="762000"/>
            <a:ext cx="33063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LESSONS × 50 MIN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877294"/>
            <a:ext cx="147161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ADVANCED UNIT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439269"/>
            <a:ext cx="14716125" cy="2701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400" b="1" spc="-39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Water Safety</a:t>
            </a:r>
            <a:endParaRPr lang="en-US" sz="11400" dirty="0"/>
          </a:p>
        </p:txBody>
      </p:sp>
      <p:sp>
        <p:nvSpPr>
          <p:cNvPr id="7" name="Text 5"/>
          <p:cNvSpPr/>
          <p:nvPr/>
        </p:nvSpPr>
        <p:spPr>
          <a:xfrm>
            <a:off x="914400" y="6483995"/>
            <a:ext cx="12753975" cy="9638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70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six-lesson unit on the data, physiology, social determinants and prevention strategies behind Victorian drowning — and how to argue for change.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14400" y="9267825"/>
            <a:ext cx="679624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· RUBRIC · COMMUNITY PROJECT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84195" y="9267825"/>
            <a:ext cx="150286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ASSESSED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15305" y="9267825"/>
            <a:ext cx="459204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VCHPEP143–148 · VCHPEM162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798840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 MAP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7988403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lessons, one question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761001" y="1527721"/>
            <a:ext cx="661259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 · 144 · 147 · 148 · VCHPEM162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127796"/>
            <a:ext cx="1422558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Victoria still drown — despite knowing how to prevent it? Each lesson sharpens one part of the answer.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3489871"/>
            <a:ext cx="5257800" cy="5715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794671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166146"/>
            <a:ext cx="541553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914400" y="4870996"/>
            <a:ext cx="541553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data analysis — Victorian &amp; global drowning trends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5728246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 · VCHPEP144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515100" y="3489871"/>
            <a:ext cx="5257800" cy="5715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2" name="Text 10"/>
          <p:cNvSpPr/>
          <p:nvPr/>
        </p:nvSpPr>
        <p:spPr>
          <a:xfrm>
            <a:off x="6515100" y="3794671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15100" y="4166146"/>
            <a:ext cx="541553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6515100" y="4870996"/>
            <a:ext cx="541553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Physiology of drowning &amp; CPR mechanics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6515100" y="5728246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VCHPEP144 · VCHPEM162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2115800" y="3489871"/>
            <a:ext cx="5257800" cy="5715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7" name="Text 15"/>
          <p:cNvSpPr/>
          <p:nvPr/>
        </p:nvSpPr>
        <p:spPr>
          <a:xfrm>
            <a:off x="12115800" y="3794671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6A1B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115800" y="4166146"/>
            <a:ext cx="541553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6A1B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2115800" y="4870996"/>
            <a:ext cx="541553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determinants of drowning risk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2115800" y="5385346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 · VCHPEP147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6659761"/>
            <a:ext cx="5257800" cy="57150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6964561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4400" y="7336036"/>
            <a:ext cx="541553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914400" y="8040886"/>
            <a:ext cx="541553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Prevention strategies &amp; international comparison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914400" y="8898136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VCHPEP144 · VCHPEP148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515100" y="6659761"/>
            <a:ext cx="5257800" cy="571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27" name="Text 25"/>
          <p:cNvSpPr/>
          <p:nvPr/>
        </p:nvSpPr>
        <p:spPr>
          <a:xfrm>
            <a:off x="6515100" y="6964561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35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515100" y="7336036"/>
            <a:ext cx="541553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0035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4200" dirty="0"/>
          </a:p>
        </p:txBody>
      </p:sp>
      <p:sp>
        <p:nvSpPr>
          <p:cNvPr id="29" name="Text 27"/>
          <p:cNvSpPr/>
          <p:nvPr/>
        </p:nvSpPr>
        <p:spPr>
          <a:xfrm>
            <a:off x="6515100" y="8040886"/>
            <a:ext cx="541553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Diving, spinal injuries &amp; high-risk teenage behaviour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6515100" y="8898136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 · 144 · 147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2115800" y="6659761"/>
            <a:ext cx="5257800" cy="5715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12115800" y="6964561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6 · ASSESSED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2115800" y="7336036"/>
            <a:ext cx="541553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4200" dirty="0"/>
          </a:p>
        </p:txBody>
      </p:sp>
      <p:sp>
        <p:nvSpPr>
          <p:cNvPr id="34" name="Text 32"/>
          <p:cNvSpPr/>
          <p:nvPr/>
        </p:nvSpPr>
        <p:spPr>
          <a:xfrm>
            <a:off x="12115800" y="8040886"/>
            <a:ext cx="541553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task — planning, drafting &amp; peer review</a:t>
            </a:r>
            <a:endParaRPr lang="en-US" sz="2250" dirty="0"/>
          </a:p>
        </p:txBody>
      </p:sp>
      <p:sp>
        <p:nvSpPr>
          <p:cNvPr id="35" name="Text 33"/>
          <p:cNvSpPr/>
          <p:nvPr/>
        </p:nvSpPr>
        <p:spPr>
          <a:xfrm>
            <a:off x="12115800" y="8898136"/>
            <a:ext cx="54155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VCHPEP147 · VCHPEP148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PREREQUISITE · BUILT ON YEAR 7–8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4716125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know the rules. Now we ask why they aren't enough.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914400" y="2912566"/>
            <a:ext cx="808405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 7–8 · YOU CAN ALREADY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3322141"/>
            <a:ext cx="78486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6" name="Text 4"/>
          <p:cNvSpPr/>
          <p:nvPr/>
        </p:nvSpPr>
        <p:spPr>
          <a:xfrm>
            <a:off x="956310" y="3579316"/>
            <a:ext cx="7882890" cy="21045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55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six Australian beach flags</a:t>
            </a:r>
            <a:endParaRPr lang="en-US" sz="2100" dirty="0"/>
          </a:p>
          <a:p>
            <a:pPr algn="l" marL="186690" indent="-186690">
              <a:lnSpc>
                <a:spcPct val="155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the five rip-current survival steps</a:t>
            </a:r>
            <a:endParaRPr lang="en-US" sz="2100" dirty="0"/>
          </a:p>
          <a:p>
            <a:pPr algn="l" marL="186690" indent="-186690">
              <a:lnSpc>
                <a:spcPct val="155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DRS ABCD in order</a:t>
            </a:r>
            <a:endParaRPr lang="en-US" sz="2100" dirty="0"/>
          </a:p>
          <a:p>
            <a:pPr algn="l" marL="186690" indent="-186690">
              <a:lnSpc>
                <a:spcPct val="155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five LSV SwimSafe rules</a:t>
            </a:r>
            <a:endParaRPr lang="en-US" sz="2100" dirty="0"/>
          </a:p>
          <a:p>
            <a:pPr algn="l" marL="186690" indent="-186690">
              <a:lnSpc>
                <a:spcPct val="155000"/>
              </a:lnSpc>
              <a:buSzPct val="100000"/>
              <a:buChar char="•"/>
              <a:tabLst>
                <a:tab pos="186690" algn="l"/>
              </a:tabLst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the headline Victorian drowning numbers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525000" y="2912566"/>
            <a:ext cx="808405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 9–10 · WE NOW ASK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525000" y="3322141"/>
            <a:ext cx="7848600" cy="9525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9566910" y="3579316"/>
            <a:ext cx="803529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55000"/>
              </a:lnSpc>
              <a:buSzPct val="100000"/>
              <a:buChar char="•"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you </a:t>
            </a:r>
            <a:pPr algn="l" indent="0" marL="0">
              <a:lnSpc>
                <a:spcPct val="15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</a:t>
            </a:r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drowning rate and read a trend?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566910" y="3992612"/>
            <a:ext cx="8035290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55000"/>
              </a:lnSpc>
              <a:buSzPct val="100000"/>
              <a:buChar char="•"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</a:t>
            </a:r>
            <a:pPr algn="l" indent="0" marL="0">
              <a:lnSpc>
                <a:spcPct val="15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physiologically </a:t>
            </a:r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happens in the four minutes after submersion?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566910" y="4819204"/>
            <a:ext cx="803529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55000"/>
              </a:lnSpc>
              <a:buSzPct val="100000"/>
              <a:buChar char="•"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</a:t>
            </a:r>
            <a:pPr algn="l" indent="0" marL="0">
              <a:lnSpc>
                <a:spcPct val="15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factors </a:t>
            </a:r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who drowns?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566910" y="5232499"/>
            <a:ext cx="8035290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55000"/>
              </a:lnSpc>
              <a:buSzPct val="100000"/>
              <a:buChar char="•"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prevention strategies are </a:t>
            </a:r>
            <a:pPr algn="l" indent="0" marL="0">
              <a:lnSpc>
                <a:spcPct val="15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backed by evidence </a:t>
            </a:r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and which aren't?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566910" y="6059091"/>
            <a:ext cx="803529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6690" indent="-186690">
              <a:lnSpc>
                <a:spcPct val="155000"/>
              </a:lnSpc>
              <a:buSzPct val="100000"/>
              <a:buChar char="•"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</a:t>
            </a:r>
            <a:pPr algn="l" indent="0" marL="0">
              <a:lnSpc>
                <a:spcPct val="15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</a:t>
            </a:r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 to a Minister?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14400" y="9229725"/>
            <a:ext cx="109135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068270" y="9229725"/>
            <a:ext cx="958449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YOU HAVEN'T DONE Y7–8 · ASK FOR THE CATCH-UP SUMMARY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8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1 · 50 MIN · WORKBOOK SECTION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952976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8000" b="1" spc="-720" kern="0" dirty="0">
                <a:solidFill>
                  <a:srgbClr val="FFFFFF">
                    <a:alpha val="9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4886325"/>
            <a:ext cx="14716125" cy="2552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data analysis — Victorian &amp; global drowning trends</a:t>
            </a:r>
            <a:endParaRPr lang="en-US" sz="6600" dirty="0"/>
          </a:p>
        </p:txBody>
      </p:sp>
      <p:sp>
        <p:nvSpPr>
          <p:cNvPr id="6" name="Shape 4"/>
          <p:cNvSpPr/>
          <p:nvPr/>
        </p:nvSpPr>
        <p:spPr>
          <a:xfrm>
            <a:off x="914400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6325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13459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75384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VCHPEP144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912519" y="9058275"/>
            <a:ext cx="5399484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444" y="9144000"/>
            <a:ext cx="523761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CLASSROOM · INDIVIDUAL + PAIRS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UNIT'S BIG QUESTION — RETURN TO IT IN LESSON 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38785"/>
            <a:ext cx="15697200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0000"/>
              </a:lnSpc>
              <a:buNone/>
            </a:pPr>
            <a:r>
              <a:rPr lang="en-US" sz="18000" dirty="0">
                <a:solidFill>
                  <a:srgbClr val="FFD1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4091285"/>
            <a:ext cx="15697200" cy="3095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5100" b="1" spc="-51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Victoria still drown — despite decades of awareness campaigns, training, and warning signs — and what would actually move the numbers?</a:t>
            </a:r>
            <a:endParaRPr lang="en-US" sz="5100" dirty="0"/>
          </a:p>
        </p:txBody>
      </p:sp>
      <p:sp>
        <p:nvSpPr>
          <p:cNvPr id="6" name="Text 4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· OPENER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590931" y="9229725"/>
            <a:ext cx="801614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LSV VICTORIAN DROWNING REPORT 2023–24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VICTORIA · 2023–24 · LIFE SAVING VICTORIA REPORT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worst Victorian drowning year in over a decade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914400" y="3698677"/>
            <a:ext cx="311169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FATAL DROWNINGS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4127302"/>
            <a:ext cx="762000" cy="381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336852"/>
            <a:ext cx="3111694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b="1" spc="-60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914400" y="6413302"/>
            <a:ext cx="3111694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lost in Victorian waters — the highest annual toll in over ten years.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4316462" y="3698677"/>
            <a:ext cx="477614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NON-FATAL DROWNINGS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16462" y="4127302"/>
            <a:ext cx="762000" cy="381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0" name="Text 8"/>
          <p:cNvSpPr/>
          <p:nvPr/>
        </p:nvSpPr>
        <p:spPr>
          <a:xfrm>
            <a:off x="4316462" y="4336852"/>
            <a:ext cx="4776149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b="1" spc="-600" kern="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+60</a:t>
            </a:r>
            <a:pPr algn="l" indent="0" marL="0">
              <a:lnSpc>
                <a:spcPct val="100000"/>
              </a:lnSpc>
              <a:buNone/>
            </a:pPr>
            <a:r>
              <a:rPr lang="en-US" sz="9000" b="1" spc="-600" kern="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5000" dirty="0"/>
          </a:p>
        </p:txBody>
      </p:sp>
      <p:sp>
        <p:nvSpPr>
          <p:cNvPr id="11" name="Text 9"/>
          <p:cNvSpPr/>
          <p:nvPr/>
        </p:nvSpPr>
        <p:spPr>
          <a:xfrm>
            <a:off x="4316462" y="6413302"/>
            <a:ext cx="4776149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the 10-year average. The near-misses tell us the system is under more strain than the death toll alone shows.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334500" y="3698677"/>
            <a:ext cx="477614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CALD COMMUNITIES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34500" y="4127302"/>
            <a:ext cx="762000" cy="3810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4" name="Text 12"/>
          <p:cNvSpPr/>
          <p:nvPr/>
        </p:nvSpPr>
        <p:spPr>
          <a:xfrm>
            <a:off x="9334500" y="4336852"/>
            <a:ext cx="4776149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b="1" spc="-600" kern="0" dirty="0">
                <a:solidFill>
                  <a:srgbClr val="6A1B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</a:t>
            </a:r>
            <a:pPr algn="l" indent="0" marL="0">
              <a:lnSpc>
                <a:spcPct val="100000"/>
              </a:lnSpc>
              <a:buNone/>
            </a:pPr>
            <a:r>
              <a:rPr lang="en-US" sz="9000" b="1" spc="-600" kern="0" dirty="0">
                <a:solidFill>
                  <a:srgbClr val="6A1B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5000" dirty="0"/>
          </a:p>
        </p:txBody>
      </p:sp>
      <p:sp>
        <p:nvSpPr>
          <p:cNvPr id="15" name="Text 13"/>
          <p:cNvSpPr/>
          <p:nvPr/>
        </p:nvSpPr>
        <p:spPr>
          <a:xfrm>
            <a:off x="9334500" y="6413302"/>
            <a:ext cx="4776149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all deaths — the highest proportion ever recorded in Victoria.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4352538" y="3698677"/>
            <a:ext cx="3111694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PATROLLED SITES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4352538" y="4384477"/>
            <a:ext cx="762000" cy="38100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8" name="Text 16"/>
          <p:cNvSpPr/>
          <p:nvPr/>
        </p:nvSpPr>
        <p:spPr>
          <a:xfrm>
            <a:off x="14352538" y="4594027"/>
            <a:ext cx="3111694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b="1" spc="-600" kern="0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5000" dirty="0"/>
          </a:p>
        </p:txBody>
      </p:sp>
      <p:sp>
        <p:nvSpPr>
          <p:cNvPr id="19" name="Text 17"/>
          <p:cNvSpPr/>
          <p:nvPr/>
        </p:nvSpPr>
        <p:spPr>
          <a:xfrm>
            <a:off x="14352538" y="6670477"/>
            <a:ext cx="3111694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of the 54 deaths occurred between the flags at a patrolled location.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14400" y="9229725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· DATA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636252" y="9229725"/>
            <a:ext cx="487946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LSV.COM.AU/RESEARCH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HIGHEST PROPORTION EVER RECORDED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269010"/>
            <a:ext cx="8084058" cy="3787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6000" b="1" spc="-14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pPr algn="l" indent="0" marL="0">
              <a:lnSpc>
                <a:spcPct val="82000"/>
              </a:lnSpc>
              <a:buNone/>
            </a:pPr>
            <a:r>
              <a:rPr lang="en-US" sz="18000" b="1" spc="-14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36000" dirty="0"/>
          </a:p>
        </p:txBody>
      </p:sp>
      <p:sp>
        <p:nvSpPr>
          <p:cNvPr id="5" name="Text 3"/>
          <p:cNvSpPr/>
          <p:nvPr/>
        </p:nvSpPr>
        <p:spPr>
          <a:xfrm>
            <a:off x="9525000" y="3403848"/>
            <a:ext cx="8084058" cy="24811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Victorian drowning deaths in 2023–24 were people from </a:t>
            </a:r>
            <a:pPr algn="l" indent="0" marL="0">
              <a:lnSpc>
                <a:spcPct val="135000"/>
              </a:lnSpc>
              <a:buNone/>
            </a:pPr>
            <a:r>
              <a:rPr lang="en-US" sz="2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Culturally &amp; Linguistically Diverse </a:t>
            </a:r>
            <a:pPr algn="l" indent="0" marL="0">
              <a:lnSpc>
                <a:spcPct val="135000"/>
              </a:lnSpc>
              <a:buNone/>
            </a:pPr>
            <a:r>
              <a:rPr lang="en-US" sz="2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communities — despite CALD Victorians making up roughly half that share of the state's population.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525000" y="6189762"/>
            <a:ext cx="8084058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</a:t>
            </a:r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over-representation</a:t>
            </a:r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Lesson 3 will ask </a:t>
            </a:r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</a:t>
            </a:r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and what a school can do about it.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9229725"/>
            <a:ext cx="41822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· OVER-REPRESENTATION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90931" y="9229725"/>
            <a:ext cx="801614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LSV VICTORIAN DROWNING REPORT 2023–24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ACTIVITY 1.1A · CALCULATE THE RATE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Victoria · Australia · the world — per 100,000 people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444776"/>
            <a:ext cx="5232350" cy="303549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6470749"/>
            <a:ext cx="523235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444776"/>
            <a:ext cx="5232350" cy="5715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444776"/>
            <a:ext cx="9525" cy="3035498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8" name="Shape 6"/>
          <p:cNvSpPr/>
          <p:nvPr/>
        </p:nvSpPr>
        <p:spPr>
          <a:xfrm>
            <a:off x="6137225" y="3444776"/>
            <a:ext cx="9525" cy="3035498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9" name="Text 7"/>
          <p:cNvSpPr/>
          <p:nvPr/>
        </p:nvSpPr>
        <p:spPr>
          <a:xfrm>
            <a:off x="1266825" y="3844826"/>
            <a:ext cx="46633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VICTORIA · 2023–24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66825" y="4273451"/>
            <a:ext cx="46633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4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 ÷ 6,900,000 × 100,000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66825" y="4683026"/>
            <a:ext cx="4663325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0" b="1" spc="-225" kern="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0.78</a:t>
            </a:r>
            <a:endParaRPr lang="en-US" sz="7500" dirty="0"/>
          </a:p>
        </p:txBody>
      </p:sp>
      <p:sp>
        <p:nvSpPr>
          <p:cNvPr id="12" name="Text 10"/>
          <p:cNvSpPr/>
          <p:nvPr/>
        </p:nvSpPr>
        <p:spPr>
          <a:xfrm>
            <a:off x="1266825" y="5768876"/>
            <a:ext cx="466332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100,000 people · LSV 2023–24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6527750" y="3444776"/>
            <a:ext cx="5232350" cy="3035498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80175" y="3797201"/>
            <a:ext cx="46633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 · ANNUAL AVG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80175" y="4225826"/>
            <a:ext cx="46633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4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RLSSA national data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880175" y="4635401"/>
            <a:ext cx="4663325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0" b="1" spc="-225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7500" dirty="0"/>
          </a:p>
        </p:txBody>
      </p:sp>
      <p:sp>
        <p:nvSpPr>
          <p:cNvPr id="17" name="Text 15"/>
          <p:cNvSpPr/>
          <p:nvPr/>
        </p:nvSpPr>
        <p:spPr>
          <a:xfrm>
            <a:off x="6880175" y="5721251"/>
            <a:ext cx="466332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100,000 people · RLSSA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2141101" y="3444776"/>
            <a:ext cx="5232350" cy="3035498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493526" y="3797201"/>
            <a:ext cx="46633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· HIGH-INCOME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493526" y="4225826"/>
            <a:ext cx="46633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4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benchmark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2493526" y="4635401"/>
            <a:ext cx="4663325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0" b="1" spc="-225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~0.8</a:t>
            </a:r>
            <a:endParaRPr lang="en-US" sz="7500" dirty="0"/>
          </a:p>
        </p:txBody>
      </p:sp>
      <p:sp>
        <p:nvSpPr>
          <p:cNvPr id="22" name="Text 20"/>
          <p:cNvSpPr/>
          <p:nvPr/>
        </p:nvSpPr>
        <p:spPr>
          <a:xfrm>
            <a:off x="12493526" y="5721251"/>
            <a:ext cx="466332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100,000 people · WHO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14400" y="7949803"/>
            <a:ext cx="16459200" cy="127992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400" y="7949803"/>
            <a:ext cx="57150" cy="1279922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5" name="Text 23"/>
          <p:cNvSpPr/>
          <p:nvPr/>
        </p:nvSpPr>
        <p:spPr>
          <a:xfrm>
            <a:off x="1314450" y="8216503"/>
            <a:ext cx="16210026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workbook: 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003554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show your working. If Victoria matched the 0.8 high-income benchmark, that's about </a:t>
            </a:r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→ 55 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003554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deaths — but the 60% jump in non-fatal incidents is where the real warning sits. 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(See Activity 1.1c.)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14400" y="9229725"/>
            <a:ext cx="278824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· CALCULATION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128748" y="9229725"/>
            <a:ext cx="540219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LSV · RLSSA · WHO.INT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CONTEXT · WHO 2021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Drowning is one of the world's most unequal causes of death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914400" y="3946475"/>
            <a:ext cx="61378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DEATHS / YEAR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4375100"/>
            <a:ext cx="762000" cy="381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584650"/>
            <a:ext cx="6137850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b="1" spc="-60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~320k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914400" y="6661100"/>
            <a:ext cx="6137850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estimated 320,000 people drown each year worldwide (WHO).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7254478" y="3946475"/>
            <a:ext cx="3461202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LOW &amp; MIDDLE-INCOME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254478" y="4632275"/>
            <a:ext cx="762000" cy="381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0" name="Text 8"/>
          <p:cNvSpPr/>
          <p:nvPr/>
        </p:nvSpPr>
        <p:spPr>
          <a:xfrm>
            <a:off x="7254478" y="4841825"/>
            <a:ext cx="3461202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b="1" spc="-600" kern="0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pPr algn="l" indent="0" marL="0">
              <a:lnSpc>
                <a:spcPct val="100000"/>
              </a:lnSpc>
              <a:buNone/>
            </a:pPr>
            <a:r>
              <a:rPr lang="en-US" sz="8250" b="1" spc="-600" kern="0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5000" dirty="0"/>
          </a:p>
        </p:txBody>
      </p:sp>
      <p:sp>
        <p:nvSpPr>
          <p:cNvPr id="11" name="Text 9"/>
          <p:cNvSpPr/>
          <p:nvPr/>
        </p:nvSpPr>
        <p:spPr>
          <a:xfrm>
            <a:off x="7254478" y="6918275"/>
            <a:ext cx="3461202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global drowning deaths happen in low- and middle-income countries.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995868" y="3946475"/>
            <a:ext cx="467804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· MALE VICTIMS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995868" y="4375100"/>
            <a:ext cx="762000" cy="3810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4" name="Text 12"/>
          <p:cNvSpPr/>
          <p:nvPr/>
        </p:nvSpPr>
        <p:spPr>
          <a:xfrm>
            <a:off x="10995868" y="4584650"/>
            <a:ext cx="4678042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0" b="1" spc="-600" kern="0" dirty="0">
                <a:solidFill>
                  <a:srgbClr val="6A1B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</a:t>
            </a:r>
            <a:pPr algn="l" indent="0" marL="0">
              <a:lnSpc>
                <a:spcPct val="100000"/>
              </a:lnSpc>
              <a:buNone/>
            </a:pPr>
            <a:r>
              <a:rPr lang="en-US" sz="8250" b="1" spc="-600" kern="0" dirty="0">
                <a:solidFill>
                  <a:srgbClr val="6A1B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5000" dirty="0"/>
          </a:p>
        </p:txBody>
      </p:sp>
      <p:sp>
        <p:nvSpPr>
          <p:cNvPr id="15" name="Text 13"/>
          <p:cNvSpPr/>
          <p:nvPr/>
        </p:nvSpPr>
        <p:spPr>
          <a:xfrm>
            <a:off x="10995868" y="6661100"/>
            <a:ext cx="4678042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global drowning deaths are male — a pattern repeated in Victorian data.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5918656" y="3946475"/>
            <a:ext cx="1531144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HIGHEST-RISK AGE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18656" y="4632275"/>
            <a:ext cx="762000" cy="381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6"/>
          <p:cNvSpPr/>
          <p:nvPr/>
        </p:nvSpPr>
        <p:spPr>
          <a:xfrm>
            <a:off x="15918656" y="4841825"/>
            <a:ext cx="1531144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0" b="1" spc="-360" kern="0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&lt;5</a:t>
            </a:r>
            <a:endParaRPr lang="en-US" sz="9000" dirty="0"/>
          </a:p>
        </p:txBody>
      </p:sp>
      <p:sp>
        <p:nvSpPr>
          <p:cNvPr id="19" name="Text 17"/>
          <p:cNvSpPr/>
          <p:nvPr/>
        </p:nvSpPr>
        <p:spPr>
          <a:xfrm>
            <a:off x="15918656" y="6041975"/>
            <a:ext cx="1531144" cy="21919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under five are the highest-risk age group globally.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 · GLOBAL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128748" y="9229725"/>
            <a:ext cx="540219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WHO.INT · RLSSA · CDC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1F2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6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1 · EXIT TICKET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666232"/>
            <a:ext cx="14716125" cy="1820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sentence — what is the single most important data insight from today, and why does it matter?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5791944"/>
            <a:ext cx="137350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Workbook open to Section 1. Notes closed.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not just a number. The most powerful answers will name a number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implies.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TICKET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313122" y="9229725"/>
            <a:ext cx="41822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 IN BEFORE YOU LEAVE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8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2 · 50 MIN · WORKBOOK SECTION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33725"/>
            <a:ext cx="16952976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8000" b="1" spc="-720" kern="0" dirty="0">
                <a:solidFill>
                  <a:srgbClr val="FFFFFF">
                    <a:alpha val="9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5305425"/>
            <a:ext cx="14716125" cy="171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Physiology of drowning &amp; CPR mechanics</a:t>
            </a:r>
            <a:endParaRPr lang="en-US" sz="6600" dirty="0"/>
          </a:p>
        </p:txBody>
      </p:sp>
      <p:sp>
        <p:nvSpPr>
          <p:cNvPr id="6" name="Shape 4"/>
          <p:cNvSpPr/>
          <p:nvPr/>
        </p:nvSpPr>
        <p:spPr>
          <a:xfrm>
            <a:off x="914400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6325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VCHPEP144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13459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75384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VCHPEM162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912519" y="9058275"/>
            <a:ext cx="2015728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444" y="9144000"/>
            <a:ext cx="176807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PHYSIOLOGICAL SEQUENCE · WORKBOOK 2.1A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stages — from submersion to brain damage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4238327"/>
            <a:ext cx="533400" cy="5334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5" name="Text 3"/>
          <p:cNvSpPr/>
          <p:nvPr/>
        </p:nvSpPr>
        <p:spPr>
          <a:xfrm>
            <a:off x="876300" y="4238327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4981277"/>
            <a:ext cx="320213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Submersion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5514677"/>
            <a:ext cx="3202137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 goes under. Voluntary breath-holding begins. The clock starts.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4251871" y="4238327"/>
            <a:ext cx="533400" cy="5334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9" name="Text 7"/>
          <p:cNvSpPr/>
          <p:nvPr/>
        </p:nvSpPr>
        <p:spPr>
          <a:xfrm>
            <a:off x="4213771" y="4238327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251871" y="4981277"/>
            <a:ext cx="320229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Laryngospasm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4251871" y="5514677"/>
            <a:ext cx="320229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Involuntary airway closure. In ~10–15% of cases water is kept </a:t>
            </a:r>
            <a:pPr algn="l" indent="0" marL="0">
              <a:lnSpc>
                <a:spcPct val="145000"/>
              </a:lnSpc>
              <a:buNone/>
            </a:pPr>
            <a:r>
              <a:rPr lang="en-US" sz="1950" i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"dry drowning" — but asphyxia continues.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589490" y="4238327"/>
            <a:ext cx="533400" cy="5334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3" name="Text 11"/>
          <p:cNvSpPr/>
          <p:nvPr/>
        </p:nvSpPr>
        <p:spPr>
          <a:xfrm>
            <a:off x="7551390" y="4238327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589490" y="4981277"/>
            <a:ext cx="320213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Hypoxia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589490" y="5514677"/>
            <a:ext cx="3202137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Oxygen levels drop at the tissue level. The casualty loses consciousness; reflexes fade.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0926961" y="4238327"/>
            <a:ext cx="533400" cy="5334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7" name="Text 15"/>
          <p:cNvSpPr/>
          <p:nvPr/>
        </p:nvSpPr>
        <p:spPr>
          <a:xfrm>
            <a:off x="10888861" y="4238327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926961" y="4981277"/>
            <a:ext cx="320229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Cardiac arrest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0926961" y="5514677"/>
            <a:ext cx="3202290" cy="1832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oxygen the heart fails to pump effectively. Circulation stops; bystander CPR is now the only intervention.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4264580" y="4238327"/>
            <a:ext cx="533400" cy="5334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1" name="Text 19"/>
          <p:cNvSpPr/>
          <p:nvPr/>
        </p:nvSpPr>
        <p:spPr>
          <a:xfrm>
            <a:off x="14226480" y="4238327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4264580" y="4981277"/>
            <a:ext cx="320213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spc="-22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Cerebral hypoxia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14264580" y="5514677"/>
            <a:ext cx="3202137" cy="1832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 cells start dying within 4–6 minutes. After 10 minutes without CPR, survival without major damage is unlikely.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14400" y="9229725"/>
            <a:ext cx="227573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· SEQUENCE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90931" y="9229725"/>
            <a:ext cx="801614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ST JOHN VIC · HEART FOUNDATION · WHO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BYSTANDER CPR WINDOW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753618"/>
            <a:ext cx="8084058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spc="378" kern="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3315593"/>
            <a:ext cx="8084058" cy="425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3025"/>
              </a:lnSpc>
              <a:buNone/>
            </a:pPr>
            <a:r>
              <a:rPr lang="en-US" sz="40000" b="1" spc="-16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0" dirty="0"/>
          </a:p>
        </p:txBody>
      </p:sp>
      <p:sp>
        <p:nvSpPr>
          <p:cNvPr id="6" name="Text 4"/>
          <p:cNvSpPr/>
          <p:nvPr/>
        </p:nvSpPr>
        <p:spPr>
          <a:xfrm>
            <a:off x="9525000" y="3143250"/>
            <a:ext cx="8084058" cy="1609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4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window in which bystander CPR makes the biggest difference between full recovery and lasting brain damage.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525000" y="5057775"/>
            <a:ext cx="8084058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Chest compressions deliver roughly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25–30%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normal cardiac output — enough oxygenated blood to keep the brain alive until the heart can restart.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525000" y="6400800"/>
            <a:ext cx="808405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 at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minutes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 dramatically better outcomes than starting at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14400" y="9229725"/>
            <a:ext cx="331097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· CPR PHYSIOLOGY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267652" y="9229725"/>
            <a:ext cx="731912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HEARTFOUNDATION.ORG.AU · WHO.INT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CPR RHYTHM · BUILT ON Y7–8 DRS ABCD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chest compressions actually do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914400" y="4640461"/>
            <a:ext cx="3444800" cy="2305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1000" b="1" spc="-8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21000" dirty="0"/>
          </a:p>
        </p:txBody>
      </p:sp>
      <p:sp>
        <p:nvSpPr>
          <p:cNvPr id="5" name="Text 3"/>
          <p:cNvSpPr/>
          <p:nvPr/>
        </p:nvSpPr>
        <p:spPr>
          <a:xfrm>
            <a:off x="4525566" y="6583561"/>
            <a:ext cx="261401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spc="315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COMPRESSIONS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330083" y="5935861"/>
            <a:ext cx="743694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0" dirty="0"/>
          </a:p>
        </p:txBody>
      </p:sp>
      <p:sp>
        <p:nvSpPr>
          <p:cNvPr id="7" name="Text 5"/>
          <p:cNvSpPr/>
          <p:nvPr/>
        </p:nvSpPr>
        <p:spPr>
          <a:xfrm>
            <a:off x="8264277" y="4640461"/>
            <a:ext cx="1748433" cy="2305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1000" b="1" spc="-8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0" dirty="0"/>
          </a:p>
        </p:txBody>
      </p:sp>
      <p:sp>
        <p:nvSpPr>
          <p:cNvPr id="8" name="Text 6"/>
          <p:cNvSpPr/>
          <p:nvPr/>
        </p:nvSpPr>
        <p:spPr>
          <a:xfrm>
            <a:off x="10203210" y="6583561"/>
            <a:ext cx="1556593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spc="315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BREATHS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217003" y="3803452"/>
            <a:ext cx="531114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WORKS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2217003" y="4193977"/>
            <a:ext cx="762000" cy="381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1" name="Text 9"/>
          <p:cNvSpPr/>
          <p:nvPr/>
        </p:nvSpPr>
        <p:spPr>
          <a:xfrm>
            <a:off x="12217003" y="4441627"/>
            <a:ext cx="5311141" cy="19713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Compressions create ~ </a:t>
            </a:r>
            <a:pPr algn="l" indent="0" marL="0">
              <a:lnSpc>
                <a:spcPct val="14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25–30% of normal cardiac output </a:t>
            </a:r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That's enough oxygenated blood to keep the brain viable until the heart restarts — spontaneously, or with a defibrillator.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217003" y="6584454"/>
            <a:ext cx="5311141" cy="11980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Rate: </a:t>
            </a:r>
            <a:pPr algn="l" indent="0" marL="0">
              <a:lnSpc>
                <a:spcPct val="14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100–120 beats per minute </a:t>
            </a:r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Don't stop until paramedics take over or the casualty is breathing.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9229725"/>
            <a:ext cx="244494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· MECHANICS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452027" y="9229725"/>
            <a:ext cx="609922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ST JOHN AMBULANCE VICTORIA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PATTERNS EVERY RESPONDER SHOULD KNOW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 · dry · secondary — and the 1-10-1 cold-water rule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989338"/>
            <a:ext cx="3857625" cy="4163616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66825" y="4341763"/>
            <a:ext cx="324735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· WET DROWNING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66825" y="4770388"/>
            <a:ext cx="3247358" cy="834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50" b="1" spc="-29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enters the lungs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266825" y="5738068"/>
            <a:ext cx="3247358" cy="14442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common pattern. Water in the lungs disrupts gas exchange and triggers cardiac arrest.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5114925" y="3989338"/>
            <a:ext cx="3857625" cy="4163616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67350" y="4341763"/>
            <a:ext cx="324735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· DRY DROWNING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67350" y="4770388"/>
            <a:ext cx="3247358" cy="12324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50" b="1" spc="-29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Laryngospasm seals the airway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5467350" y="6136184"/>
            <a:ext cx="3247358" cy="14442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~10–15% of cases, water never reaches the lungs — but the casualty still dies of asphyxia.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315450" y="3989338"/>
            <a:ext cx="3857625" cy="4163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315450" y="8143429"/>
            <a:ext cx="3857625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989338"/>
            <a:ext cx="3857625" cy="5715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5" name="Shape 13"/>
          <p:cNvSpPr/>
          <p:nvPr/>
        </p:nvSpPr>
        <p:spPr>
          <a:xfrm>
            <a:off x="9315450" y="3989338"/>
            <a:ext cx="9525" cy="4163616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6" name="Shape 14"/>
          <p:cNvSpPr/>
          <p:nvPr/>
        </p:nvSpPr>
        <p:spPr>
          <a:xfrm>
            <a:off x="13163550" y="3989338"/>
            <a:ext cx="9525" cy="4163616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7" name="Text 15"/>
          <p:cNvSpPr/>
          <p:nvPr/>
        </p:nvSpPr>
        <p:spPr>
          <a:xfrm>
            <a:off x="9667875" y="4389388"/>
            <a:ext cx="3247358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· SECONDARY DROWNING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667875" y="5075188"/>
            <a:ext cx="3247358" cy="834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50" b="1" spc="-29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Symptoms hours later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9667875" y="6042868"/>
            <a:ext cx="3247358" cy="179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seek medical review </a:t>
            </a:r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any submersion — coughing, fatigue or chest pain can appear hours after the event.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3515975" y="3989338"/>
            <a:ext cx="3857625" cy="4163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13515975" y="8143429"/>
            <a:ext cx="3857625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2" name="Shape 20"/>
          <p:cNvSpPr/>
          <p:nvPr/>
        </p:nvSpPr>
        <p:spPr>
          <a:xfrm>
            <a:off x="13515975" y="3989338"/>
            <a:ext cx="3857625" cy="5715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Shape 21"/>
          <p:cNvSpPr/>
          <p:nvPr/>
        </p:nvSpPr>
        <p:spPr>
          <a:xfrm>
            <a:off x="13515975" y="3989338"/>
            <a:ext cx="9525" cy="4163616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4" name="Shape 22"/>
          <p:cNvSpPr/>
          <p:nvPr/>
        </p:nvSpPr>
        <p:spPr>
          <a:xfrm>
            <a:off x="17364075" y="3989338"/>
            <a:ext cx="9525" cy="4163616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5" name="Text 23"/>
          <p:cNvSpPr/>
          <p:nvPr/>
        </p:nvSpPr>
        <p:spPr>
          <a:xfrm>
            <a:off x="13868400" y="4389388"/>
            <a:ext cx="3247358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COLD WATER · 1-10-1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868400" y="5075188"/>
            <a:ext cx="3247358" cy="834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50" b="1" spc="-29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survival windows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3868400" y="6042868"/>
            <a:ext cx="3247358" cy="15013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MIN </a:t>
            </a:r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breathing · </a:t>
            </a:r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 </a:t>
            </a:r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swimming · </a:t>
            </a:r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HR </a:t>
            </a:r>
            <a:pPr algn="l" indent="0" marL="0">
              <a:lnSpc>
                <a:spcPct val="142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hypothermia incapacitates.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14400" y="9229725"/>
            <a:ext cx="227573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 · PATTERNS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2467183" y="9229725"/>
            <a:ext cx="50536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ST JOHN VIC · RLSSA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1F2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6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2 · EXIT TICKET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963442"/>
            <a:ext cx="15697200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the 4-minute window to someone who has never heard of it.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5494883"/>
            <a:ext cx="1373505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language.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medical jargon.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Year 5 student can repeat your explanation back to you, you've nailed it.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TICKET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328130" y="9229725"/>
            <a:ext cx="31368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SECTION 2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8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3 · 50 MIN · WORKBOOK SECTION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33725"/>
            <a:ext cx="16952976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8000" b="1" spc="-720" kern="0" dirty="0">
                <a:solidFill>
                  <a:srgbClr val="FFFFFF">
                    <a:alpha val="9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5305425"/>
            <a:ext cx="14716125" cy="171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determinants of drowning risk</a:t>
            </a:r>
            <a:endParaRPr lang="en-US" sz="6600" dirty="0"/>
          </a:p>
        </p:txBody>
      </p:sp>
      <p:sp>
        <p:nvSpPr>
          <p:cNvPr id="6" name="Shape 4"/>
          <p:cNvSpPr/>
          <p:nvPr/>
        </p:nvSpPr>
        <p:spPr>
          <a:xfrm>
            <a:off x="914400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6325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13459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75384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VCHPEP147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912519" y="9058275"/>
            <a:ext cx="2692598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444" y="9144000"/>
            <a:ext cx="244952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PAIRS · JIGSAW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FRAMING THE QUESTION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"They made a bad choice" isn't the whole story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762970"/>
            <a:ext cx="7924800" cy="402208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04925" y="4153495"/>
            <a:ext cx="735806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 EXPLANATION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304925" y="4563070"/>
            <a:ext cx="762000" cy="381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7" name="Text 5"/>
          <p:cNvSpPr/>
          <p:nvPr/>
        </p:nvSpPr>
        <p:spPr>
          <a:xfrm>
            <a:off x="1304925" y="4753570"/>
            <a:ext cx="7358063" cy="465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850" b="1" spc="-29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behaviour caused the outcome.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304925" y="5390108"/>
            <a:ext cx="7358063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 shouldn't have been swimming after drinking." "They should have read the sign." "Why did she dive in there?"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04925" y="6676579"/>
            <a:ext cx="7358063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— but incomplete. It can't explain a 40% over-representation or an 80% male skew.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448800" y="3762970"/>
            <a:ext cx="7924800" cy="402208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0" y="4143970"/>
            <a:ext cx="737768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78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 EXPLANATION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829800" y="4553545"/>
            <a:ext cx="762000" cy="3810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4744045"/>
            <a:ext cx="7377684" cy="465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850" b="1" spc="-2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shaped who was there, and how.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9829800" y="5380583"/>
            <a:ext cx="7377684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FFFFFF">
                    <a:alpha val="9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lessons. Patrol coverage. Cultural water-fluency. Masculinity norms. Where the unpatrolled rivers are. Who has a backyard pool.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829800" y="6667054"/>
            <a:ext cx="7377684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Schools can change </a:t>
            </a:r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these. That's where prevention starts.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14400" y="9229725"/>
            <a:ext cx="210651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 · FRAMING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267652" y="9229725"/>
            <a:ext cx="731912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WHO SOCIAL DETERMINANTS OF HEALTH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ACTIVITY 3.1 · JIGSAW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factors that shape who drowns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2242096"/>
            <a:ext cx="5308550" cy="336039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66825" y="259452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GENDER NORMS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66825" y="3023146"/>
            <a:ext cx="4741811" cy="18634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025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"Don't back down from a dare." Masculinity expectations are a documented risk factor for young male drowning — and explain part of the 80% male skew.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6489650" y="2242096"/>
            <a:ext cx="5308550" cy="336039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42075" y="259452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CULTURAL BACKGROUND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42075" y="3023146"/>
            <a:ext cx="4741811" cy="18634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025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CALD Victorians may have had fewer opportunities to learn to swim — for reasons of cost, culture, or country-of-origin practice. The drowning data reflects that.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12064901" y="2242096"/>
            <a:ext cx="5308550" cy="336039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17326" y="259452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SOCIOECONOMIC STATUS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417326" y="3023146"/>
            <a:ext cx="4741811" cy="11333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025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Lower-income children are less likely to have learned to swim. Swim lessons aren't free; nor is travel to the coast.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914400" y="5869186"/>
            <a:ext cx="5308550" cy="3360539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6825" y="622161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GEOGRAPHY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66825" y="6650236"/>
            <a:ext cx="4741811" cy="14984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025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 and regional Victorians swim at unpatrolled inland waterways at higher rates than urban residents — because that's the water they have.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6489650" y="5869186"/>
            <a:ext cx="5308550" cy="3360539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42075" y="622161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ALCOHOL EXPOSURE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42075" y="6650236"/>
            <a:ext cx="4741811" cy="14984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025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Alcohol is a factor in ~20–30% of adult drowning deaths in Victoria. The social settings in which drinking-and-water mix are themselves structural.</a:t>
            </a:r>
            <a:endParaRPr lang="en-US" sz="2025" dirty="0"/>
          </a:p>
        </p:txBody>
      </p:sp>
      <p:sp>
        <p:nvSpPr>
          <p:cNvPr id="19" name="Shape 17"/>
          <p:cNvSpPr/>
          <p:nvPr/>
        </p:nvSpPr>
        <p:spPr>
          <a:xfrm>
            <a:off x="12064901" y="5869186"/>
            <a:ext cx="5308550" cy="3360539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417326" y="622161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COMMUNITY CAPACITY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17326" y="6650236"/>
            <a:ext cx="4741811" cy="14984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025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clubs, multilingual programs and trained bystanders aren't distributed evenly. Where they're missing, drowning is more common.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914400" y="9229725"/>
            <a:ext cx="296254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 · DETERMINANTS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974687" y="9229725"/>
            <a:ext cx="453088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LSV · RLSSA · WHO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1EDE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ACTIVITY 3.1B · PAIRS · 12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Victorian secondary school could actually do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2051596"/>
            <a:ext cx="14716125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of 2023–24 deaths were CALD community members. Standard curriculum alone is not closing this gap.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 · propose three specific actions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beyond the standard swim &amp; water safety lessons — that your school could realistically implement.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4929783"/>
            <a:ext cx="5257800" cy="3121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4929783"/>
            <a:ext cx="5257800" cy="5715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5329833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 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5758458"/>
            <a:ext cx="470916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Multilingual beach orientation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257300" y="6272808"/>
            <a:ext cx="470916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start-of-summer assembly delivered with EAL/CALD parent groups. Languages chosen from school enrolment data.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6515100" y="4929783"/>
            <a:ext cx="5257800" cy="3121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6515100" y="4929783"/>
            <a:ext cx="5257800" cy="5715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0" y="5329833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 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0" y="5758458"/>
            <a:ext cx="470916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Subsidised lessons partnership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6858000" y="6272808"/>
            <a:ext cx="4709160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with LSV / your local aquatic centre on subsidised secondary-aged lessons for students who haven't had access.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2115800" y="4929783"/>
            <a:ext cx="5257800" cy="3121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15800" y="4929783"/>
            <a:ext cx="5257800" cy="5715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12458700" y="5329833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 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458700" y="5758458"/>
            <a:ext cx="470916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educator program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2458700" y="6272808"/>
            <a:ext cx="470916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senior students from CALD communities to deliver short safety briefings to their own family and community networks.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14400" y="9229725"/>
            <a:ext cx="278824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 · APPLICATION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790313" y="9229725"/>
            <a:ext cx="575078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 ONLY · GENERATE YOUR OWN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1F2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6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3 · EXIT TICKET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4170611"/>
            <a:ext cx="15697200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ONE social determinant a school can address. ONE it cannot.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5702052"/>
            <a:ext cx="1471612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write a sentence on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that distinction matters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you're planning a real prevention strategy.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TICKET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328130" y="9229725"/>
            <a:ext cx="31368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SECTION 3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8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4 · 50 MIN · WORKBOOK SECTIONS 4–5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33725"/>
            <a:ext cx="16952976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8000" b="1" spc="-720" kern="0" dirty="0">
                <a:solidFill>
                  <a:srgbClr val="FFFFFF">
                    <a:alpha val="9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5305425"/>
            <a:ext cx="14716125" cy="171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Prevention strategies &amp; international comparison</a:t>
            </a:r>
            <a:endParaRPr lang="en-US" sz="6600" dirty="0"/>
          </a:p>
        </p:txBody>
      </p:sp>
      <p:sp>
        <p:nvSpPr>
          <p:cNvPr id="6" name="Shape 4"/>
          <p:cNvSpPr/>
          <p:nvPr/>
        </p:nvSpPr>
        <p:spPr>
          <a:xfrm>
            <a:off x="914400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6325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VCHPEP144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13459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75384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VCHPEP148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912519" y="9058275"/>
            <a:ext cx="3876824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444" y="9144000"/>
            <a:ext cx="366927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 + RESEARCH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STRONGEST SINGLE INTERVENTION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269010"/>
            <a:ext cx="8084058" cy="3787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6000" b="1" spc="-14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pPr algn="l" indent="0" marL="0">
              <a:lnSpc>
                <a:spcPct val="82000"/>
              </a:lnSpc>
              <a:buNone/>
            </a:pPr>
            <a:r>
              <a:rPr lang="en-US" sz="18000" b="1" spc="-14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36000" dirty="0"/>
          </a:p>
        </p:txBody>
      </p:sp>
      <p:sp>
        <p:nvSpPr>
          <p:cNvPr id="5" name="Text 3"/>
          <p:cNvSpPr/>
          <p:nvPr/>
        </p:nvSpPr>
        <p:spPr>
          <a:xfrm>
            <a:off x="9525000" y="3312468"/>
            <a:ext cx="8084058" cy="1609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300" b="1" spc="-4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 in child drowning in home pools attributable to four-sided isolation pool fencing.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525000" y="5226993"/>
            <a:ext cx="8084058" cy="11980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strongest evidence base of any single drowning-prevention intervention. </a:t>
            </a:r>
            <a:pPr algn="l" indent="0" marL="0">
              <a:lnSpc>
                <a:spcPct val="145000"/>
              </a:lnSpc>
              <a:buNone/>
            </a:pPr>
            <a:r>
              <a:rPr lang="en-US" sz="2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&gt; education </a:t>
            </a:r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engineering is right.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525000" y="6615559"/>
            <a:ext cx="8084058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this number when we compare strategies on the next slides.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400" y="9229725"/>
            <a:ext cx="227573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L4 · EVIDENCE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944523" y="9229725"/>
            <a:ext cx="66219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WHO DROWNING PREVENTION GUIDE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SECTION 4 · CATEGORIES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categories of prevention — not all created equal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2242096"/>
            <a:ext cx="5308550" cy="336039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66825" y="259452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· ENGINEERING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66825" y="3023146"/>
            <a:ext cx="474181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fencing, design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66825" y="3499396"/>
            <a:ext cx="4741811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4-sided isolation fencing reduces home-pool drowning by ~83%. Strongest evidence of any single intervention.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489650" y="2242096"/>
            <a:ext cx="5308550" cy="336039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42075" y="259452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· SUPERVISION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42075" y="3023146"/>
            <a:ext cx="474181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Lifeguards &amp; patrols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6842075" y="3499396"/>
            <a:ext cx="4741811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54 Victorian 2023–24 drowning deaths were at unpatrolled locations. Where patrols are, deaths aren't.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2064901" y="2242096"/>
            <a:ext cx="5308550" cy="3360390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417326" y="259452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· EDUCATION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417326" y="3023146"/>
            <a:ext cx="474181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Swim lessons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417326" y="3499396"/>
            <a:ext cx="4741811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evidence for child drowning. For adults, education works best </a:t>
            </a:r>
            <a:pPr algn="l" indent="0" marL="0">
              <a:lnSpc>
                <a:spcPct val="145000"/>
              </a:lnSpc>
              <a:buNone/>
            </a:pPr>
            <a:r>
              <a:rPr lang="en-US" sz="1950" i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behaviour change.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5869186"/>
            <a:ext cx="5308550" cy="3360539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66825" y="622161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· LEGISLATION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66825" y="6650236"/>
            <a:ext cx="474181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Laws &amp; standards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66825" y="7126486"/>
            <a:ext cx="4741811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Pool-fencing laws, lifejacket requirements, alcohol restrictions near water. Effective when enforced.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6489650" y="5869186"/>
            <a:ext cx="5308550" cy="3360539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42075" y="622161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· TECHNOLOGY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42075" y="6650236"/>
            <a:ext cx="474181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AEDs, detection, CCTV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842075" y="7126486"/>
            <a:ext cx="4741811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Defibrillators at aquatic facilities, drowning-detection systems, throw-rescue equipment at public sites.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2064901" y="5869186"/>
            <a:ext cx="5308550" cy="3360539"/>
          </a:xfrm>
          <a:prstGeom prst="rect">
            <a:avLst/>
          </a:prstGeom>
          <a:solidFill>
            <a:srgbClr val="FFFFFF"/>
          </a:solidFill>
          <a:ln w="9525">
            <a:solidFill>
              <a:srgbClr val="D4DC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417326" y="6221611"/>
            <a:ext cx="474181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· COMMUNITY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417326" y="6650236"/>
            <a:ext cx="474181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&amp; campaigns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2417326" y="7126486"/>
            <a:ext cx="4741811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SwimSafe, Swim &amp; Survive, targeted CALD programs. Strength depends on uptake within high-risk groups.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14400" y="9229725"/>
            <a:ext cx="261401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L4 · CATEGORIES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1452027" y="9229725"/>
            <a:ext cx="609922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WHO · LSV TOOLKIT · RLSSA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ACTIVITY 4.1 · EVALUATE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strategies, ranked against the evidence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199805"/>
            <a:ext cx="5266879" cy="190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729359"/>
            <a:ext cx="5120085" cy="337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181279" y="3199805"/>
            <a:ext cx="2962573" cy="190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7" name="Text 5"/>
          <p:cNvSpPr/>
          <p:nvPr/>
        </p:nvSpPr>
        <p:spPr>
          <a:xfrm>
            <a:off x="6333679" y="2729359"/>
            <a:ext cx="2746650" cy="337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3851" y="3199805"/>
            <a:ext cx="4114800" cy="190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9" name="Text 7"/>
          <p:cNvSpPr/>
          <p:nvPr/>
        </p:nvSpPr>
        <p:spPr>
          <a:xfrm>
            <a:off x="9296251" y="2729359"/>
            <a:ext cx="3933444" cy="337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 TARGET GROUP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58651" y="3199805"/>
            <a:ext cx="4114949" cy="190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1" name="Text 9"/>
          <p:cNvSpPr/>
          <p:nvPr/>
        </p:nvSpPr>
        <p:spPr>
          <a:xfrm>
            <a:off x="13411051" y="2729359"/>
            <a:ext cx="3933597" cy="337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LIMITATION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4183559"/>
            <a:ext cx="526687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3" name="Text 11"/>
          <p:cNvSpPr/>
          <p:nvPr/>
        </p:nvSpPr>
        <p:spPr>
          <a:xfrm>
            <a:off x="1066800" y="3390305"/>
            <a:ext cx="5120085" cy="659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fencing (4-sided)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181279" y="4183559"/>
            <a:ext cx="2962573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5" name="Text 13"/>
          <p:cNvSpPr/>
          <p:nvPr/>
        </p:nvSpPr>
        <p:spPr>
          <a:xfrm>
            <a:off x="6333679" y="3390305"/>
            <a:ext cx="2746650" cy="659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3851" y="4183559"/>
            <a:ext cx="41148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7" name="Text 15"/>
          <p:cNvSpPr/>
          <p:nvPr/>
        </p:nvSpPr>
        <p:spPr>
          <a:xfrm>
            <a:off x="9296251" y="3390305"/>
            <a:ext cx="3933444" cy="659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under 5 in home pools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3258651" y="4183559"/>
            <a:ext cx="411494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9" name="Text 17"/>
          <p:cNvSpPr/>
          <p:nvPr/>
        </p:nvSpPr>
        <p:spPr>
          <a:xfrm>
            <a:off x="13411051" y="3390305"/>
            <a:ext cx="3933597" cy="659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addresses backyard-pool drowning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4400" y="5153025"/>
            <a:ext cx="526687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1" name="Text 19"/>
          <p:cNvSpPr/>
          <p:nvPr/>
        </p:nvSpPr>
        <p:spPr>
          <a:xfrm>
            <a:off x="1066800" y="4364534"/>
            <a:ext cx="5120085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primary-school swim lessons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181279" y="5153025"/>
            <a:ext cx="2962573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3" name="Text 21"/>
          <p:cNvSpPr/>
          <p:nvPr/>
        </p:nvSpPr>
        <p:spPr>
          <a:xfrm>
            <a:off x="6333679" y="4364534"/>
            <a:ext cx="274665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143851" y="5153025"/>
            <a:ext cx="41148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5" name="Text 23"/>
          <p:cNvSpPr/>
          <p:nvPr/>
        </p:nvSpPr>
        <p:spPr>
          <a:xfrm>
            <a:off x="9296251" y="4364534"/>
            <a:ext cx="3933444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gaining first swim competence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3258651" y="5153025"/>
            <a:ext cx="411494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7" name="Text 25"/>
          <p:cNvSpPr/>
          <p:nvPr/>
        </p:nvSpPr>
        <p:spPr>
          <a:xfrm>
            <a:off x="13411051" y="4364534"/>
            <a:ext cx="3933597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Doesn't reach those who miss school programs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4400" y="5813971"/>
            <a:ext cx="526687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29" name="Text 27"/>
          <p:cNvSpPr/>
          <p:nvPr/>
        </p:nvSpPr>
        <p:spPr>
          <a:xfrm>
            <a:off x="1066800" y="5334000"/>
            <a:ext cx="512008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Extending patrol coverage to 7 days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181279" y="5813971"/>
            <a:ext cx="2962573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31" name="Text 29"/>
          <p:cNvSpPr/>
          <p:nvPr/>
        </p:nvSpPr>
        <p:spPr>
          <a:xfrm>
            <a:off x="6333679" y="5334000"/>
            <a:ext cx="2746650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MODERATE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143851" y="5813971"/>
            <a:ext cx="41148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33" name="Text 31"/>
          <p:cNvSpPr/>
          <p:nvPr/>
        </p:nvSpPr>
        <p:spPr>
          <a:xfrm>
            <a:off x="9296251" y="5334000"/>
            <a:ext cx="3933444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Beach-goers in patrolled zones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3258651" y="5813971"/>
            <a:ext cx="411494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35" name="Text 33"/>
          <p:cNvSpPr/>
          <p:nvPr/>
        </p:nvSpPr>
        <p:spPr>
          <a:xfrm>
            <a:off x="13411051" y="5334000"/>
            <a:ext cx="3933597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Doesn't reach inland waterways at all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914400" y="6783437"/>
            <a:ext cx="526687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37" name="Text 35"/>
          <p:cNvSpPr/>
          <p:nvPr/>
        </p:nvSpPr>
        <p:spPr>
          <a:xfrm>
            <a:off x="1066800" y="5994946"/>
            <a:ext cx="5120085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 signs at unpatrolled beaches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6181279" y="6783437"/>
            <a:ext cx="2962573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39" name="Text 37"/>
          <p:cNvSpPr/>
          <p:nvPr/>
        </p:nvSpPr>
        <p:spPr>
          <a:xfrm>
            <a:off x="6333679" y="5994946"/>
            <a:ext cx="274665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9143851" y="6783437"/>
            <a:ext cx="41148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41" name="Text 39"/>
          <p:cNvSpPr/>
          <p:nvPr/>
        </p:nvSpPr>
        <p:spPr>
          <a:xfrm>
            <a:off x="9296251" y="5994946"/>
            <a:ext cx="3933444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First-time visitors who read signs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3258651" y="6783437"/>
            <a:ext cx="411494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43" name="Text 41"/>
          <p:cNvSpPr/>
          <p:nvPr/>
        </p:nvSpPr>
        <p:spPr>
          <a:xfrm>
            <a:off x="13411051" y="5994946"/>
            <a:ext cx="3933597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Easily ignored; ineffective with alcohol or peer pressure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914400" y="7752904"/>
            <a:ext cx="526687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45" name="Text 43"/>
          <p:cNvSpPr/>
          <p:nvPr/>
        </p:nvSpPr>
        <p:spPr>
          <a:xfrm>
            <a:off x="1066800" y="6964412"/>
            <a:ext cx="5120085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CALD community programs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6181279" y="7752904"/>
            <a:ext cx="2962573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47" name="Text 45"/>
          <p:cNvSpPr/>
          <p:nvPr/>
        </p:nvSpPr>
        <p:spPr>
          <a:xfrm>
            <a:off x="6333679" y="6964412"/>
            <a:ext cx="274665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MODERATE → STRONG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9143851" y="7752904"/>
            <a:ext cx="41148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49" name="Text 47"/>
          <p:cNvSpPr/>
          <p:nvPr/>
        </p:nvSpPr>
        <p:spPr>
          <a:xfrm>
            <a:off x="9296251" y="6964412"/>
            <a:ext cx="3933444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40%-over-represented group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3258651" y="7752904"/>
            <a:ext cx="4114949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51" name="Text 49"/>
          <p:cNvSpPr/>
          <p:nvPr/>
        </p:nvSpPr>
        <p:spPr>
          <a:xfrm>
            <a:off x="13411051" y="6964412"/>
            <a:ext cx="3933597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sustained funding &amp; trusted partners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914400" y="8425904"/>
            <a:ext cx="16459200" cy="8038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914400" y="8425904"/>
            <a:ext cx="57150" cy="803821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54" name="Text 52"/>
          <p:cNvSpPr/>
          <p:nvPr/>
        </p:nvSpPr>
        <p:spPr>
          <a:xfrm>
            <a:off x="1276350" y="8654504"/>
            <a:ext cx="16286226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 · $5m budget: </a:t>
            </a:r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003554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which two strategies would you fund? </a:t>
            </a:r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(Workbook 4.1a — defend with evidence, not intuition.)</a:t>
            </a:r>
            <a:endParaRPr lang="en-US" sz="1950" dirty="0"/>
          </a:p>
        </p:txBody>
      </p:sp>
      <p:sp>
        <p:nvSpPr>
          <p:cNvPr id="55" name="Text 53"/>
          <p:cNvSpPr/>
          <p:nvPr/>
        </p:nvSpPr>
        <p:spPr>
          <a:xfrm>
            <a:off x="914400" y="9229725"/>
            <a:ext cx="261401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L4 · EVALUATION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12805470" y="9229725"/>
            <a:ext cx="470517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WHO · LSV · RLSSA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ACTIVITY 5.1 · COMPARE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Australia, the UK, the US — what each says first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230612"/>
            <a:ext cx="5257800" cy="35552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230612"/>
            <a:ext cx="5257800" cy="57150"/>
          </a:xfrm>
          <a:prstGeom prst="rect">
            <a:avLst/>
          </a:prstGeom>
          <a:solidFill>
            <a:srgbClr val="00843D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3630662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 · RLSSA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57300" y="4059287"/>
            <a:ext cx="470916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"Swim between the flags."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57300" y="4540300"/>
            <a:ext cx="470916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Patrolled-location centric. Beach-flag literacy, SwimSafe rules, Swim &amp; Survive. Inland waterways named as highest-risk environment.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57300" y="6185743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royallifesaving.com.au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15100" y="3230612"/>
            <a:ext cx="5257800" cy="35552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515100" y="3230612"/>
            <a:ext cx="5257800" cy="5715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0" y="3630662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KINGDOM · RLSS UK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858000" y="4059287"/>
            <a:ext cx="470916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"Float to Live."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6858000" y="4540300"/>
            <a:ext cx="470916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Cold-water-shock centric. The primary survival message is a single physiological action — lean back, float, conserve until cold-shock passes.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6858000" y="6185743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rlss.org.uk/education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2115800" y="3230612"/>
            <a:ext cx="5257800" cy="35552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15800" y="3230612"/>
            <a:ext cx="5257800" cy="57150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18" name="Text 16"/>
          <p:cNvSpPr/>
          <p:nvPr/>
        </p:nvSpPr>
        <p:spPr>
          <a:xfrm>
            <a:off x="12458700" y="3630662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STATES · RED CROSS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458700" y="4059287"/>
            <a:ext cx="470916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"Water competency."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2458700" y="4540300"/>
            <a:ext cx="4709160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Skill-centric framework — swimming, breath control, rescue, and lifejacket use packaged as a competency, not a slogan.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2458700" y="5826770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redcross.org · take-a-class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8079284"/>
            <a:ext cx="16459200" cy="115044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914400" y="8079284"/>
            <a:ext cx="57150" cy="1150441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24" name="Text 22"/>
          <p:cNvSpPr/>
          <p:nvPr/>
        </p:nvSpPr>
        <p:spPr>
          <a:xfrm>
            <a:off x="1276350" y="8307884"/>
            <a:ext cx="16286226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workbook: </a:t>
            </a:r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003554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identify ONE international element </a:t>
            </a:r>
            <a:pPr algn="l" indent="0" marL="0">
              <a:lnSpc>
                <a:spcPct val="140000"/>
              </a:lnSpc>
              <a:buNone/>
            </a:pPr>
            <a:r>
              <a:rPr lang="en-US" sz="1950" i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</a:t>
            </a:r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003554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currently prominent in Victorian education. Argue whether Victoria should adopt it — citing one primary source URL.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914400" y="9229725"/>
            <a:ext cx="261401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L4 · COMPARISON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621244" y="9229725"/>
            <a:ext cx="592492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 EACH SITE BEFORE NEXT LESSON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1F2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6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4 · EXIT TICKET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4170611"/>
            <a:ext cx="15697200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ONE prevention strategy has the strongest evidence? Which has the weakest?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5702052"/>
            <a:ext cx="1471612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 both. One sentence each.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 feels right"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isn't evidence.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TICKET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820626" y="9229725"/>
            <a:ext cx="365956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SECTIONS 4–5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8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5 · 50 MIN · WORKBOOK SECTION 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33725"/>
            <a:ext cx="16952976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8000" b="1" spc="-720" kern="0" dirty="0">
                <a:solidFill>
                  <a:srgbClr val="FFFFFF">
                    <a:alpha val="9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5305425"/>
            <a:ext cx="14716125" cy="171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Diving, spinal injuries &amp; high-risk teenage behaviour</a:t>
            </a:r>
            <a:endParaRPr lang="en-US" sz="6600" dirty="0"/>
          </a:p>
        </p:txBody>
      </p:sp>
      <p:sp>
        <p:nvSpPr>
          <p:cNvPr id="6" name="Shape 4"/>
          <p:cNvSpPr/>
          <p:nvPr/>
        </p:nvSpPr>
        <p:spPr>
          <a:xfrm>
            <a:off x="914400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6325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VCHPEP143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13459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75384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VCHPEP144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912519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444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VCHPEP147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911578" y="9058275"/>
            <a:ext cx="42152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73503" y="9144000"/>
            <a:ext cx="401786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 + DISCUSSION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AIHW · RLSSA · ROYAL PERTH SPINAL STUDY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numbers that should appear in every prevention message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914400" y="2836366"/>
            <a:ext cx="544159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UNSAFE DIVING — SHARE OF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3226891"/>
            <a:ext cx="762000" cy="381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398341"/>
            <a:ext cx="5441594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ct val="100000"/>
              </a:lnSpc>
              <a:buNone/>
            </a:pPr>
            <a:r>
              <a:rPr lang="en-US" sz="675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3500" dirty="0"/>
          </a:p>
        </p:txBody>
      </p:sp>
      <p:sp>
        <p:nvSpPr>
          <p:cNvPr id="7" name="Text 5"/>
          <p:cNvSpPr/>
          <p:nvPr/>
        </p:nvSpPr>
        <p:spPr>
          <a:xfrm>
            <a:off x="914400" y="5189041"/>
            <a:ext cx="5441594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all Australian spinal cord injuries.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6502301" y="2836366"/>
            <a:ext cx="544174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UNSAFE DIVING — CAUSE OF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02301" y="3226891"/>
            <a:ext cx="762000" cy="381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0" name="Text 8"/>
          <p:cNvSpPr/>
          <p:nvPr/>
        </p:nvSpPr>
        <p:spPr>
          <a:xfrm>
            <a:off x="6502301" y="3398341"/>
            <a:ext cx="5441747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pPr algn="l" indent="0" marL="0">
              <a:lnSpc>
                <a:spcPct val="100000"/>
              </a:lnSpc>
              <a:buNone/>
            </a:pPr>
            <a:r>
              <a:rPr lang="en-US" sz="675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3500" dirty="0"/>
          </a:p>
        </p:txBody>
      </p:sp>
      <p:sp>
        <p:nvSpPr>
          <p:cNvPr id="11" name="Text 9"/>
          <p:cNvSpPr/>
          <p:nvPr/>
        </p:nvSpPr>
        <p:spPr>
          <a:xfrm>
            <a:off x="6502301" y="5189041"/>
            <a:ext cx="5441747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quadriplegia cases in Australia.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090350" y="2836366"/>
            <a:ext cx="544174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AQUATIC SPINAL PATIENTS · MALE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2090350" y="3226891"/>
            <a:ext cx="762000" cy="381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090350" y="3398341"/>
            <a:ext cx="5441747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spc="-540" kern="0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pPr algn="l" indent="0" marL="0">
              <a:lnSpc>
                <a:spcPct val="100000"/>
              </a:lnSpc>
              <a:buNone/>
            </a:pPr>
            <a:r>
              <a:rPr lang="en-US" sz="6750" b="1" spc="-540" kern="0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3500" dirty="0"/>
          </a:p>
        </p:txBody>
      </p:sp>
      <p:sp>
        <p:nvSpPr>
          <p:cNvPr id="15" name="Text 13"/>
          <p:cNvSpPr/>
          <p:nvPr/>
        </p:nvSpPr>
        <p:spPr>
          <a:xfrm>
            <a:off x="12090350" y="5189041"/>
            <a:ext cx="544174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near-total gender skew. </a:t>
            </a:r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— not coincidental.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14400" y="6211788"/>
            <a:ext cx="544159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AQUATIC SPINAL · UNDER 30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6602313"/>
            <a:ext cx="762000" cy="381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6773763"/>
            <a:ext cx="5441594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pPr algn="l" indent="0" marL="0">
              <a:lnSpc>
                <a:spcPct val="100000"/>
              </a:lnSpc>
              <a:buNone/>
            </a:pPr>
            <a:r>
              <a:rPr lang="en-US" sz="675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pPr algn="l" indent="0" marL="0">
              <a:lnSpc>
                <a:spcPct val="100000"/>
              </a:lnSpc>
              <a:buNone/>
            </a:pPr>
            <a:r>
              <a:rPr lang="en-US" sz="6075" b="1" spc="-540" kern="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500" dirty="0"/>
          </a:p>
        </p:txBody>
      </p:sp>
      <p:sp>
        <p:nvSpPr>
          <p:cNvPr id="19" name="Text 17"/>
          <p:cNvSpPr/>
          <p:nvPr/>
        </p:nvSpPr>
        <p:spPr>
          <a:xfrm>
            <a:off x="914400" y="8564463"/>
            <a:ext cx="5441594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aged under 30. Highest single age band: </a:t>
            </a:r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10–14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6502301" y="6211788"/>
            <a:ext cx="544174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PERMANENT DISABILITY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502301" y="6602313"/>
            <a:ext cx="762000" cy="381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22" name="Text 20"/>
          <p:cNvSpPr/>
          <p:nvPr/>
        </p:nvSpPr>
        <p:spPr>
          <a:xfrm>
            <a:off x="6502301" y="6773763"/>
            <a:ext cx="5441747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pPr algn="l" indent="0" marL="0">
              <a:lnSpc>
                <a:spcPct val="100000"/>
              </a:lnSpc>
              <a:buNone/>
            </a:pPr>
            <a:r>
              <a:rPr lang="en-US" sz="6750" b="1" spc="-540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3500" dirty="0"/>
          </a:p>
        </p:txBody>
      </p:sp>
      <p:sp>
        <p:nvSpPr>
          <p:cNvPr id="23" name="Text 21"/>
          <p:cNvSpPr/>
          <p:nvPr/>
        </p:nvSpPr>
        <p:spPr>
          <a:xfrm>
            <a:off x="6502301" y="8564463"/>
            <a:ext cx="544174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aquatic spinal patients live with permanent disability after the injury.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2090350" y="6211788"/>
            <a:ext cx="544174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DROWNING 15–20 YO · POST-COVID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2090350" y="6602313"/>
            <a:ext cx="762000" cy="381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6" name="Text 24"/>
          <p:cNvSpPr/>
          <p:nvPr/>
        </p:nvSpPr>
        <p:spPr>
          <a:xfrm>
            <a:off x="12090350" y="6773763"/>
            <a:ext cx="5441747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spc="-540" kern="0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+34</a:t>
            </a:r>
            <a:pPr algn="l" indent="0" marL="0">
              <a:lnSpc>
                <a:spcPct val="100000"/>
              </a:lnSpc>
              <a:buNone/>
            </a:pPr>
            <a:r>
              <a:rPr lang="en-US" sz="6750" b="1" spc="-540" kern="0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3500" dirty="0"/>
          </a:p>
        </p:txBody>
      </p:sp>
      <p:sp>
        <p:nvSpPr>
          <p:cNvPr id="27" name="Text 25"/>
          <p:cNvSpPr/>
          <p:nvPr/>
        </p:nvSpPr>
        <p:spPr>
          <a:xfrm>
            <a:off x="12090350" y="8564463"/>
            <a:ext cx="544174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among 15–20 year olds vs pre-COVID baseline (RLSSA).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14400" y="928241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L5 · DATA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436870" y="9282410"/>
            <a:ext cx="714483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AIHW · RLSSA · RPH SPINAL STUDY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1EDE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ACTIVITY 6.1 · CASE STUDIES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locations. One pattern.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14400" y="3258741"/>
            <a:ext cx="5257800" cy="38533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258741"/>
            <a:ext cx="5257800" cy="571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3658791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01 · NSW 2025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4087416"/>
            <a:ext cx="4709160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Terrigal Wharf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57300" y="4609356"/>
            <a:ext cx="470916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teenager dives from a wharf into water he believed was deep. Helicopter evacuation. </a:t>
            </a:r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shallow zone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structure.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257300" y="6254800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"IT LOOKED DEEP ENOUGH"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515100" y="3258741"/>
            <a:ext cx="5257800" cy="38533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6515100" y="3258741"/>
            <a:ext cx="5257800" cy="571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0" y="3658791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02 · VICTORIA 2025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0" y="4087416"/>
            <a:ext cx="4709160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Torquay Front Beach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858000" y="4609356"/>
            <a:ext cx="470916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Teen suffers a suspected spinal injury after a dive at a Victorian surf beach. Airlifted. </a:t>
            </a:r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Sandbanks shift with every tide.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6858000" y="6254800"/>
            <a:ext cx="470916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SURF BEACHES ARE NOT "SAFE" FOR DIVING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2115800" y="3258741"/>
            <a:ext cx="5257800" cy="38533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2115800" y="3258741"/>
            <a:ext cx="5257800" cy="571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9" name="Text 17"/>
          <p:cNvSpPr/>
          <p:nvPr/>
        </p:nvSpPr>
        <p:spPr>
          <a:xfrm>
            <a:off x="12458700" y="3658791"/>
            <a:ext cx="470916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03 · NSW 2024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458700" y="4087416"/>
            <a:ext cx="4709160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Bawley Beach jetty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458700" y="4609356"/>
            <a:ext cx="470916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young man is injured diving from a jetty he had used safely before. </a:t>
            </a:r>
            <a:pPr algn="l" indent="0" marL="0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sandbank had formed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beneath the jump zone.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2458700" y="6254800"/>
            <a:ext cx="470916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"I'VE DONE IT BEFORE" · FALSE CONFIDENCE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14400" y="8433495"/>
            <a:ext cx="16459200" cy="796230"/>
          </a:xfrm>
          <a:prstGeom prst="rect">
            <a:avLst/>
          </a:prstGeom>
          <a:solidFill>
            <a:srgbClr val="0D1F2D"/>
          </a:solidFill>
          <a:ln/>
        </p:spPr>
      </p:sp>
      <p:sp>
        <p:nvSpPr>
          <p:cNvPr id="24" name="Text 22"/>
          <p:cNvSpPr/>
          <p:nvPr/>
        </p:nvSpPr>
        <p:spPr>
          <a:xfrm>
            <a:off x="1219200" y="8643045"/>
            <a:ext cx="16343376" cy="415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PAIRS · 8 MIN · 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FFFFF"/>
                </a:solidFill>
                <a:highlight>
                  <a:srgbClr val="0D1F2D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Two factors common to all three. Mechanism — not just behaviour. 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(Workbook 6.1a.)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14400" y="9229725"/>
            <a:ext cx="176807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L5 · CASES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929366" y="9229725"/>
            <a:ext cx="766756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 · ROYAL LIFE SAVING AUSTRALIA · AIHW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RLSSA · "MORE PEOPLE DROWN IN INLAND WATERWAYS THAN ANYWHERE ELSE IN AUSTRALIA"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factors that compound on rivers, dams and lakes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4320778"/>
            <a:ext cx="533400" cy="5334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5" name="Text 3"/>
          <p:cNvSpPr/>
          <p:nvPr/>
        </p:nvSpPr>
        <p:spPr>
          <a:xfrm>
            <a:off x="876300" y="4320778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5063728"/>
            <a:ext cx="3202137" cy="651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changes constantly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5791200"/>
            <a:ext cx="3202137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Drought, flooding, irrigation releases, sediment movement — even morning to afternoon.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4251871" y="4320778"/>
            <a:ext cx="533400" cy="5334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9" name="Text 7"/>
          <p:cNvSpPr/>
          <p:nvPr/>
        </p:nvSpPr>
        <p:spPr>
          <a:xfrm>
            <a:off x="4213771" y="4320778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251871" y="5063728"/>
            <a:ext cx="3202290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 is poor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251871" y="5484614"/>
            <a:ext cx="320229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Submerged logs, branches, debris, even shopping trolleys — invisible under turbid water.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589490" y="4320778"/>
            <a:ext cx="533400" cy="5334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3" name="Text 11"/>
          <p:cNvSpPr/>
          <p:nvPr/>
        </p:nvSpPr>
        <p:spPr>
          <a:xfrm>
            <a:off x="7551390" y="4320778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589490" y="5063728"/>
            <a:ext cx="3202137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Cold-water shock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589490" y="5484614"/>
            <a:ext cx="3202137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Rivers and alpine lakes stay cold even in hot weather. The 1-10-1 rule applies.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0926961" y="4320778"/>
            <a:ext cx="533400" cy="5334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7" name="Text 15"/>
          <p:cNvSpPr/>
          <p:nvPr/>
        </p:nvSpPr>
        <p:spPr>
          <a:xfrm>
            <a:off x="10888861" y="4320778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926961" y="5063728"/>
            <a:ext cx="3202290" cy="651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Alcohol + group dynamics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0926961" y="5791200"/>
            <a:ext cx="3202290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Inland incidents disproportionately involve alcohol, teenage males, and peer-pressured jumps.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4264580" y="4320778"/>
            <a:ext cx="533400" cy="5334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21" name="Text 19"/>
          <p:cNvSpPr/>
          <p:nvPr/>
        </p:nvSpPr>
        <p:spPr>
          <a:xfrm>
            <a:off x="14226480" y="4320778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4264580" y="5063728"/>
            <a:ext cx="3202137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rescue delay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4264580" y="5484614"/>
            <a:ext cx="3202137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phone signal, no lifeguards, no AED, slower spinal immobilisation — all worsen outcome.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L5 · INLAND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775305" y="9229725"/>
            <a:ext cx="679624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RLSSA NATIONAL DROWNING REPORT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ACTIVITY 6.2 · MYTH VS EVIDENCE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things teenagers believe about diving that are wrong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2836366"/>
            <a:ext cx="5308550" cy="30633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836366"/>
            <a:ext cx="57150" cy="3063329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3122116"/>
            <a:ext cx="482029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57300" y="3474541"/>
            <a:ext cx="4820297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others are jumping there, it must be safe."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57300" y="4227016"/>
            <a:ext cx="4820297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 ·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changes daily. Yesterday's safe jump can be today's spinal injury.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89650" y="2836366"/>
            <a:ext cx="5308550" cy="30633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489650" y="2836366"/>
            <a:ext cx="57150" cy="3063329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1" name="Text 9"/>
          <p:cNvSpPr/>
          <p:nvPr/>
        </p:nvSpPr>
        <p:spPr>
          <a:xfrm>
            <a:off x="6832550" y="3122116"/>
            <a:ext cx="482029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32550" y="3474541"/>
            <a:ext cx="482029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"Clear water means deep water."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832550" y="3917454"/>
            <a:ext cx="4820297" cy="998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 ·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 is independent of depth. Dangerously shallow water can be crystal clear.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2064901" y="2836366"/>
            <a:ext cx="5308550" cy="30633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64901" y="2836366"/>
            <a:ext cx="57150" cy="3063329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6" name="Text 14"/>
          <p:cNvSpPr/>
          <p:nvPr/>
        </p:nvSpPr>
        <p:spPr>
          <a:xfrm>
            <a:off x="12407801" y="3122116"/>
            <a:ext cx="482029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MYTH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407801" y="3474541"/>
            <a:ext cx="4820297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checked it before — I know this spot."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407801" y="4227016"/>
            <a:ext cx="4820297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 ·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Bawley Beach. Familiarity becomes overconfidence becomes injury.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14400" y="6166396"/>
            <a:ext cx="5308550" cy="30633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" y="6166396"/>
            <a:ext cx="57150" cy="3063329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1" name="Text 19"/>
          <p:cNvSpPr/>
          <p:nvPr/>
        </p:nvSpPr>
        <p:spPr>
          <a:xfrm>
            <a:off x="1257300" y="6452146"/>
            <a:ext cx="482029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MYTH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57300" y="6804571"/>
            <a:ext cx="4820297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"Good swimmers are safe from diving injuries."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257300" y="7557046"/>
            <a:ext cx="4820297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 ·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spinal injury happens on impact. Swimming ability is irrelevant.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89650" y="6166396"/>
            <a:ext cx="5308550" cy="30633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489650" y="6166396"/>
            <a:ext cx="57150" cy="3063329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6" name="Text 24"/>
          <p:cNvSpPr/>
          <p:nvPr/>
        </p:nvSpPr>
        <p:spPr>
          <a:xfrm>
            <a:off x="6832550" y="6452146"/>
            <a:ext cx="482029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MYTH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32550" y="6804571"/>
            <a:ext cx="482029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"Feet-first is just as risky as diving."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6832550" y="7247483"/>
            <a:ext cx="4820297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 ·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feet-first dramatically reduces cervical spine risk. "Feet first, first time."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2064901" y="6166396"/>
            <a:ext cx="5308550" cy="30633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64901" y="6166396"/>
            <a:ext cx="57150" cy="3063329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31" name="Text 29"/>
          <p:cNvSpPr/>
          <p:nvPr/>
        </p:nvSpPr>
        <p:spPr>
          <a:xfrm>
            <a:off x="12407801" y="6452146"/>
            <a:ext cx="482029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MYTH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407801" y="6804571"/>
            <a:ext cx="4820297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jetty is high — so the water must be deep."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12407801" y="7557046"/>
            <a:ext cx="4820297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 ·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height tells you nothing about water depth beneath it.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14400" y="9229725"/>
            <a:ext cx="176807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L5 · MYTHS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3820626" y="9229725"/>
            <a:ext cx="365956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· RLSSA · AIHW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CORE MESSAGE · CARRY THIS INTO YOUR CAMPAIGN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811810"/>
            <a:ext cx="14716125" cy="3467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0" b="1" spc="-5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Feet first, first time.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914400" y="6621810"/>
            <a:ext cx="14716125" cy="89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dive into unknown water. Check depth </a:t>
            </a:r>
            <a:pPr algn="l" indent="0" marL="0">
              <a:lnSpc>
                <a:spcPct val="140000"/>
              </a:lnSpc>
              <a:buNone/>
            </a:pPr>
            <a:r>
              <a:rPr lang="en-US" sz="2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single time </a:t>
            </a:r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just the first time. Previous safety at a location does not guarantee current safety.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9229725"/>
            <a:ext cx="210651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L5 · MESSAGE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82809" y="9229725"/>
            <a:ext cx="627351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RLSSA · NATIONAL PREVENTION CAMPAIGN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1F2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6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5 · EXIT TICKET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859113"/>
            <a:ext cx="16678275" cy="184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highest diving-injury incidence is in 10–14 year olds. Explain why — using social </a:t>
            </a:r>
            <a:pPr algn="l" indent="0" marL="0">
              <a:lnSpc>
                <a:spcPct val="104000"/>
              </a:lnSpc>
              <a:buNone/>
            </a:pPr>
            <a:r>
              <a:rPr lang="en-US" sz="4500" b="1" i="1" spc="-6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factors.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6013400"/>
            <a:ext cx="1471612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sketch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targeted prevention response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FFFFFF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look like. Two sentences each.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TICKET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328130" y="9229725"/>
            <a:ext cx="31368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>
                    <a:alpha val="5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 SECTION 6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FFFFFF">
                    <a:alpha val="78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6 · 50 MIN · WORKBOOK SECTION 7 · ASSESSED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33725"/>
            <a:ext cx="16952976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8000" b="1" spc="-720" kern="0" dirty="0">
                <a:solidFill>
                  <a:srgbClr val="FFFFFF">
                    <a:alpha val="9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5305425"/>
            <a:ext cx="14716125" cy="171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spc="-1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task — planning, drafting &amp; peer review</a:t>
            </a:r>
            <a:endParaRPr lang="en-US" sz="6600" dirty="0"/>
          </a:p>
        </p:txBody>
      </p:sp>
      <p:sp>
        <p:nvSpPr>
          <p:cNvPr id="6" name="Shape 4"/>
          <p:cNvSpPr/>
          <p:nvPr/>
        </p:nvSpPr>
        <p:spPr>
          <a:xfrm>
            <a:off x="914400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6325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VCHPEP147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13459" y="9058275"/>
            <a:ext cx="1846659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75384" y="9144000"/>
            <a:ext cx="159900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VCHPEP148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912519" y="9058275"/>
            <a:ext cx="4384328" cy="428625"/>
          </a:xfrm>
          <a:prstGeom prst="roundRect">
            <a:avLst>
              <a:gd name="adj" fmla="val 50000"/>
            </a:avLst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444" y="9144000"/>
            <a:ext cx="419200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 + PEER REVIEW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ASSESSMENT TASK · CHOOSE ONE · BUILD IT FOR A REAL AUDIENCE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— all evidence-based, all argued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231059"/>
            <a:ext cx="5257800" cy="393903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231059"/>
            <a:ext cx="5257800" cy="5715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669209"/>
            <a:ext cx="463067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4097834"/>
            <a:ext cx="4630674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Brief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95400" y="4619774"/>
            <a:ext cx="4630674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600–800 words to the Victorian Minister for Sport &amp; Recreation. Three recommendations + evidence + measurable outcomes.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95400" y="6284268"/>
            <a:ext cx="44958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6465243"/>
            <a:ext cx="463067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writers who want to argue policy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515100" y="3231059"/>
            <a:ext cx="5257800" cy="393903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6515100" y="3231059"/>
            <a:ext cx="5257800" cy="5715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3" name="Text 11"/>
          <p:cNvSpPr/>
          <p:nvPr/>
        </p:nvSpPr>
        <p:spPr>
          <a:xfrm>
            <a:off x="6896100" y="3669209"/>
            <a:ext cx="463067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96100" y="4097834"/>
            <a:ext cx="4630674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Campaign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896100" y="4619774"/>
            <a:ext cx="4630674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ONE high-risk group from Victorian data. Campaign name, message, visual concept, platform + 100-word justification.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6896100" y="6284268"/>
            <a:ext cx="4495800" cy="9525"/>
          </a:xfrm>
          <a:prstGeom prst="rect">
            <a:avLst/>
          </a:prstGeom>
          <a:solidFill>
            <a:srgbClr val="D4DCE3"/>
          </a:solidFill>
          <a:ln/>
        </p:spPr>
      </p:sp>
      <p:sp>
        <p:nvSpPr>
          <p:cNvPr id="17" name="Text 15"/>
          <p:cNvSpPr/>
          <p:nvPr/>
        </p:nvSpPr>
        <p:spPr>
          <a:xfrm>
            <a:off x="6896100" y="6465243"/>
            <a:ext cx="463067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designers, video-makers, social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2115800" y="3231059"/>
            <a:ext cx="5257800" cy="3939034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19" name="Shape 17"/>
          <p:cNvSpPr/>
          <p:nvPr/>
        </p:nvSpPr>
        <p:spPr>
          <a:xfrm>
            <a:off x="12115800" y="3231059"/>
            <a:ext cx="5257800" cy="5715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0" name="Text 18"/>
          <p:cNvSpPr/>
          <p:nvPr/>
        </p:nvSpPr>
        <p:spPr>
          <a:xfrm>
            <a:off x="12496800" y="3669209"/>
            <a:ext cx="463067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 C · ADVANCED ★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96800" y="4154984"/>
            <a:ext cx="4630674" cy="388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Audit &amp; Report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496800" y="4676924"/>
            <a:ext cx="4630674" cy="1473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your school's water-safety provision. Benchmark against Curriculum 2.0. Priority matrix + recommendations.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2496800" y="6341418"/>
            <a:ext cx="449580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12496800" y="6522393"/>
            <a:ext cx="463067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students who want real impact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14400" y="8464004"/>
            <a:ext cx="16459200" cy="7657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914400" y="8464004"/>
            <a:ext cx="57150" cy="765721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7" name="Text 25"/>
          <p:cNvSpPr/>
          <p:nvPr/>
        </p:nvSpPr>
        <p:spPr>
          <a:xfrm>
            <a:off x="1276350" y="8673554"/>
            <a:ext cx="16286226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options require: </a:t>
            </a:r>
            <a:pPr algn="l" indent="0" marL="0">
              <a:lnSpc>
                <a:spcPct val="140000"/>
              </a:lnSpc>
              <a:buNone/>
            </a:pPr>
            <a:r>
              <a:rPr lang="en-US" sz="1950" dirty="0">
                <a:solidFill>
                  <a:srgbClr val="003554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3+ credible sources with URLs · 1+ Victorian or global statistic · a named target audience · a specific call to action.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14400" y="9229725"/>
            <a:ext cx="210651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L6 · OPTIONS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4497348" y="9229725"/>
            <a:ext cx="296254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DUE · END OF UNIT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RUBRIC · WHAT A-STANDARD WORK LOOKS LIKE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things that separate "Building" from "Extending"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797945"/>
            <a:ext cx="533400" cy="5334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5" name="Text 3"/>
          <p:cNvSpPr/>
          <p:nvPr/>
        </p:nvSpPr>
        <p:spPr>
          <a:xfrm>
            <a:off x="876300" y="379794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676400" y="3797945"/>
            <a:ext cx="741692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description — to analysis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676400" y="4194125"/>
            <a:ext cx="741692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Argues with evidence. Acknowledges counter-arguments. Doesn't just describe what is.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410700" y="3797945"/>
            <a:ext cx="533400" cy="5334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9" name="Text 7"/>
          <p:cNvSpPr/>
          <p:nvPr/>
        </p:nvSpPr>
        <p:spPr>
          <a:xfrm>
            <a:off x="9372600" y="379794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0172700" y="3797945"/>
            <a:ext cx="741692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sources, cited with URLs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172700" y="4194125"/>
            <a:ext cx="741692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LSV, RLSSA, WHO, AIHW — not random blog posts. The reader can verify every claim.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178772"/>
            <a:ext cx="533400" cy="5334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3" name="Text 11"/>
          <p:cNvSpPr/>
          <p:nvPr/>
        </p:nvSpPr>
        <p:spPr>
          <a:xfrm>
            <a:off x="876300" y="5178772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676400" y="5178772"/>
            <a:ext cx="741692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— not just individual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676400" y="5574953"/>
            <a:ext cx="741692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a mechanism. "Masculinity norms" beats "boys take more risks." Distinguishes systemic from personal.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410700" y="5178772"/>
            <a:ext cx="533400" cy="5334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7" name="Text 15"/>
          <p:cNvSpPr/>
          <p:nvPr/>
        </p:nvSpPr>
        <p:spPr>
          <a:xfrm>
            <a:off x="9372600" y="5178772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172700" y="5178772"/>
            <a:ext cx="741692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a named audience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0172700" y="5574953"/>
            <a:ext cx="741692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Minister's brief doesn't read like a TikTok script. The language fits the addressee.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6559600"/>
            <a:ext cx="533400" cy="5334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876300" y="6559600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676400" y="6559600"/>
            <a:ext cx="741692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Measurable outcomes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676400" y="6955780"/>
            <a:ext cx="741692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metrics. "Reduce CALD drowning deaths by 20% in 5 years" beats "raise awareness."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410700" y="6559600"/>
            <a:ext cx="533400" cy="5334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5" name="Text 23"/>
          <p:cNvSpPr/>
          <p:nvPr/>
        </p:nvSpPr>
        <p:spPr>
          <a:xfrm>
            <a:off x="9372600" y="6559600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0172700" y="6559600"/>
            <a:ext cx="741692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voice is visible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0172700" y="6955780"/>
            <a:ext cx="741692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stitched-together summary. Your teacher should feel </a:t>
            </a:r>
            <a:pPr algn="l" indent="0" marL="0">
              <a:lnSpc>
                <a:spcPct val="145000"/>
              </a:lnSpc>
              <a:buNone/>
            </a:pPr>
            <a:r>
              <a:rPr lang="en-US" sz="1950" i="1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4A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wrote this and made the calls.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14400" y="9229725"/>
            <a:ext cx="193729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L6 · RUBRIC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1959530" y="9229725"/>
            <a:ext cx="55764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RUBRIC · 6 CRITERIA · E → A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YOUR EVIDENCE COMES FROM · CITE THE URL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primary sources for the assessment task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914400" y="3077766"/>
            <a:ext cx="820178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24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Saving Victoria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3582591"/>
            <a:ext cx="820178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lsv.com.au · lsv.com.au/research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954066"/>
            <a:ext cx="820178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· Victorian drowning data, CALD over-representation, SwimSafe rules, patrolled beach locations.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410700" y="3077766"/>
            <a:ext cx="820178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24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Royal Life Saving Australia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410700" y="3582591"/>
            <a:ext cx="820178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royallifesaving.com.au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410700" y="3954066"/>
            <a:ext cx="820178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· National data, inland waterway research, post-COVID trends, "Feet first, first time."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938713"/>
            <a:ext cx="820178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24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Health Organization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5443538"/>
            <a:ext cx="820178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who.int/drowning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5815013"/>
            <a:ext cx="820178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· Global drowning data, prevention guide, social determinants framework.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410700" y="4938713"/>
            <a:ext cx="820178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24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AIHW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410700" y="5443538"/>
            <a:ext cx="820178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aihw.gov.au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410700" y="5815013"/>
            <a:ext cx="820178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· Spinal cord injury data, quadriplegia statistics, Australian injury surveillance.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14400" y="6799659"/>
            <a:ext cx="820178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24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comparators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7304484"/>
            <a:ext cx="820178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rlss.org.uk/education · redcross.org/water-safety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7675959"/>
            <a:ext cx="820178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· Float to Live, water competency, international approach comparison.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410700" y="6799659"/>
            <a:ext cx="820178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-24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Victorian Curriculum 2.0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410700" y="7304484"/>
            <a:ext cx="820178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victoriancurriculum.vcaa.vic.edu.au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410700" y="7675959"/>
            <a:ext cx="8201787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 · Option C audit · benchmarking school provision against curriculum codes.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14400" y="9229725"/>
            <a:ext cx="210651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L6 · SOURCES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914209" y="9229725"/>
            <a:ext cx="871317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CREDIBLE = .GOV · .ORG · PEER-REVIEWED · CITED URL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00100"/>
            <a:ext cx="169529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WHOLE UNIT ON ONE SLIDE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90625"/>
            <a:ext cx="16952976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spc="-67" kern="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lessons. One thing each.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2242096"/>
            <a:ext cx="2552700" cy="5715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70696"/>
            <a:ext cx="26292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842171"/>
            <a:ext cx="2629281" cy="307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3930" y="3245197"/>
            <a:ext cx="2579370" cy="2597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Victorian deaths · 2023–24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Non-fatals 60% above 10-yr avg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~40% CALD over-representation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deaths at patrolled sites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95700" y="2242096"/>
            <a:ext cx="2552700" cy="5715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9" name="Text 7"/>
          <p:cNvSpPr/>
          <p:nvPr/>
        </p:nvSpPr>
        <p:spPr>
          <a:xfrm>
            <a:off x="3695700" y="2470696"/>
            <a:ext cx="26292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B7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95700" y="2842171"/>
            <a:ext cx="2629281" cy="307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body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745230" y="3245197"/>
            <a:ext cx="2579370" cy="1957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5-stage drowning sequence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4-minute brain window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≈ 30% cardiac output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1-10-1 cold-water rule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77000" y="2242096"/>
            <a:ext cx="2552700" cy="5715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3" name="Text 11"/>
          <p:cNvSpPr/>
          <p:nvPr/>
        </p:nvSpPr>
        <p:spPr>
          <a:xfrm>
            <a:off x="6477000" y="2470696"/>
            <a:ext cx="26292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6A1B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77000" y="2842171"/>
            <a:ext cx="2629281" cy="307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26530" y="3245197"/>
            <a:ext cx="257937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vs structural causes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26530" y="3885158"/>
            <a:ext cx="257937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social determinants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26530" y="4525119"/>
            <a:ext cx="257937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CALD action a school </a:t>
            </a:r>
            <a:pPr algn="l"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526530" y="5165080"/>
            <a:ext cx="257937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male skew is structural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258300" y="2242096"/>
            <a:ext cx="2552700" cy="57150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20" name="Text 18"/>
          <p:cNvSpPr/>
          <p:nvPr/>
        </p:nvSpPr>
        <p:spPr>
          <a:xfrm>
            <a:off x="9258300" y="2470696"/>
            <a:ext cx="26292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6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258300" y="2842171"/>
            <a:ext cx="2629281" cy="307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307830" y="3245197"/>
            <a:ext cx="2579370" cy="2597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4-sided fencing −83% child drowning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categories of prevention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strategies, evaluated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vs UK vs US — three messages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2039600" y="2242096"/>
            <a:ext cx="2552700" cy="57150"/>
          </a:xfrm>
          <a:prstGeom prst="rect">
            <a:avLst/>
          </a:prstGeom>
          <a:solidFill>
            <a:srgbClr val="003554"/>
          </a:solidFill>
          <a:ln/>
        </p:spPr>
      </p:sp>
      <p:sp>
        <p:nvSpPr>
          <p:cNvPr id="24" name="Text 22"/>
          <p:cNvSpPr/>
          <p:nvPr/>
        </p:nvSpPr>
        <p:spPr>
          <a:xfrm>
            <a:off x="12039600" y="2470696"/>
            <a:ext cx="26292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0035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05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039600" y="2842171"/>
            <a:ext cx="2629281" cy="307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diving question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089130" y="3245197"/>
            <a:ext cx="2579370" cy="2277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/ 20% / 95% / 66%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Terrigal · Torquay · Bawley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Inland = 5 compounding factors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Feet first, first time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820900" y="2242096"/>
            <a:ext cx="2552700" cy="5715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4820900" y="2470696"/>
            <a:ext cx="262928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 06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4820900" y="2842171"/>
            <a:ext cx="2629281" cy="307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argument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4870430" y="3245197"/>
            <a:ext cx="2579370" cy="2277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· campaign · audit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sources with URLs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audience &amp; SMART metric</a:t>
            </a:r>
            <a:endParaRPr lang="en-US" sz="1800" dirty="0"/>
          </a:p>
          <a:p>
            <a:pPr algn="l" marL="160020" indent="-160020">
              <a:lnSpc>
                <a:spcPct val="14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003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rubric criteria · E → A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4400" y="9229725"/>
            <a:ext cx="176807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WHOLE UNIT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929217" y="9229725"/>
            <a:ext cx="766771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4A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EMILIE HARRISON · SWIMWATER.SAFETY@GMAIL.COM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2026-05-15T08:02:25Z</dcterms:created>
  <dcterms:modified xsi:type="dcterms:W3CDTF">2026-05-15T08:02:25Z</dcterms:modified>
</cp:coreProperties>
</file>