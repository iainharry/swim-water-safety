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notesMasterIdLst>
    <p:notesMasterId r:id="rId41"/>
  </p:notesMaster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3554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762000"/>
            <a:ext cx="7347332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24" kern="0" dirty="0">
                <a:solidFill>
                  <a:srgbClr val="FFFFFF">
                    <a:alpha val="70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YEAR 9–10 HPE · VICTORIAN CURRICULUM 2.0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4163526" y="762000"/>
            <a:ext cx="3306376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24" kern="0" dirty="0">
                <a:solidFill>
                  <a:srgbClr val="FFFFFF">
                    <a:alpha val="70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LESSONS × 50 MIN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2877294"/>
            <a:ext cx="14716125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24" kern="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ADVANCED UNIT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14400" y="3439269"/>
            <a:ext cx="14716125" cy="270182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400" b="1" spc="-399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Water Safety</a:t>
            </a:r>
            <a:endParaRPr lang="en-US" sz="11400" dirty="0"/>
          </a:p>
        </p:txBody>
      </p:sp>
      <p:sp>
        <p:nvSpPr>
          <p:cNvPr id="7" name="Text 5"/>
          <p:cNvSpPr/>
          <p:nvPr/>
        </p:nvSpPr>
        <p:spPr>
          <a:xfrm>
            <a:off x="914400" y="6483995"/>
            <a:ext cx="12753975" cy="9638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2700" dirty="0">
                <a:solidFill>
                  <a:srgbClr val="FFFFFF">
                    <a:alpha val="8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six-lesson unit on the data, physiology, social determinants and prevention strategies behind Victorian drowning — and how to argue for change.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914400" y="9267825"/>
            <a:ext cx="6796244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24" kern="0" dirty="0">
                <a:solidFill>
                  <a:srgbClr val="FFFFFF">
                    <a:alpha val="70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WORKBOOK · RUBRIC · COMMUNITY PROJECT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084195" y="9267825"/>
            <a:ext cx="1502866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24" kern="0" dirty="0">
                <a:solidFill>
                  <a:srgbClr val="FFFFFF">
                    <a:alpha val="70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ASSESSED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915305" y="9267825"/>
            <a:ext cx="4592044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24" kern="0" dirty="0">
                <a:solidFill>
                  <a:srgbClr val="FFFFFF">
                    <a:alpha val="70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VCHPEP143 · VCHPEP144 · VCHPEP145 · VCHPEP148 · VCHPEM162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00100"/>
            <a:ext cx="7988403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24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UNIT MAP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190625"/>
            <a:ext cx="7988403" cy="6323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500" b="1" spc="-67" kern="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lessons, one question</a:t>
            </a:r>
            <a:endParaRPr lang="en-US" sz="4500" dirty="0"/>
          </a:p>
        </p:txBody>
      </p:sp>
      <p:sp>
        <p:nvSpPr>
          <p:cNvPr id="4" name="Text 2"/>
          <p:cNvSpPr/>
          <p:nvPr/>
        </p:nvSpPr>
        <p:spPr>
          <a:xfrm>
            <a:off x="10761001" y="1527721"/>
            <a:ext cx="6612599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1800" spc="216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VCHPEP143 · 144 · 147 · 148 · VCHPEM162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2127796"/>
            <a:ext cx="14225588" cy="866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250" dirty="0">
                <a:solidFill>
                  <a:srgbClr val="4A6B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does Victoria still drown — despite knowing how to prevent it? Each lesson sharpens one part of the answer.</a:t>
            </a:r>
            <a:endParaRPr lang="en-US" sz="2250" dirty="0"/>
          </a:p>
        </p:txBody>
      </p:sp>
      <p:sp>
        <p:nvSpPr>
          <p:cNvPr id="6" name="Shape 4"/>
          <p:cNvSpPr/>
          <p:nvPr/>
        </p:nvSpPr>
        <p:spPr>
          <a:xfrm>
            <a:off x="914400" y="3489871"/>
            <a:ext cx="5257800" cy="5715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3794671"/>
            <a:ext cx="5415534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24" kern="0" dirty="0">
                <a:solidFill>
                  <a:srgbClr val="1565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LESSON 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4166146"/>
            <a:ext cx="5415534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200" b="1" dirty="0">
                <a:solidFill>
                  <a:srgbClr val="1565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914400" y="4870996"/>
            <a:ext cx="5415534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50" b="1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data analysis — Victorian &amp; global drowning trends</a:t>
            </a:r>
            <a:endParaRPr lang="en-US" sz="2250" dirty="0"/>
          </a:p>
        </p:txBody>
      </p:sp>
      <p:sp>
        <p:nvSpPr>
          <p:cNvPr id="10" name="Text 8"/>
          <p:cNvSpPr/>
          <p:nvPr/>
        </p:nvSpPr>
        <p:spPr>
          <a:xfrm>
            <a:off x="914400" y="5728246"/>
            <a:ext cx="5415534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VCHPEP143 · VCHPEP144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515100" y="3489871"/>
            <a:ext cx="5257800" cy="57150"/>
          </a:xfrm>
          <a:prstGeom prst="rect">
            <a:avLst/>
          </a:prstGeom>
          <a:solidFill>
            <a:srgbClr val="B71C1C"/>
          </a:solidFill>
          <a:ln/>
        </p:spPr>
      </p:sp>
      <p:sp>
        <p:nvSpPr>
          <p:cNvPr id="12" name="Text 10"/>
          <p:cNvSpPr/>
          <p:nvPr/>
        </p:nvSpPr>
        <p:spPr>
          <a:xfrm>
            <a:off x="6515100" y="3794671"/>
            <a:ext cx="5415534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24" kern="0" dirty="0">
                <a:solidFill>
                  <a:srgbClr val="B71C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LESSON 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515100" y="4166146"/>
            <a:ext cx="5415534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200" b="1" dirty="0">
                <a:solidFill>
                  <a:srgbClr val="B71C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4200" dirty="0"/>
          </a:p>
        </p:txBody>
      </p:sp>
      <p:sp>
        <p:nvSpPr>
          <p:cNvPr id="14" name="Text 12"/>
          <p:cNvSpPr/>
          <p:nvPr/>
        </p:nvSpPr>
        <p:spPr>
          <a:xfrm>
            <a:off x="6515100" y="4870996"/>
            <a:ext cx="5415534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50" b="1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Physiology of drowning &amp; CPR mechanics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6515100" y="5728246"/>
            <a:ext cx="5415534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VCHPEP144 · VCHPEM162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12115800" y="3489871"/>
            <a:ext cx="5257800" cy="57150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17" name="Text 15"/>
          <p:cNvSpPr/>
          <p:nvPr/>
        </p:nvSpPr>
        <p:spPr>
          <a:xfrm>
            <a:off x="12115800" y="3794671"/>
            <a:ext cx="5415534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24" kern="0" dirty="0">
                <a:solidFill>
                  <a:srgbClr val="6A1B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LESSON 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2115800" y="4166146"/>
            <a:ext cx="5415534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200" b="1" dirty="0">
                <a:solidFill>
                  <a:srgbClr val="6A1B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4200" dirty="0"/>
          </a:p>
        </p:txBody>
      </p:sp>
      <p:sp>
        <p:nvSpPr>
          <p:cNvPr id="19" name="Text 17"/>
          <p:cNvSpPr/>
          <p:nvPr/>
        </p:nvSpPr>
        <p:spPr>
          <a:xfrm>
            <a:off x="12115800" y="4870996"/>
            <a:ext cx="5415534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50" b="1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Social determinants of drowning risk</a:t>
            </a:r>
            <a:endParaRPr lang="en-US" sz="2250" dirty="0"/>
          </a:p>
        </p:txBody>
      </p:sp>
      <p:sp>
        <p:nvSpPr>
          <p:cNvPr id="20" name="Text 18"/>
          <p:cNvSpPr/>
          <p:nvPr/>
        </p:nvSpPr>
        <p:spPr>
          <a:xfrm>
            <a:off x="12115800" y="5385346"/>
            <a:ext cx="5415534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VCHPEP143 · VCHPEP145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914400" y="6659761"/>
            <a:ext cx="5257800" cy="57150"/>
          </a:xfrm>
          <a:prstGeom prst="rect">
            <a:avLst/>
          </a:prstGeom>
          <a:solidFill>
            <a:srgbClr val="00695C"/>
          </a:solidFill>
          <a:ln/>
        </p:spPr>
      </p:sp>
      <p:sp>
        <p:nvSpPr>
          <p:cNvPr id="22" name="Text 20"/>
          <p:cNvSpPr/>
          <p:nvPr/>
        </p:nvSpPr>
        <p:spPr>
          <a:xfrm>
            <a:off x="914400" y="6964561"/>
            <a:ext cx="5415534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24" kern="0" dirty="0">
                <a:solidFill>
                  <a:srgbClr val="006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LESSON 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914400" y="7336036"/>
            <a:ext cx="5415534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200" b="1" dirty="0">
                <a:solidFill>
                  <a:srgbClr val="006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4200" dirty="0"/>
          </a:p>
        </p:txBody>
      </p:sp>
      <p:sp>
        <p:nvSpPr>
          <p:cNvPr id="24" name="Text 22"/>
          <p:cNvSpPr/>
          <p:nvPr/>
        </p:nvSpPr>
        <p:spPr>
          <a:xfrm>
            <a:off x="914400" y="8040886"/>
            <a:ext cx="5415534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50" b="1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Prevention strategies &amp; international comparison</a:t>
            </a:r>
            <a:endParaRPr lang="en-US" sz="2250" dirty="0"/>
          </a:p>
        </p:txBody>
      </p:sp>
      <p:sp>
        <p:nvSpPr>
          <p:cNvPr id="25" name="Text 23"/>
          <p:cNvSpPr/>
          <p:nvPr/>
        </p:nvSpPr>
        <p:spPr>
          <a:xfrm>
            <a:off x="914400" y="8898136"/>
            <a:ext cx="5415534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VCHPEP144 · VCHPEP148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6515100" y="6659761"/>
            <a:ext cx="5257800" cy="57150"/>
          </a:xfrm>
          <a:prstGeom prst="rect">
            <a:avLst/>
          </a:prstGeom>
          <a:solidFill>
            <a:srgbClr val="003554"/>
          </a:solidFill>
          <a:ln/>
        </p:spPr>
      </p:sp>
      <p:sp>
        <p:nvSpPr>
          <p:cNvPr id="27" name="Text 25"/>
          <p:cNvSpPr/>
          <p:nvPr/>
        </p:nvSpPr>
        <p:spPr>
          <a:xfrm>
            <a:off x="6515100" y="6964561"/>
            <a:ext cx="5415534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24" kern="0" dirty="0">
                <a:solidFill>
                  <a:srgbClr val="00355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LESSON 5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6515100" y="7336036"/>
            <a:ext cx="5415534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200" b="1" dirty="0">
                <a:solidFill>
                  <a:srgbClr val="00355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4200" dirty="0"/>
          </a:p>
        </p:txBody>
      </p:sp>
      <p:sp>
        <p:nvSpPr>
          <p:cNvPr id="29" name="Text 27"/>
          <p:cNvSpPr/>
          <p:nvPr/>
        </p:nvSpPr>
        <p:spPr>
          <a:xfrm>
            <a:off x="6515100" y="8040886"/>
            <a:ext cx="5415534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50" b="1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Diving, spinal injuries &amp; high-risk teenage behaviour</a:t>
            </a:r>
            <a:endParaRPr lang="en-US" sz="2250" dirty="0"/>
          </a:p>
        </p:txBody>
      </p:sp>
      <p:sp>
        <p:nvSpPr>
          <p:cNvPr id="30" name="Text 28"/>
          <p:cNvSpPr/>
          <p:nvPr/>
        </p:nvSpPr>
        <p:spPr>
          <a:xfrm>
            <a:off x="6515100" y="8898136"/>
            <a:ext cx="5415534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VCHPEP143 · 144 · 147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12115800" y="6659761"/>
            <a:ext cx="5257800" cy="57150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32" name="Text 30"/>
          <p:cNvSpPr/>
          <p:nvPr/>
        </p:nvSpPr>
        <p:spPr>
          <a:xfrm>
            <a:off x="12115800" y="6964561"/>
            <a:ext cx="5415534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24" kern="0" dirty="0">
                <a:solidFill>
                  <a:srgbClr val="E651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LESSON 6 · ASSESSED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12115800" y="7336036"/>
            <a:ext cx="5415534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200" b="1" dirty="0">
                <a:solidFill>
                  <a:srgbClr val="E651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4200" dirty="0"/>
          </a:p>
        </p:txBody>
      </p:sp>
      <p:sp>
        <p:nvSpPr>
          <p:cNvPr id="34" name="Text 32"/>
          <p:cNvSpPr/>
          <p:nvPr/>
        </p:nvSpPr>
        <p:spPr>
          <a:xfrm>
            <a:off x="12115800" y="8040886"/>
            <a:ext cx="5415534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50" b="1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Assessment task — planning, drafting &amp; peer review</a:t>
            </a:r>
            <a:endParaRPr lang="en-US" sz="2250" dirty="0"/>
          </a:p>
        </p:txBody>
      </p:sp>
      <p:sp>
        <p:nvSpPr>
          <p:cNvPr id="35" name="Text 33"/>
          <p:cNvSpPr/>
          <p:nvPr/>
        </p:nvSpPr>
        <p:spPr>
          <a:xfrm>
            <a:off x="12115800" y="8898136"/>
            <a:ext cx="5415534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VCHPEP145 · VCHPEP148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00100"/>
            <a:ext cx="16952976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24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PREREQUISITE · BUILT ON YEAR 7–8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190625"/>
            <a:ext cx="14716125" cy="12266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500" b="1" spc="-67" kern="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already know the rules. Now we ask why they aren't enough.</a:t>
            </a:r>
            <a:endParaRPr lang="en-US" sz="4500" dirty="0"/>
          </a:p>
        </p:txBody>
      </p:sp>
      <p:sp>
        <p:nvSpPr>
          <p:cNvPr id="4" name="Text 2"/>
          <p:cNvSpPr/>
          <p:nvPr/>
        </p:nvSpPr>
        <p:spPr>
          <a:xfrm>
            <a:off x="914400" y="2912566"/>
            <a:ext cx="8084058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YEAR 7–8 · YOU CAN ALREADY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914400" y="3322141"/>
            <a:ext cx="7848600" cy="9525"/>
          </a:xfrm>
          <a:prstGeom prst="rect">
            <a:avLst/>
          </a:prstGeom>
          <a:solidFill>
            <a:srgbClr val="D4DCE3"/>
          </a:solidFill>
          <a:ln/>
        </p:spPr>
      </p:sp>
      <p:sp>
        <p:nvSpPr>
          <p:cNvPr id="6" name="Text 4"/>
          <p:cNvSpPr/>
          <p:nvPr/>
        </p:nvSpPr>
        <p:spPr>
          <a:xfrm>
            <a:off x="956310" y="3579316"/>
            <a:ext cx="7882890" cy="210457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marL="186690" indent="-186690">
              <a:lnSpc>
                <a:spcPct val="155000"/>
              </a:lnSpc>
              <a:buSzPct val="100000"/>
              <a:buChar char="•"/>
              <a:tabLst>
                <a:tab pos="186690" algn="l"/>
              </a:tabLst>
            </a:pPr>
            <a:r>
              <a:rPr lang="en-US" sz="210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the six Australian beach flags</a:t>
            </a:r>
            <a:endParaRPr lang="en-US" sz="2100" dirty="0"/>
          </a:p>
          <a:p>
            <a:pPr algn="l" marL="186690" indent="-186690">
              <a:lnSpc>
                <a:spcPct val="155000"/>
              </a:lnSpc>
              <a:buSzPct val="100000"/>
              <a:buChar char="•"/>
              <a:tabLst>
                <a:tab pos="186690" algn="l"/>
              </a:tabLst>
            </a:pPr>
            <a:r>
              <a:rPr lang="en-US" sz="210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Recall the five rip-current survival steps</a:t>
            </a:r>
            <a:endParaRPr lang="en-US" sz="2100" dirty="0"/>
          </a:p>
          <a:p>
            <a:pPr algn="l" marL="186690" indent="-186690">
              <a:lnSpc>
                <a:spcPct val="155000"/>
              </a:lnSpc>
              <a:buSzPct val="100000"/>
              <a:buChar char="•"/>
              <a:tabLst>
                <a:tab pos="186690" algn="l"/>
              </a:tabLst>
            </a:pPr>
            <a:r>
              <a:rPr lang="en-US" sz="210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Execute DRS ABCD in order</a:t>
            </a:r>
            <a:endParaRPr lang="en-US" sz="2100" dirty="0"/>
          </a:p>
          <a:p>
            <a:pPr algn="l" marL="186690" indent="-186690">
              <a:lnSpc>
                <a:spcPct val="155000"/>
              </a:lnSpc>
              <a:buSzPct val="100000"/>
              <a:buChar char="•"/>
              <a:tabLst>
                <a:tab pos="186690" algn="l"/>
              </a:tabLst>
            </a:pPr>
            <a:r>
              <a:rPr lang="en-US" sz="210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Apply the five LSV SwimSafe rules</a:t>
            </a:r>
            <a:endParaRPr lang="en-US" sz="2100" dirty="0"/>
          </a:p>
          <a:p>
            <a:pPr algn="l" marL="186690" indent="-186690">
              <a:lnSpc>
                <a:spcPct val="155000"/>
              </a:lnSpc>
              <a:buSzPct val="100000"/>
              <a:buChar char="•"/>
              <a:tabLst>
                <a:tab pos="186690" algn="l"/>
              </a:tabLst>
            </a:pPr>
            <a:r>
              <a:rPr lang="en-US" sz="210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the headline Victorian drowning numbers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525000" y="2912566"/>
            <a:ext cx="8084058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E651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YEAR 9–10 · WE NOW ASK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9525000" y="3322141"/>
            <a:ext cx="7848600" cy="9525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9" name="Text 7"/>
          <p:cNvSpPr/>
          <p:nvPr/>
        </p:nvSpPr>
        <p:spPr>
          <a:xfrm>
            <a:off x="9566910" y="3579316"/>
            <a:ext cx="8035290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marL="186690" indent="-186690">
              <a:lnSpc>
                <a:spcPct val="155000"/>
              </a:lnSpc>
              <a:buSzPct val="100000"/>
              <a:buChar char="•"/>
            </a:pPr>
            <a:r>
              <a:rPr lang="en-US" sz="210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How do you </a:t>
            </a:r>
            <a:pPr algn="l" indent="0" marL="0">
              <a:lnSpc>
                <a:spcPct val="155000"/>
              </a:lnSpc>
              <a:buNone/>
            </a:pPr>
            <a:r>
              <a:rPr lang="en-US" sz="2100" b="1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calculate </a:t>
            </a:r>
            <a:pPr algn="l" indent="0" marL="0">
              <a:lnSpc>
                <a:spcPct val="155000"/>
              </a:lnSpc>
              <a:buNone/>
            </a:pPr>
            <a:r>
              <a:rPr lang="en-US" sz="210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drowning rate and read a trend?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9566910" y="3992612"/>
            <a:ext cx="8035290" cy="86469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marL="186690" indent="-186690">
              <a:lnSpc>
                <a:spcPct val="155000"/>
              </a:lnSpc>
              <a:buSzPct val="100000"/>
              <a:buChar char="•"/>
            </a:pPr>
            <a:r>
              <a:rPr lang="en-US" sz="210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What </a:t>
            </a:r>
            <a:pPr algn="l" indent="0" marL="0">
              <a:lnSpc>
                <a:spcPct val="155000"/>
              </a:lnSpc>
              <a:buNone/>
            </a:pPr>
            <a:r>
              <a:rPr lang="en-US" sz="2100" b="1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physiologically </a:t>
            </a:r>
            <a:pPr algn="l" indent="0" marL="0">
              <a:lnSpc>
                <a:spcPct val="155000"/>
              </a:lnSpc>
              <a:buNone/>
            </a:pPr>
            <a:r>
              <a:rPr lang="en-US" sz="210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happens in the four minutes after submersion?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9566910" y="4819204"/>
            <a:ext cx="8035290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marL="186690" indent="-186690">
              <a:lnSpc>
                <a:spcPct val="155000"/>
              </a:lnSpc>
              <a:buSzPct val="100000"/>
              <a:buChar char="•"/>
            </a:pPr>
            <a:r>
              <a:rPr lang="en-US" sz="210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Which </a:t>
            </a:r>
            <a:pPr algn="l" indent="0" marL="0">
              <a:lnSpc>
                <a:spcPct val="155000"/>
              </a:lnSpc>
              <a:buNone/>
            </a:pPr>
            <a:r>
              <a:rPr lang="en-US" sz="2100" b="1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structural factors </a:t>
            </a:r>
            <a:pPr algn="l" indent="0" marL="0">
              <a:lnSpc>
                <a:spcPct val="155000"/>
              </a:lnSpc>
              <a:buNone/>
            </a:pPr>
            <a:r>
              <a:rPr lang="en-US" sz="210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 who drowns?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9566910" y="5232499"/>
            <a:ext cx="8035290" cy="86469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marL="186690" indent="-186690">
              <a:lnSpc>
                <a:spcPct val="155000"/>
              </a:lnSpc>
              <a:buSzPct val="100000"/>
              <a:buChar char="•"/>
            </a:pPr>
            <a:r>
              <a:rPr lang="en-US" sz="210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Which prevention strategies are </a:t>
            </a:r>
            <a:pPr algn="l" indent="0" marL="0">
              <a:lnSpc>
                <a:spcPct val="155000"/>
              </a:lnSpc>
              <a:buNone/>
            </a:pPr>
            <a:r>
              <a:rPr lang="en-US" sz="2100" b="1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backed by evidence </a:t>
            </a:r>
            <a:pPr algn="l" indent="0" marL="0">
              <a:lnSpc>
                <a:spcPct val="155000"/>
              </a:lnSpc>
              <a:buNone/>
            </a:pPr>
            <a:r>
              <a:rPr lang="en-US" sz="210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and which aren't?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9566910" y="6059091"/>
            <a:ext cx="8035290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marL="186690" indent="-186690">
              <a:lnSpc>
                <a:spcPct val="155000"/>
              </a:lnSpc>
              <a:buSzPct val="100000"/>
              <a:buChar char="•"/>
            </a:pPr>
            <a:r>
              <a:rPr lang="en-US" sz="210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What would </a:t>
            </a:r>
            <a:pPr algn="l" indent="0" marL="0">
              <a:lnSpc>
                <a:spcPct val="155000"/>
              </a:lnSpc>
              <a:buNone/>
            </a:pPr>
            <a:r>
              <a:rPr lang="en-US" sz="2100" b="1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you </a:t>
            </a:r>
            <a:pPr algn="l" indent="0" marL="0">
              <a:lnSpc>
                <a:spcPct val="155000"/>
              </a:lnSpc>
              <a:buNone/>
            </a:pPr>
            <a:r>
              <a:rPr lang="en-US" sz="210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 to a Minister?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914400" y="9229725"/>
            <a:ext cx="1091357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BRIDGE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068270" y="9229725"/>
            <a:ext cx="9584490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YOU HAVEN'T DONE Y7–8 · ASK FOR THE CATCH-UP SUMMARY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800100"/>
            <a:ext cx="16952976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24" kern="0" dirty="0">
                <a:solidFill>
                  <a:srgbClr val="FFFFFF">
                    <a:alpha val="78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LESSON 1 · 50 MIN · WORKBOOK SECTION 1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2714625"/>
            <a:ext cx="16952976" cy="1981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18000" b="1" spc="-720" kern="0" dirty="0">
                <a:solidFill>
                  <a:srgbClr val="FFFFFF">
                    <a:alpha val="9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8000" dirty="0"/>
          </a:p>
        </p:txBody>
      </p:sp>
      <p:sp>
        <p:nvSpPr>
          <p:cNvPr id="5" name="Text 3"/>
          <p:cNvSpPr/>
          <p:nvPr/>
        </p:nvSpPr>
        <p:spPr>
          <a:xfrm>
            <a:off x="914400" y="4886325"/>
            <a:ext cx="14716125" cy="2552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6600" b="1" spc="-132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data analysis — Victorian &amp; global drowning trends</a:t>
            </a:r>
            <a:endParaRPr lang="en-US" sz="6600" dirty="0"/>
          </a:p>
        </p:txBody>
      </p:sp>
      <p:sp>
        <p:nvSpPr>
          <p:cNvPr id="6" name="Shape 4"/>
          <p:cNvSpPr/>
          <p:nvPr/>
        </p:nvSpPr>
        <p:spPr>
          <a:xfrm>
            <a:off x="914400" y="9058275"/>
            <a:ext cx="1846659" cy="428625"/>
          </a:xfrm>
          <a:prstGeom prst="roundRect">
            <a:avLst>
              <a:gd name="adj" fmla="val 50000"/>
            </a:avLst>
          </a:prstGeom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6325" y="9144000"/>
            <a:ext cx="1599009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VCHPEP143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2913459" y="9058275"/>
            <a:ext cx="1846659" cy="428625"/>
          </a:xfrm>
          <a:prstGeom prst="roundRect">
            <a:avLst>
              <a:gd name="adj" fmla="val 50000"/>
            </a:avLst>
          </a:prstGeom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075384" y="9144000"/>
            <a:ext cx="1599009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VCHPEP144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4912519" y="9058275"/>
            <a:ext cx="5399484" cy="428625"/>
          </a:xfrm>
          <a:prstGeom prst="roundRect">
            <a:avLst>
              <a:gd name="adj" fmla="val 50000"/>
            </a:avLst>
          </a:prstGeom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74444" y="9144000"/>
            <a:ext cx="5237619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CLASSROOM · INDIVIDUAL + PAIRS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3554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800100"/>
            <a:ext cx="16952976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24" kern="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UNIT'S BIG QUESTION — RETURN TO IT IN LESSON 6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3138785"/>
            <a:ext cx="15697200" cy="990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60000"/>
              </a:lnSpc>
              <a:buNone/>
            </a:pPr>
            <a:r>
              <a:rPr lang="en-US" sz="18000" dirty="0">
                <a:solidFill>
                  <a:srgbClr val="FFD1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18000" dirty="0"/>
          </a:p>
        </p:txBody>
      </p:sp>
      <p:sp>
        <p:nvSpPr>
          <p:cNvPr id="5" name="Text 3"/>
          <p:cNvSpPr/>
          <p:nvPr/>
        </p:nvSpPr>
        <p:spPr>
          <a:xfrm>
            <a:off x="914400" y="4091285"/>
            <a:ext cx="15697200" cy="30950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5100" b="1" spc="-51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does Victoria still drown — despite decades of awareness campaigns, training, and warning signs — and what would actually move the numbers?</a:t>
            </a:r>
            <a:endParaRPr lang="en-US" sz="5100" dirty="0"/>
          </a:p>
        </p:txBody>
      </p:sp>
      <p:sp>
        <p:nvSpPr>
          <p:cNvPr id="6" name="Text 4"/>
          <p:cNvSpPr/>
          <p:nvPr/>
        </p:nvSpPr>
        <p:spPr>
          <a:xfrm>
            <a:off x="914400" y="9229725"/>
            <a:ext cx="1937296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FFFFFF">
                    <a:alpha val="60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L1 · OPENER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590931" y="9229725"/>
            <a:ext cx="8016149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FFFFFF">
                    <a:alpha val="60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 · LSV VICTORIAN DROWNING REPORT 2023–24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00100"/>
            <a:ext cx="16952976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24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VICTORIA · 2023–24 · LIFE SAVING VICTORIA REPORT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190625"/>
            <a:ext cx="16952976" cy="6323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500" b="1" spc="-67" kern="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worst Victorian drowning year in over a decade</a:t>
            </a:r>
            <a:endParaRPr lang="en-US" sz="4500" dirty="0"/>
          </a:p>
        </p:txBody>
      </p:sp>
      <p:sp>
        <p:nvSpPr>
          <p:cNvPr id="4" name="Text 2"/>
          <p:cNvSpPr/>
          <p:nvPr/>
        </p:nvSpPr>
        <p:spPr>
          <a:xfrm>
            <a:off x="914400" y="3698677"/>
            <a:ext cx="3111694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FATAL DROWNINGS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914400" y="4127302"/>
            <a:ext cx="762000" cy="38100"/>
          </a:xfrm>
          <a:prstGeom prst="rect">
            <a:avLst/>
          </a:prstGeom>
          <a:solidFill>
            <a:srgbClr val="003554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4336852"/>
            <a:ext cx="3111694" cy="1943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0" b="1" spc="-600" kern="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</a:t>
            </a:r>
            <a:endParaRPr lang="en-US" sz="15000" dirty="0"/>
          </a:p>
        </p:txBody>
      </p:sp>
      <p:sp>
        <p:nvSpPr>
          <p:cNvPr id="7" name="Text 5"/>
          <p:cNvSpPr/>
          <p:nvPr/>
        </p:nvSpPr>
        <p:spPr>
          <a:xfrm>
            <a:off x="914400" y="6413302"/>
            <a:ext cx="3111694" cy="14739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Lives lost in Victorian waters — the highest annual toll in over ten years.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4316462" y="3698677"/>
            <a:ext cx="4776149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NON-FATAL DROWNINGS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316462" y="4127302"/>
            <a:ext cx="762000" cy="3810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0" name="Text 8"/>
          <p:cNvSpPr/>
          <p:nvPr/>
        </p:nvSpPr>
        <p:spPr>
          <a:xfrm>
            <a:off x="4316462" y="4336852"/>
            <a:ext cx="4776149" cy="1943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0" b="1" spc="-600" kern="0" dirty="0">
                <a:solidFill>
                  <a:srgbClr val="1565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+60</a:t>
            </a:r>
            <a:pPr algn="l" indent="0" marL="0">
              <a:lnSpc>
                <a:spcPct val="100000"/>
              </a:lnSpc>
              <a:buNone/>
            </a:pPr>
            <a:r>
              <a:rPr lang="en-US" sz="9000" b="1" spc="-600" kern="0" dirty="0">
                <a:solidFill>
                  <a:srgbClr val="1565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</a:t>
            </a:r>
            <a:endParaRPr lang="en-US" sz="15000" dirty="0"/>
          </a:p>
        </p:txBody>
      </p:sp>
      <p:sp>
        <p:nvSpPr>
          <p:cNvPr id="11" name="Text 9"/>
          <p:cNvSpPr/>
          <p:nvPr/>
        </p:nvSpPr>
        <p:spPr>
          <a:xfrm>
            <a:off x="4316462" y="6413302"/>
            <a:ext cx="4776149" cy="11150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Above the 10-year average. The near-misses tell us the system is under more strain than the death toll alone shows.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9334500" y="3698677"/>
            <a:ext cx="4776149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CALD COMMUNITIES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9334500" y="4127302"/>
            <a:ext cx="762000" cy="38100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14" name="Text 12"/>
          <p:cNvSpPr/>
          <p:nvPr/>
        </p:nvSpPr>
        <p:spPr>
          <a:xfrm>
            <a:off x="9334500" y="4336852"/>
            <a:ext cx="4776149" cy="1943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0" b="1" spc="-600" kern="0" dirty="0">
                <a:solidFill>
                  <a:srgbClr val="6A1B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~40</a:t>
            </a:r>
            <a:pPr algn="l" indent="0" marL="0">
              <a:lnSpc>
                <a:spcPct val="100000"/>
              </a:lnSpc>
              <a:buNone/>
            </a:pPr>
            <a:r>
              <a:rPr lang="en-US" sz="9000" b="1" spc="-600" kern="0" dirty="0">
                <a:solidFill>
                  <a:srgbClr val="6A1B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</a:t>
            </a:r>
            <a:endParaRPr lang="en-US" sz="15000" dirty="0"/>
          </a:p>
        </p:txBody>
      </p:sp>
      <p:sp>
        <p:nvSpPr>
          <p:cNvPr id="15" name="Text 13"/>
          <p:cNvSpPr/>
          <p:nvPr/>
        </p:nvSpPr>
        <p:spPr>
          <a:xfrm>
            <a:off x="9334500" y="6413302"/>
            <a:ext cx="4776149" cy="75604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all deaths — the highest proportion ever recorded in Victoria.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4352538" y="3698677"/>
            <a:ext cx="3111694" cy="552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 PATROLLED SITES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14352538" y="4384477"/>
            <a:ext cx="762000" cy="38100"/>
          </a:xfrm>
          <a:prstGeom prst="rect">
            <a:avLst/>
          </a:prstGeom>
          <a:solidFill>
            <a:srgbClr val="00695C"/>
          </a:solidFill>
          <a:ln/>
        </p:spPr>
      </p:sp>
      <p:sp>
        <p:nvSpPr>
          <p:cNvPr id="18" name="Text 16"/>
          <p:cNvSpPr/>
          <p:nvPr/>
        </p:nvSpPr>
        <p:spPr>
          <a:xfrm>
            <a:off x="14352538" y="4594027"/>
            <a:ext cx="3111694" cy="1943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0" b="1" spc="-600" kern="0" dirty="0">
                <a:solidFill>
                  <a:srgbClr val="006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5000" dirty="0"/>
          </a:p>
        </p:txBody>
      </p:sp>
      <p:sp>
        <p:nvSpPr>
          <p:cNvPr id="19" name="Text 17"/>
          <p:cNvSpPr/>
          <p:nvPr/>
        </p:nvSpPr>
        <p:spPr>
          <a:xfrm>
            <a:off x="14352538" y="6670477"/>
            <a:ext cx="3111694" cy="11150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of the 54 deaths occurred between the flags at a patrolled location.</a:t>
            </a:r>
            <a:endParaRPr lang="en-US" sz="1950" dirty="0"/>
          </a:p>
        </p:txBody>
      </p:sp>
      <p:sp>
        <p:nvSpPr>
          <p:cNvPr id="20" name="Text 18"/>
          <p:cNvSpPr/>
          <p:nvPr/>
        </p:nvSpPr>
        <p:spPr>
          <a:xfrm>
            <a:off x="914400" y="9229725"/>
            <a:ext cx="1599009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L1 · DATA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2636252" y="9229725"/>
            <a:ext cx="4879468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 · LSV.COM.AU/RESEARCH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800100"/>
            <a:ext cx="16952976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24" kern="0" dirty="0">
                <a:solidFill>
                  <a:srgbClr val="FFFFFF">
                    <a:alpha val="75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HIGHEST PROPORTION EVER RECORDED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3269010"/>
            <a:ext cx="8084058" cy="3787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2000"/>
              </a:lnSpc>
              <a:buNone/>
            </a:pPr>
            <a:r>
              <a:rPr lang="en-US" sz="36000" b="1" spc="-14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pPr algn="l" indent="0" marL="0">
              <a:lnSpc>
                <a:spcPct val="82000"/>
              </a:lnSpc>
              <a:buNone/>
            </a:pPr>
            <a:r>
              <a:rPr lang="en-US" sz="18000" b="1" spc="-14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</a:t>
            </a:r>
            <a:endParaRPr lang="en-US" sz="36000" dirty="0"/>
          </a:p>
        </p:txBody>
      </p:sp>
      <p:sp>
        <p:nvSpPr>
          <p:cNvPr id="5" name="Text 3"/>
          <p:cNvSpPr/>
          <p:nvPr/>
        </p:nvSpPr>
        <p:spPr>
          <a:xfrm>
            <a:off x="9525000" y="3403848"/>
            <a:ext cx="8084058" cy="24811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2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of Victorian drowning deaths in 2023–24 were people from </a:t>
            </a:r>
            <a:pPr algn="l" indent="0" marL="0">
              <a:lnSpc>
                <a:spcPct val="135000"/>
              </a:lnSpc>
              <a:buNone/>
            </a:pPr>
            <a:r>
              <a:rPr lang="en-US" sz="2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Culturally &amp; Linguistically Diverse </a:t>
            </a:r>
            <a:pPr algn="l" indent="0" marL="0">
              <a:lnSpc>
                <a:spcPct val="135000"/>
              </a:lnSpc>
              <a:buNone/>
            </a:pPr>
            <a:r>
              <a:rPr lang="en-US" sz="2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communities — despite CALD Victorians making up roughly half that share of the state's population.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525000" y="6189762"/>
            <a:ext cx="8084058" cy="7313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950" dirty="0">
                <a:solidFill>
                  <a:srgbClr val="FFFFFF">
                    <a:alpha val="8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This is </a:t>
            </a:r>
            <a:pPr algn="l" indent="0" marL="0">
              <a:lnSpc>
                <a:spcPct val="140000"/>
              </a:lnSpc>
              <a:buNone/>
            </a:pPr>
            <a:r>
              <a:rPr lang="en-US" sz="1950" b="1" dirty="0">
                <a:solidFill>
                  <a:srgbClr val="FFFFFF">
                    <a:alpha val="8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over-representation</a:t>
            </a:r>
            <a:pPr algn="l" indent="0" marL="0">
              <a:lnSpc>
                <a:spcPct val="140000"/>
              </a:lnSpc>
              <a:buNone/>
            </a:pPr>
            <a:r>
              <a:rPr lang="en-US" sz="1950" dirty="0">
                <a:solidFill>
                  <a:srgbClr val="FFFFFF">
                    <a:alpha val="8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. Lesson 3 will ask </a:t>
            </a:r>
            <a:pPr algn="l" indent="0" marL="0">
              <a:lnSpc>
                <a:spcPct val="140000"/>
              </a:lnSpc>
              <a:buNone/>
            </a:pPr>
            <a:r>
              <a:rPr lang="en-US" sz="1950" b="1" dirty="0">
                <a:solidFill>
                  <a:srgbClr val="FFFFFF">
                    <a:alpha val="8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why </a:t>
            </a:r>
            <a:pPr algn="l" indent="0" marL="0">
              <a:lnSpc>
                <a:spcPct val="140000"/>
              </a:lnSpc>
              <a:buNone/>
            </a:pPr>
            <a:r>
              <a:rPr lang="en-US" sz="1950" dirty="0">
                <a:solidFill>
                  <a:srgbClr val="FFFFFF">
                    <a:alpha val="8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and what a school can do about it.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914400" y="9229725"/>
            <a:ext cx="4182292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FFFFFF">
                    <a:alpha val="70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L1 · OVER-REPRESENTATION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590931" y="9229725"/>
            <a:ext cx="8016149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FFFFFF">
                    <a:alpha val="70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 · LSV VICTORIAN DROWNING REPORT 2023–24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00100"/>
            <a:ext cx="16952976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24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WORKBOOK ACTIVITY 1.1A · CALCULATE THE RATE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190625"/>
            <a:ext cx="16952976" cy="6323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500" b="1" spc="-67" kern="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Victoria · Australia · the world — per 100,000 people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914400" y="3444776"/>
            <a:ext cx="5232350" cy="303549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6470749"/>
            <a:ext cx="5232350" cy="9525"/>
          </a:xfrm>
          <a:prstGeom prst="rect">
            <a:avLst/>
          </a:prstGeom>
          <a:solidFill>
            <a:srgbClr val="D4DCE3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3444776"/>
            <a:ext cx="5232350" cy="5715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7" name="Shape 5"/>
          <p:cNvSpPr/>
          <p:nvPr/>
        </p:nvSpPr>
        <p:spPr>
          <a:xfrm>
            <a:off x="914400" y="3444776"/>
            <a:ext cx="9525" cy="3035498"/>
          </a:xfrm>
          <a:prstGeom prst="rect">
            <a:avLst/>
          </a:prstGeom>
          <a:solidFill>
            <a:srgbClr val="D4DCE3"/>
          </a:solidFill>
          <a:ln/>
        </p:spPr>
      </p:sp>
      <p:sp>
        <p:nvSpPr>
          <p:cNvPr id="8" name="Shape 6"/>
          <p:cNvSpPr/>
          <p:nvPr/>
        </p:nvSpPr>
        <p:spPr>
          <a:xfrm>
            <a:off x="6137225" y="3444776"/>
            <a:ext cx="9525" cy="3035498"/>
          </a:xfrm>
          <a:prstGeom prst="rect">
            <a:avLst/>
          </a:prstGeom>
          <a:solidFill>
            <a:srgbClr val="D4DCE3"/>
          </a:solidFill>
          <a:ln/>
        </p:spPr>
      </p:sp>
      <p:sp>
        <p:nvSpPr>
          <p:cNvPr id="9" name="Text 7"/>
          <p:cNvSpPr/>
          <p:nvPr/>
        </p:nvSpPr>
        <p:spPr>
          <a:xfrm>
            <a:off x="1266825" y="3844826"/>
            <a:ext cx="4663325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88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VICTORIA · 2023–24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66825" y="4273451"/>
            <a:ext cx="466332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spc="42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54 ÷ 6,900,000 × 100,000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1266825" y="4683026"/>
            <a:ext cx="4663325" cy="990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500" b="1" spc="-225" kern="0" dirty="0">
                <a:solidFill>
                  <a:srgbClr val="1565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0.78</a:t>
            </a:r>
            <a:endParaRPr lang="en-US" sz="7500" dirty="0"/>
          </a:p>
        </p:txBody>
      </p:sp>
      <p:sp>
        <p:nvSpPr>
          <p:cNvPr id="12" name="Text 10"/>
          <p:cNvSpPr/>
          <p:nvPr/>
        </p:nvSpPr>
        <p:spPr>
          <a:xfrm>
            <a:off x="1266825" y="5768876"/>
            <a:ext cx="4663325" cy="39707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100,000 people · LSV 2023–24</a:t>
            </a:r>
            <a:endParaRPr lang="en-US" sz="1950" dirty="0"/>
          </a:p>
        </p:txBody>
      </p:sp>
      <p:sp>
        <p:nvSpPr>
          <p:cNvPr id="13" name="Shape 11"/>
          <p:cNvSpPr/>
          <p:nvPr/>
        </p:nvSpPr>
        <p:spPr>
          <a:xfrm>
            <a:off x="6527750" y="3444776"/>
            <a:ext cx="5232350" cy="3035498"/>
          </a:xfrm>
          <a:prstGeom prst="rect">
            <a:avLst/>
          </a:prstGeom>
          <a:solidFill>
            <a:srgbClr val="FFFFFF"/>
          </a:solidFill>
          <a:ln w="9525">
            <a:solidFill>
              <a:srgbClr val="D4DCE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80175" y="3797201"/>
            <a:ext cx="4663325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88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AUSTRALIA · ANNUAL AVG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880175" y="4225826"/>
            <a:ext cx="466332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spc="42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RLSSA national data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6880175" y="4635401"/>
            <a:ext cx="4663325" cy="990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500" b="1" spc="-225" kern="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</a:t>
            </a:r>
            <a:endParaRPr lang="en-US" sz="7500" dirty="0"/>
          </a:p>
        </p:txBody>
      </p:sp>
      <p:sp>
        <p:nvSpPr>
          <p:cNvPr id="17" name="Text 15"/>
          <p:cNvSpPr/>
          <p:nvPr/>
        </p:nvSpPr>
        <p:spPr>
          <a:xfrm>
            <a:off x="6880175" y="5721251"/>
            <a:ext cx="4663325" cy="39707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100,000 people · RLSSA</a:t>
            </a:r>
            <a:endParaRPr lang="en-US" sz="1950" dirty="0"/>
          </a:p>
        </p:txBody>
      </p:sp>
      <p:sp>
        <p:nvSpPr>
          <p:cNvPr id="18" name="Shape 16"/>
          <p:cNvSpPr/>
          <p:nvPr/>
        </p:nvSpPr>
        <p:spPr>
          <a:xfrm>
            <a:off x="12141101" y="3444776"/>
            <a:ext cx="5232350" cy="3035498"/>
          </a:xfrm>
          <a:prstGeom prst="rect">
            <a:avLst/>
          </a:prstGeom>
          <a:solidFill>
            <a:srgbClr val="FFFFFF"/>
          </a:solidFill>
          <a:ln w="9525">
            <a:solidFill>
              <a:srgbClr val="D4DCE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2493526" y="3797201"/>
            <a:ext cx="4663325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88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GLOBAL · HIGH-INCOME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2493526" y="4225826"/>
            <a:ext cx="466332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spc="42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WHO benchmark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12493526" y="4635401"/>
            <a:ext cx="4663325" cy="990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500" b="1" spc="-225" kern="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~0.8</a:t>
            </a:r>
            <a:endParaRPr lang="en-US" sz="7500" dirty="0"/>
          </a:p>
        </p:txBody>
      </p:sp>
      <p:sp>
        <p:nvSpPr>
          <p:cNvPr id="22" name="Text 20"/>
          <p:cNvSpPr/>
          <p:nvPr/>
        </p:nvSpPr>
        <p:spPr>
          <a:xfrm>
            <a:off x="12493526" y="5721251"/>
            <a:ext cx="4663325" cy="39707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100,000 people · WHO</a:t>
            </a:r>
            <a:endParaRPr lang="en-US" sz="1950" dirty="0"/>
          </a:p>
        </p:txBody>
      </p:sp>
      <p:sp>
        <p:nvSpPr>
          <p:cNvPr id="23" name="Shape 21"/>
          <p:cNvSpPr/>
          <p:nvPr/>
        </p:nvSpPr>
        <p:spPr>
          <a:xfrm>
            <a:off x="914400" y="7949803"/>
            <a:ext cx="16459200" cy="127992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Shape 22"/>
          <p:cNvSpPr/>
          <p:nvPr/>
        </p:nvSpPr>
        <p:spPr>
          <a:xfrm>
            <a:off x="914400" y="7949803"/>
            <a:ext cx="57150" cy="1279922"/>
          </a:xfrm>
          <a:prstGeom prst="rect">
            <a:avLst/>
          </a:prstGeom>
          <a:solidFill>
            <a:srgbClr val="FFD166"/>
          </a:solidFill>
          <a:ln/>
        </p:spPr>
      </p:sp>
      <p:sp>
        <p:nvSpPr>
          <p:cNvPr id="25" name="Text 23"/>
          <p:cNvSpPr/>
          <p:nvPr/>
        </p:nvSpPr>
        <p:spPr>
          <a:xfrm>
            <a:off x="1314450" y="8216503"/>
            <a:ext cx="16210026" cy="7846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100" b="1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In your workbook: </a:t>
            </a:r>
            <a:pPr algn="l" indent="0" marL="0">
              <a:lnSpc>
                <a:spcPct val="140000"/>
              </a:lnSpc>
              <a:buNone/>
            </a:pPr>
            <a:r>
              <a:rPr lang="en-US" sz="2100" dirty="0">
                <a:solidFill>
                  <a:srgbClr val="003554"/>
                </a:solidFill>
                <a:highlight>
                  <a:srgbClr val="FFFFFF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show your working. If Victoria matched the 0.8 high-income benchmark, that's about </a:t>
            </a:r>
            <a:pPr algn="l" indent="0" marL="0">
              <a:lnSpc>
                <a:spcPct val="140000"/>
              </a:lnSpc>
              <a:buNone/>
            </a:pPr>
            <a:r>
              <a:rPr lang="en-US" sz="2100" b="1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55 → 55 </a:t>
            </a:r>
            <a:pPr algn="l" indent="0" marL="0">
              <a:lnSpc>
                <a:spcPct val="140000"/>
              </a:lnSpc>
              <a:buNone/>
            </a:pPr>
            <a:r>
              <a:rPr lang="en-US" sz="2100" dirty="0">
                <a:solidFill>
                  <a:srgbClr val="003554"/>
                </a:solidFill>
                <a:highlight>
                  <a:srgbClr val="FFFFFF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deaths — but the 60% jump in non-fatal incidents is where the real warning sits. </a:t>
            </a:r>
            <a:pPr algn="l" indent="0" marL="0">
              <a:lnSpc>
                <a:spcPct val="140000"/>
              </a:lnSpc>
              <a:buNone/>
            </a:pPr>
            <a:r>
              <a:rPr lang="en-US" sz="2100" dirty="0">
                <a:solidFill>
                  <a:srgbClr val="4A6B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(See Activity 1.1c.)</a:t>
            </a:r>
            <a:endParaRPr lang="en-US" sz="2100" dirty="0"/>
          </a:p>
        </p:txBody>
      </p:sp>
      <p:sp>
        <p:nvSpPr>
          <p:cNvPr id="26" name="Text 24"/>
          <p:cNvSpPr/>
          <p:nvPr/>
        </p:nvSpPr>
        <p:spPr>
          <a:xfrm>
            <a:off x="914400" y="9229725"/>
            <a:ext cx="2788246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L1 · CALCULATION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2128748" y="9229725"/>
            <a:ext cx="5402198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SOURCES · LSV · RLSSA · WHO.INT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00100"/>
            <a:ext cx="16952976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24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GLOBAL CONTEXT · WHO 2021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190625"/>
            <a:ext cx="16952976" cy="12266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500" b="1" spc="-67" kern="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Drowning is one of the world's most unequal causes of death</a:t>
            </a:r>
            <a:endParaRPr lang="en-US" sz="4500" dirty="0"/>
          </a:p>
        </p:txBody>
      </p:sp>
      <p:sp>
        <p:nvSpPr>
          <p:cNvPr id="4" name="Text 2"/>
          <p:cNvSpPr/>
          <p:nvPr/>
        </p:nvSpPr>
        <p:spPr>
          <a:xfrm>
            <a:off x="914400" y="3946475"/>
            <a:ext cx="6137850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GLOBAL DEATHS / YEAR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914400" y="4375100"/>
            <a:ext cx="762000" cy="38100"/>
          </a:xfrm>
          <a:prstGeom prst="rect">
            <a:avLst/>
          </a:prstGeom>
          <a:solidFill>
            <a:srgbClr val="003554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4584650"/>
            <a:ext cx="6137850" cy="1943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0" b="1" spc="-600" kern="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~320k</a:t>
            </a:r>
            <a:endParaRPr lang="en-US" sz="15000" dirty="0"/>
          </a:p>
        </p:txBody>
      </p:sp>
      <p:sp>
        <p:nvSpPr>
          <p:cNvPr id="7" name="Text 5"/>
          <p:cNvSpPr/>
          <p:nvPr/>
        </p:nvSpPr>
        <p:spPr>
          <a:xfrm>
            <a:off x="914400" y="6661100"/>
            <a:ext cx="6137850" cy="75604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estimated 320,000 people drown each year worldwide (WHO).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7254478" y="3946475"/>
            <a:ext cx="3461202" cy="552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 LOW &amp; MIDDLE-INCOME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7254478" y="4632275"/>
            <a:ext cx="762000" cy="38100"/>
          </a:xfrm>
          <a:prstGeom prst="rect">
            <a:avLst/>
          </a:prstGeom>
          <a:solidFill>
            <a:srgbClr val="B71C1C"/>
          </a:solidFill>
          <a:ln/>
        </p:spPr>
      </p:sp>
      <p:sp>
        <p:nvSpPr>
          <p:cNvPr id="10" name="Text 8"/>
          <p:cNvSpPr/>
          <p:nvPr/>
        </p:nvSpPr>
        <p:spPr>
          <a:xfrm>
            <a:off x="7254478" y="4841825"/>
            <a:ext cx="3461202" cy="1943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0" b="1" spc="-600" kern="0" dirty="0">
                <a:solidFill>
                  <a:srgbClr val="B7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</a:t>
            </a:r>
            <a:pPr algn="l" indent="0" marL="0">
              <a:lnSpc>
                <a:spcPct val="100000"/>
              </a:lnSpc>
              <a:buNone/>
            </a:pPr>
            <a:r>
              <a:rPr lang="en-US" sz="8250" b="1" spc="-600" kern="0" dirty="0">
                <a:solidFill>
                  <a:srgbClr val="B7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</a:t>
            </a:r>
            <a:endParaRPr lang="en-US" sz="15000" dirty="0"/>
          </a:p>
        </p:txBody>
      </p:sp>
      <p:sp>
        <p:nvSpPr>
          <p:cNvPr id="11" name="Text 9"/>
          <p:cNvSpPr/>
          <p:nvPr/>
        </p:nvSpPr>
        <p:spPr>
          <a:xfrm>
            <a:off x="7254478" y="6918275"/>
            <a:ext cx="3461202" cy="11150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global drowning deaths happen in low- and middle-income countries.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0995868" y="3946475"/>
            <a:ext cx="4678042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GLOBAL · MALE VICTIMS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10995868" y="4375100"/>
            <a:ext cx="762000" cy="38100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14" name="Text 12"/>
          <p:cNvSpPr/>
          <p:nvPr/>
        </p:nvSpPr>
        <p:spPr>
          <a:xfrm>
            <a:off x="10995868" y="4584650"/>
            <a:ext cx="4678042" cy="1943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0" b="1" spc="-600" kern="0" dirty="0">
                <a:solidFill>
                  <a:srgbClr val="6A1B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~80</a:t>
            </a:r>
            <a:pPr algn="l" indent="0" marL="0">
              <a:lnSpc>
                <a:spcPct val="100000"/>
              </a:lnSpc>
              <a:buNone/>
            </a:pPr>
            <a:r>
              <a:rPr lang="en-US" sz="8250" b="1" spc="-600" kern="0" dirty="0">
                <a:solidFill>
                  <a:srgbClr val="6A1B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</a:t>
            </a:r>
            <a:endParaRPr lang="en-US" sz="15000" dirty="0"/>
          </a:p>
        </p:txBody>
      </p:sp>
      <p:sp>
        <p:nvSpPr>
          <p:cNvPr id="15" name="Text 13"/>
          <p:cNvSpPr/>
          <p:nvPr/>
        </p:nvSpPr>
        <p:spPr>
          <a:xfrm>
            <a:off x="10995868" y="6661100"/>
            <a:ext cx="4678042" cy="75604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global drowning deaths are male — a pattern repeated in Victorian data.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5918656" y="3946475"/>
            <a:ext cx="1531144" cy="552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HIGHEST-RISK AGE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15918656" y="4632275"/>
            <a:ext cx="762000" cy="38100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18" name="Text 16"/>
          <p:cNvSpPr/>
          <p:nvPr/>
        </p:nvSpPr>
        <p:spPr>
          <a:xfrm>
            <a:off x="15918656" y="4841825"/>
            <a:ext cx="1531144" cy="1066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9000" b="1" spc="-360" kern="0" dirty="0">
                <a:solidFill>
                  <a:srgbClr val="E65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&lt;5</a:t>
            </a:r>
            <a:endParaRPr lang="en-US" sz="9000" dirty="0"/>
          </a:p>
        </p:txBody>
      </p:sp>
      <p:sp>
        <p:nvSpPr>
          <p:cNvPr id="19" name="Text 17"/>
          <p:cNvSpPr/>
          <p:nvPr/>
        </p:nvSpPr>
        <p:spPr>
          <a:xfrm>
            <a:off x="15918656" y="6041975"/>
            <a:ext cx="1531144" cy="21919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Children under five are the highest-risk age group globally.</a:t>
            </a:r>
            <a:endParaRPr lang="en-US" sz="1950" dirty="0"/>
          </a:p>
        </p:txBody>
      </p:sp>
      <p:sp>
        <p:nvSpPr>
          <p:cNvPr id="20" name="Text 18"/>
          <p:cNvSpPr/>
          <p:nvPr/>
        </p:nvSpPr>
        <p:spPr>
          <a:xfrm>
            <a:off x="914400" y="9229725"/>
            <a:ext cx="1937296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L1 · GLOBAL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2128748" y="9229725"/>
            <a:ext cx="5402198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SOURCES · WHO.INT · RLSSA · CDC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D1F2D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800100"/>
            <a:ext cx="16952976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24" kern="0" dirty="0">
                <a:solidFill>
                  <a:srgbClr val="FFFFFF">
                    <a:alpha val="65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LESSON 1 · EXIT TICKET · 5 MIN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3666232"/>
            <a:ext cx="14716125" cy="18209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500" b="1" spc="-67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one sentence — what is the single most important data insight from today, and why does it matter?</a:t>
            </a:r>
            <a:endParaRPr lang="en-US" sz="4500" dirty="0"/>
          </a:p>
        </p:txBody>
      </p:sp>
      <p:sp>
        <p:nvSpPr>
          <p:cNvPr id="5" name="Text 3"/>
          <p:cNvSpPr/>
          <p:nvPr/>
        </p:nvSpPr>
        <p:spPr>
          <a:xfrm>
            <a:off x="914400" y="5791944"/>
            <a:ext cx="13735050" cy="866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250" dirty="0">
                <a:solidFill>
                  <a:srgbClr val="FFFFFF">
                    <a:alpha val="7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Workbook open to Section 1. Notes closed. </a:t>
            </a:r>
            <a:pPr algn="l" indent="0" marL="0">
              <a:lnSpc>
                <a:spcPct val="145000"/>
              </a:lnSpc>
              <a:buNone/>
            </a:pPr>
            <a:r>
              <a:rPr lang="en-US" sz="225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Insight </a:t>
            </a:r>
            <a:pPr algn="l" indent="0" marL="0">
              <a:lnSpc>
                <a:spcPct val="145000"/>
              </a:lnSpc>
              <a:buNone/>
            </a:pPr>
            <a:r>
              <a:rPr lang="en-US" sz="2250" dirty="0">
                <a:solidFill>
                  <a:srgbClr val="FFFFFF">
                    <a:alpha val="7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— not just a number. The most powerful answers will name a number </a:t>
            </a:r>
            <a:pPr algn="l" indent="0" marL="0">
              <a:lnSpc>
                <a:spcPct val="145000"/>
              </a:lnSpc>
              <a:buNone/>
            </a:pPr>
            <a:r>
              <a:rPr lang="en-US" sz="2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and </a:t>
            </a:r>
            <a:pPr algn="l" indent="0" marL="0">
              <a:lnSpc>
                <a:spcPct val="145000"/>
              </a:lnSpc>
              <a:buNone/>
            </a:pPr>
            <a:r>
              <a:rPr lang="en-US" sz="2250" dirty="0">
                <a:solidFill>
                  <a:srgbClr val="FFFFFF">
                    <a:alpha val="7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implies.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914400" y="9229725"/>
            <a:ext cx="1937296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FFFFFF">
                    <a:alpha val="55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EXIT TICKET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313122" y="9229725"/>
            <a:ext cx="4182292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FFFFFF">
                    <a:alpha val="55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 IN BEFORE YOU LEAVE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B71C1C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800100"/>
            <a:ext cx="16952976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24" kern="0" dirty="0">
                <a:solidFill>
                  <a:srgbClr val="FFFFFF">
                    <a:alpha val="78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LESSON 2 · 50 MIN · WORKBOOK SECTION 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3133725"/>
            <a:ext cx="16952976" cy="1981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18000" b="1" spc="-720" kern="0" dirty="0">
                <a:solidFill>
                  <a:srgbClr val="FFFFFF">
                    <a:alpha val="9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8000" dirty="0"/>
          </a:p>
        </p:txBody>
      </p:sp>
      <p:sp>
        <p:nvSpPr>
          <p:cNvPr id="5" name="Text 3"/>
          <p:cNvSpPr/>
          <p:nvPr/>
        </p:nvSpPr>
        <p:spPr>
          <a:xfrm>
            <a:off x="914400" y="5305425"/>
            <a:ext cx="14716125" cy="1714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6600" b="1" spc="-132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Physiology of drowning &amp; CPR mechanics</a:t>
            </a:r>
            <a:endParaRPr lang="en-US" sz="6600" dirty="0"/>
          </a:p>
        </p:txBody>
      </p:sp>
      <p:sp>
        <p:nvSpPr>
          <p:cNvPr id="6" name="Shape 4"/>
          <p:cNvSpPr/>
          <p:nvPr/>
        </p:nvSpPr>
        <p:spPr>
          <a:xfrm>
            <a:off x="914400" y="9058275"/>
            <a:ext cx="1846659" cy="428625"/>
          </a:xfrm>
          <a:prstGeom prst="roundRect">
            <a:avLst>
              <a:gd name="adj" fmla="val 50000"/>
            </a:avLst>
          </a:prstGeom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6325" y="9144000"/>
            <a:ext cx="1599009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VCHPEP144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2913459" y="9058275"/>
            <a:ext cx="1846659" cy="428625"/>
          </a:xfrm>
          <a:prstGeom prst="roundRect">
            <a:avLst>
              <a:gd name="adj" fmla="val 50000"/>
            </a:avLst>
          </a:prstGeom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075384" y="9144000"/>
            <a:ext cx="1599009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VCHPEM162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4912519" y="9058275"/>
            <a:ext cx="2015728" cy="428625"/>
          </a:xfrm>
          <a:prstGeom prst="roundRect">
            <a:avLst>
              <a:gd name="adj" fmla="val 50000"/>
            </a:avLst>
          </a:prstGeom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74444" y="9144000"/>
            <a:ext cx="1768078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INDIVIDUAL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00100"/>
            <a:ext cx="16952976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24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PHYSIOLOGICAL SEQUENCE · WORKBOOK 2.1A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190625"/>
            <a:ext cx="16952976" cy="6323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500" b="1" spc="-67" kern="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stages — from submersion to brain damage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914400" y="4238327"/>
            <a:ext cx="533400" cy="533400"/>
          </a:xfrm>
          <a:prstGeom prst="rect">
            <a:avLst/>
          </a:prstGeom>
          <a:solidFill>
            <a:srgbClr val="B71C1C"/>
          </a:solidFill>
          <a:ln/>
        </p:spPr>
      </p:sp>
      <p:sp>
        <p:nvSpPr>
          <p:cNvPr id="5" name="Text 3"/>
          <p:cNvSpPr/>
          <p:nvPr/>
        </p:nvSpPr>
        <p:spPr>
          <a:xfrm>
            <a:off x="876300" y="4238327"/>
            <a:ext cx="609600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914400" y="4981277"/>
            <a:ext cx="3202137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spc="-22" kern="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Submersion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914400" y="5514677"/>
            <a:ext cx="3202137" cy="11150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 goes under. Voluntary breath-holding begins. The clock starts.</a:t>
            </a:r>
            <a:endParaRPr lang="en-US" sz="1950" dirty="0"/>
          </a:p>
        </p:txBody>
      </p:sp>
      <p:sp>
        <p:nvSpPr>
          <p:cNvPr id="8" name="Shape 6"/>
          <p:cNvSpPr/>
          <p:nvPr/>
        </p:nvSpPr>
        <p:spPr>
          <a:xfrm>
            <a:off x="4251871" y="4238327"/>
            <a:ext cx="533400" cy="533400"/>
          </a:xfrm>
          <a:prstGeom prst="rect">
            <a:avLst/>
          </a:prstGeom>
          <a:solidFill>
            <a:srgbClr val="B71C1C"/>
          </a:solidFill>
          <a:ln/>
        </p:spPr>
      </p:sp>
      <p:sp>
        <p:nvSpPr>
          <p:cNvPr id="9" name="Text 7"/>
          <p:cNvSpPr/>
          <p:nvPr/>
        </p:nvSpPr>
        <p:spPr>
          <a:xfrm>
            <a:off x="4213771" y="4238327"/>
            <a:ext cx="609600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4251871" y="4981277"/>
            <a:ext cx="3202290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spc="-22" kern="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Laryngospasm</a:t>
            </a:r>
            <a:endParaRPr lang="en-US" sz="2250" dirty="0"/>
          </a:p>
        </p:txBody>
      </p:sp>
      <p:sp>
        <p:nvSpPr>
          <p:cNvPr id="11" name="Text 9"/>
          <p:cNvSpPr/>
          <p:nvPr/>
        </p:nvSpPr>
        <p:spPr>
          <a:xfrm>
            <a:off x="4251871" y="5514677"/>
            <a:ext cx="3202290" cy="14739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Involuntary airway closure. In ~10–15% of cases water is kept </a:t>
            </a:r>
            <a:pPr algn="l" indent="0" marL="0">
              <a:lnSpc>
                <a:spcPct val="145000"/>
              </a:lnSpc>
              <a:buNone/>
            </a:pPr>
            <a:r>
              <a:rPr lang="en-US" sz="1950" i="1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out </a:t>
            </a:r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"dry drowning" — but asphyxia continues.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7589490" y="4238327"/>
            <a:ext cx="533400" cy="533400"/>
          </a:xfrm>
          <a:prstGeom prst="rect">
            <a:avLst/>
          </a:prstGeom>
          <a:solidFill>
            <a:srgbClr val="B71C1C"/>
          </a:solidFill>
          <a:ln/>
        </p:spPr>
      </p:sp>
      <p:sp>
        <p:nvSpPr>
          <p:cNvPr id="13" name="Text 11"/>
          <p:cNvSpPr/>
          <p:nvPr/>
        </p:nvSpPr>
        <p:spPr>
          <a:xfrm>
            <a:off x="7551390" y="4238327"/>
            <a:ext cx="609600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7589490" y="4981277"/>
            <a:ext cx="3202137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spc="-22" kern="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Hypoxia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7589490" y="5514677"/>
            <a:ext cx="3202137" cy="14739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Oxygen levels drop at the tissue level. The casualty loses consciousness; reflexes fade.</a:t>
            </a:r>
            <a:endParaRPr lang="en-US" sz="1950" dirty="0"/>
          </a:p>
        </p:txBody>
      </p:sp>
      <p:sp>
        <p:nvSpPr>
          <p:cNvPr id="16" name="Shape 14"/>
          <p:cNvSpPr/>
          <p:nvPr/>
        </p:nvSpPr>
        <p:spPr>
          <a:xfrm>
            <a:off x="10926961" y="4238327"/>
            <a:ext cx="533400" cy="533400"/>
          </a:xfrm>
          <a:prstGeom prst="rect">
            <a:avLst/>
          </a:prstGeom>
          <a:solidFill>
            <a:srgbClr val="B71C1C"/>
          </a:solidFill>
          <a:ln/>
        </p:spPr>
      </p:sp>
      <p:sp>
        <p:nvSpPr>
          <p:cNvPr id="17" name="Text 15"/>
          <p:cNvSpPr/>
          <p:nvPr/>
        </p:nvSpPr>
        <p:spPr>
          <a:xfrm>
            <a:off x="10888861" y="4238327"/>
            <a:ext cx="609600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10926961" y="4981277"/>
            <a:ext cx="3202290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spc="-22" kern="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Cardiac arrest</a:t>
            </a:r>
            <a:endParaRPr lang="en-US" sz="2250" dirty="0"/>
          </a:p>
        </p:txBody>
      </p:sp>
      <p:sp>
        <p:nvSpPr>
          <p:cNvPr id="19" name="Text 17"/>
          <p:cNvSpPr/>
          <p:nvPr/>
        </p:nvSpPr>
        <p:spPr>
          <a:xfrm>
            <a:off x="10926961" y="5514677"/>
            <a:ext cx="3202290" cy="18329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Without oxygen the heart fails to pump effectively. Circulation stops; bystander CPR is now the only intervention.</a:t>
            </a:r>
            <a:endParaRPr lang="en-US" sz="1950" dirty="0"/>
          </a:p>
        </p:txBody>
      </p:sp>
      <p:sp>
        <p:nvSpPr>
          <p:cNvPr id="20" name="Shape 18"/>
          <p:cNvSpPr/>
          <p:nvPr/>
        </p:nvSpPr>
        <p:spPr>
          <a:xfrm>
            <a:off x="14264580" y="4238327"/>
            <a:ext cx="533400" cy="533400"/>
          </a:xfrm>
          <a:prstGeom prst="rect">
            <a:avLst/>
          </a:prstGeom>
          <a:solidFill>
            <a:srgbClr val="B71C1C"/>
          </a:solidFill>
          <a:ln/>
        </p:spPr>
      </p:sp>
      <p:sp>
        <p:nvSpPr>
          <p:cNvPr id="21" name="Text 19"/>
          <p:cNvSpPr/>
          <p:nvPr/>
        </p:nvSpPr>
        <p:spPr>
          <a:xfrm>
            <a:off x="14226480" y="4238327"/>
            <a:ext cx="609600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14264580" y="4981277"/>
            <a:ext cx="3202137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spc="-22" kern="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Cerebral hypoxia</a:t>
            </a:r>
            <a:endParaRPr lang="en-US" sz="2250" dirty="0"/>
          </a:p>
        </p:txBody>
      </p:sp>
      <p:sp>
        <p:nvSpPr>
          <p:cNvPr id="23" name="Text 21"/>
          <p:cNvSpPr/>
          <p:nvPr/>
        </p:nvSpPr>
        <p:spPr>
          <a:xfrm>
            <a:off x="14264580" y="5514677"/>
            <a:ext cx="3202137" cy="18329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Brain cells start dying within 4–6 minutes. After 10 minutes without CPR, survival without major damage is unlikely.</a:t>
            </a:r>
            <a:endParaRPr lang="en-US" sz="1950" dirty="0"/>
          </a:p>
        </p:txBody>
      </p:sp>
      <p:sp>
        <p:nvSpPr>
          <p:cNvPr id="24" name="Text 22"/>
          <p:cNvSpPr/>
          <p:nvPr/>
        </p:nvSpPr>
        <p:spPr>
          <a:xfrm>
            <a:off x="914400" y="9229725"/>
            <a:ext cx="2275731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L2 · SEQUENCE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9590931" y="9229725"/>
            <a:ext cx="8016149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SOURCES · ST JOHN VIC · HEART FOUNDATION · WHO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B71C1C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800100"/>
            <a:ext cx="16952976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24" kern="0" dirty="0">
                <a:solidFill>
                  <a:srgbClr val="FFFFFF">
                    <a:alpha val="75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BYSTANDER CPR WINDOW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2753618"/>
            <a:ext cx="8084058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700" spc="378" kern="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MINUTES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914400" y="3315593"/>
            <a:ext cx="8084058" cy="42557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3025"/>
              </a:lnSpc>
              <a:buNone/>
            </a:pPr>
            <a:r>
              <a:rPr lang="en-US" sz="40000" b="1" spc="-16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40000" dirty="0"/>
          </a:p>
        </p:txBody>
      </p:sp>
      <p:sp>
        <p:nvSpPr>
          <p:cNvPr id="6" name="Text 4"/>
          <p:cNvSpPr/>
          <p:nvPr/>
        </p:nvSpPr>
        <p:spPr>
          <a:xfrm>
            <a:off x="9525000" y="3143250"/>
            <a:ext cx="8084058" cy="1609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3300" b="1" spc="-49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window in which bystander CPR makes the biggest difference between full recovery and lasting brain damage.</a:t>
            </a:r>
            <a:endParaRPr lang="en-US" sz="3300" dirty="0"/>
          </a:p>
        </p:txBody>
      </p:sp>
      <p:sp>
        <p:nvSpPr>
          <p:cNvPr id="7" name="Text 5"/>
          <p:cNvSpPr/>
          <p:nvPr/>
        </p:nvSpPr>
        <p:spPr>
          <a:xfrm>
            <a:off x="9525000" y="5057775"/>
            <a:ext cx="8084058" cy="1152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950" dirty="0">
                <a:solidFill>
                  <a:srgbClr val="FFFFFF">
                    <a:alpha val="8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Chest compressions deliver roughly </a:t>
            </a:r>
            <a:pPr algn="l" indent="0" marL="0">
              <a:lnSpc>
                <a:spcPct val="150000"/>
              </a:lnSpc>
              <a:buNone/>
            </a:pPr>
            <a:r>
              <a:rPr lang="en-US" sz="195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25–30% </a:t>
            </a:r>
            <a:pPr algn="l" indent="0" marL="0">
              <a:lnSpc>
                <a:spcPct val="150000"/>
              </a:lnSpc>
              <a:buNone/>
            </a:pPr>
            <a:r>
              <a:rPr lang="en-US" sz="1950" dirty="0">
                <a:solidFill>
                  <a:srgbClr val="FFFFFF">
                    <a:alpha val="8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normal cardiac output — enough oxygenated blood to keep the brain alive until the heart can restart.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9525000" y="6400800"/>
            <a:ext cx="8084058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950" dirty="0">
                <a:solidFill>
                  <a:srgbClr val="FFFFFF">
                    <a:alpha val="8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Starting at </a:t>
            </a:r>
            <a:pPr algn="l" indent="0" marL="0">
              <a:lnSpc>
                <a:spcPct val="150000"/>
              </a:lnSpc>
              <a:buNone/>
            </a:pPr>
            <a:r>
              <a:rPr lang="en-US" sz="1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4 minutes </a:t>
            </a:r>
            <a:pPr algn="l" indent="0" marL="0">
              <a:lnSpc>
                <a:spcPct val="150000"/>
              </a:lnSpc>
              <a:buNone/>
            </a:pPr>
            <a:r>
              <a:rPr lang="en-US" sz="1950" dirty="0">
                <a:solidFill>
                  <a:srgbClr val="FFFFFF">
                    <a:alpha val="8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produces dramatically better outcomes than starting at </a:t>
            </a:r>
            <a:pPr algn="l" indent="0" marL="0">
              <a:lnSpc>
                <a:spcPct val="150000"/>
              </a:lnSpc>
              <a:buNone/>
            </a:pPr>
            <a:r>
              <a:rPr lang="en-US" sz="1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pPr algn="l" indent="0" marL="0">
              <a:lnSpc>
                <a:spcPct val="150000"/>
              </a:lnSpc>
              <a:buNone/>
            </a:pPr>
            <a:r>
              <a:rPr lang="en-US" sz="1950" dirty="0">
                <a:solidFill>
                  <a:srgbClr val="FFFFFF">
                    <a:alpha val="8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914400" y="9229725"/>
            <a:ext cx="3310975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FFFFFF">
                    <a:alpha val="70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L2 · CPR PHYSIOLOGY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0267652" y="9229725"/>
            <a:ext cx="7319126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FFFFFF">
                    <a:alpha val="70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SOURCES · HEARTFOUNDATION.ORG.AU · WHO.INT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00100"/>
            <a:ext cx="16952976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24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CPR RHYTHM · BUILT ON Y7–8 DRS ABCD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190625"/>
            <a:ext cx="16952976" cy="6323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500" b="1" spc="-67" kern="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chest compressions actually do</a:t>
            </a:r>
            <a:endParaRPr lang="en-US" sz="4500" dirty="0"/>
          </a:p>
        </p:txBody>
      </p:sp>
      <p:sp>
        <p:nvSpPr>
          <p:cNvPr id="4" name="Text 2"/>
          <p:cNvSpPr/>
          <p:nvPr/>
        </p:nvSpPr>
        <p:spPr>
          <a:xfrm>
            <a:off x="914400" y="4640461"/>
            <a:ext cx="3444800" cy="2305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21000" b="1" spc="-840" kern="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21000" dirty="0"/>
          </a:p>
        </p:txBody>
      </p:sp>
      <p:sp>
        <p:nvSpPr>
          <p:cNvPr id="5" name="Text 3"/>
          <p:cNvSpPr/>
          <p:nvPr/>
        </p:nvSpPr>
        <p:spPr>
          <a:xfrm>
            <a:off x="4525566" y="6583561"/>
            <a:ext cx="2614017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spc="315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COMPRESSIONS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7330083" y="5935861"/>
            <a:ext cx="743694" cy="1009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9000" dirty="0">
                <a:solidFill>
                  <a:srgbClr val="4A6B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0" dirty="0"/>
          </a:p>
        </p:txBody>
      </p:sp>
      <p:sp>
        <p:nvSpPr>
          <p:cNvPr id="7" name="Text 5"/>
          <p:cNvSpPr/>
          <p:nvPr/>
        </p:nvSpPr>
        <p:spPr>
          <a:xfrm>
            <a:off x="8264277" y="4640461"/>
            <a:ext cx="1748433" cy="2305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21000" b="1" spc="-840" kern="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1000" dirty="0"/>
          </a:p>
        </p:txBody>
      </p:sp>
      <p:sp>
        <p:nvSpPr>
          <p:cNvPr id="8" name="Text 6"/>
          <p:cNvSpPr/>
          <p:nvPr/>
        </p:nvSpPr>
        <p:spPr>
          <a:xfrm>
            <a:off x="10203210" y="6583561"/>
            <a:ext cx="1556593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spc="315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BREATHS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12217003" y="3803452"/>
            <a:ext cx="5311141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B71C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IT WORKS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12217003" y="4193977"/>
            <a:ext cx="762000" cy="38100"/>
          </a:xfrm>
          <a:prstGeom prst="rect">
            <a:avLst/>
          </a:prstGeom>
          <a:solidFill>
            <a:srgbClr val="B71C1C"/>
          </a:solidFill>
          <a:ln/>
        </p:spPr>
      </p:sp>
      <p:sp>
        <p:nvSpPr>
          <p:cNvPr id="11" name="Text 9"/>
          <p:cNvSpPr/>
          <p:nvPr/>
        </p:nvSpPr>
        <p:spPr>
          <a:xfrm>
            <a:off x="12217003" y="4441627"/>
            <a:ext cx="5311141" cy="19713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10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Compressions create ~ </a:t>
            </a:r>
            <a:pPr algn="l" indent="0" marL="0">
              <a:lnSpc>
                <a:spcPct val="145000"/>
              </a:lnSpc>
              <a:buNone/>
            </a:pPr>
            <a:r>
              <a:rPr lang="en-US" sz="2100" b="1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25–30% of normal cardiac output </a:t>
            </a:r>
            <a:pPr algn="l" indent="0" marL="0">
              <a:lnSpc>
                <a:spcPct val="145000"/>
              </a:lnSpc>
              <a:buNone/>
            </a:pPr>
            <a:r>
              <a:rPr lang="en-US" sz="210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That's enough oxygenated blood to keep the brain viable until the heart restarts — spontaneously, or with a defibrillator.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12217003" y="6584454"/>
            <a:ext cx="5311141" cy="119806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10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Rate: </a:t>
            </a:r>
            <a:pPr algn="l" indent="0" marL="0">
              <a:lnSpc>
                <a:spcPct val="145000"/>
              </a:lnSpc>
              <a:buNone/>
            </a:pPr>
            <a:r>
              <a:rPr lang="en-US" sz="2100" b="1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100–120 beats per minute </a:t>
            </a:r>
            <a:pPr algn="l" indent="0" marL="0">
              <a:lnSpc>
                <a:spcPct val="145000"/>
              </a:lnSpc>
              <a:buNone/>
            </a:pPr>
            <a:r>
              <a:rPr lang="en-US" sz="210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Don't stop until paramedics take over or the casualty is breathing.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914400" y="9229725"/>
            <a:ext cx="2444948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L2 · MECHANICS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1452027" y="9229725"/>
            <a:ext cx="6099221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 · ST JOHN AMBULANCE VICTORIA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00100"/>
            <a:ext cx="16952976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24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THREE PATTERNS EVERY RESPONDER SHOULD KNOW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190625"/>
            <a:ext cx="16952976" cy="12266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500" b="1" spc="-67" kern="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Wet · dry · secondary — and the 1-10-1 cold-water rule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914400" y="3989338"/>
            <a:ext cx="3857625" cy="4163616"/>
          </a:xfrm>
          <a:prstGeom prst="rect">
            <a:avLst/>
          </a:prstGeom>
          <a:solidFill>
            <a:srgbClr val="FFFFFF"/>
          </a:solidFill>
          <a:ln w="9525">
            <a:solidFill>
              <a:srgbClr val="D4DCE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66825" y="4341763"/>
            <a:ext cx="3247358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88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· WET DROWNING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66825" y="4770388"/>
            <a:ext cx="3247358" cy="8343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850" b="1" spc="-29" kern="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Water enters the lungs</a:t>
            </a:r>
            <a:endParaRPr lang="en-US" sz="2850" dirty="0"/>
          </a:p>
        </p:txBody>
      </p:sp>
      <p:sp>
        <p:nvSpPr>
          <p:cNvPr id="7" name="Text 5"/>
          <p:cNvSpPr/>
          <p:nvPr/>
        </p:nvSpPr>
        <p:spPr>
          <a:xfrm>
            <a:off x="1266825" y="5738068"/>
            <a:ext cx="3247358" cy="14442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195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most common pattern. Water in the lungs disrupts gas exchange and triggers cardiac arrest.</a:t>
            </a:r>
            <a:endParaRPr lang="en-US" sz="1950" dirty="0"/>
          </a:p>
        </p:txBody>
      </p:sp>
      <p:sp>
        <p:nvSpPr>
          <p:cNvPr id="8" name="Shape 6"/>
          <p:cNvSpPr/>
          <p:nvPr/>
        </p:nvSpPr>
        <p:spPr>
          <a:xfrm>
            <a:off x="5114925" y="3989338"/>
            <a:ext cx="3857625" cy="4163616"/>
          </a:xfrm>
          <a:prstGeom prst="rect">
            <a:avLst/>
          </a:prstGeom>
          <a:solidFill>
            <a:srgbClr val="FFFFFF"/>
          </a:solidFill>
          <a:ln w="9525">
            <a:solidFill>
              <a:srgbClr val="D4DCE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67350" y="4341763"/>
            <a:ext cx="3247358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88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 · DRY DROWNING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467350" y="4770388"/>
            <a:ext cx="3247358" cy="12324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850" b="1" spc="-29" kern="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Laryngospasm seals the airway</a:t>
            </a:r>
            <a:endParaRPr lang="en-US" sz="2850" dirty="0"/>
          </a:p>
        </p:txBody>
      </p:sp>
      <p:sp>
        <p:nvSpPr>
          <p:cNvPr id="11" name="Text 9"/>
          <p:cNvSpPr/>
          <p:nvPr/>
        </p:nvSpPr>
        <p:spPr>
          <a:xfrm>
            <a:off x="5467350" y="6136184"/>
            <a:ext cx="3247358" cy="14442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195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~10–15% of cases, water never reaches the lungs — but the casualty still dies of asphyxia.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9315450" y="3989338"/>
            <a:ext cx="3857625" cy="416361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9315450" y="8143429"/>
            <a:ext cx="3857625" cy="9525"/>
          </a:xfrm>
          <a:prstGeom prst="rect">
            <a:avLst/>
          </a:prstGeom>
          <a:solidFill>
            <a:srgbClr val="D4DCE3"/>
          </a:solidFill>
          <a:ln/>
        </p:spPr>
      </p:sp>
      <p:sp>
        <p:nvSpPr>
          <p:cNvPr id="14" name="Shape 12"/>
          <p:cNvSpPr/>
          <p:nvPr/>
        </p:nvSpPr>
        <p:spPr>
          <a:xfrm>
            <a:off x="9315450" y="3989338"/>
            <a:ext cx="3857625" cy="57150"/>
          </a:xfrm>
          <a:prstGeom prst="rect">
            <a:avLst/>
          </a:prstGeom>
          <a:solidFill>
            <a:srgbClr val="B71C1C"/>
          </a:solidFill>
          <a:ln/>
        </p:spPr>
      </p:sp>
      <p:sp>
        <p:nvSpPr>
          <p:cNvPr id="15" name="Shape 13"/>
          <p:cNvSpPr/>
          <p:nvPr/>
        </p:nvSpPr>
        <p:spPr>
          <a:xfrm>
            <a:off x="9315450" y="3989338"/>
            <a:ext cx="9525" cy="4163616"/>
          </a:xfrm>
          <a:prstGeom prst="rect">
            <a:avLst/>
          </a:prstGeom>
          <a:solidFill>
            <a:srgbClr val="D4DCE3"/>
          </a:solidFill>
          <a:ln/>
        </p:spPr>
      </p:sp>
      <p:sp>
        <p:nvSpPr>
          <p:cNvPr id="16" name="Shape 14"/>
          <p:cNvSpPr/>
          <p:nvPr/>
        </p:nvSpPr>
        <p:spPr>
          <a:xfrm>
            <a:off x="13163550" y="3989338"/>
            <a:ext cx="9525" cy="4163616"/>
          </a:xfrm>
          <a:prstGeom prst="rect">
            <a:avLst/>
          </a:prstGeom>
          <a:solidFill>
            <a:srgbClr val="D4DCE3"/>
          </a:solidFill>
          <a:ln/>
        </p:spPr>
      </p:sp>
      <p:sp>
        <p:nvSpPr>
          <p:cNvPr id="17" name="Text 15"/>
          <p:cNvSpPr/>
          <p:nvPr/>
        </p:nvSpPr>
        <p:spPr>
          <a:xfrm>
            <a:off x="9667875" y="4389388"/>
            <a:ext cx="3247358" cy="552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88" kern="0" dirty="0">
                <a:solidFill>
                  <a:srgbClr val="B71C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 · SECONDARY DROWNING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9667875" y="5075188"/>
            <a:ext cx="3247358" cy="8343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850" b="1" spc="-29" kern="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Symptoms hours later</a:t>
            </a:r>
            <a:endParaRPr lang="en-US" sz="2850" dirty="0"/>
          </a:p>
        </p:txBody>
      </p:sp>
      <p:sp>
        <p:nvSpPr>
          <p:cNvPr id="19" name="Text 17"/>
          <p:cNvSpPr/>
          <p:nvPr/>
        </p:nvSpPr>
        <p:spPr>
          <a:xfrm>
            <a:off x="9667875" y="6042868"/>
            <a:ext cx="3247358" cy="179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1950" b="1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Always seek medical review </a:t>
            </a:r>
            <a:pPr algn="l" indent="0" marL="0">
              <a:lnSpc>
                <a:spcPct val="142000"/>
              </a:lnSpc>
              <a:buNone/>
            </a:pPr>
            <a:r>
              <a:rPr lang="en-US" sz="195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any submersion — coughing, fatigue or chest pain can appear hours after the event.</a:t>
            </a:r>
            <a:endParaRPr lang="en-US" sz="1950" dirty="0"/>
          </a:p>
        </p:txBody>
      </p:sp>
      <p:sp>
        <p:nvSpPr>
          <p:cNvPr id="20" name="Shape 18"/>
          <p:cNvSpPr/>
          <p:nvPr/>
        </p:nvSpPr>
        <p:spPr>
          <a:xfrm>
            <a:off x="13515975" y="3989338"/>
            <a:ext cx="3857625" cy="416361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Shape 19"/>
          <p:cNvSpPr/>
          <p:nvPr/>
        </p:nvSpPr>
        <p:spPr>
          <a:xfrm>
            <a:off x="13515975" y="8143429"/>
            <a:ext cx="3857625" cy="9525"/>
          </a:xfrm>
          <a:prstGeom prst="rect">
            <a:avLst/>
          </a:prstGeom>
          <a:solidFill>
            <a:srgbClr val="D4DCE3"/>
          </a:solidFill>
          <a:ln/>
        </p:spPr>
      </p:sp>
      <p:sp>
        <p:nvSpPr>
          <p:cNvPr id="22" name="Shape 20"/>
          <p:cNvSpPr/>
          <p:nvPr/>
        </p:nvSpPr>
        <p:spPr>
          <a:xfrm>
            <a:off x="13515975" y="3989338"/>
            <a:ext cx="3857625" cy="5715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3" name="Shape 21"/>
          <p:cNvSpPr/>
          <p:nvPr/>
        </p:nvSpPr>
        <p:spPr>
          <a:xfrm>
            <a:off x="13515975" y="3989338"/>
            <a:ext cx="9525" cy="4163616"/>
          </a:xfrm>
          <a:prstGeom prst="rect">
            <a:avLst/>
          </a:prstGeom>
          <a:solidFill>
            <a:srgbClr val="D4DCE3"/>
          </a:solidFill>
          <a:ln/>
        </p:spPr>
      </p:sp>
      <p:sp>
        <p:nvSpPr>
          <p:cNvPr id="24" name="Shape 22"/>
          <p:cNvSpPr/>
          <p:nvPr/>
        </p:nvSpPr>
        <p:spPr>
          <a:xfrm>
            <a:off x="17364075" y="3989338"/>
            <a:ext cx="9525" cy="4163616"/>
          </a:xfrm>
          <a:prstGeom prst="rect">
            <a:avLst/>
          </a:prstGeom>
          <a:solidFill>
            <a:srgbClr val="D4DCE3"/>
          </a:solidFill>
          <a:ln/>
        </p:spPr>
      </p:sp>
      <p:sp>
        <p:nvSpPr>
          <p:cNvPr id="25" name="Text 23"/>
          <p:cNvSpPr/>
          <p:nvPr/>
        </p:nvSpPr>
        <p:spPr>
          <a:xfrm>
            <a:off x="13868400" y="4389388"/>
            <a:ext cx="3247358" cy="552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88" kern="0" dirty="0">
                <a:solidFill>
                  <a:srgbClr val="1565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COLD WATER · 1-10-1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3868400" y="5075188"/>
            <a:ext cx="3247358" cy="8343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850" b="1" spc="-29" kern="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survival windows</a:t>
            </a:r>
            <a:endParaRPr lang="en-US" sz="2850" dirty="0"/>
          </a:p>
        </p:txBody>
      </p:sp>
      <p:sp>
        <p:nvSpPr>
          <p:cNvPr id="27" name="Text 25"/>
          <p:cNvSpPr/>
          <p:nvPr/>
        </p:nvSpPr>
        <p:spPr>
          <a:xfrm>
            <a:off x="13868400" y="6042868"/>
            <a:ext cx="3247358" cy="150137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1950" dirty="0">
                <a:solidFill>
                  <a:srgbClr val="00355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 MIN </a:t>
            </a:r>
            <a:pPr algn="l" indent="0" marL="0">
              <a:lnSpc>
                <a:spcPct val="142000"/>
              </a:lnSpc>
              <a:buNone/>
            </a:pPr>
            <a:r>
              <a:rPr lang="en-US" sz="195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control breathing · </a:t>
            </a:r>
            <a:pPr algn="l" indent="0" marL="0">
              <a:lnSpc>
                <a:spcPct val="142000"/>
              </a:lnSpc>
              <a:buNone/>
            </a:pPr>
            <a:r>
              <a:rPr lang="en-US" sz="1950" dirty="0">
                <a:solidFill>
                  <a:srgbClr val="00355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10 MIN </a:t>
            </a:r>
            <a:pPr algn="l" indent="0" marL="0">
              <a:lnSpc>
                <a:spcPct val="142000"/>
              </a:lnSpc>
              <a:buNone/>
            </a:pPr>
            <a:r>
              <a:rPr lang="en-US" sz="195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useful swimming · </a:t>
            </a:r>
            <a:pPr algn="l" indent="0" marL="0">
              <a:lnSpc>
                <a:spcPct val="142000"/>
              </a:lnSpc>
              <a:buNone/>
            </a:pPr>
            <a:r>
              <a:rPr lang="en-US" sz="1950" dirty="0">
                <a:solidFill>
                  <a:srgbClr val="00355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 HR </a:t>
            </a:r>
            <a:pPr algn="l" indent="0" marL="0">
              <a:lnSpc>
                <a:spcPct val="142000"/>
              </a:lnSpc>
              <a:buNone/>
            </a:pPr>
            <a:r>
              <a:rPr lang="en-US" sz="195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hypothermia incapacitates.</a:t>
            </a:r>
            <a:endParaRPr lang="en-US" sz="1950" dirty="0"/>
          </a:p>
        </p:txBody>
      </p:sp>
      <p:sp>
        <p:nvSpPr>
          <p:cNvPr id="28" name="Text 26"/>
          <p:cNvSpPr/>
          <p:nvPr/>
        </p:nvSpPr>
        <p:spPr>
          <a:xfrm>
            <a:off x="914400" y="9229725"/>
            <a:ext cx="2275731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L2 · PATTERNS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12467183" y="9229725"/>
            <a:ext cx="5053609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SOURCES · ST JOHN VIC · RLSSA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D1F2D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800100"/>
            <a:ext cx="16952976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24" kern="0" dirty="0">
                <a:solidFill>
                  <a:srgbClr val="FFFFFF">
                    <a:alpha val="65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LESSON 2 · EXIT TICKET · 5 MIN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3963442"/>
            <a:ext cx="15697200" cy="12266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500" b="1" spc="-67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Explain the 4-minute window to someone who has never heard of it.</a:t>
            </a:r>
            <a:endParaRPr lang="en-US" sz="4500" dirty="0"/>
          </a:p>
        </p:txBody>
      </p:sp>
      <p:sp>
        <p:nvSpPr>
          <p:cNvPr id="5" name="Text 3"/>
          <p:cNvSpPr/>
          <p:nvPr/>
        </p:nvSpPr>
        <p:spPr>
          <a:xfrm>
            <a:off x="914400" y="5494883"/>
            <a:ext cx="13735050" cy="866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250" dirty="0">
                <a:solidFill>
                  <a:srgbClr val="FFFFFF">
                    <a:alpha val="7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Plain language. </a:t>
            </a:r>
            <a:pPr algn="l" indent="0" marL="0">
              <a:lnSpc>
                <a:spcPct val="145000"/>
              </a:lnSpc>
              <a:buNone/>
            </a:pPr>
            <a:r>
              <a:rPr lang="en-US" sz="225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No medical jargon. </a:t>
            </a:r>
            <a:pPr algn="l" indent="0" marL="0">
              <a:lnSpc>
                <a:spcPct val="145000"/>
              </a:lnSpc>
              <a:buNone/>
            </a:pPr>
            <a:r>
              <a:rPr lang="en-US" sz="2250" dirty="0">
                <a:solidFill>
                  <a:srgbClr val="FFFFFF">
                    <a:alpha val="7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a Year 5 student can repeat your explanation back to you, you've nailed it.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914400" y="9229725"/>
            <a:ext cx="1937296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FFFFFF">
                    <a:alpha val="55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EXIT TICKET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4328130" y="9229725"/>
            <a:ext cx="3136834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FFFFFF">
                    <a:alpha val="55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WORKBOOK SECTION 2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800100"/>
            <a:ext cx="16952976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24" kern="0" dirty="0">
                <a:solidFill>
                  <a:srgbClr val="FFFFFF">
                    <a:alpha val="78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LESSON 3 · 50 MIN · WORKBOOK SECTION 3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3133725"/>
            <a:ext cx="16952976" cy="1981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18000" b="1" spc="-720" kern="0" dirty="0">
                <a:solidFill>
                  <a:srgbClr val="FFFFFF">
                    <a:alpha val="9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8000" dirty="0"/>
          </a:p>
        </p:txBody>
      </p:sp>
      <p:sp>
        <p:nvSpPr>
          <p:cNvPr id="5" name="Text 3"/>
          <p:cNvSpPr/>
          <p:nvPr/>
        </p:nvSpPr>
        <p:spPr>
          <a:xfrm>
            <a:off x="914400" y="5305425"/>
            <a:ext cx="14716125" cy="1714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6600" b="1" spc="-132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Social determinants of drowning risk</a:t>
            </a:r>
            <a:endParaRPr lang="en-US" sz="6600" dirty="0"/>
          </a:p>
        </p:txBody>
      </p:sp>
      <p:sp>
        <p:nvSpPr>
          <p:cNvPr id="6" name="Shape 4"/>
          <p:cNvSpPr/>
          <p:nvPr/>
        </p:nvSpPr>
        <p:spPr>
          <a:xfrm>
            <a:off x="914400" y="9058275"/>
            <a:ext cx="1846659" cy="428625"/>
          </a:xfrm>
          <a:prstGeom prst="roundRect">
            <a:avLst>
              <a:gd name="adj" fmla="val 50000"/>
            </a:avLst>
          </a:prstGeom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6325" y="9144000"/>
            <a:ext cx="1599009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VCHPEP143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2913459" y="9058275"/>
            <a:ext cx="1846659" cy="428625"/>
          </a:xfrm>
          <a:prstGeom prst="roundRect">
            <a:avLst>
              <a:gd name="adj" fmla="val 50000"/>
            </a:avLst>
          </a:prstGeom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075384" y="9144000"/>
            <a:ext cx="1599009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VCHPEP145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4912519" y="9058275"/>
            <a:ext cx="2692598" cy="428625"/>
          </a:xfrm>
          <a:prstGeom prst="roundRect">
            <a:avLst>
              <a:gd name="adj" fmla="val 50000"/>
            </a:avLst>
          </a:prstGeom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74444" y="9144000"/>
            <a:ext cx="2449526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PAIRS · JIGSAW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00100"/>
            <a:ext cx="16952976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24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FRAMING THE QUESTION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190625"/>
            <a:ext cx="16952976" cy="6323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500" b="1" spc="-67" kern="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"They made a bad choice" isn't the whole story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914400" y="3762970"/>
            <a:ext cx="7924800" cy="4022080"/>
          </a:xfrm>
          <a:prstGeom prst="rect">
            <a:avLst/>
          </a:prstGeom>
          <a:solidFill>
            <a:srgbClr val="FFFFFF"/>
          </a:solidFill>
          <a:ln w="9525">
            <a:solidFill>
              <a:srgbClr val="D4DCE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04925" y="4153495"/>
            <a:ext cx="7358063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INDIVIDUAL EXPLANATION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304925" y="4563070"/>
            <a:ext cx="762000" cy="38100"/>
          </a:xfrm>
          <a:prstGeom prst="rect">
            <a:avLst/>
          </a:prstGeom>
          <a:solidFill>
            <a:srgbClr val="003554"/>
          </a:solidFill>
          <a:ln/>
        </p:spPr>
      </p:sp>
      <p:sp>
        <p:nvSpPr>
          <p:cNvPr id="7" name="Text 5"/>
          <p:cNvSpPr/>
          <p:nvPr/>
        </p:nvSpPr>
        <p:spPr>
          <a:xfrm>
            <a:off x="1304925" y="4753570"/>
            <a:ext cx="7358063" cy="465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2850" b="1" spc="-29" kern="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 behaviour caused the outcome.</a:t>
            </a:r>
            <a:endParaRPr lang="en-US" sz="2850" dirty="0"/>
          </a:p>
        </p:txBody>
      </p:sp>
      <p:sp>
        <p:nvSpPr>
          <p:cNvPr id="8" name="Text 6"/>
          <p:cNvSpPr/>
          <p:nvPr/>
        </p:nvSpPr>
        <p:spPr>
          <a:xfrm>
            <a:off x="1304925" y="5390108"/>
            <a:ext cx="7358063" cy="11150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"He shouldn't have been swimming after drinking." "They should have read the sign." "Why did she dive in there?"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1304925" y="6676579"/>
            <a:ext cx="7358063" cy="75604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4A6B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True — but incomplete. It can't explain a 40% over-representation or an 80% male skew.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9448800" y="3762970"/>
            <a:ext cx="7924800" cy="4022080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11" name="Text 9"/>
          <p:cNvSpPr/>
          <p:nvPr/>
        </p:nvSpPr>
        <p:spPr>
          <a:xfrm>
            <a:off x="9829800" y="4143970"/>
            <a:ext cx="7377684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FFFFFF">
                    <a:alpha val="78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STRUCTURAL EXPLANATION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9829800" y="4553545"/>
            <a:ext cx="762000" cy="38100"/>
          </a:xfrm>
          <a:prstGeom prst="rect">
            <a:avLst/>
          </a:prstGeom>
          <a:solidFill>
            <a:srgbClr val="FFD166"/>
          </a:solidFill>
          <a:ln/>
        </p:spPr>
      </p:sp>
      <p:sp>
        <p:nvSpPr>
          <p:cNvPr id="13" name="Text 11"/>
          <p:cNvSpPr/>
          <p:nvPr/>
        </p:nvSpPr>
        <p:spPr>
          <a:xfrm>
            <a:off x="9829800" y="4744045"/>
            <a:ext cx="7377684" cy="465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2850" b="1" spc="-29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Systems shaped who was there, and how.</a:t>
            </a:r>
            <a:endParaRPr lang="en-US" sz="2850" dirty="0"/>
          </a:p>
        </p:txBody>
      </p:sp>
      <p:sp>
        <p:nvSpPr>
          <p:cNvPr id="14" name="Text 12"/>
          <p:cNvSpPr/>
          <p:nvPr/>
        </p:nvSpPr>
        <p:spPr>
          <a:xfrm>
            <a:off x="9829800" y="5380583"/>
            <a:ext cx="7377684" cy="11150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FFFFFF">
                    <a:alpha val="9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of lessons. Patrol coverage. Cultural water-fluency. Masculinity norms. Where the unpatrolled rivers are. Who has a backyard pool.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9829800" y="6667054"/>
            <a:ext cx="7377684" cy="75604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FFFFFF">
                    <a:alpha val="7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Schools can change </a:t>
            </a:r>
            <a:pPr algn="l" indent="0" marL="0">
              <a:lnSpc>
                <a:spcPct val="145000"/>
              </a:lnSpc>
              <a:buNone/>
            </a:pPr>
            <a:r>
              <a:rPr lang="en-US" sz="195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some </a:t>
            </a:r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FFFFFF">
                    <a:alpha val="7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these. That's where prevention starts.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914400" y="9229725"/>
            <a:ext cx="2106513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L3 · FRAMING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0267652" y="9229725"/>
            <a:ext cx="7319126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 · WHO SOCIAL DETERMINANTS OF HEALTH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00100"/>
            <a:ext cx="16952976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24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WORKBOOK ACTIVITY 3.1 · JIGSAW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190625"/>
            <a:ext cx="16952976" cy="6323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500" b="1" spc="-67" kern="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factors that shape who drowns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914400" y="2242096"/>
            <a:ext cx="5308550" cy="3360390"/>
          </a:xfrm>
          <a:prstGeom prst="rect">
            <a:avLst/>
          </a:prstGeom>
          <a:solidFill>
            <a:srgbClr val="FFFFFF"/>
          </a:solidFill>
          <a:ln w="9525">
            <a:solidFill>
              <a:srgbClr val="D4DCE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66825" y="2594521"/>
            <a:ext cx="4741811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88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· GENDER NORMS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66825" y="3023146"/>
            <a:ext cx="4741811" cy="18634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2025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"Don't back down from a dare." Masculinity expectations are a documented risk factor for young male drowning — and explain part of the 80% male skew.</a:t>
            </a:r>
            <a:endParaRPr lang="en-US" sz="2025" dirty="0"/>
          </a:p>
        </p:txBody>
      </p:sp>
      <p:sp>
        <p:nvSpPr>
          <p:cNvPr id="7" name="Shape 5"/>
          <p:cNvSpPr/>
          <p:nvPr/>
        </p:nvSpPr>
        <p:spPr>
          <a:xfrm>
            <a:off x="6489650" y="2242096"/>
            <a:ext cx="5308550" cy="3360390"/>
          </a:xfrm>
          <a:prstGeom prst="rect">
            <a:avLst/>
          </a:prstGeom>
          <a:solidFill>
            <a:srgbClr val="FFFFFF"/>
          </a:solidFill>
          <a:ln w="9525">
            <a:solidFill>
              <a:srgbClr val="D4DCE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42075" y="2594521"/>
            <a:ext cx="4741811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88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· CULTURAL BACKGROUND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842075" y="3023146"/>
            <a:ext cx="4741811" cy="18634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2025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CALD Victorians may have had fewer opportunities to learn to swim — for reasons of cost, culture, or country-of-origin practice. The drowning data reflects that.</a:t>
            </a:r>
            <a:endParaRPr lang="en-US" sz="2025" dirty="0"/>
          </a:p>
        </p:txBody>
      </p:sp>
      <p:sp>
        <p:nvSpPr>
          <p:cNvPr id="10" name="Shape 8"/>
          <p:cNvSpPr/>
          <p:nvPr/>
        </p:nvSpPr>
        <p:spPr>
          <a:xfrm>
            <a:off x="12064901" y="2242096"/>
            <a:ext cx="5308550" cy="3360390"/>
          </a:xfrm>
          <a:prstGeom prst="rect">
            <a:avLst/>
          </a:prstGeom>
          <a:solidFill>
            <a:srgbClr val="FFFFFF"/>
          </a:solidFill>
          <a:ln w="9525">
            <a:solidFill>
              <a:srgbClr val="D4DCE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417326" y="2594521"/>
            <a:ext cx="4741811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88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· SOCIOECONOMIC STATUS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2417326" y="3023146"/>
            <a:ext cx="4741811" cy="113332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2025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Lower-income children are less likely to have learned to swim. Swim lessons aren't free; nor is travel to the coast.</a:t>
            </a:r>
            <a:endParaRPr lang="en-US" sz="2025" dirty="0"/>
          </a:p>
        </p:txBody>
      </p:sp>
      <p:sp>
        <p:nvSpPr>
          <p:cNvPr id="13" name="Shape 11"/>
          <p:cNvSpPr/>
          <p:nvPr/>
        </p:nvSpPr>
        <p:spPr>
          <a:xfrm>
            <a:off x="914400" y="5869186"/>
            <a:ext cx="5308550" cy="3360539"/>
          </a:xfrm>
          <a:prstGeom prst="rect">
            <a:avLst/>
          </a:prstGeom>
          <a:solidFill>
            <a:srgbClr val="FFFFFF"/>
          </a:solidFill>
          <a:ln w="9525">
            <a:solidFill>
              <a:srgbClr val="D4DCE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66825" y="6221611"/>
            <a:ext cx="4741811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88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· GEOGRAPHY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266825" y="6650236"/>
            <a:ext cx="4741811" cy="14984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2025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Rural and regional Victorians swim at unpatrolled inland waterways at higher rates than urban residents — because that's the water they have.</a:t>
            </a:r>
            <a:endParaRPr lang="en-US" sz="2025" dirty="0"/>
          </a:p>
        </p:txBody>
      </p:sp>
      <p:sp>
        <p:nvSpPr>
          <p:cNvPr id="16" name="Shape 14"/>
          <p:cNvSpPr/>
          <p:nvPr/>
        </p:nvSpPr>
        <p:spPr>
          <a:xfrm>
            <a:off x="6489650" y="5869186"/>
            <a:ext cx="5308550" cy="3360539"/>
          </a:xfrm>
          <a:prstGeom prst="rect">
            <a:avLst/>
          </a:prstGeom>
          <a:solidFill>
            <a:srgbClr val="FFFFFF"/>
          </a:solidFill>
          <a:ln w="9525">
            <a:solidFill>
              <a:srgbClr val="D4DCE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42075" y="6221611"/>
            <a:ext cx="4741811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88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· ALCOHOL EXPOSURE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842075" y="6650236"/>
            <a:ext cx="4741811" cy="14984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2025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Alcohol is a factor in ~20–30% of adult drowning deaths in Victoria. The social settings in which drinking-and-water mix are themselves structural.</a:t>
            </a:r>
            <a:endParaRPr lang="en-US" sz="2025" dirty="0"/>
          </a:p>
        </p:txBody>
      </p:sp>
      <p:sp>
        <p:nvSpPr>
          <p:cNvPr id="19" name="Shape 17"/>
          <p:cNvSpPr/>
          <p:nvPr/>
        </p:nvSpPr>
        <p:spPr>
          <a:xfrm>
            <a:off x="12064901" y="5869186"/>
            <a:ext cx="5308550" cy="3360539"/>
          </a:xfrm>
          <a:prstGeom prst="rect">
            <a:avLst/>
          </a:prstGeom>
          <a:solidFill>
            <a:srgbClr val="FFFFFF"/>
          </a:solidFill>
          <a:ln w="9525">
            <a:solidFill>
              <a:srgbClr val="D4DCE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2417326" y="6221611"/>
            <a:ext cx="4741811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88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· COMMUNITY CAPACITY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2417326" y="6650236"/>
            <a:ext cx="4741811" cy="14984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2025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clubs, multilingual programs and trained bystanders aren't distributed evenly. Where they're missing, drowning is more common.</a:t>
            </a:r>
            <a:endParaRPr lang="en-US" sz="2025" dirty="0"/>
          </a:p>
        </p:txBody>
      </p:sp>
      <p:sp>
        <p:nvSpPr>
          <p:cNvPr id="22" name="Text 20"/>
          <p:cNvSpPr/>
          <p:nvPr/>
        </p:nvSpPr>
        <p:spPr>
          <a:xfrm>
            <a:off x="914400" y="9229725"/>
            <a:ext cx="2962540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L3 · DETERMINANTS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2974687" y="9229725"/>
            <a:ext cx="4530880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 · LSV · RLSSA · WHO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1EDE4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800100"/>
            <a:ext cx="16952976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24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WORKBOOK ACTIVITY 3.1B · PAIRS · 12 MIN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1190625"/>
            <a:ext cx="16952976" cy="6323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500" b="1" spc="-67" kern="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 Victorian secondary school could actually do</a:t>
            </a:r>
            <a:endParaRPr lang="en-US" sz="4500" dirty="0"/>
          </a:p>
        </p:txBody>
      </p:sp>
      <p:sp>
        <p:nvSpPr>
          <p:cNvPr id="5" name="Text 3"/>
          <p:cNvSpPr/>
          <p:nvPr/>
        </p:nvSpPr>
        <p:spPr>
          <a:xfrm>
            <a:off x="914400" y="2051596"/>
            <a:ext cx="14716125" cy="12811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25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40% of 2023–24 deaths were CALD community members. Standard curriculum alone is not closing this gap. </a:t>
            </a:r>
            <a:pPr algn="l" indent="0" marL="0">
              <a:lnSpc>
                <a:spcPct val="145000"/>
              </a:lnSpc>
              <a:buNone/>
            </a:pPr>
            <a:r>
              <a:rPr lang="en-US" sz="2250" b="1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In pairs · propose three specific actions </a:t>
            </a:r>
            <a:pPr algn="l" indent="0" marL="0">
              <a:lnSpc>
                <a:spcPct val="145000"/>
              </a:lnSpc>
              <a:buNone/>
            </a:pPr>
            <a:r>
              <a:rPr lang="en-US" sz="225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beyond the standard swim &amp; water safety lessons — that your school could realistically implement.</a:t>
            </a:r>
            <a:endParaRPr lang="en-US" sz="2250" dirty="0"/>
          </a:p>
        </p:txBody>
      </p:sp>
      <p:sp>
        <p:nvSpPr>
          <p:cNvPr id="6" name="Shape 4"/>
          <p:cNvSpPr/>
          <p:nvPr/>
        </p:nvSpPr>
        <p:spPr>
          <a:xfrm>
            <a:off x="914400" y="4929783"/>
            <a:ext cx="5257800" cy="312181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Shape 5"/>
          <p:cNvSpPr/>
          <p:nvPr/>
        </p:nvSpPr>
        <p:spPr>
          <a:xfrm>
            <a:off x="914400" y="4929783"/>
            <a:ext cx="5257800" cy="57150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8" name="Text 6"/>
          <p:cNvSpPr/>
          <p:nvPr/>
        </p:nvSpPr>
        <p:spPr>
          <a:xfrm>
            <a:off x="1257300" y="5329833"/>
            <a:ext cx="4709160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88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EXAMPLE 01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57300" y="5758458"/>
            <a:ext cx="470916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50" b="1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Multilingual beach orientation</a:t>
            </a:r>
            <a:endParaRPr lang="en-US" sz="2250" dirty="0"/>
          </a:p>
        </p:txBody>
      </p:sp>
      <p:sp>
        <p:nvSpPr>
          <p:cNvPr id="10" name="Text 8"/>
          <p:cNvSpPr/>
          <p:nvPr/>
        </p:nvSpPr>
        <p:spPr>
          <a:xfrm>
            <a:off x="1257300" y="6272808"/>
            <a:ext cx="4709160" cy="14739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start-of-summer assembly delivered with EAL/CALD parent groups. Languages chosen from school enrolment data.</a:t>
            </a:r>
            <a:endParaRPr lang="en-US" sz="1950" dirty="0"/>
          </a:p>
        </p:txBody>
      </p:sp>
      <p:sp>
        <p:nvSpPr>
          <p:cNvPr id="11" name="Shape 9"/>
          <p:cNvSpPr/>
          <p:nvPr/>
        </p:nvSpPr>
        <p:spPr>
          <a:xfrm>
            <a:off x="6515100" y="4929783"/>
            <a:ext cx="5257800" cy="312181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Shape 10"/>
          <p:cNvSpPr/>
          <p:nvPr/>
        </p:nvSpPr>
        <p:spPr>
          <a:xfrm>
            <a:off x="6515100" y="4929783"/>
            <a:ext cx="5257800" cy="57150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0" y="5329833"/>
            <a:ext cx="4709160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88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EXAMPLE 02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858000" y="5758458"/>
            <a:ext cx="470916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50" b="1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Subsidised lessons partnership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6858000" y="6272808"/>
            <a:ext cx="4709160" cy="11150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 with LSV / your local aquatic centre on subsidised secondary-aged lessons for students who haven't had access.</a:t>
            </a:r>
            <a:endParaRPr lang="en-US" sz="1950" dirty="0"/>
          </a:p>
        </p:txBody>
      </p:sp>
      <p:sp>
        <p:nvSpPr>
          <p:cNvPr id="16" name="Shape 14"/>
          <p:cNvSpPr/>
          <p:nvPr/>
        </p:nvSpPr>
        <p:spPr>
          <a:xfrm>
            <a:off x="12115800" y="4929783"/>
            <a:ext cx="5257800" cy="312181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12115800" y="4929783"/>
            <a:ext cx="5257800" cy="57150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18" name="Text 16"/>
          <p:cNvSpPr/>
          <p:nvPr/>
        </p:nvSpPr>
        <p:spPr>
          <a:xfrm>
            <a:off x="12458700" y="5329833"/>
            <a:ext cx="4709160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88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EXAMPLE 03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2458700" y="5758458"/>
            <a:ext cx="470916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50" b="1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Peer educator program</a:t>
            </a:r>
            <a:endParaRPr lang="en-US" sz="2250" dirty="0"/>
          </a:p>
        </p:txBody>
      </p:sp>
      <p:sp>
        <p:nvSpPr>
          <p:cNvPr id="20" name="Text 18"/>
          <p:cNvSpPr/>
          <p:nvPr/>
        </p:nvSpPr>
        <p:spPr>
          <a:xfrm>
            <a:off x="12458700" y="6272808"/>
            <a:ext cx="4709160" cy="14739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 senior students from CALD communities to deliver short safety briefings to their own family and community networks.</a:t>
            </a:r>
            <a:endParaRPr lang="en-US" sz="1950" dirty="0"/>
          </a:p>
        </p:txBody>
      </p:sp>
      <p:sp>
        <p:nvSpPr>
          <p:cNvPr id="21" name="Text 19"/>
          <p:cNvSpPr/>
          <p:nvPr/>
        </p:nvSpPr>
        <p:spPr>
          <a:xfrm>
            <a:off x="914400" y="9229725"/>
            <a:ext cx="2788246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L3 · APPLICATION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1790313" y="9229725"/>
            <a:ext cx="5750786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EXAMPLES ONLY · GENERATE YOUR OWN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D1F2D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800100"/>
            <a:ext cx="16952976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24" kern="0" dirty="0">
                <a:solidFill>
                  <a:srgbClr val="FFFFFF">
                    <a:alpha val="65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LESSON 3 · EXIT TICKET · 5 MIN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4170611"/>
            <a:ext cx="15697200" cy="12266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500" b="1" spc="-67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 ONE social determinant a school can address. ONE it cannot.</a:t>
            </a:r>
            <a:endParaRPr lang="en-US" sz="4500" dirty="0"/>
          </a:p>
        </p:txBody>
      </p:sp>
      <p:sp>
        <p:nvSpPr>
          <p:cNvPr id="5" name="Text 3"/>
          <p:cNvSpPr/>
          <p:nvPr/>
        </p:nvSpPr>
        <p:spPr>
          <a:xfrm>
            <a:off x="914400" y="5702052"/>
            <a:ext cx="14716125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250" dirty="0">
                <a:solidFill>
                  <a:srgbClr val="FFFFFF">
                    <a:alpha val="7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Then write a sentence on </a:t>
            </a:r>
            <a:pPr algn="l" indent="0" marL="0">
              <a:lnSpc>
                <a:spcPct val="145000"/>
              </a:lnSpc>
              <a:buNone/>
            </a:pPr>
            <a:r>
              <a:rPr lang="en-US" sz="225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why that distinction matters </a:t>
            </a:r>
            <a:pPr algn="l" indent="0" marL="0">
              <a:lnSpc>
                <a:spcPct val="145000"/>
              </a:lnSpc>
              <a:buNone/>
            </a:pPr>
            <a:r>
              <a:rPr lang="en-US" sz="2250" dirty="0">
                <a:solidFill>
                  <a:srgbClr val="FFFFFF">
                    <a:alpha val="7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you're planning a real prevention strategy.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914400" y="9229725"/>
            <a:ext cx="1937296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FFFFFF">
                    <a:alpha val="55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EXIT TICKET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4328130" y="9229725"/>
            <a:ext cx="3136834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FFFFFF">
                    <a:alpha val="55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WORKBOOK SECTION 3</a:t>
            </a:r>
            <a:endParaRPr lang="en-US" sz="1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695C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800100"/>
            <a:ext cx="16952976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24" kern="0" dirty="0">
                <a:solidFill>
                  <a:srgbClr val="FFFFFF">
                    <a:alpha val="78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LESSON 4 · 50 MIN · WORKBOOK SECTIONS 4–5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3133725"/>
            <a:ext cx="16952976" cy="1981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18000" b="1" spc="-720" kern="0" dirty="0">
                <a:solidFill>
                  <a:srgbClr val="FFFFFF">
                    <a:alpha val="9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8000" dirty="0"/>
          </a:p>
        </p:txBody>
      </p:sp>
      <p:sp>
        <p:nvSpPr>
          <p:cNvPr id="5" name="Text 3"/>
          <p:cNvSpPr/>
          <p:nvPr/>
        </p:nvSpPr>
        <p:spPr>
          <a:xfrm>
            <a:off x="914400" y="5305425"/>
            <a:ext cx="14716125" cy="1714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6600" b="1" spc="-132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Prevention strategies &amp; international comparison</a:t>
            </a:r>
            <a:endParaRPr lang="en-US" sz="6600" dirty="0"/>
          </a:p>
        </p:txBody>
      </p:sp>
      <p:sp>
        <p:nvSpPr>
          <p:cNvPr id="6" name="Shape 4"/>
          <p:cNvSpPr/>
          <p:nvPr/>
        </p:nvSpPr>
        <p:spPr>
          <a:xfrm>
            <a:off x="914400" y="9058275"/>
            <a:ext cx="1846659" cy="428625"/>
          </a:xfrm>
          <a:prstGeom prst="roundRect">
            <a:avLst>
              <a:gd name="adj" fmla="val 50000"/>
            </a:avLst>
          </a:prstGeom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6325" y="9144000"/>
            <a:ext cx="1599009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VCHPEP144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2913459" y="9058275"/>
            <a:ext cx="1846659" cy="428625"/>
          </a:xfrm>
          <a:prstGeom prst="roundRect">
            <a:avLst>
              <a:gd name="adj" fmla="val 50000"/>
            </a:avLst>
          </a:prstGeom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075384" y="9144000"/>
            <a:ext cx="1599009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VCHPEP148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4912519" y="9058275"/>
            <a:ext cx="3876824" cy="428625"/>
          </a:xfrm>
          <a:prstGeom prst="roundRect">
            <a:avLst>
              <a:gd name="adj" fmla="val 50000"/>
            </a:avLst>
          </a:prstGeom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74444" y="9144000"/>
            <a:ext cx="3669279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INDIVIDUAL + RESEARCH</a:t>
            </a:r>
            <a:endParaRPr lang="en-US" sz="1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695C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800100"/>
            <a:ext cx="16952976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24" kern="0" dirty="0">
                <a:solidFill>
                  <a:srgbClr val="FFFFFF">
                    <a:alpha val="75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STRONGEST SINGLE INTERVENTION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3269010"/>
            <a:ext cx="8084058" cy="3787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2000"/>
              </a:lnSpc>
              <a:buNone/>
            </a:pPr>
            <a:r>
              <a:rPr lang="en-US" sz="36000" b="1" spc="-14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</a:t>
            </a:r>
            <a:pPr algn="l" indent="0" marL="0">
              <a:lnSpc>
                <a:spcPct val="82000"/>
              </a:lnSpc>
              <a:buNone/>
            </a:pPr>
            <a:r>
              <a:rPr lang="en-US" sz="18000" b="1" spc="-14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</a:t>
            </a:r>
            <a:endParaRPr lang="en-US" sz="36000" dirty="0"/>
          </a:p>
        </p:txBody>
      </p:sp>
      <p:sp>
        <p:nvSpPr>
          <p:cNvPr id="5" name="Text 3"/>
          <p:cNvSpPr/>
          <p:nvPr/>
        </p:nvSpPr>
        <p:spPr>
          <a:xfrm>
            <a:off x="9525000" y="3312468"/>
            <a:ext cx="8084058" cy="1609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3300" b="1" spc="-49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Reduction in child drowning in home pools attributable to four-sided isolation pool fencing.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9525000" y="5226993"/>
            <a:ext cx="8084058" cy="119806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100" dirty="0">
                <a:solidFill>
                  <a:srgbClr val="FFFFFF">
                    <a:alpha val="8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The strongest evidence base of any single drowning-prevention intervention. </a:t>
            </a:r>
            <a:pPr algn="l" indent="0" marL="0">
              <a:lnSpc>
                <a:spcPct val="145000"/>
              </a:lnSpc>
              <a:buNone/>
            </a:pPr>
            <a:r>
              <a:rPr lang="en-US" sz="210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Engineering &gt; education </a:t>
            </a:r>
            <a:pPr algn="l" indent="0" marL="0">
              <a:lnSpc>
                <a:spcPct val="145000"/>
              </a:lnSpc>
              <a:buNone/>
            </a:pPr>
            <a:r>
              <a:rPr lang="en-US" sz="2100" dirty="0">
                <a:solidFill>
                  <a:srgbClr val="FFFFFF">
                    <a:alpha val="8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the engineering is right.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525000" y="6615559"/>
            <a:ext cx="8084058" cy="39707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FFFFFF">
                    <a:alpha val="7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Hold this number when we compare strategies on the next slides.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914400" y="9229725"/>
            <a:ext cx="2275731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FFFFFF">
                    <a:alpha val="70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L4 · EVIDENCE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944523" y="9229725"/>
            <a:ext cx="6621950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FFFFFF">
                    <a:alpha val="70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 · WHO DROWNING PREVENTION GUIDE</a:t>
            </a:r>
            <a:endParaRPr lang="en-US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00100"/>
            <a:ext cx="16952976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24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WORKBOOK SECTION 4 · CATEGORIES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190625"/>
            <a:ext cx="16952976" cy="6323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500" b="1" spc="-67" kern="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categories of prevention — not all created equal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914400" y="2242096"/>
            <a:ext cx="5308550" cy="3360390"/>
          </a:xfrm>
          <a:prstGeom prst="rect">
            <a:avLst/>
          </a:prstGeom>
          <a:solidFill>
            <a:srgbClr val="FFFFFF"/>
          </a:solidFill>
          <a:ln w="9525">
            <a:solidFill>
              <a:srgbClr val="D4DCE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66825" y="2594521"/>
            <a:ext cx="4741811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88" kern="0" dirty="0">
                <a:solidFill>
                  <a:srgbClr val="006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· ENGINEERING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66825" y="3023146"/>
            <a:ext cx="4741811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 fencing, design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1266825" y="3499396"/>
            <a:ext cx="4741811" cy="11150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4-sided isolation fencing reduces home-pool drowning by ~83%. Strongest evidence of any single intervention.</a:t>
            </a:r>
            <a:endParaRPr lang="en-US" sz="1950" dirty="0"/>
          </a:p>
        </p:txBody>
      </p:sp>
      <p:sp>
        <p:nvSpPr>
          <p:cNvPr id="8" name="Shape 6"/>
          <p:cNvSpPr/>
          <p:nvPr/>
        </p:nvSpPr>
        <p:spPr>
          <a:xfrm>
            <a:off x="6489650" y="2242096"/>
            <a:ext cx="5308550" cy="3360390"/>
          </a:xfrm>
          <a:prstGeom prst="rect">
            <a:avLst/>
          </a:prstGeom>
          <a:solidFill>
            <a:srgbClr val="FFFFFF"/>
          </a:solidFill>
          <a:ln w="9525">
            <a:solidFill>
              <a:srgbClr val="D4DCE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42075" y="2594521"/>
            <a:ext cx="4741811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88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 · SUPERVISION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842075" y="3023146"/>
            <a:ext cx="4741811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Lifeguards &amp; patrols</a:t>
            </a:r>
            <a:endParaRPr lang="en-US" sz="2250" dirty="0"/>
          </a:p>
        </p:txBody>
      </p:sp>
      <p:sp>
        <p:nvSpPr>
          <p:cNvPr id="11" name="Text 9"/>
          <p:cNvSpPr/>
          <p:nvPr/>
        </p:nvSpPr>
        <p:spPr>
          <a:xfrm>
            <a:off x="6842075" y="3499396"/>
            <a:ext cx="4741811" cy="11150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54 Victorian 2023–24 drowning deaths were at unpatrolled locations. Where patrols are, deaths aren't.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12064901" y="2242096"/>
            <a:ext cx="5308550" cy="3360390"/>
          </a:xfrm>
          <a:prstGeom prst="rect">
            <a:avLst/>
          </a:prstGeom>
          <a:solidFill>
            <a:srgbClr val="FFFFFF"/>
          </a:solidFill>
          <a:ln w="9525">
            <a:solidFill>
              <a:srgbClr val="D4DCE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417326" y="2594521"/>
            <a:ext cx="4741811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88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 · EDUCATION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2417326" y="3023146"/>
            <a:ext cx="4741811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Swim lessons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12417326" y="3499396"/>
            <a:ext cx="4741811" cy="11150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Strong evidence for child drowning. For adults, education works best </a:t>
            </a:r>
            <a:pPr algn="l" indent="0" marL="0">
              <a:lnSpc>
                <a:spcPct val="145000"/>
              </a:lnSpc>
              <a:buNone/>
            </a:pPr>
            <a:r>
              <a:rPr lang="en-US" sz="1950" i="1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combined </a:t>
            </a:r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behaviour change.</a:t>
            </a:r>
            <a:endParaRPr lang="en-US" sz="1950" dirty="0"/>
          </a:p>
        </p:txBody>
      </p:sp>
      <p:sp>
        <p:nvSpPr>
          <p:cNvPr id="16" name="Shape 14"/>
          <p:cNvSpPr/>
          <p:nvPr/>
        </p:nvSpPr>
        <p:spPr>
          <a:xfrm>
            <a:off x="914400" y="5869186"/>
            <a:ext cx="5308550" cy="3360539"/>
          </a:xfrm>
          <a:prstGeom prst="rect">
            <a:avLst/>
          </a:prstGeom>
          <a:solidFill>
            <a:srgbClr val="FFFFFF"/>
          </a:solidFill>
          <a:ln w="9525">
            <a:solidFill>
              <a:srgbClr val="D4DCE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266825" y="6221611"/>
            <a:ext cx="4741811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88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 · LEGISLATION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266825" y="6650236"/>
            <a:ext cx="4741811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Laws &amp; standards</a:t>
            </a:r>
            <a:endParaRPr lang="en-US" sz="2250" dirty="0"/>
          </a:p>
        </p:txBody>
      </p:sp>
      <p:sp>
        <p:nvSpPr>
          <p:cNvPr id="19" name="Text 17"/>
          <p:cNvSpPr/>
          <p:nvPr/>
        </p:nvSpPr>
        <p:spPr>
          <a:xfrm>
            <a:off x="1266825" y="7126486"/>
            <a:ext cx="4741811" cy="11150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Pool-fencing laws, lifejacket requirements, alcohol restrictions near water. Effective when enforced.</a:t>
            </a:r>
            <a:endParaRPr lang="en-US" sz="1950" dirty="0"/>
          </a:p>
        </p:txBody>
      </p:sp>
      <p:sp>
        <p:nvSpPr>
          <p:cNvPr id="20" name="Shape 18"/>
          <p:cNvSpPr/>
          <p:nvPr/>
        </p:nvSpPr>
        <p:spPr>
          <a:xfrm>
            <a:off x="6489650" y="5869186"/>
            <a:ext cx="5308550" cy="3360539"/>
          </a:xfrm>
          <a:prstGeom prst="rect">
            <a:avLst/>
          </a:prstGeom>
          <a:solidFill>
            <a:srgbClr val="FFFFFF"/>
          </a:solidFill>
          <a:ln w="9525">
            <a:solidFill>
              <a:srgbClr val="D4DCE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42075" y="6221611"/>
            <a:ext cx="4741811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88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 · TECHNOLOGY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842075" y="6650236"/>
            <a:ext cx="4741811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AEDs, detection, CCTV</a:t>
            </a:r>
            <a:endParaRPr lang="en-US" sz="2250" dirty="0"/>
          </a:p>
        </p:txBody>
      </p:sp>
      <p:sp>
        <p:nvSpPr>
          <p:cNvPr id="23" name="Text 21"/>
          <p:cNvSpPr/>
          <p:nvPr/>
        </p:nvSpPr>
        <p:spPr>
          <a:xfrm>
            <a:off x="6842075" y="7126486"/>
            <a:ext cx="4741811" cy="11150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Defibrillators at aquatic facilities, drowning-detection systems, throw-rescue equipment at public sites.</a:t>
            </a:r>
            <a:endParaRPr lang="en-US" sz="1950" dirty="0"/>
          </a:p>
        </p:txBody>
      </p:sp>
      <p:sp>
        <p:nvSpPr>
          <p:cNvPr id="24" name="Shape 22"/>
          <p:cNvSpPr/>
          <p:nvPr/>
        </p:nvSpPr>
        <p:spPr>
          <a:xfrm>
            <a:off x="12064901" y="5869186"/>
            <a:ext cx="5308550" cy="3360539"/>
          </a:xfrm>
          <a:prstGeom prst="rect">
            <a:avLst/>
          </a:prstGeom>
          <a:solidFill>
            <a:srgbClr val="FFFFFF"/>
          </a:solidFill>
          <a:ln w="9525">
            <a:solidFill>
              <a:srgbClr val="D4DCE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2417326" y="6221611"/>
            <a:ext cx="4741811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88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 · COMMUNITY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2417326" y="6650236"/>
            <a:ext cx="4741811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Programs &amp; campaigns</a:t>
            </a:r>
            <a:endParaRPr lang="en-US" sz="2250" dirty="0"/>
          </a:p>
        </p:txBody>
      </p:sp>
      <p:sp>
        <p:nvSpPr>
          <p:cNvPr id="27" name="Text 25"/>
          <p:cNvSpPr/>
          <p:nvPr/>
        </p:nvSpPr>
        <p:spPr>
          <a:xfrm>
            <a:off x="12417326" y="7126486"/>
            <a:ext cx="4741811" cy="11150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SwimSafe, Swim &amp; Survive, targeted CALD programs. Strength depends on uptake within high-risk groups.</a:t>
            </a:r>
            <a:endParaRPr lang="en-US" sz="1950" dirty="0"/>
          </a:p>
        </p:txBody>
      </p:sp>
      <p:sp>
        <p:nvSpPr>
          <p:cNvPr id="28" name="Text 26"/>
          <p:cNvSpPr/>
          <p:nvPr/>
        </p:nvSpPr>
        <p:spPr>
          <a:xfrm>
            <a:off x="914400" y="9229725"/>
            <a:ext cx="2614017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L4 · CATEGORIES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11452027" y="9229725"/>
            <a:ext cx="6099221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SOURCES · WHO · LSV TOOLKIT · RLSSA</a:t>
            </a:r>
            <a:endParaRPr lang="en-US" sz="1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00100"/>
            <a:ext cx="16952976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24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WORKBOOK ACTIVITY 4.1 · EVALUATE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190625"/>
            <a:ext cx="16952976" cy="6323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500" b="1" spc="-67" kern="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strategies, ranked against the evidence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914400" y="3199805"/>
            <a:ext cx="5266879" cy="19050"/>
          </a:xfrm>
          <a:prstGeom prst="rect">
            <a:avLst/>
          </a:prstGeom>
          <a:solidFill>
            <a:srgbClr val="003554"/>
          </a:solidFill>
          <a:ln/>
        </p:spPr>
      </p:sp>
      <p:sp>
        <p:nvSpPr>
          <p:cNvPr id="5" name="Text 3"/>
          <p:cNvSpPr/>
          <p:nvPr/>
        </p:nvSpPr>
        <p:spPr>
          <a:xfrm>
            <a:off x="1066800" y="2729359"/>
            <a:ext cx="5120085" cy="3370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800" b="1" spc="216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STRATEGY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181279" y="3199805"/>
            <a:ext cx="2962573" cy="19050"/>
          </a:xfrm>
          <a:prstGeom prst="rect">
            <a:avLst/>
          </a:prstGeom>
          <a:solidFill>
            <a:srgbClr val="003554"/>
          </a:solidFill>
          <a:ln/>
        </p:spPr>
      </p:sp>
      <p:sp>
        <p:nvSpPr>
          <p:cNvPr id="7" name="Text 5"/>
          <p:cNvSpPr/>
          <p:nvPr/>
        </p:nvSpPr>
        <p:spPr>
          <a:xfrm>
            <a:off x="6333679" y="2729359"/>
            <a:ext cx="2746650" cy="3370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800" b="1" spc="216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EVIDENCE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9143851" y="3199805"/>
            <a:ext cx="4114800" cy="19050"/>
          </a:xfrm>
          <a:prstGeom prst="rect">
            <a:avLst/>
          </a:prstGeom>
          <a:solidFill>
            <a:srgbClr val="003554"/>
          </a:solidFill>
          <a:ln/>
        </p:spPr>
      </p:sp>
      <p:sp>
        <p:nvSpPr>
          <p:cNvPr id="9" name="Text 7"/>
          <p:cNvSpPr/>
          <p:nvPr/>
        </p:nvSpPr>
        <p:spPr>
          <a:xfrm>
            <a:off x="9296251" y="2729359"/>
            <a:ext cx="3933444" cy="3370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800" b="1" spc="216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BEST TARGET GROUP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13258651" y="3199805"/>
            <a:ext cx="4114949" cy="19050"/>
          </a:xfrm>
          <a:prstGeom prst="rect">
            <a:avLst/>
          </a:prstGeom>
          <a:solidFill>
            <a:srgbClr val="003554"/>
          </a:solidFill>
          <a:ln/>
        </p:spPr>
      </p:sp>
      <p:sp>
        <p:nvSpPr>
          <p:cNvPr id="11" name="Text 9"/>
          <p:cNvSpPr/>
          <p:nvPr/>
        </p:nvSpPr>
        <p:spPr>
          <a:xfrm>
            <a:off x="13411051" y="2729359"/>
            <a:ext cx="3933597" cy="3370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800" b="1" spc="216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 LIMITATION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914400" y="4183559"/>
            <a:ext cx="5266879" cy="9525"/>
          </a:xfrm>
          <a:prstGeom prst="rect">
            <a:avLst/>
          </a:prstGeom>
          <a:solidFill>
            <a:srgbClr val="D4DCE3"/>
          </a:solidFill>
          <a:ln/>
        </p:spPr>
      </p:sp>
      <p:sp>
        <p:nvSpPr>
          <p:cNvPr id="13" name="Text 11"/>
          <p:cNvSpPr/>
          <p:nvPr/>
        </p:nvSpPr>
        <p:spPr>
          <a:xfrm>
            <a:off x="1066800" y="3390305"/>
            <a:ext cx="5120085" cy="6599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800" b="1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 fencing (4-sided)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181279" y="4183559"/>
            <a:ext cx="2962573" cy="9525"/>
          </a:xfrm>
          <a:prstGeom prst="rect">
            <a:avLst/>
          </a:prstGeom>
          <a:solidFill>
            <a:srgbClr val="D4DCE3"/>
          </a:solidFill>
          <a:ln/>
        </p:spPr>
      </p:sp>
      <p:sp>
        <p:nvSpPr>
          <p:cNvPr id="15" name="Text 13"/>
          <p:cNvSpPr/>
          <p:nvPr/>
        </p:nvSpPr>
        <p:spPr>
          <a:xfrm>
            <a:off x="6333679" y="3390305"/>
            <a:ext cx="2746650" cy="6599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800" b="1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STRONG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9143851" y="4183559"/>
            <a:ext cx="4114800" cy="9525"/>
          </a:xfrm>
          <a:prstGeom prst="rect">
            <a:avLst/>
          </a:prstGeom>
          <a:solidFill>
            <a:srgbClr val="D4DCE3"/>
          </a:solidFill>
          <a:ln/>
        </p:spPr>
      </p:sp>
      <p:sp>
        <p:nvSpPr>
          <p:cNvPr id="17" name="Text 15"/>
          <p:cNvSpPr/>
          <p:nvPr/>
        </p:nvSpPr>
        <p:spPr>
          <a:xfrm>
            <a:off x="9296251" y="3390305"/>
            <a:ext cx="3933444" cy="6599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80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Children under 5 in home pools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13258651" y="4183559"/>
            <a:ext cx="4114949" cy="9525"/>
          </a:xfrm>
          <a:prstGeom prst="rect">
            <a:avLst/>
          </a:prstGeom>
          <a:solidFill>
            <a:srgbClr val="D4DCE3"/>
          </a:solidFill>
          <a:ln/>
        </p:spPr>
      </p:sp>
      <p:sp>
        <p:nvSpPr>
          <p:cNvPr id="19" name="Text 17"/>
          <p:cNvSpPr/>
          <p:nvPr/>
        </p:nvSpPr>
        <p:spPr>
          <a:xfrm>
            <a:off x="13411051" y="3390305"/>
            <a:ext cx="3933597" cy="6599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80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addresses backyard-pool drowning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914400" y="5153025"/>
            <a:ext cx="5266879" cy="9525"/>
          </a:xfrm>
          <a:prstGeom prst="rect">
            <a:avLst/>
          </a:prstGeom>
          <a:solidFill>
            <a:srgbClr val="D4DCE3"/>
          </a:solidFill>
          <a:ln/>
        </p:spPr>
      </p:sp>
      <p:sp>
        <p:nvSpPr>
          <p:cNvPr id="21" name="Text 19"/>
          <p:cNvSpPr/>
          <p:nvPr/>
        </p:nvSpPr>
        <p:spPr>
          <a:xfrm>
            <a:off x="1066800" y="4364534"/>
            <a:ext cx="5120085" cy="6551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800" b="1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Mandatory primary-school swim lessons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6181279" y="5153025"/>
            <a:ext cx="2962573" cy="9525"/>
          </a:xfrm>
          <a:prstGeom prst="rect">
            <a:avLst/>
          </a:prstGeom>
          <a:solidFill>
            <a:srgbClr val="D4DCE3"/>
          </a:solidFill>
          <a:ln/>
        </p:spPr>
      </p:sp>
      <p:sp>
        <p:nvSpPr>
          <p:cNvPr id="23" name="Text 21"/>
          <p:cNvSpPr/>
          <p:nvPr/>
        </p:nvSpPr>
        <p:spPr>
          <a:xfrm>
            <a:off x="6333679" y="4364534"/>
            <a:ext cx="2746650" cy="6551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800" b="1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STRONG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9143851" y="5153025"/>
            <a:ext cx="4114800" cy="9525"/>
          </a:xfrm>
          <a:prstGeom prst="rect">
            <a:avLst/>
          </a:prstGeom>
          <a:solidFill>
            <a:srgbClr val="D4DCE3"/>
          </a:solidFill>
          <a:ln/>
        </p:spPr>
      </p:sp>
      <p:sp>
        <p:nvSpPr>
          <p:cNvPr id="25" name="Text 23"/>
          <p:cNvSpPr/>
          <p:nvPr/>
        </p:nvSpPr>
        <p:spPr>
          <a:xfrm>
            <a:off x="9296251" y="4364534"/>
            <a:ext cx="3933444" cy="6551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80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Children gaining first swim competence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13258651" y="5153025"/>
            <a:ext cx="4114949" cy="9525"/>
          </a:xfrm>
          <a:prstGeom prst="rect">
            <a:avLst/>
          </a:prstGeom>
          <a:solidFill>
            <a:srgbClr val="D4DCE3"/>
          </a:solidFill>
          <a:ln/>
        </p:spPr>
      </p:sp>
      <p:sp>
        <p:nvSpPr>
          <p:cNvPr id="27" name="Text 25"/>
          <p:cNvSpPr/>
          <p:nvPr/>
        </p:nvSpPr>
        <p:spPr>
          <a:xfrm>
            <a:off x="13411051" y="4364534"/>
            <a:ext cx="3933597" cy="6551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80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Doesn't reach those who miss school programs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914400" y="5813971"/>
            <a:ext cx="5266879" cy="9525"/>
          </a:xfrm>
          <a:prstGeom prst="rect">
            <a:avLst/>
          </a:prstGeom>
          <a:solidFill>
            <a:srgbClr val="D4DCE3"/>
          </a:solidFill>
          <a:ln/>
        </p:spPr>
      </p:sp>
      <p:sp>
        <p:nvSpPr>
          <p:cNvPr id="29" name="Text 27"/>
          <p:cNvSpPr/>
          <p:nvPr/>
        </p:nvSpPr>
        <p:spPr>
          <a:xfrm>
            <a:off x="1066800" y="5334000"/>
            <a:ext cx="5120085" cy="3466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800" b="1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Extending patrol coverage to 7 days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6181279" y="5813971"/>
            <a:ext cx="2962573" cy="9525"/>
          </a:xfrm>
          <a:prstGeom prst="rect">
            <a:avLst/>
          </a:prstGeom>
          <a:solidFill>
            <a:srgbClr val="D4DCE3"/>
          </a:solidFill>
          <a:ln/>
        </p:spPr>
      </p:sp>
      <p:sp>
        <p:nvSpPr>
          <p:cNvPr id="31" name="Text 29"/>
          <p:cNvSpPr/>
          <p:nvPr/>
        </p:nvSpPr>
        <p:spPr>
          <a:xfrm>
            <a:off x="6333679" y="5334000"/>
            <a:ext cx="2746650" cy="3466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800" b="1" dirty="0">
                <a:solidFill>
                  <a:srgbClr val="E65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MODERATE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9143851" y="5813971"/>
            <a:ext cx="4114800" cy="9525"/>
          </a:xfrm>
          <a:prstGeom prst="rect">
            <a:avLst/>
          </a:prstGeom>
          <a:solidFill>
            <a:srgbClr val="D4DCE3"/>
          </a:solidFill>
          <a:ln/>
        </p:spPr>
      </p:sp>
      <p:sp>
        <p:nvSpPr>
          <p:cNvPr id="33" name="Text 31"/>
          <p:cNvSpPr/>
          <p:nvPr/>
        </p:nvSpPr>
        <p:spPr>
          <a:xfrm>
            <a:off x="9296251" y="5334000"/>
            <a:ext cx="3933444" cy="3466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80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Beach-goers in patrolled zones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13258651" y="5813971"/>
            <a:ext cx="4114949" cy="9525"/>
          </a:xfrm>
          <a:prstGeom prst="rect">
            <a:avLst/>
          </a:prstGeom>
          <a:solidFill>
            <a:srgbClr val="D4DCE3"/>
          </a:solidFill>
          <a:ln/>
        </p:spPr>
      </p:sp>
      <p:sp>
        <p:nvSpPr>
          <p:cNvPr id="35" name="Text 33"/>
          <p:cNvSpPr/>
          <p:nvPr/>
        </p:nvSpPr>
        <p:spPr>
          <a:xfrm>
            <a:off x="13411051" y="5334000"/>
            <a:ext cx="3933597" cy="3466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80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Doesn't reach inland waterways at all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914400" y="6783437"/>
            <a:ext cx="5266879" cy="9525"/>
          </a:xfrm>
          <a:prstGeom prst="rect">
            <a:avLst/>
          </a:prstGeom>
          <a:solidFill>
            <a:srgbClr val="D4DCE3"/>
          </a:solidFill>
          <a:ln/>
        </p:spPr>
      </p:sp>
      <p:sp>
        <p:nvSpPr>
          <p:cNvPr id="37" name="Text 35"/>
          <p:cNvSpPr/>
          <p:nvPr/>
        </p:nvSpPr>
        <p:spPr>
          <a:xfrm>
            <a:off x="1066800" y="5994946"/>
            <a:ext cx="5120085" cy="6551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800" b="1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Warning signs at unpatrolled beaches</a:t>
            </a:r>
            <a:endParaRPr lang="en-US" sz="1800" dirty="0"/>
          </a:p>
        </p:txBody>
      </p:sp>
      <p:sp>
        <p:nvSpPr>
          <p:cNvPr id="38" name="Shape 36"/>
          <p:cNvSpPr/>
          <p:nvPr/>
        </p:nvSpPr>
        <p:spPr>
          <a:xfrm>
            <a:off x="6181279" y="6783437"/>
            <a:ext cx="2962573" cy="9525"/>
          </a:xfrm>
          <a:prstGeom prst="rect">
            <a:avLst/>
          </a:prstGeom>
          <a:solidFill>
            <a:srgbClr val="D4DCE3"/>
          </a:solidFill>
          <a:ln/>
        </p:spPr>
      </p:sp>
      <p:sp>
        <p:nvSpPr>
          <p:cNvPr id="39" name="Text 37"/>
          <p:cNvSpPr/>
          <p:nvPr/>
        </p:nvSpPr>
        <p:spPr>
          <a:xfrm>
            <a:off x="6333679" y="5994946"/>
            <a:ext cx="2746650" cy="6551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800" b="1" dirty="0">
                <a:solidFill>
                  <a:srgbClr val="B7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LIMITED</a:t>
            </a:r>
            <a:endParaRPr lang="en-US" sz="1800" dirty="0"/>
          </a:p>
        </p:txBody>
      </p:sp>
      <p:sp>
        <p:nvSpPr>
          <p:cNvPr id="40" name="Shape 38"/>
          <p:cNvSpPr/>
          <p:nvPr/>
        </p:nvSpPr>
        <p:spPr>
          <a:xfrm>
            <a:off x="9143851" y="6783437"/>
            <a:ext cx="4114800" cy="9525"/>
          </a:xfrm>
          <a:prstGeom prst="rect">
            <a:avLst/>
          </a:prstGeom>
          <a:solidFill>
            <a:srgbClr val="D4DCE3"/>
          </a:solidFill>
          <a:ln/>
        </p:spPr>
      </p:sp>
      <p:sp>
        <p:nvSpPr>
          <p:cNvPr id="41" name="Text 39"/>
          <p:cNvSpPr/>
          <p:nvPr/>
        </p:nvSpPr>
        <p:spPr>
          <a:xfrm>
            <a:off x="9296251" y="5994946"/>
            <a:ext cx="3933444" cy="6551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80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First-time visitors who read signs</a:t>
            </a:r>
            <a:endParaRPr lang="en-US" sz="1800" dirty="0"/>
          </a:p>
        </p:txBody>
      </p:sp>
      <p:sp>
        <p:nvSpPr>
          <p:cNvPr id="42" name="Shape 40"/>
          <p:cNvSpPr/>
          <p:nvPr/>
        </p:nvSpPr>
        <p:spPr>
          <a:xfrm>
            <a:off x="13258651" y="6783437"/>
            <a:ext cx="4114949" cy="9525"/>
          </a:xfrm>
          <a:prstGeom prst="rect">
            <a:avLst/>
          </a:prstGeom>
          <a:solidFill>
            <a:srgbClr val="D4DCE3"/>
          </a:solidFill>
          <a:ln/>
        </p:spPr>
      </p:sp>
      <p:sp>
        <p:nvSpPr>
          <p:cNvPr id="43" name="Text 41"/>
          <p:cNvSpPr/>
          <p:nvPr/>
        </p:nvSpPr>
        <p:spPr>
          <a:xfrm>
            <a:off x="13411051" y="5994946"/>
            <a:ext cx="3933597" cy="6551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80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Easily ignored; ineffective with alcohol or peer pressure</a:t>
            </a:r>
            <a:endParaRPr lang="en-US" sz="1800" dirty="0"/>
          </a:p>
        </p:txBody>
      </p:sp>
      <p:sp>
        <p:nvSpPr>
          <p:cNvPr id="44" name="Shape 42"/>
          <p:cNvSpPr/>
          <p:nvPr/>
        </p:nvSpPr>
        <p:spPr>
          <a:xfrm>
            <a:off x="914400" y="7752904"/>
            <a:ext cx="5266879" cy="9525"/>
          </a:xfrm>
          <a:prstGeom prst="rect">
            <a:avLst/>
          </a:prstGeom>
          <a:solidFill>
            <a:srgbClr val="D4DCE3"/>
          </a:solidFill>
          <a:ln/>
        </p:spPr>
      </p:sp>
      <p:sp>
        <p:nvSpPr>
          <p:cNvPr id="45" name="Text 43"/>
          <p:cNvSpPr/>
          <p:nvPr/>
        </p:nvSpPr>
        <p:spPr>
          <a:xfrm>
            <a:off x="1066800" y="6964412"/>
            <a:ext cx="5120085" cy="6551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800" b="1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Targeted CALD community programs</a:t>
            </a:r>
            <a:endParaRPr lang="en-US" sz="1800" dirty="0"/>
          </a:p>
        </p:txBody>
      </p:sp>
      <p:sp>
        <p:nvSpPr>
          <p:cNvPr id="46" name="Shape 44"/>
          <p:cNvSpPr/>
          <p:nvPr/>
        </p:nvSpPr>
        <p:spPr>
          <a:xfrm>
            <a:off x="6181279" y="7752904"/>
            <a:ext cx="2962573" cy="9525"/>
          </a:xfrm>
          <a:prstGeom prst="rect">
            <a:avLst/>
          </a:prstGeom>
          <a:solidFill>
            <a:srgbClr val="D4DCE3"/>
          </a:solidFill>
          <a:ln/>
        </p:spPr>
      </p:sp>
      <p:sp>
        <p:nvSpPr>
          <p:cNvPr id="47" name="Text 45"/>
          <p:cNvSpPr/>
          <p:nvPr/>
        </p:nvSpPr>
        <p:spPr>
          <a:xfrm>
            <a:off x="6333679" y="6964412"/>
            <a:ext cx="2746650" cy="6551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800" b="1" dirty="0">
                <a:solidFill>
                  <a:srgbClr val="E65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MODERATE → STRONG</a:t>
            </a:r>
            <a:endParaRPr lang="en-US" sz="1800" dirty="0"/>
          </a:p>
        </p:txBody>
      </p:sp>
      <p:sp>
        <p:nvSpPr>
          <p:cNvPr id="48" name="Shape 46"/>
          <p:cNvSpPr/>
          <p:nvPr/>
        </p:nvSpPr>
        <p:spPr>
          <a:xfrm>
            <a:off x="9143851" y="7752904"/>
            <a:ext cx="4114800" cy="9525"/>
          </a:xfrm>
          <a:prstGeom prst="rect">
            <a:avLst/>
          </a:prstGeom>
          <a:solidFill>
            <a:srgbClr val="D4DCE3"/>
          </a:solidFill>
          <a:ln/>
        </p:spPr>
      </p:sp>
      <p:sp>
        <p:nvSpPr>
          <p:cNvPr id="49" name="Text 47"/>
          <p:cNvSpPr/>
          <p:nvPr/>
        </p:nvSpPr>
        <p:spPr>
          <a:xfrm>
            <a:off x="9296251" y="6964412"/>
            <a:ext cx="3933444" cy="6551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80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40%-over-represented group</a:t>
            </a:r>
            <a:endParaRPr lang="en-US" sz="1800" dirty="0"/>
          </a:p>
        </p:txBody>
      </p:sp>
      <p:sp>
        <p:nvSpPr>
          <p:cNvPr id="50" name="Shape 48"/>
          <p:cNvSpPr/>
          <p:nvPr/>
        </p:nvSpPr>
        <p:spPr>
          <a:xfrm>
            <a:off x="13258651" y="7752904"/>
            <a:ext cx="4114949" cy="9525"/>
          </a:xfrm>
          <a:prstGeom prst="rect">
            <a:avLst/>
          </a:prstGeom>
          <a:solidFill>
            <a:srgbClr val="D4DCE3"/>
          </a:solidFill>
          <a:ln/>
        </p:spPr>
      </p:sp>
      <p:sp>
        <p:nvSpPr>
          <p:cNvPr id="51" name="Text 49"/>
          <p:cNvSpPr/>
          <p:nvPr/>
        </p:nvSpPr>
        <p:spPr>
          <a:xfrm>
            <a:off x="13411051" y="6964412"/>
            <a:ext cx="3933597" cy="6551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80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Requires sustained funding &amp; trusted partners</a:t>
            </a:r>
            <a:endParaRPr lang="en-US" sz="1800" dirty="0"/>
          </a:p>
        </p:txBody>
      </p:sp>
      <p:sp>
        <p:nvSpPr>
          <p:cNvPr id="52" name="Shape 50"/>
          <p:cNvSpPr/>
          <p:nvPr/>
        </p:nvSpPr>
        <p:spPr>
          <a:xfrm>
            <a:off x="914400" y="8425904"/>
            <a:ext cx="16459200" cy="803821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3" name="Shape 51"/>
          <p:cNvSpPr/>
          <p:nvPr/>
        </p:nvSpPr>
        <p:spPr>
          <a:xfrm>
            <a:off x="914400" y="8425904"/>
            <a:ext cx="57150" cy="803821"/>
          </a:xfrm>
          <a:prstGeom prst="rect">
            <a:avLst/>
          </a:prstGeom>
          <a:solidFill>
            <a:srgbClr val="FFD166"/>
          </a:solidFill>
          <a:ln/>
        </p:spPr>
      </p:sp>
      <p:sp>
        <p:nvSpPr>
          <p:cNvPr id="54" name="Text 52"/>
          <p:cNvSpPr/>
          <p:nvPr/>
        </p:nvSpPr>
        <p:spPr>
          <a:xfrm>
            <a:off x="1276350" y="8654504"/>
            <a:ext cx="16286226" cy="3847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950" b="1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Your call · $5m budget: </a:t>
            </a:r>
            <a:pPr algn="l" indent="0" marL="0">
              <a:lnSpc>
                <a:spcPct val="140000"/>
              </a:lnSpc>
              <a:buNone/>
            </a:pPr>
            <a:r>
              <a:rPr lang="en-US" sz="1950" dirty="0">
                <a:solidFill>
                  <a:srgbClr val="003554"/>
                </a:solidFill>
                <a:highlight>
                  <a:srgbClr val="FFFFFF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which two strategies would you fund? </a:t>
            </a:r>
            <a:pPr algn="l" indent="0" marL="0">
              <a:lnSpc>
                <a:spcPct val="140000"/>
              </a:lnSpc>
              <a:buNone/>
            </a:pPr>
            <a:r>
              <a:rPr lang="en-US" sz="1950" dirty="0">
                <a:solidFill>
                  <a:srgbClr val="4A6B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(Workbook 4.1a — defend with evidence, not intuition.)</a:t>
            </a:r>
            <a:endParaRPr lang="en-US" sz="1950" dirty="0"/>
          </a:p>
        </p:txBody>
      </p:sp>
      <p:sp>
        <p:nvSpPr>
          <p:cNvPr id="55" name="Text 53"/>
          <p:cNvSpPr/>
          <p:nvPr/>
        </p:nvSpPr>
        <p:spPr>
          <a:xfrm>
            <a:off x="914400" y="9229725"/>
            <a:ext cx="2614017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L4 · EVALUATION</a:t>
            </a:r>
            <a:endParaRPr lang="en-US" sz="1800" dirty="0"/>
          </a:p>
        </p:txBody>
      </p:sp>
      <p:sp>
        <p:nvSpPr>
          <p:cNvPr id="56" name="Text 54"/>
          <p:cNvSpPr/>
          <p:nvPr/>
        </p:nvSpPr>
        <p:spPr>
          <a:xfrm>
            <a:off x="12805470" y="9229725"/>
            <a:ext cx="4705174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SOURCES · WHO · LSV · RLSSA</a:t>
            </a:r>
            <a:endParaRPr lang="en-US" sz="1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00100"/>
            <a:ext cx="16952976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24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WORKBOOK ACTIVITY 5.1 · COMPARE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190625"/>
            <a:ext cx="16952976" cy="6323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500" b="1" spc="-67" kern="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Australia, the UK, the US — what each says first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914400" y="3230612"/>
            <a:ext cx="5257800" cy="355520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3230612"/>
            <a:ext cx="5257800" cy="57150"/>
          </a:xfrm>
          <a:prstGeom prst="rect">
            <a:avLst/>
          </a:prstGeom>
          <a:solidFill>
            <a:srgbClr val="00843D"/>
          </a:solidFill>
          <a:ln/>
        </p:spPr>
      </p:sp>
      <p:sp>
        <p:nvSpPr>
          <p:cNvPr id="6" name="Text 4"/>
          <p:cNvSpPr/>
          <p:nvPr/>
        </p:nvSpPr>
        <p:spPr>
          <a:xfrm>
            <a:off x="1257300" y="3630662"/>
            <a:ext cx="4709160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88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AUSTRALIA · RLSSA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57300" y="4059287"/>
            <a:ext cx="4709160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50" b="1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"Swim between the flags."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1257300" y="4540300"/>
            <a:ext cx="4709160" cy="14739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Patrolled-location centric. Beach-flag literacy, SwimSafe rules, Swim &amp; Survive. Inland waterways named as highest-risk environment.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1257300" y="6185743"/>
            <a:ext cx="4709160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6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royallifesaving.com.au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515100" y="3230612"/>
            <a:ext cx="5257800" cy="355520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6515100" y="3230612"/>
            <a:ext cx="5257800" cy="57150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0" y="3630662"/>
            <a:ext cx="4709160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88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UNITED KINGDOM · RLSS UK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858000" y="4059287"/>
            <a:ext cx="4709160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50" b="1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"Float to Live."</a:t>
            </a:r>
            <a:endParaRPr lang="en-US" sz="2250" dirty="0"/>
          </a:p>
        </p:txBody>
      </p:sp>
      <p:sp>
        <p:nvSpPr>
          <p:cNvPr id="14" name="Text 12"/>
          <p:cNvSpPr/>
          <p:nvPr/>
        </p:nvSpPr>
        <p:spPr>
          <a:xfrm>
            <a:off x="6858000" y="4540300"/>
            <a:ext cx="4709160" cy="14739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Cold-water-shock centric. The primary survival message is a single physiological action — lean back, float, conserve until cold-shock passes.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6858000" y="6185743"/>
            <a:ext cx="4709160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6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rlss.org.uk/education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12115800" y="3230612"/>
            <a:ext cx="5257800" cy="355520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12115800" y="3230612"/>
            <a:ext cx="5257800" cy="57150"/>
          </a:xfrm>
          <a:prstGeom prst="rect">
            <a:avLst/>
          </a:prstGeom>
          <a:solidFill>
            <a:srgbClr val="1A4F8C"/>
          </a:solidFill>
          <a:ln/>
        </p:spPr>
      </p:sp>
      <p:sp>
        <p:nvSpPr>
          <p:cNvPr id="18" name="Text 16"/>
          <p:cNvSpPr/>
          <p:nvPr/>
        </p:nvSpPr>
        <p:spPr>
          <a:xfrm>
            <a:off x="12458700" y="3630662"/>
            <a:ext cx="4709160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88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UNITED STATES · RED CROSS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2458700" y="4059287"/>
            <a:ext cx="4709160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50" b="1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"Water competency."</a:t>
            </a:r>
            <a:endParaRPr lang="en-US" sz="2250" dirty="0"/>
          </a:p>
        </p:txBody>
      </p:sp>
      <p:sp>
        <p:nvSpPr>
          <p:cNvPr id="20" name="Text 18"/>
          <p:cNvSpPr/>
          <p:nvPr/>
        </p:nvSpPr>
        <p:spPr>
          <a:xfrm>
            <a:off x="12458700" y="4540300"/>
            <a:ext cx="4709160" cy="11150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Skill-centric framework — swimming, breath control, rescue, and lifejacket use packaged as a competency, not a slogan.</a:t>
            </a:r>
            <a:endParaRPr lang="en-US" sz="1950" dirty="0"/>
          </a:p>
        </p:txBody>
      </p:sp>
      <p:sp>
        <p:nvSpPr>
          <p:cNvPr id="21" name="Text 19"/>
          <p:cNvSpPr/>
          <p:nvPr/>
        </p:nvSpPr>
        <p:spPr>
          <a:xfrm>
            <a:off x="12458700" y="5826770"/>
            <a:ext cx="4709160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6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redcross.org · take-a-class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914400" y="8079284"/>
            <a:ext cx="16459200" cy="1150441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Shape 21"/>
          <p:cNvSpPr/>
          <p:nvPr/>
        </p:nvSpPr>
        <p:spPr>
          <a:xfrm>
            <a:off x="914400" y="8079284"/>
            <a:ext cx="57150" cy="1150441"/>
          </a:xfrm>
          <a:prstGeom prst="rect">
            <a:avLst/>
          </a:prstGeom>
          <a:solidFill>
            <a:srgbClr val="00695C"/>
          </a:solidFill>
          <a:ln/>
        </p:spPr>
      </p:sp>
      <p:sp>
        <p:nvSpPr>
          <p:cNvPr id="24" name="Text 22"/>
          <p:cNvSpPr/>
          <p:nvPr/>
        </p:nvSpPr>
        <p:spPr>
          <a:xfrm>
            <a:off x="1276350" y="8307884"/>
            <a:ext cx="16286226" cy="7313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950" b="1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In your workbook: </a:t>
            </a:r>
            <a:pPr algn="l" indent="0" marL="0">
              <a:lnSpc>
                <a:spcPct val="140000"/>
              </a:lnSpc>
              <a:buNone/>
            </a:pPr>
            <a:r>
              <a:rPr lang="en-US" sz="1950" dirty="0">
                <a:solidFill>
                  <a:srgbClr val="003554"/>
                </a:solidFill>
                <a:highlight>
                  <a:srgbClr val="FFFFFF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identify ONE international element </a:t>
            </a:r>
            <a:pPr algn="l" indent="0" marL="0">
              <a:lnSpc>
                <a:spcPct val="140000"/>
              </a:lnSpc>
              <a:buNone/>
            </a:pPr>
            <a:r>
              <a:rPr lang="en-US" sz="1950" i="1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not </a:t>
            </a:r>
            <a:pPr algn="l" indent="0" marL="0">
              <a:lnSpc>
                <a:spcPct val="140000"/>
              </a:lnSpc>
              <a:buNone/>
            </a:pPr>
            <a:r>
              <a:rPr lang="en-US" sz="1950" dirty="0">
                <a:solidFill>
                  <a:srgbClr val="003554"/>
                </a:solidFill>
                <a:highlight>
                  <a:srgbClr val="FFFFFF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currently prominent in Victorian education. Argue whether Victoria should adopt it — citing one primary source URL.</a:t>
            </a:r>
            <a:endParaRPr lang="en-US" sz="1950" dirty="0"/>
          </a:p>
        </p:txBody>
      </p:sp>
      <p:sp>
        <p:nvSpPr>
          <p:cNvPr id="25" name="Text 23"/>
          <p:cNvSpPr/>
          <p:nvPr/>
        </p:nvSpPr>
        <p:spPr>
          <a:xfrm>
            <a:off x="914400" y="9229725"/>
            <a:ext cx="2614017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L4 · COMPARISON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1621244" y="9229725"/>
            <a:ext cx="5924927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VISIT EACH SITE BEFORE NEXT LESSON</a:t>
            </a:r>
            <a:endParaRPr lang="en-US" sz="1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D1F2D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800100"/>
            <a:ext cx="16952976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24" kern="0" dirty="0">
                <a:solidFill>
                  <a:srgbClr val="FFFFFF">
                    <a:alpha val="65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LESSON 4 · EXIT TICKET · 5 MIN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4170611"/>
            <a:ext cx="15697200" cy="12266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500" b="1" spc="-67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ONE prevention strategy has the strongest evidence? Which has the weakest?</a:t>
            </a:r>
            <a:endParaRPr lang="en-US" sz="4500" dirty="0"/>
          </a:p>
        </p:txBody>
      </p:sp>
      <p:sp>
        <p:nvSpPr>
          <p:cNvPr id="5" name="Text 3"/>
          <p:cNvSpPr/>
          <p:nvPr/>
        </p:nvSpPr>
        <p:spPr>
          <a:xfrm>
            <a:off x="914400" y="5702052"/>
            <a:ext cx="14716125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250" dirty="0">
                <a:solidFill>
                  <a:srgbClr val="FFFFFF">
                    <a:alpha val="7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Defend both. One sentence each. </a:t>
            </a:r>
            <a:pPr algn="l" indent="0" marL="0">
              <a:lnSpc>
                <a:spcPct val="145000"/>
              </a:lnSpc>
              <a:buNone/>
            </a:pPr>
            <a:r>
              <a:rPr lang="en-US" sz="225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"It feels right" </a:t>
            </a:r>
            <a:pPr algn="l" indent="0" marL="0">
              <a:lnSpc>
                <a:spcPct val="145000"/>
              </a:lnSpc>
              <a:buNone/>
            </a:pPr>
            <a:r>
              <a:rPr lang="en-US" sz="2250" dirty="0">
                <a:solidFill>
                  <a:srgbClr val="FFFFFF">
                    <a:alpha val="7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isn't evidence.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914400" y="9229725"/>
            <a:ext cx="1937296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FFFFFF">
                    <a:alpha val="55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EXIT TICKET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820626" y="9229725"/>
            <a:ext cx="3659563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FFFFFF">
                    <a:alpha val="55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WORKBOOK SECTIONS 4–5</a:t>
            </a:r>
            <a:endParaRPr lang="en-US" sz="1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3554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800100"/>
            <a:ext cx="16952976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24" kern="0" dirty="0">
                <a:solidFill>
                  <a:srgbClr val="FFFFFF">
                    <a:alpha val="78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LESSON 5 · 50 MIN · WORKBOOK SECTION 6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3133725"/>
            <a:ext cx="16952976" cy="1981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18000" b="1" spc="-720" kern="0" dirty="0">
                <a:solidFill>
                  <a:srgbClr val="FFFFFF">
                    <a:alpha val="9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8000" dirty="0"/>
          </a:p>
        </p:txBody>
      </p:sp>
      <p:sp>
        <p:nvSpPr>
          <p:cNvPr id="5" name="Text 3"/>
          <p:cNvSpPr/>
          <p:nvPr/>
        </p:nvSpPr>
        <p:spPr>
          <a:xfrm>
            <a:off x="914400" y="5305425"/>
            <a:ext cx="14716125" cy="1714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6600" b="1" spc="-132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Diving, spinal injuries &amp; high-risk teenage behaviour</a:t>
            </a:r>
            <a:endParaRPr lang="en-US" sz="6600" dirty="0"/>
          </a:p>
        </p:txBody>
      </p:sp>
      <p:sp>
        <p:nvSpPr>
          <p:cNvPr id="6" name="Shape 4"/>
          <p:cNvSpPr/>
          <p:nvPr/>
        </p:nvSpPr>
        <p:spPr>
          <a:xfrm>
            <a:off x="914400" y="9058275"/>
            <a:ext cx="1846659" cy="428625"/>
          </a:xfrm>
          <a:prstGeom prst="roundRect">
            <a:avLst>
              <a:gd name="adj" fmla="val 50000"/>
            </a:avLst>
          </a:prstGeom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6325" y="9144000"/>
            <a:ext cx="1599009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VCHPEP143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2913459" y="9058275"/>
            <a:ext cx="1846659" cy="428625"/>
          </a:xfrm>
          <a:prstGeom prst="roundRect">
            <a:avLst>
              <a:gd name="adj" fmla="val 50000"/>
            </a:avLst>
          </a:prstGeom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075384" y="9144000"/>
            <a:ext cx="1599009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VCHPEP144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4912519" y="9058275"/>
            <a:ext cx="1846659" cy="428625"/>
          </a:xfrm>
          <a:prstGeom prst="roundRect">
            <a:avLst>
              <a:gd name="adj" fmla="val 50000"/>
            </a:avLst>
          </a:prstGeom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74444" y="9144000"/>
            <a:ext cx="1599009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VCHPEP145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911578" y="9058275"/>
            <a:ext cx="4215259" cy="428625"/>
          </a:xfrm>
          <a:prstGeom prst="roundRect">
            <a:avLst>
              <a:gd name="adj" fmla="val 50000"/>
            </a:avLst>
          </a:prstGeom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073503" y="9144000"/>
            <a:ext cx="4017867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INDIVIDUAL + DISCUSSION</a:t>
            </a:r>
            <a:endParaRPr lang="en-US" sz="1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00100"/>
            <a:ext cx="16952976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24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AIHW · RLSSA · ROYAL PERTH SPINAL STUDY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190625"/>
            <a:ext cx="16952976" cy="12266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500" b="1" spc="-67" kern="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numbers that should appear in every prevention message</a:t>
            </a:r>
            <a:endParaRPr lang="en-US" sz="4500" dirty="0"/>
          </a:p>
        </p:txBody>
      </p:sp>
      <p:sp>
        <p:nvSpPr>
          <p:cNvPr id="4" name="Text 2"/>
          <p:cNvSpPr/>
          <p:nvPr/>
        </p:nvSpPr>
        <p:spPr>
          <a:xfrm>
            <a:off x="914400" y="2836366"/>
            <a:ext cx="5441594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UNSAFE DIVING — SHARE OF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914400" y="3226891"/>
            <a:ext cx="762000" cy="38100"/>
          </a:xfrm>
          <a:prstGeom prst="rect">
            <a:avLst/>
          </a:prstGeom>
          <a:solidFill>
            <a:srgbClr val="003554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3398341"/>
            <a:ext cx="5441594" cy="1752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0" b="1" spc="-540" kern="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pPr algn="l" indent="0" marL="0">
              <a:lnSpc>
                <a:spcPct val="100000"/>
              </a:lnSpc>
              <a:buNone/>
            </a:pPr>
            <a:r>
              <a:rPr lang="en-US" sz="6750" b="1" spc="-540" kern="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</a:t>
            </a:r>
            <a:endParaRPr lang="en-US" sz="13500" dirty="0"/>
          </a:p>
        </p:txBody>
      </p:sp>
      <p:sp>
        <p:nvSpPr>
          <p:cNvPr id="7" name="Text 5"/>
          <p:cNvSpPr/>
          <p:nvPr/>
        </p:nvSpPr>
        <p:spPr>
          <a:xfrm>
            <a:off x="914400" y="5189041"/>
            <a:ext cx="5441594" cy="39707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all Australian spinal cord injuries.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6502301" y="2836366"/>
            <a:ext cx="5441747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UNSAFE DIVING — CAUSE OF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02301" y="3226891"/>
            <a:ext cx="762000" cy="38100"/>
          </a:xfrm>
          <a:prstGeom prst="rect">
            <a:avLst/>
          </a:prstGeom>
          <a:solidFill>
            <a:srgbClr val="003554"/>
          </a:solidFill>
          <a:ln/>
        </p:spPr>
      </p:sp>
      <p:sp>
        <p:nvSpPr>
          <p:cNvPr id="10" name="Text 8"/>
          <p:cNvSpPr/>
          <p:nvPr/>
        </p:nvSpPr>
        <p:spPr>
          <a:xfrm>
            <a:off x="6502301" y="3398341"/>
            <a:ext cx="5441747" cy="1752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0" b="1" spc="-540" kern="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pPr algn="l" indent="0" marL="0">
              <a:lnSpc>
                <a:spcPct val="100000"/>
              </a:lnSpc>
              <a:buNone/>
            </a:pPr>
            <a:r>
              <a:rPr lang="en-US" sz="6750" b="1" spc="-540" kern="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</a:t>
            </a:r>
            <a:endParaRPr lang="en-US" sz="13500" dirty="0"/>
          </a:p>
        </p:txBody>
      </p:sp>
      <p:sp>
        <p:nvSpPr>
          <p:cNvPr id="11" name="Text 9"/>
          <p:cNvSpPr/>
          <p:nvPr/>
        </p:nvSpPr>
        <p:spPr>
          <a:xfrm>
            <a:off x="6502301" y="5189041"/>
            <a:ext cx="5441747" cy="39707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quadriplegia cases in Australia.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2090350" y="2836366"/>
            <a:ext cx="5441747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AQUATIC SPINAL PATIENTS · MALE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12090350" y="3226891"/>
            <a:ext cx="762000" cy="38100"/>
          </a:xfrm>
          <a:prstGeom prst="rect">
            <a:avLst/>
          </a:prstGeom>
          <a:solidFill>
            <a:srgbClr val="B71C1C"/>
          </a:solidFill>
          <a:ln/>
        </p:spPr>
      </p:sp>
      <p:sp>
        <p:nvSpPr>
          <p:cNvPr id="14" name="Text 12"/>
          <p:cNvSpPr/>
          <p:nvPr/>
        </p:nvSpPr>
        <p:spPr>
          <a:xfrm>
            <a:off x="12090350" y="3398341"/>
            <a:ext cx="5441747" cy="1752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0" b="1" spc="-540" kern="0" dirty="0">
                <a:solidFill>
                  <a:srgbClr val="B7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</a:t>
            </a:r>
            <a:pPr algn="l" indent="0" marL="0">
              <a:lnSpc>
                <a:spcPct val="100000"/>
              </a:lnSpc>
              <a:buNone/>
            </a:pPr>
            <a:r>
              <a:rPr lang="en-US" sz="6750" b="1" spc="-540" kern="0" dirty="0">
                <a:solidFill>
                  <a:srgbClr val="B7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</a:t>
            </a:r>
            <a:endParaRPr lang="en-US" sz="13500" dirty="0"/>
          </a:p>
        </p:txBody>
      </p:sp>
      <p:sp>
        <p:nvSpPr>
          <p:cNvPr id="15" name="Text 13"/>
          <p:cNvSpPr/>
          <p:nvPr/>
        </p:nvSpPr>
        <p:spPr>
          <a:xfrm>
            <a:off x="12090350" y="5189041"/>
            <a:ext cx="5441747" cy="75604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A near-total gender skew. </a:t>
            </a:r>
            <a:pPr algn="l" indent="0" marL="0">
              <a:lnSpc>
                <a:spcPct val="145000"/>
              </a:lnSpc>
              <a:buNone/>
            </a:pPr>
            <a:r>
              <a:rPr lang="en-US" sz="1950" b="1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Structural — not coincidental.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914400" y="6211788"/>
            <a:ext cx="5441594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AQUATIC SPINAL · UNDER 30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914400" y="6602313"/>
            <a:ext cx="762000" cy="38100"/>
          </a:xfrm>
          <a:prstGeom prst="rect">
            <a:avLst/>
          </a:prstGeom>
          <a:solidFill>
            <a:srgbClr val="003554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6773763"/>
            <a:ext cx="5441594" cy="1752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0" b="1" spc="-540" kern="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</a:t>
            </a:r>
            <a:pPr algn="l" indent="0" marL="0">
              <a:lnSpc>
                <a:spcPct val="100000"/>
              </a:lnSpc>
              <a:buNone/>
            </a:pPr>
            <a:r>
              <a:rPr lang="en-US" sz="6750" b="1" spc="-540" kern="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</a:t>
            </a:r>
            <a:pPr algn="l" indent="0" marL="0">
              <a:lnSpc>
                <a:spcPct val="100000"/>
              </a:lnSpc>
              <a:buNone/>
            </a:pPr>
            <a:r>
              <a:rPr lang="en-US" sz="6075" b="1" spc="-540" kern="0" dirty="0">
                <a:solidFill>
                  <a:srgbClr val="4A6B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3500" dirty="0"/>
          </a:p>
        </p:txBody>
      </p:sp>
      <p:sp>
        <p:nvSpPr>
          <p:cNvPr id="19" name="Text 17"/>
          <p:cNvSpPr/>
          <p:nvPr/>
        </p:nvSpPr>
        <p:spPr>
          <a:xfrm>
            <a:off x="914400" y="8564463"/>
            <a:ext cx="5441594" cy="75604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Are aged under 30. Highest single age band: </a:t>
            </a:r>
            <a:pPr algn="l" indent="0" marL="0">
              <a:lnSpc>
                <a:spcPct val="145000"/>
              </a:lnSpc>
              <a:buNone/>
            </a:pPr>
            <a:r>
              <a:rPr lang="en-US" sz="1950" b="1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10–14</a:t>
            </a:r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950" dirty="0"/>
          </a:p>
        </p:txBody>
      </p:sp>
      <p:sp>
        <p:nvSpPr>
          <p:cNvPr id="20" name="Text 18"/>
          <p:cNvSpPr/>
          <p:nvPr/>
        </p:nvSpPr>
        <p:spPr>
          <a:xfrm>
            <a:off x="6502301" y="6211788"/>
            <a:ext cx="5441747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PERMANENT DISABILITY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6502301" y="6602313"/>
            <a:ext cx="762000" cy="38100"/>
          </a:xfrm>
          <a:prstGeom prst="rect">
            <a:avLst/>
          </a:prstGeom>
          <a:solidFill>
            <a:srgbClr val="003554"/>
          </a:solidFill>
          <a:ln/>
        </p:spPr>
      </p:sp>
      <p:sp>
        <p:nvSpPr>
          <p:cNvPr id="22" name="Text 20"/>
          <p:cNvSpPr/>
          <p:nvPr/>
        </p:nvSpPr>
        <p:spPr>
          <a:xfrm>
            <a:off x="6502301" y="6773763"/>
            <a:ext cx="5441747" cy="1752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0" b="1" spc="-540" kern="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</a:t>
            </a:r>
            <a:pPr algn="l" indent="0" marL="0">
              <a:lnSpc>
                <a:spcPct val="100000"/>
              </a:lnSpc>
              <a:buNone/>
            </a:pPr>
            <a:r>
              <a:rPr lang="en-US" sz="6750" b="1" spc="-540" kern="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</a:t>
            </a:r>
            <a:endParaRPr lang="en-US" sz="13500" dirty="0"/>
          </a:p>
        </p:txBody>
      </p:sp>
      <p:sp>
        <p:nvSpPr>
          <p:cNvPr id="23" name="Text 21"/>
          <p:cNvSpPr/>
          <p:nvPr/>
        </p:nvSpPr>
        <p:spPr>
          <a:xfrm>
            <a:off x="6502301" y="8564463"/>
            <a:ext cx="5441747" cy="75604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aquatic spinal patients live with permanent disability after the injury.</a:t>
            </a:r>
            <a:endParaRPr lang="en-US" sz="1950" dirty="0"/>
          </a:p>
        </p:txBody>
      </p:sp>
      <p:sp>
        <p:nvSpPr>
          <p:cNvPr id="24" name="Text 22"/>
          <p:cNvSpPr/>
          <p:nvPr/>
        </p:nvSpPr>
        <p:spPr>
          <a:xfrm>
            <a:off x="12090350" y="6211788"/>
            <a:ext cx="5441747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DROWNING 15–20 YO · POST-COVID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12090350" y="6602313"/>
            <a:ext cx="762000" cy="38100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26" name="Text 24"/>
          <p:cNvSpPr/>
          <p:nvPr/>
        </p:nvSpPr>
        <p:spPr>
          <a:xfrm>
            <a:off x="12090350" y="6773763"/>
            <a:ext cx="5441747" cy="1752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0" b="1" spc="-540" kern="0" dirty="0">
                <a:solidFill>
                  <a:srgbClr val="E65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+34</a:t>
            </a:r>
            <a:pPr algn="l" indent="0" marL="0">
              <a:lnSpc>
                <a:spcPct val="100000"/>
              </a:lnSpc>
              <a:buNone/>
            </a:pPr>
            <a:r>
              <a:rPr lang="en-US" sz="6750" b="1" spc="-540" kern="0" dirty="0">
                <a:solidFill>
                  <a:srgbClr val="E65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</a:t>
            </a:r>
            <a:endParaRPr lang="en-US" sz="13500" dirty="0"/>
          </a:p>
        </p:txBody>
      </p:sp>
      <p:sp>
        <p:nvSpPr>
          <p:cNvPr id="27" name="Text 25"/>
          <p:cNvSpPr/>
          <p:nvPr/>
        </p:nvSpPr>
        <p:spPr>
          <a:xfrm>
            <a:off x="12090350" y="8564463"/>
            <a:ext cx="5441747" cy="75604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Increase among 15–20 year olds vs pre-COVID baseline (RLSSA).</a:t>
            </a:r>
            <a:endParaRPr lang="en-US" sz="1950" dirty="0"/>
          </a:p>
        </p:txBody>
      </p:sp>
      <p:sp>
        <p:nvSpPr>
          <p:cNvPr id="28" name="Text 26"/>
          <p:cNvSpPr/>
          <p:nvPr/>
        </p:nvSpPr>
        <p:spPr>
          <a:xfrm>
            <a:off x="914400" y="9282410"/>
            <a:ext cx="1599009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L5 · DATA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10436870" y="9282410"/>
            <a:ext cx="7144832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SOURCES · AIHW · RLSSA · RPH SPINAL STUDY</a:t>
            </a:r>
            <a:endParaRPr lang="en-US" sz="1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1EDE4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800100"/>
            <a:ext cx="16952976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24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WORKBOOK ACTIVITY 6.1 · CASE STUDIES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1190625"/>
            <a:ext cx="16952976" cy="6323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500" b="1" spc="-67" kern="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locations. One pattern.</a:t>
            </a:r>
            <a:endParaRPr lang="en-US" sz="4500" dirty="0"/>
          </a:p>
        </p:txBody>
      </p:sp>
      <p:sp>
        <p:nvSpPr>
          <p:cNvPr id="5" name="Shape 3"/>
          <p:cNvSpPr/>
          <p:nvPr/>
        </p:nvSpPr>
        <p:spPr>
          <a:xfrm>
            <a:off x="914400" y="3258741"/>
            <a:ext cx="5257800" cy="385330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3258741"/>
            <a:ext cx="5257800" cy="57150"/>
          </a:xfrm>
          <a:prstGeom prst="rect">
            <a:avLst/>
          </a:prstGeom>
          <a:solidFill>
            <a:srgbClr val="003554"/>
          </a:solidFill>
          <a:ln/>
        </p:spPr>
      </p:sp>
      <p:sp>
        <p:nvSpPr>
          <p:cNvPr id="7" name="Text 5"/>
          <p:cNvSpPr/>
          <p:nvPr/>
        </p:nvSpPr>
        <p:spPr>
          <a:xfrm>
            <a:off x="1257300" y="3658791"/>
            <a:ext cx="4709160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CASE 01 · NSW 2025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57300" y="4087416"/>
            <a:ext cx="4709160" cy="3885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Terrigal Wharf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257300" y="4609356"/>
            <a:ext cx="4709160" cy="14739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A teenager dives from a wharf into water he believed was deep. Helicopter evacuation. </a:t>
            </a:r>
            <a:pPr algn="l" indent="0" marL="0">
              <a:lnSpc>
                <a:spcPct val="145000"/>
              </a:lnSpc>
              <a:buNone/>
            </a:pPr>
            <a:r>
              <a:rPr lang="en-US" sz="1950" b="1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Hidden shallow zone </a:t>
            </a:r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 structure.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1257300" y="6254800"/>
            <a:ext cx="4709160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6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"IT LOOKED DEEP ENOUGH"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515100" y="3258741"/>
            <a:ext cx="5257800" cy="385330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Shape 10"/>
          <p:cNvSpPr/>
          <p:nvPr/>
        </p:nvSpPr>
        <p:spPr>
          <a:xfrm>
            <a:off x="6515100" y="3258741"/>
            <a:ext cx="5257800" cy="57150"/>
          </a:xfrm>
          <a:prstGeom prst="rect">
            <a:avLst/>
          </a:prstGeom>
          <a:solidFill>
            <a:srgbClr val="003554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0" y="3658791"/>
            <a:ext cx="4709160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CASE 02 · VICTORIA 2025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858000" y="4087416"/>
            <a:ext cx="4709160" cy="3885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Torquay Front Beach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6858000" y="4609356"/>
            <a:ext cx="4709160" cy="14739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Teen suffers a suspected spinal injury after a dive at a Victorian surf beach. Airlifted. </a:t>
            </a:r>
            <a:pPr algn="l" indent="0" marL="0">
              <a:lnSpc>
                <a:spcPct val="145000"/>
              </a:lnSpc>
              <a:buNone/>
            </a:pPr>
            <a:r>
              <a:rPr lang="en-US" sz="1950" b="1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Sandbanks shift with every tide.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6858000" y="6254800"/>
            <a:ext cx="4709160" cy="552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6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SURF BEACHES ARE NOT "SAFE" FOR DIVING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12115800" y="3258741"/>
            <a:ext cx="5257800" cy="385330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Shape 16"/>
          <p:cNvSpPr/>
          <p:nvPr/>
        </p:nvSpPr>
        <p:spPr>
          <a:xfrm>
            <a:off x="12115800" y="3258741"/>
            <a:ext cx="5257800" cy="57150"/>
          </a:xfrm>
          <a:prstGeom prst="rect">
            <a:avLst/>
          </a:prstGeom>
          <a:solidFill>
            <a:srgbClr val="003554"/>
          </a:solidFill>
          <a:ln/>
        </p:spPr>
      </p:sp>
      <p:sp>
        <p:nvSpPr>
          <p:cNvPr id="19" name="Text 17"/>
          <p:cNvSpPr/>
          <p:nvPr/>
        </p:nvSpPr>
        <p:spPr>
          <a:xfrm>
            <a:off x="12458700" y="3658791"/>
            <a:ext cx="4709160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CASE 03 · NSW 2024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2458700" y="4087416"/>
            <a:ext cx="4709160" cy="3885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Bawley Beach jetty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12458700" y="4609356"/>
            <a:ext cx="4709160" cy="14739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A young man is injured diving from a jetty he had used safely before. </a:t>
            </a:r>
            <a:pPr algn="l" indent="0" marL="0">
              <a:lnSpc>
                <a:spcPct val="145000"/>
              </a:lnSpc>
              <a:buNone/>
            </a:pPr>
            <a:r>
              <a:rPr lang="en-US" sz="1950" b="1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New sandbank had formed </a:t>
            </a:r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beneath the jump zone.</a:t>
            </a:r>
            <a:endParaRPr lang="en-US" sz="1950" dirty="0"/>
          </a:p>
        </p:txBody>
      </p:sp>
      <p:sp>
        <p:nvSpPr>
          <p:cNvPr id="22" name="Text 20"/>
          <p:cNvSpPr/>
          <p:nvPr/>
        </p:nvSpPr>
        <p:spPr>
          <a:xfrm>
            <a:off x="12458700" y="6254800"/>
            <a:ext cx="4709160" cy="552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6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"I'VE DONE IT BEFORE" · FALSE CONFIDENCE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914400" y="8433495"/>
            <a:ext cx="16459200" cy="796230"/>
          </a:xfrm>
          <a:prstGeom prst="rect">
            <a:avLst/>
          </a:prstGeom>
          <a:solidFill>
            <a:srgbClr val="0D1F2D"/>
          </a:solidFill>
          <a:ln/>
        </p:spPr>
      </p:sp>
      <p:sp>
        <p:nvSpPr>
          <p:cNvPr id="24" name="Text 22"/>
          <p:cNvSpPr/>
          <p:nvPr/>
        </p:nvSpPr>
        <p:spPr>
          <a:xfrm>
            <a:off x="1219200" y="8643045"/>
            <a:ext cx="16343376" cy="4152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IN PAIRS · 8 MIN · </a:t>
            </a:r>
            <a:pPr algn="l" indent="0" marL="0">
              <a:lnSpc>
                <a:spcPct val="140000"/>
              </a:lnSpc>
              <a:buNone/>
            </a:pPr>
            <a:r>
              <a:rPr lang="en-US" sz="2100" dirty="0">
                <a:solidFill>
                  <a:srgbClr val="FFFFFF"/>
                </a:solidFill>
                <a:highlight>
                  <a:srgbClr val="0D1F2D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Two factors common to all three. Mechanism — not just behaviour. </a:t>
            </a:r>
            <a:pPr algn="l" indent="0" marL="0">
              <a:lnSpc>
                <a:spcPct val="140000"/>
              </a:lnSpc>
              <a:buNone/>
            </a:pPr>
            <a:r>
              <a:rPr lang="en-US" sz="2100" dirty="0">
                <a:solidFill>
                  <a:srgbClr val="FFFFFF">
                    <a:alpha val="7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(Workbook 6.1a.)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914400" y="9229725"/>
            <a:ext cx="1768078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L5 · CASES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9929366" y="9229725"/>
            <a:ext cx="7667561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SOURCES · ROYAL LIFE SAVING AUSTRALIA · AIHW</a:t>
            </a:r>
            <a:endParaRPr lang="en-US" sz="1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00100"/>
            <a:ext cx="16952976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24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RLSSA · "MORE PEOPLE DROWN IN INLAND WATERWAYS THAN ANYWHERE ELSE IN AUSTRALIA"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190625"/>
            <a:ext cx="16952976" cy="6323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500" b="1" spc="-67" kern="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factors that compound on rivers, dams and lakes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914400" y="4320778"/>
            <a:ext cx="533400" cy="533400"/>
          </a:xfrm>
          <a:prstGeom prst="rect">
            <a:avLst/>
          </a:prstGeom>
          <a:solidFill>
            <a:srgbClr val="003554"/>
          </a:solidFill>
          <a:ln/>
        </p:spPr>
      </p:sp>
      <p:sp>
        <p:nvSpPr>
          <p:cNvPr id="5" name="Text 3"/>
          <p:cNvSpPr/>
          <p:nvPr/>
        </p:nvSpPr>
        <p:spPr>
          <a:xfrm>
            <a:off x="876300" y="4320778"/>
            <a:ext cx="609600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914400" y="5063728"/>
            <a:ext cx="3202137" cy="6512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100" b="1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Depth changes constantly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5791200"/>
            <a:ext cx="3202137" cy="14739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Drought, flooding, irrigation releases, sediment movement — even morning to afternoon.</a:t>
            </a:r>
            <a:endParaRPr lang="en-US" sz="1950" dirty="0"/>
          </a:p>
        </p:txBody>
      </p:sp>
      <p:sp>
        <p:nvSpPr>
          <p:cNvPr id="8" name="Shape 6"/>
          <p:cNvSpPr/>
          <p:nvPr/>
        </p:nvSpPr>
        <p:spPr>
          <a:xfrm>
            <a:off x="4251871" y="4320778"/>
            <a:ext cx="533400" cy="533400"/>
          </a:xfrm>
          <a:prstGeom prst="rect">
            <a:avLst/>
          </a:prstGeom>
          <a:solidFill>
            <a:srgbClr val="003554"/>
          </a:solidFill>
          <a:ln/>
        </p:spPr>
      </p:sp>
      <p:sp>
        <p:nvSpPr>
          <p:cNvPr id="9" name="Text 7"/>
          <p:cNvSpPr/>
          <p:nvPr/>
        </p:nvSpPr>
        <p:spPr>
          <a:xfrm>
            <a:off x="4213771" y="4320778"/>
            <a:ext cx="609600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4251871" y="5063728"/>
            <a:ext cx="3202290" cy="3446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100" b="1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Visibility is poor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251871" y="5484614"/>
            <a:ext cx="3202290" cy="14739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Submerged logs, branches, debris, even shopping trolleys — invisible under turbid water.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7589490" y="4320778"/>
            <a:ext cx="533400" cy="533400"/>
          </a:xfrm>
          <a:prstGeom prst="rect">
            <a:avLst/>
          </a:prstGeom>
          <a:solidFill>
            <a:srgbClr val="003554"/>
          </a:solidFill>
          <a:ln/>
        </p:spPr>
      </p:sp>
      <p:sp>
        <p:nvSpPr>
          <p:cNvPr id="13" name="Text 11"/>
          <p:cNvSpPr/>
          <p:nvPr/>
        </p:nvSpPr>
        <p:spPr>
          <a:xfrm>
            <a:off x="7551390" y="4320778"/>
            <a:ext cx="609600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7589490" y="5063728"/>
            <a:ext cx="3202137" cy="3446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100" b="1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Cold-water shock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7589490" y="5484614"/>
            <a:ext cx="3202137" cy="11150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Rivers and alpine lakes stay cold even in hot weather. The 1-10-1 rule applies.</a:t>
            </a:r>
            <a:endParaRPr lang="en-US" sz="1950" dirty="0"/>
          </a:p>
        </p:txBody>
      </p:sp>
      <p:sp>
        <p:nvSpPr>
          <p:cNvPr id="16" name="Shape 14"/>
          <p:cNvSpPr/>
          <p:nvPr/>
        </p:nvSpPr>
        <p:spPr>
          <a:xfrm>
            <a:off x="10926961" y="4320778"/>
            <a:ext cx="533400" cy="533400"/>
          </a:xfrm>
          <a:prstGeom prst="rect">
            <a:avLst/>
          </a:prstGeom>
          <a:solidFill>
            <a:srgbClr val="003554"/>
          </a:solidFill>
          <a:ln/>
        </p:spPr>
      </p:sp>
      <p:sp>
        <p:nvSpPr>
          <p:cNvPr id="17" name="Text 15"/>
          <p:cNvSpPr/>
          <p:nvPr/>
        </p:nvSpPr>
        <p:spPr>
          <a:xfrm>
            <a:off x="10888861" y="4320778"/>
            <a:ext cx="609600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10926961" y="5063728"/>
            <a:ext cx="3202290" cy="6512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100" b="1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Alcohol + group dynamics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10926961" y="5791200"/>
            <a:ext cx="3202290" cy="14739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Inland incidents disproportionately involve alcohol, teenage males, and peer-pressured jumps.</a:t>
            </a:r>
            <a:endParaRPr lang="en-US" sz="1950" dirty="0"/>
          </a:p>
        </p:txBody>
      </p:sp>
      <p:sp>
        <p:nvSpPr>
          <p:cNvPr id="20" name="Shape 18"/>
          <p:cNvSpPr/>
          <p:nvPr/>
        </p:nvSpPr>
        <p:spPr>
          <a:xfrm>
            <a:off x="14264580" y="4320778"/>
            <a:ext cx="533400" cy="533400"/>
          </a:xfrm>
          <a:prstGeom prst="rect">
            <a:avLst/>
          </a:prstGeom>
          <a:solidFill>
            <a:srgbClr val="003554"/>
          </a:solidFill>
          <a:ln/>
        </p:spPr>
      </p:sp>
      <p:sp>
        <p:nvSpPr>
          <p:cNvPr id="21" name="Text 19"/>
          <p:cNvSpPr/>
          <p:nvPr/>
        </p:nvSpPr>
        <p:spPr>
          <a:xfrm>
            <a:off x="14226480" y="4320778"/>
            <a:ext cx="609600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14264580" y="5063728"/>
            <a:ext cx="3202137" cy="3446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100" b="1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Remote rescue delay</a:t>
            </a:r>
            <a:endParaRPr lang="en-US" sz="2100" dirty="0"/>
          </a:p>
        </p:txBody>
      </p:sp>
      <p:sp>
        <p:nvSpPr>
          <p:cNvPr id="23" name="Text 21"/>
          <p:cNvSpPr/>
          <p:nvPr/>
        </p:nvSpPr>
        <p:spPr>
          <a:xfrm>
            <a:off x="14264580" y="5484614"/>
            <a:ext cx="3202137" cy="14739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Limited phone signal, no lifeguards, no AED, slower spinal immobilisation — all worsen outcome.</a:t>
            </a:r>
            <a:endParaRPr lang="en-US" sz="1950" dirty="0"/>
          </a:p>
        </p:txBody>
      </p:sp>
      <p:sp>
        <p:nvSpPr>
          <p:cNvPr id="24" name="Text 22"/>
          <p:cNvSpPr/>
          <p:nvPr/>
        </p:nvSpPr>
        <p:spPr>
          <a:xfrm>
            <a:off x="914400" y="9229725"/>
            <a:ext cx="1937296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L5 · INLAND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0775305" y="9229725"/>
            <a:ext cx="6796244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 · RLSSA NATIONAL DROWNING REPORT</a:t>
            </a:r>
            <a:endParaRPr lang="en-US" sz="18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00100"/>
            <a:ext cx="16952976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24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WORKBOOK ACTIVITY 6.2 · MYTH VS EVIDENCE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190625"/>
            <a:ext cx="16952976" cy="12266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500" b="1" spc="-67" kern="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things teenagers believe about diving that are wrong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914400" y="2836366"/>
            <a:ext cx="5308550" cy="306332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836366"/>
            <a:ext cx="57150" cy="3063329"/>
          </a:xfrm>
          <a:prstGeom prst="rect">
            <a:avLst/>
          </a:prstGeom>
          <a:solidFill>
            <a:srgbClr val="B71C1C"/>
          </a:solidFill>
          <a:ln/>
        </p:spPr>
      </p:sp>
      <p:sp>
        <p:nvSpPr>
          <p:cNvPr id="6" name="Text 4"/>
          <p:cNvSpPr/>
          <p:nvPr/>
        </p:nvSpPr>
        <p:spPr>
          <a:xfrm>
            <a:off x="1257300" y="3122116"/>
            <a:ext cx="4820297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B71C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MYTH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57300" y="3474541"/>
            <a:ext cx="4820297" cy="657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950" b="1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"If others are jumping there, it must be safe."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1257300" y="4227016"/>
            <a:ext cx="4820297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b="1" dirty="0">
                <a:solidFill>
                  <a:srgbClr val="006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FACT ·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4A6B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depth changes daily. Yesterday's safe jump can be today's spinal injury.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489650" y="2836366"/>
            <a:ext cx="5308550" cy="306332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>
            <a:off x="6489650" y="2836366"/>
            <a:ext cx="57150" cy="3063329"/>
          </a:xfrm>
          <a:prstGeom prst="rect">
            <a:avLst/>
          </a:prstGeom>
          <a:solidFill>
            <a:srgbClr val="B71C1C"/>
          </a:solidFill>
          <a:ln/>
        </p:spPr>
      </p:sp>
      <p:sp>
        <p:nvSpPr>
          <p:cNvPr id="11" name="Text 9"/>
          <p:cNvSpPr/>
          <p:nvPr/>
        </p:nvSpPr>
        <p:spPr>
          <a:xfrm>
            <a:off x="6832550" y="3122116"/>
            <a:ext cx="4820297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B71C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MYTH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832550" y="3474541"/>
            <a:ext cx="4820297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950" b="1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"Clear water means deep water."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6832550" y="3917454"/>
            <a:ext cx="4820297" cy="9980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b="1" dirty="0">
                <a:solidFill>
                  <a:srgbClr val="006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FACT ·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4A6B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clarity is independent of depth. Dangerously shallow water can be crystal clear.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12064901" y="2836366"/>
            <a:ext cx="5308550" cy="306332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Shape 13"/>
          <p:cNvSpPr/>
          <p:nvPr/>
        </p:nvSpPr>
        <p:spPr>
          <a:xfrm>
            <a:off x="12064901" y="2836366"/>
            <a:ext cx="57150" cy="3063329"/>
          </a:xfrm>
          <a:prstGeom prst="rect">
            <a:avLst/>
          </a:prstGeom>
          <a:solidFill>
            <a:srgbClr val="B71C1C"/>
          </a:solidFill>
          <a:ln/>
        </p:spPr>
      </p:sp>
      <p:sp>
        <p:nvSpPr>
          <p:cNvPr id="16" name="Text 14"/>
          <p:cNvSpPr/>
          <p:nvPr/>
        </p:nvSpPr>
        <p:spPr>
          <a:xfrm>
            <a:off x="12407801" y="3122116"/>
            <a:ext cx="4820297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B71C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MYTH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2407801" y="3474541"/>
            <a:ext cx="4820297" cy="657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950" b="1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 checked it before — I know this spot."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12407801" y="4227016"/>
            <a:ext cx="4820297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b="1" dirty="0">
                <a:solidFill>
                  <a:srgbClr val="006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FACT ·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4A6B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Bawley Beach. Familiarity becomes overconfidence becomes injury.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914400" y="6166396"/>
            <a:ext cx="5308550" cy="306332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Shape 18"/>
          <p:cNvSpPr/>
          <p:nvPr/>
        </p:nvSpPr>
        <p:spPr>
          <a:xfrm>
            <a:off x="914400" y="6166396"/>
            <a:ext cx="57150" cy="3063329"/>
          </a:xfrm>
          <a:prstGeom prst="rect">
            <a:avLst/>
          </a:prstGeom>
          <a:solidFill>
            <a:srgbClr val="B71C1C"/>
          </a:solidFill>
          <a:ln/>
        </p:spPr>
      </p:sp>
      <p:sp>
        <p:nvSpPr>
          <p:cNvPr id="21" name="Text 19"/>
          <p:cNvSpPr/>
          <p:nvPr/>
        </p:nvSpPr>
        <p:spPr>
          <a:xfrm>
            <a:off x="1257300" y="6452146"/>
            <a:ext cx="4820297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B71C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MYTH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257300" y="6804571"/>
            <a:ext cx="4820297" cy="657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950" b="1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"Good swimmers are safe from diving injuries."</a:t>
            </a:r>
            <a:endParaRPr lang="en-US" sz="1950" dirty="0"/>
          </a:p>
        </p:txBody>
      </p:sp>
      <p:sp>
        <p:nvSpPr>
          <p:cNvPr id="23" name="Text 21"/>
          <p:cNvSpPr/>
          <p:nvPr/>
        </p:nvSpPr>
        <p:spPr>
          <a:xfrm>
            <a:off x="1257300" y="7557046"/>
            <a:ext cx="4820297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b="1" dirty="0">
                <a:solidFill>
                  <a:srgbClr val="006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FACT ·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4A6B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spinal injury happens on impact. Swimming ability is irrelevant.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6489650" y="6166396"/>
            <a:ext cx="5308550" cy="306332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Shape 23"/>
          <p:cNvSpPr/>
          <p:nvPr/>
        </p:nvSpPr>
        <p:spPr>
          <a:xfrm>
            <a:off x="6489650" y="6166396"/>
            <a:ext cx="57150" cy="3063329"/>
          </a:xfrm>
          <a:prstGeom prst="rect">
            <a:avLst/>
          </a:prstGeom>
          <a:solidFill>
            <a:srgbClr val="B71C1C"/>
          </a:solidFill>
          <a:ln/>
        </p:spPr>
      </p:sp>
      <p:sp>
        <p:nvSpPr>
          <p:cNvPr id="26" name="Text 24"/>
          <p:cNvSpPr/>
          <p:nvPr/>
        </p:nvSpPr>
        <p:spPr>
          <a:xfrm>
            <a:off x="6832550" y="6452146"/>
            <a:ext cx="4820297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B71C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MYTH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6832550" y="6804571"/>
            <a:ext cx="4820297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950" b="1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"Feet-first is just as risky as diving."</a:t>
            </a:r>
            <a:endParaRPr lang="en-US" sz="1950" dirty="0"/>
          </a:p>
        </p:txBody>
      </p:sp>
      <p:sp>
        <p:nvSpPr>
          <p:cNvPr id="28" name="Text 26"/>
          <p:cNvSpPr/>
          <p:nvPr/>
        </p:nvSpPr>
        <p:spPr>
          <a:xfrm>
            <a:off x="6832550" y="7247483"/>
            <a:ext cx="4820297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b="1" dirty="0">
                <a:solidFill>
                  <a:srgbClr val="006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FACT ·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4A6B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feet-first dramatically reduces cervical spine risk. "Feet first, first time."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12064901" y="6166396"/>
            <a:ext cx="5308550" cy="306332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Shape 28"/>
          <p:cNvSpPr/>
          <p:nvPr/>
        </p:nvSpPr>
        <p:spPr>
          <a:xfrm>
            <a:off x="12064901" y="6166396"/>
            <a:ext cx="57150" cy="3063329"/>
          </a:xfrm>
          <a:prstGeom prst="rect">
            <a:avLst/>
          </a:prstGeom>
          <a:solidFill>
            <a:srgbClr val="B71C1C"/>
          </a:solidFill>
          <a:ln/>
        </p:spPr>
      </p:sp>
      <p:sp>
        <p:nvSpPr>
          <p:cNvPr id="31" name="Text 29"/>
          <p:cNvSpPr/>
          <p:nvPr/>
        </p:nvSpPr>
        <p:spPr>
          <a:xfrm>
            <a:off x="12407801" y="6452146"/>
            <a:ext cx="4820297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B71C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MYTH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12407801" y="6804571"/>
            <a:ext cx="4820297" cy="657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950" b="1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"The jetty is high — so the water must be deep."</a:t>
            </a:r>
            <a:endParaRPr lang="en-US" sz="1950" dirty="0"/>
          </a:p>
        </p:txBody>
      </p:sp>
      <p:sp>
        <p:nvSpPr>
          <p:cNvPr id="33" name="Text 31"/>
          <p:cNvSpPr/>
          <p:nvPr/>
        </p:nvSpPr>
        <p:spPr>
          <a:xfrm>
            <a:off x="12407801" y="7557046"/>
            <a:ext cx="4820297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b="1" dirty="0">
                <a:solidFill>
                  <a:srgbClr val="006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FACT ·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4A6B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 height tells you nothing about water depth beneath it.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914400" y="9229725"/>
            <a:ext cx="1768078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L5 · MYTHS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13820626" y="9229725"/>
            <a:ext cx="3659563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 · RLSSA · AIHW</a:t>
            </a:r>
            <a:endParaRPr lang="en-US" sz="18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3554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800100"/>
            <a:ext cx="16952976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24" kern="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CORE MESSAGE · CARRY THIS INTO YOUR CAMPAIGN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2811810"/>
            <a:ext cx="14716125" cy="3467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5000" b="1" spc="-525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Feet first, first time.</a:t>
            </a:r>
            <a:endParaRPr lang="en-US" sz="15000" dirty="0"/>
          </a:p>
        </p:txBody>
      </p:sp>
      <p:sp>
        <p:nvSpPr>
          <p:cNvPr id="5" name="Text 3"/>
          <p:cNvSpPr/>
          <p:nvPr/>
        </p:nvSpPr>
        <p:spPr>
          <a:xfrm>
            <a:off x="914400" y="6621810"/>
            <a:ext cx="14716125" cy="89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400" dirty="0">
                <a:solidFill>
                  <a:srgbClr val="FFFFFF">
                    <a:alpha val="8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Never dive into unknown water. Check depth </a:t>
            </a:r>
            <a:pPr algn="l" indent="0" marL="0">
              <a:lnSpc>
                <a:spcPct val="140000"/>
              </a:lnSpc>
              <a:buNone/>
            </a:pPr>
            <a:r>
              <a:rPr lang="en-US" sz="240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every single time </a:t>
            </a:r>
            <a:pPr algn="l" indent="0" marL="0">
              <a:lnSpc>
                <a:spcPct val="140000"/>
              </a:lnSpc>
              <a:buNone/>
            </a:pPr>
            <a:r>
              <a:rPr lang="en-US" sz="2400" dirty="0">
                <a:solidFill>
                  <a:srgbClr val="FFFFFF">
                    <a:alpha val="8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not just the first time. Previous safety at a location does not guarantee current safety.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914400" y="9229725"/>
            <a:ext cx="2106513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FFFFFF">
                    <a:alpha val="60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L5 · MESSAGE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1282809" y="9229725"/>
            <a:ext cx="6273515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FFFFFF">
                    <a:alpha val="60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RLSSA · NATIONAL PREVENTION CAMPAIGN</a:t>
            </a:r>
            <a:endParaRPr lang="en-US" sz="18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D1F2D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800100"/>
            <a:ext cx="16952976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24" kern="0" dirty="0">
                <a:solidFill>
                  <a:srgbClr val="FFFFFF">
                    <a:alpha val="65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LESSON 5 · EXIT TICKET · 5 MIN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3859113"/>
            <a:ext cx="16678275" cy="18494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500" b="1" spc="-67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The highest diving-injury incidence is in 10–14 year olds. Explain why — using social </a:t>
            </a:r>
            <a:pPr algn="l" indent="0" marL="0">
              <a:lnSpc>
                <a:spcPct val="104000"/>
              </a:lnSpc>
              <a:buNone/>
            </a:pPr>
            <a:r>
              <a:rPr lang="en-US" sz="4500" b="1" i="1" spc="-67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and </a:t>
            </a:r>
            <a:pPr algn="l" indent="0" marL="0">
              <a:lnSpc>
                <a:spcPct val="104000"/>
              </a:lnSpc>
              <a:buNone/>
            </a:pPr>
            <a:r>
              <a:rPr lang="en-US" sz="4500" b="1" spc="-67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environmental factors.</a:t>
            </a:r>
            <a:endParaRPr lang="en-US" sz="4500" dirty="0"/>
          </a:p>
        </p:txBody>
      </p:sp>
      <p:sp>
        <p:nvSpPr>
          <p:cNvPr id="5" name="Text 3"/>
          <p:cNvSpPr/>
          <p:nvPr/>
        </p:nvSpPr>
        <p:spPr>
          <a:xfrm>
            <a:off x="914400" y="6013400"/>
            <a:ext cx="14716125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250" dirty="0">
                <a:solidFill>
                  <a:srgbClr val="FFFFFF">
                    <a:alpha val="7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Then sketch </a:t>
            </a:r>
            <a:pPr algn="l" indent="0" marL="0">
              <a:lnSpc>
                <a:spcPct val="145000"/>
              </a:lnSpc>
              <a:buNone/>
            </a:pPr>
            <a:r>
              <a:rPr lang="en-US" sz="225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what a targeted prevention response </a:t>
            </a:r>
            <a:pPr algn="l" indent="0" marL="0">
              <a:lnSpc>
                <a:spcPct val="145000"/>
              </a:lnSpc>
              <a:buNone/>
            </a:pPr>
            <a:r>
              <a:rPr lang="en-US" sz="2250" dirty="0">
                <a:solidFill>
                  <a:srgbClr val="FFFFFF">
                    <a:alpha val="7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would look like. Two sentences each.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914400" y="9229725"/>
            <a:ext cx="1937296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FFFFFF">
                    <a:alpha val="55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EXIT TICKET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4328130" y="9229725"/>
            <a:ext cx="3136834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FFFFFF">
                    <a:alpha val="55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WORKBOOK SECTION 6</a:t>
            </a:r>
            <a:endParaRPr lang="en-US" sz="18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800100"/>
            <a:ext cx="16952976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24" kern="0" dirty="0">
                <a:solidFill>
                  <a:srgbClr val="FFFFFF">
                    <a:alpha val="78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LESSON 6 · 50 MIN · WORKBOOK SECTION 7 · ASSESSED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3133725"/>
            <a:ext cx="16952976" cy="1981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18000" b="1" spc="-720" kern="0" dirty="0">
                <a:solidFill>
                  <a:srgbClr val="FFFFFF">
                    <a:alpha val="9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8000" dirty="0"/>
          </a:p>
        </p:txBody>
      </p:sp>
      <p:sp>
        <p:nvSpPr>
          <p:cNvPr id="5" name="Text 3"/>
          <p:cNvSpPr/>
          <p:nvPr/>
        </p:nvSpPr>
        <p:spPr>
          <a:xfrm>
            <a:off x="914400" y="5305425"/>
            <a:ext cx="14716125" cy="1714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6600" b="1" spc="-132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Assessment task — planning, drafting &amp; peer review</a:t>
            </a:r>
            <a:endParaRPr lang="en-US" sz="6600" dirty="0"/>
          </a:p>
        </p:txBody>
      </p:sp>
      <p:sp>
        <p:nvSpPr>
          <p:cNvPr id="6" name="Shape 4"/>
          <p:cNvSpPr/>
          <p:nvPr/>
        </p:nvSpPr>
        <p:spPr>
          <a:xfrm>
            <a:off x="914400" y="9058275"/>
            <a:ext cx="1846659" cy="428625"/>
          </a:xfrm>
          <a:prstGeom prst="roundRect">
            <a:avLst>
              <a:gd name="adj" fmla="val 50000"/>
            </a:avLst>
          </a:prstGeom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6325" y="9144000"/>
            <a:ext cx="1599009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VCHPEP145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2913459" y="9058275"/>
            <a:ext cx="1846659" cy="428625"/>
          </a:xfrm>
          <a:prstGeom prst="roundRect">
            <a:avLst>
              <a:gd name="adj" fmla="val 50000"/>
            </a:avLst>
          </a:prstGeom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075384" y="9144000"/>
            <a:ext cx="1599009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VCHPEP148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4912519" y="9058275"/>
            <a:ext cx="4384328" cy="428625"/>
          </a:xfrm>
          <a:prstGeom prst="roundRect">
            <a:avLst>
              <a:gd name="adj" fmla="val 50000"/>
            </a:avLst>
          </a:prstGeom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74444" y="9144000"/>
            <a:ext cx="4192008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INDIVIDUAL + PEER REVIEW</a:t>
            </a:r>
            <a:endParaRPr lang="en-US" sz="18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00100"/>
            <a:ext cx="16952976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24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ASSESSMENT TASK · CHOOSE ONE · BUILD IT FOR A REAL AUDIENCE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190625"/>
            <a:ext cx="16952976" cy="6323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500" b="1" spc="-67" kern="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options — all evidence-based, all argued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914400" y="3231059"/>
            <a:ext cx="5257800" cy="393903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3231059"/>
            <a:ext cx="5257800" cy="57150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3669209"/>
            <a:ext cx="4630674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88" kern="0" dirty="0">
                <a:solidFill>
                  <a:srgbClr val="E651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 A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95400" y="4097834"/>
            <a:ext cx="4630674" cy="3885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Policy Brief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295400" y="4619774"/>
            <a:ext cx="4630674" cy="14739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600–800 words to the Victorian Minister for Sport &amp; Recreation. Three recommendations + evidence + measurable outcomes.</a:t>
            </a:r>
            <a:endParaRPr lang="en-US" sz="1950" dirty="0"/>
          </a:p>
        </p:txBody>
      </p:sp>
      <p:sp>
        <p:nvSpPr>
          <p:cNvPr id="9" name="Shape 7"/>
          <p:cNvSpPr/>
          <p:nvPr/>
        </p:nvSpPr>
        <p:spPr>
          <a:xfrm>
            <a:off x="1295400" y="6284268"/>
            <a:ext cx="4495800" cy="9525"/>
          </a:xfrm>
          <a:prstGeom prst="rect">
            <a:avLst/>
          </a:prstGeom>
          <a:solidFill>
            <a:srgbClr val="D4DCE3"/>
          </a:solidFill>
          <a:ln/>
        </p:spPr>
      </p:sp>
      <p:sp>
        <p:nvSpPr>
          <p:cNvPr id="10" name="Text 8"/>
          <p:cNvSpPr/>
          <p:nvPr/>
        </p:nvSpPr>
        <p:spPr>
          <a:xfrm>
            <a:off x="1295400" y="6465243"/>
            <a:ext cx="4630674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4A6B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for: writers who want to argue policy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515100" y="3231059"/>
            <a:ext cx="5257800" cy="393903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Shape 10"/>
          <p:cNvSpPr/>
          <p:nvPr/>
        </p:nvSpPr>
        <p:spPr>
          <a:xfrm>
            <a:off x="6515100" y="3231059"/>
            <a:ext cx="5257800" cy="57150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13" name="Text 11"/>
          <p:cNvSpPr/>
          <p:nvPr/>
        </p:nvSpPr>
        <p:spPr>
          <a:xfrm>
            <a:off x="6896100" y="3669209"/>
            <a:ext cx="4630674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88" kern="0" dirty="0">
                <a:solidFill>
                  <a:srgbClr val="E651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 B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896100" y="4097834"/>
            <a:ext cx="4630674" cy="3885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Communication Campaign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6896100" y="4619774"/>
            <a:ext cx="4630674" cy="14739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ONE high-risk group from Victorian data. Campaign name, message, visual concept, platform + 100-word justification.</a:t>
            </a:r>
            <a:endParaRPr lang="en-US" sz="1950" dirty="0"/>
          </a:p>
        </p:txBody>
      </p:sp>
      <p:sp>
        <p:nvSpPr>
          <p:cNvPr id="16" name="Shape 14"/>
          <p:cNvSpPr/>
          <p:nvPr/>
        </p:nvSpPr>
        <p:spPr>
          <a:xfrm>
            <a:off x="6896100" y="6284268"/>
            <a:ext cx="4495800" cy="9525"/>
          </a:xfrm>
          <a:prstGeom prst="rect">
            <a:avLst/>
          </a:prstGeom>
          <a:solidFill>
            <a:srgbClr val="D4DCE3"/>
          </a:solidFill>
          <a:ln/>
        </p:spPr>
      </p:sp>
      <p:sp>
        <p:nvSpPr>
          <p:cNvPr id="17" name="Text 15"/>
          <p:cNvSpPr/>
          <p:nvPr/>
        </p:nvSpPr>
        <p:spPr>
          <a:xfrm>
            <a:off x="6896100" y="6465243"/>
            <a:ext cx="4630674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4A6B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for: designers, video-makers, social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12115800" y="3231059"/>
            <a:ext cx="5257800" cy="3939034"/>
          </a:xfrm>
          <a:prstGeom prst="rect">
            <a:avLst/>
          </a:prstGeom>
          <a:solidFill>
            <a:srgbClr val="003554"/>
          </a:solidFill>
          <a:ln/>
        </p:spPr>
      </p:sp>
      <p:sp>
        <p:nvSpPr>
          <p:cNvPr id="19" name="Shape 17"/>
          <p:cNvSpPr/>
          <p:nvPr/>
        </p:nvSpPr>
        <p:spPr>
          <a:xfrm>
            <a:off x="12115800" y="3231059"/>
            <a:ext cx="5257800" cy="57150"/>
          </a:xfrm>
          <a:prstGeom prst="rect">
            <a:avLst/>
          </a:prstGeom>
          <a:solidFill>
            <a:srgbClr val="FFD166"/>
          </a:solidFill>
          <a:ln/>
        </p:spPr>
      </p:sp>
      <p:sp>
        <p:nvSpPr>
          <p:cNvPr id="20" name="Text 18"/>
          <p:cNvSpPr/>
          <p:nvPr/>
        </p:nvSpPr>
        <p:spPr>
          <a:xfrm>
            <a:off x="12496800" y="3669209"/>
            <a:ext cx="4630674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88" kern="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 C · ADVANCED ★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2496800" y="4154984"/>
            <a:ext cx="4630674" cy="3885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School Audit &amp; Report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12496800" y="4676924"/>
            <a:ext cx="4630674" cy="14739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FFFFFF">
                    <a:alpha val="8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your school's water-safety provision. Benchmark against Curriculum 2.0. Priority matrix + recommendations.</a:t>
            </a:r>
            <a:endParaRPr lang="en-US" sz="1950" dirty="0"/>
          </a:p>
        </p:txBody>
      </p:sp>
      <p:sp>
        <p:nvSpPr>
          <p:cNvPr id="23" name="Shape 21"/>
          <p:cNvSpPr/>
          <p:nvPr/>
        </p:nvSpPr>
        <p:spPr>
          <a:xfrm>
            <a:off x="12496800" y="6341418"/>
            <a:ext cx="4495800" cy="9525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4" name="Text 22"/>
          <p:cNvSpPr/>
          <p:nvPr/>
        </p:nvSpPr>
        <p:spPr>
          <a:xfrm>
            <a:off x="12496800" y="6522393"/>
            <a:ext cx="4630674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>
                    <a:alpha val="7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for: students who want real impact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914400" y="8464004"/>
            <a:ext cx="16459200" cy="765721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Shape 24"/>
          <p:cNvSpPr/>
          <p:nvPr/>
        </p:nvSpPr>
        <p:spPr>
          <a:xfrm>
            <a:off x="914400" y="8464004"/>
            <a:ext cx="57150" cy="765721"/>
          </a:xfrm>
          <a:prstGeom prst="rect">
            <a:avLst/>
          </a:prstGeom>
          <a:solidFill>
            <a:srgbClr val="FFD166"/>
          </a:solidFill>
          <a:ln/>
        </p:spPr>
      </p:sp>
      <p:sp>
        <p:nvSpPr>
          <p:cNvPr id="27" name="Text 25"/>
          <p:cNvSpPr/>
          <p:nvPr/>
        </p:nvSpPr>
        <p:spPr>
          <a:xfrm>
            <a:off x="1276350" y="8673554"/>
            <a:ext cx="16286226" cy="3847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950" b="1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All options require: </a:t>
            </a:r>
            <a:pPr algn="l" indent="0" marL="0">
              <a:lnSpc>
                <a:spcPct val="140000"/>
              </a:lnSpc>
              <a:buNone/>
            </a:pPr>
            <a:r>
              <a:rPr lang="en-US" sz="1950" dirty="0">
                <a:solidFill>
                  <a:srgbClr val="003554"/>
                </a:solidFill>
                <a:highlight>
                  <a:srgbClr val="FFFFFF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3+ credible sources with URLs · 1+ Victorian or global statistic · a named target audience · a specific call to action.</a:t>
            </a:r>
            <a:endParaRPr lang="en-US" sz="1950" dirty="0"/>
          </a:p>
        </p:txBody>
      </p:sp>
      <p:sp>
        <p:nvSpPr>
          <p:cNvPr id="28" name="Text 26"/>
          <p:cNvSpPr/>
          <p:nvPr/>
        </p:nvSpPr>
        <p:spPr>
          <a:xfrm>
            <a:off x="914400" y="9229725"/>
            <a:ext cx="2106513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L6 · OPTIONS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14497348" y="9229725"/>
            <a:ext cx="2962540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DUE · END OF UNIT</a:t>
            </a:r>
            <a:endParaRPr lang="en-US" sz="18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00100"/>
            <a:ext cx="16952976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24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RUBRIC · WHAT A-STANDARD WORK LOOKS LIKE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190625"/>
            <a:ext cx="16952976" cy="6323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500" b="1" spc="-67" kern="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things that separate "Building" from "Extending"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914400" y="3797945"/>
            <a:ext cx="533400" cy="533400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5" name="Text 3"/>
          <p:cNvSpPr/>
          <p:nvPr/>
        </p:nvSpPr>
        <p:spPr>
          <a:xfrm>
            <a:off x="876300" y="3797945"/>
            <a:ext cx="609600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676400" y="3797945"/>
            <a:ext cx="7416927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100" b="1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Beyond description — to analysis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676400" y="4194125"/>
            <a:ext cx="7416927" cy="75604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4A6B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Argues with evidence. Acknowledges counter-arguments. Doesn't just describe what is.</a:t>
            </a:r>
            <a:endParaRPr lang="en-US" sz="1950" dirty="0"/>
          </a:p>
        </p:txBody>
      </p:sp>
      <p:sp>
        <p:nvSpPr>
          <p:cNvPr id="8" name="Shape 6"/>
          <p:cNvSpPr/>
          <p:nvPr/>
        </p:nvSpPr>
        <p:spPr>
          <a:xfrm>
            <a:off x="9410700" y="3797945"/>
            <a:ext cx="533400" cy="533400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9" name="Text 7"/>
          <p:cNvSpPr/>
          <p:nvPr/>
        </p:nvSpPr>
        <p:spPr>
          <a:xfrm>
            <a:off x="9372600" y="3797945"/>
            <a:ext cx="609600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10172700" y="3797945"/>
            <a:ext cx="7416927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100" b="1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sources, cited with URLs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10172700" y="4194125"/>
            <a:ext cx="7416927" cy="75604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4A6B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LSV, RLSSA, WHO, AIHW — not random blog posts. The reader can verify every claim.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914400" y="5178772"/>
            <a:ext cx="533400" cy="533400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13" name="Text 11"/>
          <p:cNvSpPr/>
          <p:nvPr/>
        </p:nvSpPr>
        <p:spPr>
          <a:xfrm>
            <a:off x="876300" y="5178772"/>
            <a:ext cx="609600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676400" y="5178772"/>
            <a:ext cx="7416927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100" b="1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Structural — not just individual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1676400" y="5574953"/>
            <a:ext cx="7416927" cy="75604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4A6B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Names a mechanism. "Masculinity norms" beats "boys take more risks." Distinguishes systemic from personal.</a:t>
            </a:r>
            <a:endParaRPr lang="en-US" sz="1950" dirty="0"/>
          </a:p>
        </p:txBody>
      </p:sp>
      <p:sp>
        <p:nvSpPr>
          <p:cNvPr id="16" name="Shape 14"/>
          <p:cNvSpPr/>
          <p:nvPr/>
        </p:nvSpPr>
        <p:spPr>
          <a:xfrm>
            <a:off x="9410700" y="5178772"/>
            <a:ext cx="533400" cy="533400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17" name="Text 15"/>
          <p:cNvSpPr/>
          <p:nvPr/>
        </p:nvSpPr>
        <p:spPr>
          <a:xfrm>
            <a:off x="9372600" y="5178772"/>
            <a:ext cx="609600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10172700" y="5178772"/>
            <a:ext cx="7416927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100" b="1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for a named audience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10172700" y="5574953"/>
            <a:ext cx="7416927" cy="75604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4A6B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Minister's brief doesn't read like a TikTok script. The language fits the addressee.</a:t>
            </a:r>
            <a:endParaRPr lang="en-US" sz="1950" dirty="0"/>
          </a:p>
        </p:txBody>
      </p:sp>
      <p:sp>
        <p:nvSpPr>
          <p:cNvPr id="20" name="Shape 18"/>
          <p:cNvSpPr/>
          <p:nvPr/>
        </p:nvSpPr>
        <p:spPr>
          <a:xfrm>
            <a:off x="914400" y="6559600"/>
            <a:ext cx="533400" cy="533400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21" name="Text 19"/>
          <p:cNvSpPr/>
          <p:nvPr/>
        </p:nvSpPr>
        <p:spPr>
          <a:xfrm>
            <a:off x="876300" y="6559600"/>
            <a:ext cx="609600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1676400" y="6559600"/>
            <a:ext cx="7416927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100" b="1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Measurable outcomes</a:t>
            </a:r>
            <a:endParaRPr lang="en-US" sz="2100" dirty="0"/>
          </a:p>
        </p:txBody>
      </p:sp>
      <p:sp>
        <p:nvSpPr>
          <p:cNvPr id="23" name="Text 21"/>
          <p:cNvSpPr/>
          <p:nvPr/>
        </p:nvSpPr>
        <p:spPr>
          <a:xfrm>
            <a:off x="1676400" y="6955780"/>
            <a:ext cx="7416927" cy="75604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4A6B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metrics. "Reduce CALD drowning deaths by 20% in 5 years" beats "raise awareness."</a:t>
            </a:r>
            <a:endParaRPr lang="en-US" sz="1950" dirty="0"/>
          </a:p>
        </p:txBody>
      </p:sp>
      <p:sp>
        <p:nvSpPr>
          <p:cNvPr id="24" name="Shape 22"/>
          <p:cNvSpPr/>
          <p:nvPr/>
        </p:nvSpPr>
        <p:spPr>
          <a:xfrm>
            <a:off x="9410700" y="6559600"/>
            <a:ext cx="533400" cy="533400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25" name="Text 23"/>
          <p:cNvSpPr/>
          <p:nvPr/>
        </p:nvSpPr>
        <p:spPr>
          <a:xfrm>
            <a:off x="9372600" y="6559600"/>
            <a:ext cx="609600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100" dirty="0"/>
          </a:p>
        </p:txBody>
      </p:sp>
      <p:sp>
        <p:nvSpPr>
          <p:cNvPr id="26" name="Text 24"/>
          <p:cNvSpPr/>
          <p:nvPr/>
        </p:nvSpPr>
        <p:spPr>
          <a:xfrm>
            <a:off x="10172700" y="6559600"/>
            <a:ext cx="7416927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100" b="1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voice is visible</a:t>
            </a:r>
            <a:endParaRPr lang="en-US" sz="2100" dirty="0"/>
          </a:p>
        </p:txBody>
      </p:sp>
      <p:sp>
        <p:nvSpPr>
          <p:cNvPr id="27" name="Text 25"/>
          <p:cNvSpPr/>
          <p:nvPr/>
        </p:nvSpPr>
        <p:spPr>
          <a:xfrm>
            <a:off x="10172700" y="6955780"/>
            <a:ext cx="7416927" cy="75604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4A6B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Not a stitched-together summary. Your teacher should feel </a:t>
            </a:r>
            <a:pPr algn="l" indent="0" marL="0">
              <a:lnSpc>
                <a:spcPct val="145000"/>
              </a:lnSpc>
              <a:buNone/>
            </a:pPr>
            <a:r>
              <a:rPr lang="en-US" sz="1950" i="1" dirty="0">
                <a:solidFill>
                  <a:srgbClr val="4A6B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you </a:t>
            </a:r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4A6B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wrote this and made the calls.</a:t>
            </a:r>
            <a:endParaRPr lang="en-US" sz="1950" dirty="0"/>
          </a:p>
        </p:txBody>
      </p:sp>
      <p:sp>
        <p:nvSpPr>
          <p:cNvPr id="28" name="Text 26"/>
          <p:cNvSpPr/>
          <p:nvPr/>
        </p:nvSpPr>
        <p:spPr>
          <a:xfrm>
            <a:off x="914400" y="9229725"/>
            <a:ext cx="1937296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L6 · RUBRIC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11959530" y="9229725"/>
            <a:ext cx="5576492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FULL RUBRIC · 6 CRITERIA · E → A</a:t>
            </a:r>
            <a:endParaRPr lang="en-US" sz="18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00100"/>
            <a:ext cx="16952976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24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YOUR EVIDENCE COMES FROM · CITE THE URL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190625"/>
            <a:ext cx="16952976" cy="6323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500" b="1" spc="-67" kern="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primary sources for the assessment task</a:t>
            </a:r>
            <a:endParaRPr lang="en-US" sz="4500" dirty="0"/>
          </a:p>
        </p:txBody>
      </p:sp>
      <p:sp>
        <p:nvSpPr>
          <p:cNvPr id="4" name="Text 2"/>
          <p:cNvSpPr/>
          <p:nvPr/>
        </p:nvSpPr>
        <p:spPr>
          <a:xfrm>
            <a:off x="914400" y="3077766"/>
            <a:ext cx="8201787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spc="-24" kern="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Life Saving Victoria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914400" y="3582591"/>
            <a:ext cx="8201787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6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lsv.com.au · lsv.com.au/research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14400" y="3954066"/>
            <a:ext cx="8201787" cy="75604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for · Victorian drowning data, CALD over-representation, SwimSafe rules, patrolled beach locations.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9410700" y="3077766"/>
            <a:ext cx="8201787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spc="-24" kern="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Royal Life Saving Australia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410700" y="3582591"/>
            <a:ext cx="8201787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6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royallifesaving.com.au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410700" y="3954066"/>
            <a:ext cx="8201787" cy="75604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for · National data, inland waterway research, post-COVID trends, "Feet first, first time."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914400" y="4938713"/>
            <a:ext cx="8201787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spc="-24" kern="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World Health Organization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914400" y="5443538"/>
            <a:ext cx="8201787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6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who.int/drowning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914400" y="5815013"/>
            <a:ext cx="8201787" cy="75604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for · Global drowning data, prevention guide, social determinants framework.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9410700" y="4938713"/>
            <a:ext cx="8201787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spc="-24" kern="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AIHW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9410700" y="5443538"/>
            <a:ext cx="8201787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6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aihw.gov.au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9410700" y="5815013"/>
            <a:ext cx="8201787" cy="75604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for · Spinal cord injury data, quadriplegia statistics, Australian injury surveillance.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914400" y="6799659"/>
            <a:ext cx="8201787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spc="-24" kern="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International comparators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" y="7304484"/>
            <a:ext cx="8201787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6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rlss.org.uk/education · redcross.org/water-safety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914400" y="7675959"/>
            <a:ext cx="8201787" cy="75604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for · Float to Live, water competency, international approach comparison.</a:t>
            </a:r>
            <a:endParaRPr lang="en-US" sz="1950" dirty="0"/>
          </a:p>
        </p:txBody>
      </p:sp>
      <p:sp>
        <p:nvSpPr>
          <p:cNvPr id="19" name="Text 17"/>
          <p:cNvSpPr/>
          <p:nvPr/>
        </p:nvSpPr>
        <p:spPr>
          <a:xfrm>
            <a:off x="9410700" y="6799659"/>
            <a:ext cx="8201787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spc="-24" kern="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Victorian Curriculum 2.0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9410700" y="7304484"/>
            <a:ext cx="8201787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6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victoriancurriculum.vcaa.vic.edu.au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9410700" y="7675959"/>
            <a:ext cx="8201787" cy="75604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for · Option C audit · benchmarking school provision against curriculum codes.</a:t>
            </a:r>
            <a:endParaRPr lang="en-US" sz="1950" dirty="0"/>
          </a:p>
        </p:txBody>
      </p:sp>
      <p:sp>
        <p:nvSpPr>
          <p:cNvPr id="22" name="Text 20"/>
          <p:cNvSpPr/>
          <p:nvPr/>
        </p:nvSpPr>
        <p:spPr>
          <a:xfrm>
            <a:off x="914400" y="9229725"/>
            <a:ext cx="2106513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L6 · SOURCES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8914209" y="9229725"/>
            <a:ext cx="8713172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CREDIBLE = .GOV · .ORG · PEER-REVIEWED · CITED URL</a:t>
            </a:r>
            <a:endParaRPr lang="en-US" sz="18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00100"/>
            <a:ext cx="16952976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24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WHOLE UNIT ON ONE SLIDE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190625"/>
            <a:ext cx="16952976" cy="6323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500" b="1" spc="-67" kern="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lessons. One thing each.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914400" y="2242096"/>
            <a:ext cx="2552700" cy="5715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2470696"/>
            <a:ext cx="2629281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24" kern="0" dirty="0">
                <a:solidFill>
                  <a:srgbClr val="1565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LESSON 01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14400" y="2842171"/>
            <a:ext cx="2629281" cy="3077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800" b="1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data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63930" y="3245197"/>
            <a:ext cx="2579370" cy="25979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marL="160020" indent="-160020">
              <a:lnSpc>
                <a:spcPct val="140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 Victorian deaths · 2023–24</a:t>
            </a:r>
            <a:endParaRPr lang="en-US" sz="1800" dirty="0"/>
          </a:p>
          <a:p>
            <a:pPr algn="l" marL="160020" indent="-160020">
              <a:lnSpc>
                <a:spcPct val="140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Non-fatals 60% above 10-yr avg</a:t>
            </a:r>
            <a:endParaRPr lang="en-US" sz="1800" dirty="0"/>
          </a:p>
          <a:p>
            <a:pPr algn="l" marL="160020" indent="-160020">
              <a:lnSpc>
                <a:spcPct val="140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~40% CALD over-representation</a:t>
            </a:r>
            <a:endParaRPr lang="en-US" sz="1800" dirty="0"/>
          </a:p>
          <a:p>
            <a:pPr algn="l" marL="160020" indent="-160020">
              <a:lnSpc>
                <a:spcPct val="140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deaths at patrolled sites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695700" y="2242096"/>
            <a:ext cx="2552700" cy="57150"/>
          </a:xfrm>
          <a:prstGeom prst="rect">
            <a:avLst/>
          </a:prstGeom>
          <a:solidFill>
            <a:srgbClr val="B71C1C"/>
          </a:solidFill>
          <a:ln/>
        </p:spPr>
      </p:sp>
      <p:sp>
        <p:nvSpPr>
          <p:cNvPr id="9" name="Text 7"/>
          <p:cNvSpPr/>
          <p:nvPr/>
        </p:nvSpPr>
        <p:spPr>
          <a:xfrm>
            <a:off x="3695700" y="2470696"/>
            <a:ext cx="2629281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24" kern="0" dirty="0">
                <a:solidFill>
                  <a:srgbClr val="B71C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LESSON 02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3695700" y="2842171"/>
            <a:ext cx="2629281" cy="3077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800" b="1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body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3745230" y="3245197"/>
            <a:ext cx="2579370" cy="195798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marL="160020" indent="-160020">
              <a:lnSpc>
                <a:spcPct val="140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5-stage drowning sequence</a:t>
            </a:r>
            <a:endParaRPr lang="en-US" sz="1800" dirty="0"/>
          </a:p>
          <a:p>
            <a:pPr algn="l" marL="160020" indent="-160020">
              <a:lnSpc>
                <a:spcPct val="140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4-minute brain window</a:t>
            </a:r>
            <a:endParaRPr lang="en-US" sz="1800" dirty="0"/>
          </a:p>
          <a:p>
            <a:pPr algn="l" marL="160020" indent="-160020">
              <a:lnSpc>
                <a:spcPct val="140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CPR ≈ 30% cardiac output</a:t>
            </a:r>
            <a:endParaRPr lang="en-US" sz="1800" dirty="0"/>
          </a:p>
          <a:p>
            <a:pPr algn="l" marL="160020" indent="-160020">
              <a:lnSpc>
                <a:spcPct val="140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1-10-1 cold-water rule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477000" y="2242096"/>
            <a:ext cx="2552700" cy="57150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13" name="Text 11"/>
          <p:cNvSpPr/>
          <p:nvPr/>
        </p:nvSpPr>
        <p:spPr>
          <a:xfrm>
            <a:off x="6477000" y="2470696"/>
            <a:ext cx="2629281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24" kern="0" dirty="0">
                <a:solidFill>
                  <a:srgbClr val="6A1B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LESSON 03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477000" y="2842171"/>
            <a:ext cx="2629281" cy="3077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800" b="1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system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526530" y="3245197"/>
            <a:ext cx="2579370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marL="160020" indent="-160020">
              <a:lnSpc>
                <a:spcPct val="140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Individual vs structural causes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526530" y="3885158"/>
            <a:ext cx="2579370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marL="160020" indent="-160020">
              <a:lnSpc>
                <a:spcPct val="140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social determinants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526530" y="4525119"/>
            <a:ext cx="2579370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marL="160020" indent="-160020">
              <a:lnSpc>
                <a:spcPct val="140000"/>
              </a:lnSpc>
              <a:buSzPct val="100000"/>
              <a:buChar char="•"/>
            </a:pPr>
            <a:r>
              <a:rPr lang="en-US" sz="180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CALD action a school </a:t>
            </a:r>
            <a:pPr algn="l" indent="0" marL="0">
              <a:lnSpc>
                <a:spcPct val="140000"/>
              </a:lnSpc>
              <a:buNone/>
            </a:pPr>
            <a:r>
              <a:rPr lang="en-US" sz="1800" i="1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can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526530" y="5165080"/>
            <a:ext cx="2579370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marL="160020" indent="-160020">
              <a:lnSpc>
                <a:spcPct val="140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~80% male skew is structural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9258300" y="2242096"/>
            <a:ext cx="2552700" cy="57150"/>
          </a:xfrm>
          <a:prstGeom prst="rect">
            <a:avLst/>
          </a:prstGeom>
          <a:solidFill>
            <a:srgbClr val="00695C"/>
          </a:solidFill>
          <a:ln/>
        </p:spPr>
      </p:sp>
      <p:sp>
        <p:nvSpPr>
          <p:cNvPr id="20" name="Text 18"/>
          <p:cNvSpPr/>
          <p:nvPr/>
        </p:nvSpPr>
        <p:spPr>
          <a:xfrm>
            <a:off x="9258300" y="2470696"/>
            <a:ext cx="2629281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24" kern="0" dirty="0">
                <a:solidFill>
                  <a:srgbClr val="006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LESSON 04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9258300" y="2842171"/>
            <a:ext cx="2629281" cy="3077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800" b="1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evidence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9307830" y="3245197"/>
            <a:ext cx="2579370" cy="25979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marL="160020" indent="-160020">
              <a:lnSpc>
                <a:spcPct val="140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4-sided fencing −83% child drowning</a:t>
            </a:r>
            <a:endParaRPr lang="en-US" sz="1800" dirty="0"/>
          </a:p>
          <a:p>
            <a:pPr algn="l" marL="160020" indent="-160020">
              <a:lnSpc>
                <a:spcPct val="140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categories of prevention</a:t>
            </a:r>
            <a:endParaRPr lang="en-US" sz="1800" dirty="0"/>
          </a:p>
          <a:p>
            <a:pPr algn="l" marL="160020" indent="-160020">
              <a:lnSpc>
                <a:spcPct val="140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strategies, evaluated</a:t>
            </a:r>
            <a:endParaRPr lang="en-US" sz="1800" dirty="0"/>
          </a:p>
          <a:p>
            <a:pPr algn="l" marL="160020" indent="-160020">
              <a:lnSpc>
                <a:spcPct val="140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 vs UK vs US — three messages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2039600" y="2242096"/>
            <a:ext cx="2552700" cy="57150"/>
          </a:xfrm>
          <a:prstGeom prst="rect">
            <a:avLst/>
          </a:prstGeom>
          <a:solidFill>
            <a:srgbClr val="003554"/>
          </a:solidFill>
          <a:ln/>
        </p:spPr>
      </p:sp>
      <p:sp>
        <p:nvSpPr>
          <p:cNvPr id="24" name="Text 22"/>
          <p:cNvSpPr/>
          <p:nvPr/>
        </p:nvSpPr>
        <p:spPr>
          <a:xfrm>
            <a:off x="12039600" y="2470696"/>
            <a:ext cx="2629281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24" kern="0" dirty="0">
                <a:solidFill>
                  <a:srgbClr val="00355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LESSON 05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2039600" y="2842171"/>
            <a:ext cx="2629281" cy="3077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800" b="1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diving question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2089130" y="3245197"/>
            <a:ext cx="2579370" cy="22779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marL="160020" indent="-160020">
              <a:lnSpc>
                <a:spcPct val="140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 / 20% / 95% / 66%</a:t>
            </a:r>
            <a:endParaRPr lang="en-US" sz="1800" dirty="0"/>
          </a:p>
          <a:p>
            <a:pPr algn="l" marL="160020" indent="-160020">
              <a:lnSpc>
                <a:spcPct val="140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Terrigal · Torquay · Bawley</a:t>
            </a:r>
            <a:endParaRPr lang="en-US" sz="1800" dirty="0"/>
          </a:p>
          <a:p>
            <a:pPr algn="l" marL="160020" indent="-160020">
              <a:lnSpc>
                <a:spcPct val="140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Inland = 5 compounding factors</a:t>
            </a:r>
            <a:endParaRPr lang="en-US" sz="1800" dirty="0"/>
          </a:p>
          <a:p>
            <a:pPr algn="l" marL="160020" indent="-160020">
              <a:lnSpc>
                <a:spcPct val="140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Feet first, first time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4820900" y="2242096"/>
            <a:ext cx="2552700" cy="57150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28" name="Text 26"/>
          <p:cNvSpPr/>
          <p:nvPr/>
        </p:nvSpPr>
        <p:spPr>
          <a:xfrm>
            <a:off x="14820900" y="2470696"/>
            <a:ext cx="2629281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24" kern="0" dirty="0">
                <a:solidFill>
                  <a:srgbClr val="E651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LESSON 06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14820900" y="2842171"/>
            <a:ext cx="2629281" cy="3077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800" b="1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argument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14870430" y="3245197"/>
            <a:ext cx="2579370" cy="22779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marL="160020" indent="-160020">
              <a:lnSpc>
                <a:spcPct val="140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 · campaign · audit</a:t>
            </a:r>
            <a:endParaRPr lang="en-US" sz="1800" dirty="0"/>
          </a:p>
          <a:p>
            <a:pPr algn="l" marL="160020" indent="-160020">
              <a:lnSpc>
                <a:spcPct val="140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3+ sources with URLs</a:t>
            </a:r>
            <a:endParaRPr lang="en-US" sz="1800" dirty="0"/>
          </a:p>
          <a:p>
            <a:pPr algn="l" marL="160020" indent="-160020">
              <a:lnSpc>
                <a:spcPct val="140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Named audience &amp; SMART metric</a:t>
            </a:r>
            <a:endParaRPr lang="en-US" sz="1800" dirty="0"/>
          </a:p>
          <a:p>
            <a:pPr algn="l" marL="160020" indent="-160020">
              <a:lnSpc>
                <a:spcPct val="140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rubric criteria · E → A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914400" y="9229725"/>
            <a:ext cx="1768078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WHOLE UNIT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9929217" y="9229725"/>
            <a:ext cx="7667714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EMILIE HARRISON · SWIMWATER.SAFETY@GMAIL.COM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2026-05-15T08:02:25Z</dcterms:created>
  <dcterms:modified xsi:type="dcterms:W3CDTF">2026-05-15T08:02:25Z</dcterms:modified>
</cp:coreProperties>
</file>