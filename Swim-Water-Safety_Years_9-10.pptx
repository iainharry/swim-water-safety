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6"/>
  </p:sldIdLst>
  <p:notesMasterIdLst>
    <p:notesMasterId r:id="rId4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762000"/>
            <a:ext cx="73473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9–10 HPE · VICTORIAN CURRICULUM 2.0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63526" y="762000"/>
            <a:ext cx="33063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LESSONS × 50 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877294"/>
            <a:ext cx="147161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 UNIT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439269"/>
            <a:ext cx="14716125" cy="2701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400" b="1" spc="-39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Water Safety</a:t>
            </a:r>
            <a:endParaRPr lang="en-US" sz="11400" dirty="0"/>
          </a:p>
        </p:txBody>
      </p:sp>
      <p:sp>
        <p:nvSpPr>
          <p:cNvPr id="7" name="Text 5"/>
          <p:cNvSpPr/>
          <p:nvPr/>
        </p:nvSpPr>
        <p:spPr>
          <a:xfrm>
            <a:off x="914400" y="6483995"/>
            <a:ext cx="12753975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six-lesson unit on the data, physiology, social determinants and prevention strategies behind Victorian drowning — and how to argue for change.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9267825"/>
            <a:ext cx="67962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· RUBRIC · COMMUNITY PROJECT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84195" y="9267825"/>
            <a:ext cx="15028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15305" y="9267825"/>
            <a:ext cx="45920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VCHPEP143 · VCHPEP144 · VCHPEP145 · VCHPEP148 · VCHPEM162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79884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798840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lessons, one question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761001" y="1527721"/>
            <a:ext cx="66125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VCHPEP143 · 144 · 147 · 148 · VCHPEM162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27796"/>
            <a:ext cx="1422558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Victoria still drown — despite knowing how to prevent it? Each lesson sharpens one part of the answer.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3489871"/>
            <a:ext cx="5257800" cy="5715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79467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16614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14400" y="4870996"/>
            <a:ext cx="54155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analysis — Victorian &amp; global drowning trends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572824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VCHPEP143 · VCHPEP144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15100" y="3489871"/>
            <a:ext cx="5257800" cy="5715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15100" y="379467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15100" y="416614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15100" y="4870996"/>
            <a:ext cx="54155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Physiology of drowning &amp; CPR mechanics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515100" y="572824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VCHPEP144 · VCHPEM162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15800" y="3489871"/>
            <a:ext cx="5257800" cy="5715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115800" y="379467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115800" y="416614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115800" y="4870996"/>
            <a:ext cx="54155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determinants of drowning risk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115800" y="538534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VCHPEP143 · VCHPEP145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6659761"/>
            <a:ext cx="5257800" cy="5715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696456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733603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914400" y="8040886"/>
            <a:ext cx="54155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 strategies &amp; international comparison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14400" y="889813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VCHPEP144 · VCHPEP148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15100" y="6659761"/>
            <a:ext cx="5257800" cy="571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15100" y="696456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15100" y="733603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6515100" y="8040886"/>
            <a:ext cx="54155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Diving, spinal injuries &amp; high-risk teenage behaviour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6515100" y="889813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VCHPEP143 · 144 · 147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115800" y="6659761"/>
            <a:ext cx="5257800" cy="5715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2115800" y="696456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6 · ASSESSED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115800" y="733603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12115800" y="8040886"/>
            <a:ext cx="54155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task — planning, drafting &amp; peer review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2115800" y="889813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VCHPEP145 · VCHPEP148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PREREQUISITE · BUILT ON YEAR 7–8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4716125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know the rules. Now we ask why they aren't enough.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2912566"/>
            <a:ext cx="80840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7–8 · YOU CAN ALREADY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322141"/>
            <a:ext cx="78486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56310" y="3579316"/>
            <a:ext cx="7882890" cy="21045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5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six Australian beach flags</a:t>
            </a:r>
            <a:endParaRPr lang="en-US" sz="2100" dirty="0"/>
          </a:p>
          <a:p>
            <a:pPr algn="l" marL="186690" indent="-186690">
              <a:lnSpc>
                <a:spcPct val="15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five rip-current survival steps</a:t>
            </a:r>
            <a:endParaRPr lang="en-US" sz="2100" dirty="0"/>
          </a:p>
          <a:p>
            <a:pPr algn="l" marL="186690" indent="-186690">
              <a:lnSpc>
                <a:spcPct val="15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DRS ABCD in order</a:t>
            </a:r>
            <a:endParaRPr lang="en-US" sz="2100" dirty="0"/>
          </a:p>
          <a:p>
            <a:pPr algn="l" marL="186690" indent="-186690">
              <a:lnSpc>
                <a:spcPct val="15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five LSV SwimSafe rules</a:t>
            </a:r>
            <a:endParaRPr lang="en-US" sz="2100" dirty="0"/>
          </a:p>
          <a:p>
            <a:pPr algn="l" marL="186690" indent="-186690">
              <a:lnSpc>
                <a:spcPct val="15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headline Victorian drowning numbers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0" y="2912566"/>
            <a:ext cx="80840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9–10 · WE NOW ASK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3322141"/>
            <a:ext cx="7848600" cy="9525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566910" y="3579316"/>
            <a:ext cx="803529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55000"/>
              </a:lnSpc>
              <a:buSzPct val="100000"/>
              <a:buChar char="•"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How do you </a:t>
            </a:r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calculate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drowning rate and read a trend?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66910" y="3992612"/>
            <a:ext cx="8035290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55000"/>
              </a:lnSpc>
              <a:buSzPct val="100000"/>
              <a:buChar char="•"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What </a:t>
            </a:r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physiologically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happens in the four minutes after submersion?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66910" y="4819204"/>
            <a:ext cx="803529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55000"/>
              </a:lnSpc>
              <a:buSzPct val="100000"/>
              <a:buChar char="•"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Which </a:t>
            </a:r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structural factors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who drowns?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66910" y="5232499"/>
            <a:ext cx="8035290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55000"/>
              </a:lnSpc>
              <a:buSzPct val="100000"/>
              <a:buChar char="•"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Which prevention strategies are </a:t>
            </a:r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backed by evidence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which aren't?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66910" y="6059091"/>
            <a:ext cx="803529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55000"/>
              </a:lnSpc>
              <a:buSzPct val="100000"/>
              <a:buChar char="•"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What would </a:t>
            </a:r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you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to a Minister?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9229725"/>
            <a:ext cx="10913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68270" y="9229725"/>
            <a:ext cx="95844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HAVEN'T DONE Y7–8 · ASK FOR THE CATCH-UP SUMMARY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1 · 50 MIN · WORKBOOK SECTION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146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b="1" spc="-72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4886325"/>
            <a:ext cx="14716125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analysis — Victorian &amp; global drowning trends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76325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75384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2519" y="9058275"/>
            <a:ext cx="5399484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74444" y="9144000"/>
            <a:ext cx="523761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CLASSROOM · INDIVIDUAL + PAIRS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UNIT'S BIG QUESTION — RETURN TO IT IN LESSON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8785"/>
            <a:ext cx="156972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18000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4091285"/>
            <a:ext cx="15697200" cy="3095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510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Victoria still drown — despite decades of awareness campaigns, training, and warning signs — and what would actually move the numbers?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OPENER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90931" y="9229725"/>
            <a:ext cx="8016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LSV VICTORIAN DROWNING REPORT 2024–25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VICTORIA · 2024–25 · LIFE SAVING VICTORIA REPORT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worst Victorian drowning year in over a decade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3698677"/>
            <a:ext cx="31116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 DROWNINGS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127302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4336852"/>
            <a:ext cx="3111694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14400" y="6413302"/>
            <a:ext cx="3111694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lost in Victorian waters — the highest annual toll in over ten years.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316462" y="3698677"/>
            <a:ext cx="4776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NON-FATAL DROWNINGS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16462" y="4127302"/>
            <a:ext cx="762000" cy="381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16462" y="4336852"/>
            <a:ext cx="4776149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</a:t>
            </a:r>
            <a:pPr algn="l" indent="0" marL="0">
              <a:lnSpc>
                <a:spcPct val="100000"/>
              </a:lnSpc>
              <a:buNone/>
            </a:pPr>
            <a:r>
              <a:rPr lang="en-US" sz="9000" b="1" spc="-600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5000" dirty="0"/>
          </a:p>
        </p:txBody>
      </p:sp>
      <p:sp>
        <p:nvSpPr>
          <p:cNvPr id="11" name="Text 9"/>
          <p:cNvSpPr/>
          <p:nvPr/>
        </p:nvSpPr>
        <p:spPr>
          <a:xfrm>
            <a:off x="4316462" y="6413302"/>
            <a:ext cx="4776149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the 10-year average. The near-misses tell us the system is under more strain than the death toll alone shows.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34500" y="3698677"/>
            <a:ext cx="4776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MULTICULTURAL COMMUNITIES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34500" y="4127302"/>
            <a:ext cx="762000" cy="3810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34500" y="4336852"/>
            <a:ext cx="4776149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pPr algn="l" indent="0" marL="0">
              <a:lnSpc>
                <a:spcPct val="100000"/>
              </a:lnSpc>
              <a:buNone/>
            </a:pPr>
            <a:r>
              <a:rPr lang="en-US" sz="9000" b="1" spc="-600" kern="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0" dirty="0"/>
          </a:p>
        </p:txBody>
      </p:sp>
      <p:sp>
        <p:nvSpPr>
          <p:cNvPr id="15" name="Text 13"/>
          <p:cNvSpPr/>
          <p:nvPr/>
        </p:nvSpPr>
        <p:spPr>
          <a:xfrm>
            <a:off x="9334500" y="6413302"/>
            <a:ext cx="4776149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deaths — the highest proportion ever recorded in Victoria.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4352538" y="3698677"/>
            <a:ext cx="311169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PATROLLED SITES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352538" y="4384477"/>
            <a:ext cx="762000" cy="3810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352538" y="4594027"/>
            <a:ext cx="3111694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0" dirty="0"/>
          </a:p>
        </p:txBody>
      </p:sp>
      <p:sp>
        <p:nvSpPr>
          <p:cNvPr id="19" name="Text 17"/>
          <p:cNvSpPr/>
          <p:nvPr/>
        </p:nvSpPr>
        <p:spPr>
          <a:xfrm>
            <a:off x="14352538" y="6670477"/>
            <a:ext cx="3111694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of the 52 deaths occurred in a public swimming pool — first time since 2019–20.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4400" y="9229725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DATA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36252" y="9229725"/>
            <a:ext cx="48794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LSV.COM.AU/RESEARCH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PROPORTION EVER RECORDED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269010"/>
            <a:ext cx="8084058" cy="3787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6000" b="1" spc="-14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pPr algn="l" indent="0" marL="0">
              <a:lnSpc>
                <a:spcPct val="82000"/>
              </a:lnSpc>
              <a:buNone/>
            </a:pPr>
            <a:r>
              <a:rPr lang="en-US" sz="18000" b="1" spc="-14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6000" dirty="0"/>
          </a:p>
        </p:txBody>
      </p:sp>
      <p:sp>
        <p:nvSpPr>
          <p:cNvPr id="5" name="Text 3"/>
          <p:cNvSpPr/>
          <p:nvPr/>
        </p:nvSpPr>
        <p:spPr>
          <a:xfrm>
            <a:off x="9525000" y="3403848"/>
            <a:ext cx="8084058" cy="2481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of Victorian drowning deaths since 2015–16 were people from multicultural backgrounds — 185 deaths. Country of birth was unknown in a further 22% of cases, so 37% is a lower bound.</a:t>
            </a:r>
            <a:pPr algn="l" indent="0" marL="0">
              <a:lnSpc>
                <a:spcPct val="13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pPr algn="l" indent="0" marL="0">
              <a:lnSpc>
                <a:spcPct val="135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525000" y="6189762"/>
            <a:ext cx="8084058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This is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over-representation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. Lesson 3 will ask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what a school can do about it.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9229725"/>
            <a:ext cx="41822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OVER-REPRESENTATION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90931" y="9229725"/>
            <a:ext cx="8016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LSV VICTORIAN DROWNING REPORT 2024–25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1.1A · CALCULATE THE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· Australia · the world — per 100,000 people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444776"/>
            <a:ext cx="5232350" cy="30354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6470749"/>
            <a:ext cx="523235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3444776"/>
            <a:ext cx="5232350" cy="5715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3444776"/>
            <a:ext cx="9525" cy="3035498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37225" y="3444776"/>
            <a:ext cx="9525" cy="3035498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66825" y="3844826"/>
            <a:ext cx="46633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VICTORIA · 2024–25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6825" y="4273451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÷ 6,900,000 × 100,000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66825" y="4683026"/>
            <a:ext cx="46633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spc="-225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7500" dirty="0"/>
          </a:p>
        </p:txBody>
      </p:sp>
      <p:sp>
        <p:nvSpPr>
          <p:cNvPr id="12" name="Text 10"/>
          <p:cNvSpPr/>
          <p:nvPr/>
        </p:nvSpPr>
        <p:spPr>
          <a:xfrm>
            <a:off x="1266825" y="5768876"/>
            <a:ext cx="466332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100,000 people · LSV 2024–25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527750" y="3444776"/>
            <a:ext cx="5232350" cy="3035498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80175" y="3797201"/>
            <a:ext cx="46633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AUSTRALIA · ANNUAL AVG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80175" y="4225826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RLSSA national data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880175" y="4635401"/>
            <a:ext cx="46633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spc="-225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7500" dirty="0"/>
          </a:p>
        </p:txBody>
      </p:sp>
      <p:sp>
        <p:nvSpPr>
          <p:cNvPr id="17" name="Text 15"/>
          <p:cNvSpPr/>
          <p:nvPr/>
        </p:nvSpPr>
        <p:spPr>
          <a:xfrm>
            <a:off x="6880175" y="5721251"/>
            <a:ext cx="466332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100,000 people · RLSSA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141101" y="3444776"/>
            <a:ext cx="5232350" cy="3035498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493526" y="3797201"/>
            <a:ext cx="46633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· HIGH-INCOME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93526" y="4225826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benchmark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493526" y="4635401"/>
            <a:ext cx="46633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spc="-225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~0.8</a:t>
            </a:r>
            <a:endParaRPr lang="en-US" sz="7500" dirty="0"/>
          </a:p>
        </p:txBody>
      </p:sp>
      <p:sp>
        <p:nvSpPr>
          <p:cNvPr id="22" name="Text 20"/>
          <p:cNvSpPr/>
          <p:nvPr/>
        </p:nvSpPr>
        <p:spPr>
          <a:xfrm>
            <a:off x="12493526" y="5721251"/>
            <a:ext cx="466332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100,000 people · WHO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7949803"/>
            <a:ext cx="16459200" cy="127992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14400" y="7949803"/>
            <a:ext cx="57150" cy="127992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314450" y="8216503"/>
            <a:ext cx="16210026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In your workbook: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show your working. If Victoria matched the 0.8 high-income benchmark, that's about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55 → 55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deaths — but the 60% jump in non-fatal incidents is where the real warning sits.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Activity 1.1c.)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14400" y="9229725"/>
            <a:ext cx="278824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CALCULATION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128748" y="9229725"/>
            <a:ext cx="54021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LSV · RLSSA · WHO.INT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CONTEXT · WHO 2021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Drowning is one of the world's most unequal causes of death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3946475"/>
            <a:ext cx="61378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DEATHS / YEAR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375100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4584650"/>
            <a:ext cx="613785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~320k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14400" y="6661100"/>
            <a:ext cx="6137850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300,000 people drown each year worldwide; 92% in low- and middle-income countries (WHO, 2024).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254478" y="3946475"/>
            <a:ext cx="346120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LOW &amp; MIDDLE-INCOME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254478" y="4632275"/>
            <a:ext cx="762000" cy="381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254478" y="4841825"/>
            <a:ext cx="3461202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pPr algn="l" indent="0" marL="0">
              <a:lnSpc>
                <a:spcPct val="100000"/>
              </a:lnSpc>
              <a:buNone/>
            </a:pPr>
            <a:r>
              <a:rPr lang="en-US" sz="8250" b="1" spc="-600" kern="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5000" dirty="0"/>
          </a:p>
        </p:txBody>
      </p:sp>
      <p:sp>
        <p:nvSpPr>
          <p:cNvPr id="11" name="Text 9"/>
          <p:cNvSpPr/>
          <p:nvPr/>
        </p:nvSpPr>
        <p:spPr>
          <a:xfrm>
            <a:off x="7254478" y="6918275"/>
            <a:ext cx="3461202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global drowning deaths happen in low- and middle-income countries.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995868" y="3946475"/>
            <a:ext cx="467804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· MALE VICTIMS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95868" y="4375100"/>
            <a:ext cx="762000" cy="3810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995868" y="4584650"/>
            <a:ext cx="4678042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</a:t>
            </a:r>
            <a:pPr algn="l" indent="0" marL="0">
              <a:lnSpc>
                <a:spcPct val="100000"/>
              </a:lnSpc>
              <a:buNone/>
            </a:pPr>
            <a:r>
              <a:rPr lang="en-US" sz="8250" b="1" spc="-600" kern="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5000" dirty="0"/>
          </a:p>
        </p:txBody>
      </p:sp>
      <p:sp>
        <p:nvSpPr>
          <p:cNvPr id="15" name="Text 13"/>
          <p:cNvSpPr/>
          <p:nvPr/>
        </p:nvSpPr>
        <p:spPr>
          <a:xfrm>
            <a:off x="10995868" y="6661100"/>
            <a:ext cx="4678042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global drowning deaths are male — a pattern repeated in Victorian data.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5918656" y="3946475"/>
            <a:ext cx="153114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HIGHEST-RISK AGE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18656" y="4632275"/>
            <a:ext cx="762000" cy="381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5918656" y="4841825"/>
            <a:ext cx="15311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0" b="1" spc="-360" kern="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</a:t>
            </a:r>
            <a:endParaRPr lang="en-US" sz="9000" dirty="0"/>
          </a:p>
        </p:txBody>
      </p:sp>
      <p:sp>
        <p:nvSpPr>
          <p:cNvPr id="19" name="Text 17"/>
          <p:cNvSpPr/>
          <p:nvPr/>
        </p:nvSpPr>
        <p:spPr>
          <a:xfrm>
            <a:off x="15918656" y="6041975"/>
            <a:ext cx="1531144" cy="219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under five are the highest-risk age group globally.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GLOBAL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128748" y="9229725"/>
            <a:ext cx="54021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WHO.INT · RLSSA · CDC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1 · EXIT TICKET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666232"/>
            <a:ext cx="14716125" cy="1820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sentence — what is the single most important data insight from today, and why does it matter?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791944"/>
            <a:ext cx="137350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Workbook open to Section 1. Notes closed.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Insight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— not just a number. The most powerful answers will name a number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and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implies.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13122" y="9229725"/>
            <a:ext cx="41822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 IN BEFORE YOU LEAVE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2 · 50 MIN · WORKBOOK SECTION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37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b="1" spc="-72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5305425"/>
            <a:ext cx="1471612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Physiology of drowning &amp; CPR mechanics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76325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75384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VCHPEM162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2519" y="9058275"/>
            <a:ext cx="2015728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74444" y="9144000"/>
            <a:ext cx="17680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PHYSIOLOGICAL SEQUENCE · WORKBOOK 2.1A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stages — from submersion to brain damage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4238327"/>
            <a:ext cx="533400" cy="5334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6300" y="423832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4981277"/>
            <a:ext cx="320213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Submersion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5514677"/>
            <a:ext cx="3202137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goes under. Voluntary breath-holding begins. The clock starts.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251871" y="4238327"/>
            <a:ext cx="533400" cy="5334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13771" y="423832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251871" y="4981277"/>
            <a:ext cx="32022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Laryngospasm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251871" y="5514677"/>
            <a:ext cx="320229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Involuntary airway closure. In ~10–15% of cases water is kept </a:t>
            </a:r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out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"dry drowning" — but asphyxia continues.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589490" y="4238327"/>
            <a:ext cx="533400" cy="5334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51390" y="423832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89490" y="4981277"/>
            <a:ext cx="320213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Hypoxia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589490" y="5514677"/>
            <a:ext cx="3202137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 levels drop at the tissue level. The casualty loses consciousness; reflexes fade.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926961" y="4238327"/>
            <a:ext cx="533400" cy="5334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888861" y="423832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926961" y="4981277"/>
            <a:ext cx="32022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arrest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926961" y="5514677"/>
            <a:ext cx="3202290" cy="1832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oxygen the heart fails to pump effectively. Circulation stops; bystander CPR is now the only intervention.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4264580" y="4238327"/>
            <a:ext cx="533400" cy="5334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226480" y="423832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264580" y="4981277"/>
            <a:ext cx="320213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Cerebral hypoxia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4264580" y="5514677"/>
            <a:ext cx="3202137" cy="1832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cells start dying within 4–6 minutes. After 10 minutes without CPR, survival without major damage is unlikely.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9229725"/>
            <a:ext cx="22757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SEQUENCE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90931" y="9229725"/>
            <a:ext cx="8016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ST JOHN VIC · HEART FOUNDATION · WHO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BYSTANDER CPR WINDOW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53618"/>
            <a:ext cx="808405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378" kern="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315593"/>
            <a:ext cx="8084058" cy="425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25"/>
              </a:lnSpc>
              <a:buNone/>
            </a:pPr>
            <a:r>
              <a:rPr lang="en-US" sz="40000" b="1" spc="-16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0" dirty="0"/>
          </a:p>
        </p:txBody>
      </p:sp>
      <p:sp>
        <p:nvSpPr>
          <p:cNvPr id="6" name="Text 4"/>
          <p:cNvSpPr/>
          <p:nvPr/>
        </p:nvSpPr>
        <p:spPr>
          <a:xfrm>
            <a:off x="9525000" y="3143250"/>
            <a:ext cx="8084058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4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in which bystander CPR makes the biggest difference between full recovery and lasting brain damage.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0" y="5057775"/>
            <a:ext cx="808405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Chest compressions deliver roughly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25–30%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normal cardiac output — enough oxygenated blood to keep the brain alive until the heart can restart.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0" y="6400800"/>
            <a:ext cx="808405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Starting at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 minutes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produces dramatically better outcomes than starting at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9229725"/>
            <a:ext cx="33109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CPR PHYSIOLOGY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67652" y="9229725"/>
            <a:ext cx="73191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HEARTFOUNDATION.ORG.AU · WHO.INT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CPR RHYTHM · BUILT ON Y7–8 DRS ABCD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chest compressions actually do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4640461"/>
            <a:ext cx="3444800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1000" b="1" spc="-84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1000" dirty="0"/>
          </a:p>
        </p:txBody>
      </p:sp>
      <p:sp>
        <p:nvSpPr>
          <p:cNvPr id="5" name="Text 3"/>
          <p:cNvSpPr/>
          <p:nvPr/>
        </p:nvSpPr>
        <p:spPr>
          <a:xfrm>
            <a:off x="4525566" y="6583561"/>
            <a:ext cx="261401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315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COMPRESSIONS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330083" y="5935861"/>
            <a:ext cx="743694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8264277" y="4640461"/>
            <a:ext cx="1748433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1000" b="1" spc="-84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0" dirty="0"/>
          </a:p>
        </p:txBody>
      </p:sp>
      <p:sp>
        <p:nvSpPr>
          <p:cNvPr id="8" name="Text 6"/>
          <p:cNvSpPr/>
          <p:nvPr/>
        </p:nvSpPr>
        <p:spPr>
          <a:xfrm>
            <a:off x="10203210" y="6583561"/>
            <a:ext cx="15565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315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BREATHS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217003" y="3803452"/>
            <a:ext cx="53111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217003" y="4193977"/>
            <a:ext cx="762000" cy="381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217003" y="4441627"/>
            <a:ext cx="5311141" cy="1971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Compressions create ~ 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25–30% of normal cardiac output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That's enough oxygenated blood to keep the brain viable until the heart restarts — spontaneously, or with a defibrillator.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217003" y="6584454"/>
            <a:ext cx="531114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Rate: 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100–120 beats per minute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Don't stop until paramedics take over or the casualty is breathing.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9229725"/>
            <a:ext cx="24449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MECHANICS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52027" y="9229725"/>
            <a:ext cx="60992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ST JOHN AMBULANCE VICTORIA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PATTERNS EVERY RESPONDER SHOULD KNOW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· dry · secondary — and the 1-10-1 cold-water rule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989338"/>
            <a:ext cx="3857625" cy="4163616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66825" y="4341763"/>
            <a:ext cx="32473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WET DROWNING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6825" y="4770388"/>
            <a:ext cx="324735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enters the lungs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66825" y="5738068"/>
            <a:ext cx="3247358" cy="1444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pattern. Water in the lungs disrupts gas exchange and triggers cardiac arrest.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14925" y="3989338"/>
            <a:ext cx="3857625" cy="4163616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67350" y="4341763"/>
            <a:ext cx="32473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DRY DROWNING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67350" y="4770388"/>
            <a:ext cx="324735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Laryngospasm seals the airway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467350" y="6136184"/>
            <a:ext cx="3247358" cy="1444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~10–15% of cases, water never reaches the lungs — but the casualty still dies of asphyxia.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15450" y="3989338"/>
            <a:ext cx="3857625" cy="4163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315450" y="8143429"/>
            <a:ext cx="3857625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315450" y="3989338"/>
            <a:ext cx="3857625" cy="5715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315450" y="3989338"/>
            <a:ext cx="9525" cy="4163616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3163550" y="3989338"/>
            <a:ext cx="9525" cy="4163616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67875" y="4389388"/>
            <a:ext cx="324735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SECONDARY DROWNING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67875" y="5075188"/>
            <a:ext cx="324735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 hours later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667875" y="6042868"/>
            <a:ext cx="3247358" cy="179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Always seek medical review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any submersion — coughing, fatigue or chest pain can appear hours after the event.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3515975" y="3989338"/>
            <a:ext cx="3857625" cy="4163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3515975" y="8143429"/>
            <a:ext cx="3857625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3515975" y="3989338"/>
            <a:ext cx="3857625" cy="5715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3515975" y="3989338"/>
            <a:ext cx="9525" cy="4163616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7364075" y="3989338"/>
            <a:ext cx="9525" cy="4163616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3868400" y="4389388"/>
            <a:ext cx="324735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WATER · 1-10-1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868400" y="5075188"/>
            <a:ext cx="324735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survival windows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3868400" y="6042868"/>
            <a:ext cx="3247358" cy="1501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 MIN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control breathing ·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10 MIN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useful swimming ·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 HR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hypothermia incapacitates.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9229725"/>
            <a:ext cx="22757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PATTERNS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67183" y="9229725"/>
            <a:ext cx="50536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ST JOHN VIC · RLSSA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2 · EXIT TICKET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963442"/>
            <a:ext cx="1569720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4-minute window to someone who has never heard of it.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494883"/>
            <a:ext cx="137350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Plain language.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No medical jargon.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Year 5 student can repeat your explanation back to you, you've nailed it.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28130" y="9229725"/>
            <a:ext cx="31368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SECTION 2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3 · 50 MIN · WORKBOOK SECTION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37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b="1" spc="-72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5305425"/>
            <a:ext cx="1471612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determinants of drowning risk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76325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75384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2519" y="9058275"/>
            <a:ext cx="2692598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74444" y="9144000"/>
            <a:ext cx="24495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PAIRS · JIGSAW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FRAMING THE QUESTION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"They made a bad choice" isn't the whole story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762970"/>
            <a:ext cx="7924800" cy="402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04925" y="4153495"/>
            <a:ext cx="73580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 EXPLANATION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04925" y="4563070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04925" y="4753570"/>
            <a:ext cx="7358063" cy="465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850" b="1" spc="-29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behaviour caused the outcome.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04925" y="5390108"/>
            <a:ext cx="7358063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shouldn't have been swimming after drinking." "They should have read the sign." "Why did she dive in there?"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04925" y="6676579"/>
            <a:ext cx="7358063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— but incomplete. It can't explain why 37% of deaths since 2015–16 were people from multicultural backgrounds, or a 73% male skew.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448800" y="3762970"/>
            <a:ext cx="7924800" cy="402208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29800" y="4143970"/>
            <a:ext cx="73776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EXPLANATION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29800" y="4553545"/>
            <a:ext cx="762000" cy="381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29800" y="4744045"/>
            <a:ext cx="7377684" cy="465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shaped who was there, and how.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829800" y="5380583"/>
            <a:ext cx="7377684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lessons. Patrol coverage. Cultural water-fluency. Masculinity norms. Where the unpatrolled rivers are. Who has a backyard pool.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829800" y="6667054"/>
            <a:ext cx="7377684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Schools can change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some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these. That's where prevention starts.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9229725"/>
            <a:ext cx="210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FRAMING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67652" y="9229725"/>
            <a:ext cx="73191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WHO SOCIAL DETERMINANTS OF HEALTH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3.1 · JIGSAW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factors that shape who drowns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242096"/>
            <a:ext cx="5308550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66825" y="259452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GENDER NORMS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6825" y="3023146"/>
            <a:ext cx="4741811" cy="1863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0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back down from a dare." Masculinity expectations are a documented risk factor for young male drowning — and explain part of the 80% male skew.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489650" y="2242096"/>
            <a:ext cx="5308550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42075" y="259452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CULTURAL BACKGROUND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42075" y="3023146"/>
            <a:ext cx="4741811" cy="1863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0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Victorians from multicultural backgrounds may have had fewer opportunities to learn to swim — for reasons of cost, culture, or country-of-origin practice. The drowning data reflects that. LSV reports 58% of fishing-related drowning deaths since 2015–16 were people from multicultural backgrounds.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2064901" y="2242096"/>
            <a:ext cx="5308550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17326" y="259452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SOCIOECONOMIC STATUS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17326" y="3023146"/>
            <a:ext cx="4741811" cy="1133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0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Lower-income children are less likely to have learned to swim. Swim lessons aren't free; nor is travel to the coast.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14400" y="5869186"/>
            <a:ext cx="5308550" cy="3360539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66825" y="622161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GEOGRAPHY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66825" y="6650236"/>
            <a:ext cx="4741811" cy="1498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0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and regional Victorians swim at unpatrolled inland waterways at higher rates than urban residents — because that's the water they have.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6489650" y="5869186"/>
            <a:ext cx="5308550" cy="3360539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42075" y="622161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ALCOHOL EXPOSURE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42075" y="6650236"/>
            <a:ext cx="4741811" cy="1498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0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 is a factor in ~20–30% of adult drowning deaths in Victoria. The social settings in which drinking-and-water mix are themselves structural.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2064901" y="5869186"/>
            <a:ext cx="5308550" cy="3360539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417326" y="622161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COMMUNITY CAPACITY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17326" y="6650236"/>
            <a:ext cx="4741811" cy="1498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0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clubs, multilingual programs and trained bystanders aren't distributed evenly. Where they're missing, drowning is more common.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14400" y="9229725"/>
            <a:ext cx="29625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DETERMINANTS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74687" y="9229725"/>
            <a:ext cx="45308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LSV · RLSSA · WHO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3.1B · PAIRS · 12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Victorian secondary school could actually do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2051596"/>
            <a:ext cx="1471612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37% of Victorian drowning deaths since 2015–16 were people from multicultural backgrounds. Standard curriculum alone is not closing this gap. In pairs · propose three specific actions — beyond the standard swim &amp; water safety lessons — that your school could realistically implement.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929783"/>
            <a:ext cx="5257800" cy="31218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4929783"/>
            <a:ext cx="5257800" cy="5715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57300" y="5329833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5758458"/>
            <a:ext cx="47091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beach orientation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57300" y="6272808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start-of-summer assembly delivered with EAL/CALD parent groups. Languages chosen from school enrolment data.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515100" y="4929783"/>
            <a:ext cx="5257800" cy="31218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15100" y="4929783"/>
            <a:ext cx="5257800" cy="5715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0" y="5329833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5758458"/>
            <a:ext cx="47091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Subsidised lessons partnership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858000" y="6272808"/>
            <a:ext cx="4709160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LSV / your local aquatic centre on subsidised secondary-aged lessons for students who haven't had access.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115800" y="4929783"/>
            <a:ext cx="5257800" cy="31218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115800" y="4929783"/>
            <a:ext cx="5257800" cy="5715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458700" y="5329833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458700" y="5758458"/>
            <a:ext cx="47091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educator program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58700" y="6272808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senior students from CALD communities to deliver short safety briefings to their own family and community networks.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9229725"/>
            <a:ext cx="278824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APPLICATION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90313" y="9229725"/>
            <a:ext cx="57507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 ONLY · GENERATE YOUR OWN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3 · EXIT TICKET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70611"/>
            <a:ext cx="1569720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social determinant a school can address. ONE it cannot.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702052"/>
            <a:ext cx="14716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Then write a sentence on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why that distinction matters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you're planning a real prevention strategy.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28130" y="9229725"/>
            <a:ext cx="31368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SECTION 3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4 · 50 MIN · WORKBOOK SECTIONS 4–5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37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b="1" spc="-72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5305425"/>
            <a:ext cx="1471612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 strategies &amp; international comparison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76325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75384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VCHPEP148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2519" y="9058275"/>
            <a:ext cx="3876824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74444" y="9144000"/>
            <a:ext cx="36692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 + RESEARCH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STRONGEST SINGLE INTERVENTION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269010"/>
            <a:ext cx="8084058" cy="3787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6000" b="1" spc="-14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pPr algn="l" indent="0" marL="0">
              <a:lnSpc>
                <a:spcPct val="82000"/>
              </a:lnSpc>
              <a:buNone/>
            </a:pPr>
            <a:r>
              <a:rPr lang="en-US" sz="18000" b="1" spc="-14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6000" dirty="0"/>
          </a:p>
        </p:txBody>
      </p:sp>
      <p:sp>
        <p:nvSpPr>
          <p:cNvPr id="5" name="Text 3"/>
          <p:cNvSpPr/>
          <p:nvPr/>
        </p:nvSpPr>
        <p:spPr>
          <a:xfrm>
            <a:off x="9525000" y="3312468"/>
            <a:ext cx="8084058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4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child drowning in home pools attributable to four-sided isolation pool fencing.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0" y="5226993"/>
            <a:ext cx="8084058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strongest evidence base of any single drowning-prevention intervention. 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Engineering &gt; education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engineering is right.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0" y="6615559"/>
            <a:ext cx="8084058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this number when we compare strategies on the next slides.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400" y="9229725"/>
            <a:ext cx="22757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EVIDENCE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44523" y="9229725"/>
            <a:ext cx="6621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WHO DROWNING PREVENTION GUIDE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SECTION 4 · CATEGORIES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categories of prevention — not all created equal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242096"/>
            <a:ext cx="5308550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66825" y="259452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ENGINEERING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6825" y="302314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fencing, design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66825" y="349939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4-sided isolation fencing reduces home-pool drowning by ~83%. Strongest evidence of any single intervention.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489650" y="2242096"/>
            <a:ext cx="5308550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42075" y="259452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SUPERVISION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42075" y="302314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Lifeguards &amp; patrols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42075" y="349939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of the 52 deaths in 2024–25 were in public swimming pools — but 25% were in home environments. Supervision works where it exists.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64901" y="2242096"/>
            <a:ext cx="5308550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417326" y="259452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EDUCATION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17326" y="302314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Swim lessons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417326" y="349939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Strong evidence for child drowning. For adults, education works best </a:t>
            </a:r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combined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behaviour change.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869186"/>
            <a:ext cx="5308550" cy="3360539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66825" y="622161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· LEGISLATION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66825" y="665023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Laws &amp; standards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66825" y="712648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Pool-fencing laws, lifejacket requirements, alcohol restrictions near water. Effective when enforced.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489650" y="5869186"/>
            <a:ext cx="5308550" cy="3360539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42075" y="622161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· TECHNOLOGY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42075" y="665023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AEDs, detection, CCTV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842075" y="712648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Defibrillators at aquatic facilities, drowning-detection systems, throw-rescue equipment at public sites.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064901" y="5869186"/>
            <a:ext cx="5308550" cy="3360539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417326" y="622161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· COMMUNITY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417326" y="665023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&amp; campaigns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417326" y="712648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SwimSafe, Swim &amp; Survive, targeted CALD programs. Strength depends on uptake within high-risk groups.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9229725"/>
            <a:ext cx="2614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CATEGORIES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52027" y="9229725"/>
            <a:ext cx="60992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WHO · LSV TOOLKIT · RLSSA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4.1 · EVALUATE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strategies, ranked against the evidence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199805"/>
            <a:ext cx="5266879" cy="190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66800" y="2729359"/>
            <a:ext cx="5120085" cy="337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81279" y="3199805"/>
            <a:ext cx="2962573" cy="190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333679" y="2729359"/>
            <a:ext cx="2746650" cy="337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3851" y="3199805"/>
            <a:ext cx="4114800" cy="190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296251" y="2729359"/>
            <a:ext cx="3933444" cy="337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TARGET GROUP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58651" y="3199805"/>
            <a:ext cx="4114949" cy="190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411051" y="2729359"/>
            <a:ext cx="3933597" cy="337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LIMITATION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183559"/>
            <a:ext cx="526687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66800" y="3390305"/>
            <a:ext cx="5120085" cy="659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fencing (4-sided)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81279" y="4183559"/>
            <a:ext cx="2962573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33679" y="3390305"/>
            <a:ext cx="2746650" cy="659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3851" y="4183559"/>
            <a:ext cx="4114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296251" y="3390305"/>
            <a:ext cx="3933444" cy="659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under 5 in home pools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258651" y="4183559"/>
            <a:ext cx="411494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411051" y="3390305"/>
            <a:ext cx="3933597" cy="659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addresses backyard-pool drowning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5153025"/>
            <a:ext cx="526687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66800" y="4364534"/>
            <a:ext cx="512008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primary-school swim lessons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81279" y="5153025"/>
            <a:ext cx="2962573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33679" y="4364534"/>
            <a:ext cx="274665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3851" y="5153025"/>
            <a:ext cx="4114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296251" y="4364534"/>
            <a:ext cx="3933444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gaining first swim competence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258651" y="5153025"/>
            <a:ext cx="411494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3411051" y="4364534"/>
            <a:ext cx="393359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reach those who miss school programs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5813971"/>
            <a:ext cx="526687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66800" y="5334000"/>
            <a:ext cx="512008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patrol coverage to 7 days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81279" y="5813971"/>
            <a:ext cx="2962573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33679" y="5334000"/>
            <a:ext cx="274665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3851" y="5813971"/>
            <a:ext cx="4114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296251" y="5334000"/>
            <a:ext cx="3933444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Beach-goers in patrolled zones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258651" y="5813971"/>
            <a:ext cx="411494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3411051" y="5334000"/>
            <a:ext cx="393359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reach inland waterways at all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14400" y="6783437"/>
            <a:ext cx="526687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66800" y="5994946"/>
            <a:ext cx="512008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signs at unpatrolled beaches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81279" y="6783437"/>
            <a:ext cx="2962573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333679" y="5994946"/>
            <a:ext cx="274665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143851" y="6783437"/>
            <a:ext cx="4114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296251" y="5994946"/>
            <a:ext cx="3933444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visitors who read signs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3258651" y="6783437"/>
            <a:ext cx="411494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3411051" y="5994946"/>
            <a:ext cx="393359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Easily ignored; ineffective with alcohol or peer pressure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14400" y="7752904"/>
            <a:ext cx="526687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066800" y="6964412"/>
            <a:ext cx="512008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CALD community programs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181279" y="7752904"/>
            <a:ext cx="2962573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333679" y="6964412"/>
            <a:ext cx="274665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→ STRONG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143851" y="7752904"/>
            <a:ext cx="4114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296251" y="6964412"/>
            <a:ext cx="3933444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over-represented group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3258651" y="7752904"/>
            <a:ext cx="411494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3411051" y="6964412"/>
            <a:ext cx="393359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sustained funding &amp; trusted partners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914400" y="8425904"/>
            <a:ext cx="16459200" cy="8038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914400" y="8425904"/>
            <a:ext cx="57150" cy="803821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1276350" y="8654504"/>
            <a:ext cx="1628622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Your call · $5m budget: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which two strategies would you fund?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(Workbook 4.1a — defend with evidence, not intuition.)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914400" y="9229725"/>
            <a:ext cx="2614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EVALUATION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805470" y="9229725"/>
            <a:ext cx="47051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WHO · LSV · RLSSA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5.1 · COMPARE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Australia, the UK, the US — what each says first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230612"/>
            <a:ext cx="5257800" cy="35552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3230612"/>
            <a:ext cx="5257800" cy="57150"/>
          </a:xfrm>
          <a:prstGeom prst="rect">
            <a:avLst/>
          </a:prstGeom>
          <a:solidFill>
            <a:srgbClr val="00843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57300" y="3630662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AUSTRALIA · RLSSA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" y="4059287"/>
            <a:ext cx="47091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"Swim between the flags."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57300" y="4540300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Patrolled-location centric. Beach-flag literacy, SwimSafe rules, Swim &amp; Survive. Inland waterways named as highest-risk environment.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57300" y="6185743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royallifesaving.com.au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15100" y="3230612"/>
            <a:ext cx="5257800" cy="35552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15100" y="3230612"/>
            <a:ext cx="5257800" cy="571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0" y="3630662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KINGDOM · RLSS UK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4059287"/>
            <a:ext cx="47091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"Float to Live."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858000" y="4540300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Cold-water-shock centric. The primary survival message is a single physiological action — lean back, float, conserve until cold-shock passes.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58000" y="6185743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rlss.org.uk/education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15800" y="3230612"/>
            <a:ext cx="5257800" cy="35552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115800" y="3230612"/>
            <a:ext cx="5257800" cy="57150"/>
          </a:xfrm>
          <a:prstGeom prst="rect">
            <a:avLst/>
          </a:prstGeom>
          <a:solidFill>
            <a:srgbClr val="1A4F8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458700" y="3630662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STATES · RED CROSS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458700" y="4059287"/>
            <a:ext cx="47091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"Water competency."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58700" y="4540300"/>
            <a:ext cx="4709160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Skill-centric framework — swimming, breath control, rescue, and lifejacket use packaged as a competency, not a slogan.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458700" y="5826770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redcross.org · take-a-class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8079284"/>
            <a:ext cx="16459200" cy="11504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14400" y="8079284"/>
            <a:ext cx="57150" cy="1150441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76350" y="8307884"/>
            <a:ext cx="16286226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In your workbook: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identify ONE international element </a:t>
            </a:r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not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currently prominent in Victorian education. Argue whether Victoria should adopt it — citing one primary source URL.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14400" y="9229725"/>
            <a:ext cx="2614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COMPARISON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621244" y="9229725"/>
            <a:ext cx="59249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EACH SITE BEFORE NEXT LESSON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4 · EXIT TICKET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70611"/>
            <a:ext cx="1569720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prevention strategy has the strongest evidence? Which has the weakest?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702052"/>
            <a:ext cx="14716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Defend both. One sentence each.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"It feels right"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isn't evidence.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20626" y="9229725"/>
            <a:ext cx="36595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SECTIONS 4–5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5 · 50 MIN · WORKBOOK SECTION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37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b="1" spc="-72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5305425"/>
            <a:ext cx="1471612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Diving, spinal injuries &amp; high-risk teenage behaviour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76325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75384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251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74444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1578" y="9058275"/>
            <a:ext cx="42152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73503" y="9144000"/>
            <a:ext cx="401786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 + DISCUSSION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AIHW · RLSSA · ROYAL PERTH SPINAL STUDY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numbers that should appear in every prevention message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2836366"/>
            <a:ext cx="54415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UNSAFE DIVING — SHARE OF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226891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3398341"/>
            <a:ext cx="544159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0" b="1" spc="-54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l" indent="0" marL="0">
              <a:lnSpc>
                <a:spcPct val="100000"/>
              </a:lnSpc>
              <a:buNone/>
            </a:pPr>
            <a:r>
              <a:rPr lang="en-US" sz="6750" b="1" spc="-54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0" dirty="0"/>
          </a:p>
        </p:txBody>
      </p:sp>
      <p:sp>
        <p:nvSpPr>
          <p:cNvPr id="7" name="Text 5"/>
          <p:cNvSpPr/>
          <p:nvPr/>
        </p:nvSpPr>
        <p:spPr>
          <a:xfrm>
            <a:off x="914400" y="5189041"/>
            <a:ext cx="5441594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Australian spinal cord injuries.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502301" y="2836366"/>
            <a:ext cx="54417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UNSAFE DIVING — CAUSE OF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02301" y="3226891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02301" y="3398341"/>
            <a:ext cx="544174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0" b="1" spc="-54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pPr algn="l" indent="0" marL="0">
              <a:lnSpc>
                <a:spcPct val="100000"/>
              </a:lnSpc>
              <a:buNone/>
            </a:pPr>
            <a:r>
              <a:rPr lang="en-US" sz="6750" b="1" spc="-54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0" dirty="0"/>
          </a:p>
        </p:txBody>
      </p:sp>
      <p:sp>
        <p:nvSpPr>
          <p:cNvPr id="11" name="Text 9"/>
          <p:cNvSpPr/>
          <p:nvPr/>
        </p:nvSpPr>
        <p:spPr>
          <a:xfrm>
            <a:off x="6502301" y="5189041"/>
            <a:ext cx="5441747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quadriplegia cases in Australia.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090350" y="2836366"/>
            <a:ext cx="54417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AQUATIC SPINAL PATIENTS · MALE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090350" y="3226891"/>
            <a:ext cx="762000" cy="381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090350" y="3398341"/>
            <a:ext cx="544174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0" b="1" spc="-540" kern="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pPr algn="l" indent="0" marL="0">
              <a:lnSpc>
                <a:spcPct val="100000"/>
              </a:lnSpc>
              <a:buNone/>
            </a:pPr>
            <a:r>
              <a:rPr lang="en-US" sz="6750" b="1" spc="-540" kern="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0" dirty="0"/>
          </a:p>
        </p:txBody>
      </p:sp>
      <p:sp>
        <p:nvSpPr>
          <p:cNvPr id="15" name="Text 13"/>
          <p:cNvSpPr/>
          <p:nvPr/>
        </p:nvSpPr>
        <p:spPr>
          <a:xfrm>
            <a:off x="12090350" y="5189041"/>
            <a:ext cx="544174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 near-total gender skew.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— not coincidental.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6211788"/>
            <a:ext cx="54415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AQUATIC SPINAL · UNDER 30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6602313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6773763"/>
            <a:ext cx="544159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0" b="1" spc="-54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pPr algn="l" indent="0" marL="0">
              <a:lnSpc>
                <a:spcPct val="100000"/>
              </a:lnSpc>
              <a:buNone/>
            </a:pPr>
            <a:r>
              <a:rPr lang="en-US" sz="6750" b="1" spc="-54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pPr algn="l" indent="0" marL="0">
              <a:lnSpc>
                <a:spcPct val="100000"/>
              </a:lnSpc>
              <a:buNone/>
            </a:pPr>
            <a:r>
              <a:rPr lang="en-US" sz="6075" b="1" spc="-540" kern="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0" dirty="0"/>
          </a:p>
        </p:txBody>
      </p:sp>
      <p:sp>
        <p:nvSpPr>
          <p:cNvPr id="19" name="Text 17"/>
          <p:cNvSpPr/>
          <p:nvPr/>
        </p:nvSpPr>
        <p:spPr>
          <a:xfrm>
            <a:off x="914400" y="8564463"/>
            <a:ext cx="5441594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Are aged under 30. Highest single age band: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10–14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502301" y="6211788"/>
            <a:ext cx="54417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PERMANENT DISABILITY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02301" y="6602313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02301" y="6773763"/>
            <a:ext cx="544174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0" b="1" spc="-54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pPr algn="l" indent="0" marL="0">
              <a:lnSpc>
                <a:spcPct val="100000"/>
              </a:lnSpc>
              <a:buNone/>
            </a:pPr>
            <a:r>
              <a:rPr lang="en-US" sz="6750" b="1" spc="-540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0" dirty="0"/>
          </a:p>
        </p:txBody>
      </p:sp>
      <p:sp>
        <p:nvSpPr>
          <p:cNvPr id="23" name="Text 21"/>
          <p:cNvSpPr/>
          <p:nvPr/>
        </p:nvSpPr>
        <p:spPr>
          <a:xfrm>
            <a:off x="6502301" y="8564463"/>
            <a:ext cx="544174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aquatic spinal patients live with permanent disability after the injury.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090350" y="6211788"/>
            <a:ext cx="54417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DROWNING 15–20 YO · POST-COVID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90350" y="6602313"/>
            <a:ext cx="762000" cy="381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090350" y="6773763"/>
            <a:ext cx="544174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0" b="1" spc="-540" kern="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</a:t>
            </a:r>
            <a:pPr algn="l" indent="0" marL="0">
              <a:lnSpc>
                <a:spcPct val="100000"/>
              </a:lnSpc>
              <a:buNone/>
            </a:pPr>
            <a:r>
              <a:rPr lang="en-US" sz="6750" b="1" spc="-540" kern="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0" dirty="0"/>
          </a:p>
        </p:txBody>
      </p:sp>
      <p:sp>
        <p:nvSpPr>
          <p:cNvPr id="27" name="Text 25"/>
          <p:cNvSpPr/>
          <p:nvPr/>
        </p:nvSpPr>
        <p:spPr>
          <a:xfrm>
            <a:off x="12090350" y="8564463"/>
            <a:ext cx="544174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among 15–20 year olds vs pre-COVID baseline (RLSSA).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928241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DATA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436870" y="9282410"/>
            <a:ext cx="71448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AIHW · RLSSA · RPH SPINAL STUDY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6.1 · CASE STUDIES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locations. One pattern.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400" y="3258741"/>
            <a:ext cx="5257800" cy="38533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3258741"/>
            <a:ext cx="5257800" cy="571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57300" y="3658791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01 · NSW 2025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4087416"/>
            <a:ext cx="470916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Terrigal Wharf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57300" y="4609356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 teenager dives from a wharf into water he believed was deep. Helicopter evacuation.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Hidden shallow zone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structure.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57300" y="6254800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 LOOKED DEEP ENOUGH"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15100" y="3258741"/>
            <a:ext cx="5257800" cy="38533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15100" y="3258741"/>
            <a:ext cx="5257800" cy="571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0" y="3658791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02 · VICTORIA 2025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4087416"/>
            <a:ext cx="470916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Torquay Front Beach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0" y="4609356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Teen suffers a suspected spinal injury after a dive at a Victorian surf beach. Airlifted.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Sandbanks shift with every tide.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858000" y="6254800"/>
            <a:ext cx="47091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 BEACHES ARE NOT "SAFE" FOR DIVING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115800" y="3258741"/>
            <a:ext cx="5257800" cy="38533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2115800" y="3258741"/>
            <a:ext cx="5257800" cy="571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458700" y="3658791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03 · NSW 2024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58700" y="4087416"/>
            <a:ext cx="470916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Bawley Beach jetty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458700" y="4609356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 young man is injured diving from a jetty he had used safely before.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New sandbank had formed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beneath the jump zone.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458700" y="6254800"/>
            <a:ext cx="47091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"I'VE DONE IT BEFORE" · FALSE CONFIDENCE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8433495"/>
            <a:ext cx="16459200" cy="79623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19200" y="8643045"/>
            <a:ext cx="16343376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IN PAIRS · 8 MIN ·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0D1F2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Two factors common to all three. Mechanism — not just behaviour.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(Workbook 6.1a.)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9229725"/>
            <a:ext cx="17680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CASES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29366" y="9229725"/>
            <a:ext cx="76675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ROYAL LIFE SAVING AUSTRALIA · AIHW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RLSSA · "MORE PEOPLE DROWN IN INLAND WATERWAYS THAN ANYWHERE ELSE IN AUSTRALIA"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factors that compound on rivers, dams and lakes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4320778"/>
            <a:ext cx="533400" cy="5334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6300" y="432077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5063728"/>
            <a:ext cx="3202137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changes constantly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5791200"/>
            <a:ext cx="3202137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Drought, flooding, irrigation releases, sediment movement — even morning to afternoon.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251871" y="4320778"/>
            <a:ext cx="533400" cy="5334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13771" y="432077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251871" y="5063728"/>
            <a:ext cx="320229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is poor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251871" y="5484614"/>
            <a:ext cx="320229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Submerged logs, branches, debris, even shopping trolleys — invisible under turbid water.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589490" y="4320778"/>
            <a:ext cx="533400" cy="5334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51390" y="432077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89490" y="5063728"/>
            <a:ext cx="3202137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Cold-water shock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589490" y="5484614"/>
            <a:ext cx="3202137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 and alpine lakes stay cold even in hot weather. The 1-10-1 rule applies.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926961" y="4320778"/>
            <a:ext cx="533400" cy="5334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888861" y="432077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926961" y="5063728"/>
            <a:ext cx="3202290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 + group dynamics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926961" y="5791200"/>
            <a:ext cx="320229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Inland incidents disproportionately involve alcohol, teenage males, and peer-pressured jumps.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4264580" y="4320778"/>
            <a:ext cx="533400" cy="5334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226480" y="432077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264580" y="5063728"/>
            <a:ext cx="3202137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rescue delay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264580" y="5484614"/>
            <a:ext cx="3202137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phone signal, no lifeguards, no AED, slower spinal immobilisation — all worsen outcome.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INLAND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775305" y="9229725"/>
            <a:ext cx="67962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RLSSA NATIONAL DROWNING REPORT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6.2 · MYTH VS EVIDENCE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things teenagers believe about diving that are wrong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83636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83636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57300" y="312211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" y="3474541"/>
            <a:ext cx="482029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others are jumping there, it must be safe."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57300" y="4227016"/>
            <a:ext cx="482029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FACT ·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changes daily. Yesterday's safe jump can be today's spinal injury.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89650" y="283636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89650" y="283636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32550" y="312211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32550" y="3474541"/>
            <a:ext cx="482029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"Clear water means deep water."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32550" y="3917454"/>
            <a:ext cx="482029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FACT ·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is independent of depth. Dangerously shallow water can be crystal clear.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64901" y="283636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2064901" y="283636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407801" y="312211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07801" y="3474541"/>
            <a:ext cx="482029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checked it before — I know this spot."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407801" y="4227016"/>
            <a:ext cx="482029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FACT ·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Bawley Beach. Familiarity becomes overconfidence becomes injury.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616639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616639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57300" y="645214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57300" y="6804571"/>
            <a:ext cx="482029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"Good swimmers are safe from diving injuries."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57300" y="7557046"/>
            <a:ext cx="482029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FACT ·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spinal injury happens on impact. Swimming ability is irrelevant.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89650" y="616639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89650" y="616639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32550" y="645214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32550" y="6804571"/>
            <a:ext cx="482029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"Feet-first is just as risky as diving."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6832550" y="7247483"/>
            <a:ext cx="482029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FACT ·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feet-first dramatically reduces cervical spine risk. "Feet first, first time."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064901" y="616639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2064901" y="616639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2407801" y="645214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07801" y="6804571"/>
            <a:ext cx="482029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jetty is high — so the water must be deep."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407801" y="7557046"/>
            <a:ext cx="482029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FACT ·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height tells you nothing about water depth beneath it.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9229725"/>
            <a:ext cx="17680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MYTHS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820626" y="9229725"/>
            <a:ext cx="36595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RLSSA · AIHW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MESSAGE · CARRY THIS INTO YOUR CAMPAIGN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811810"/>
            <a:ext cx="14716125" cy="346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b="1" spc="-5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first, first time.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914400" y="6621810"/>
            <a:ext cx="1471612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Never dive into unknown water. Check depth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every single time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the first time. Previous safety at a location does not guarantee current safety.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210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MESSAGE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82809" y="9229725"/>
            <a:ext cx="62735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RLSSA · NATIONAL PREVENTION CAMPAIGN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5 · EXIT TICKET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859113"/>
            <a:ext cx="16678275" cy="184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highest diving-injury incidence is in 10–14 year olds. Explain why — using social </a:t>
            </a:r>
            <a:pPr algn="l" indent="0" marL="0">
              <a:lnSpc>
                <a:spcPct val="104000"/>
              </a:lnSpc>
              <a:buNone/>
            </a:pPr>
            <a:r>
              <a:rPr lang="en-US" sz="4500" b="1" i="1" spc="-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and </a:t>
            </a:r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factors.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6013400"/>
            <a:ext cx="14716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Then sketch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what a targeted prevention response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look like. Two sentences each.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28130" y="9229725"/>
            <a:ext cx="31368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SECTION 6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6 · 50 MIN · WORKBOOK SECTION 7 · ASSESSED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37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b="1" spc="-72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5305425"/>
            <a:ext cx="1471612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task — planning, drafting &amp; peer review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76325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75384" y="914400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VCHPEP148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2519" y="9058275"/>
            <a:ext cx="4384328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74444" y="9144000"/>
            <a:ext cx="41920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 + PEER REVIEW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 TASK · CHOOSE ONE · BUILD IT FOR A REAL AUDIENCE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options — all evidence-based, all argued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231059"/>
            <a:ext cx="5257800" cy="39390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3231059"/>
            <a:ext cx="5257800" cy="5715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95400" y="3669209"/>
            <a:ext cx="46306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097834"/>
            <a:ext cx="4630674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Brief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5400" y="4619774"/>
            <a:ext cx="4630674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600–800 words to the Victorian Minister for Sport &amp; Recreation. Three recommendations + evidence + measurable outcomes.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95400" y="6284268"/>
            <a:ext cx="4495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95400" y="6465243"/>
            <a:ext cx="46306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writers who want to argue policy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15100" y="3231059"/>
            <a:ext cx="5257800" cy="39390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15100" y="3231059"/>
            <a:ext cx="5257800" cy="5715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96100" y="3669209"/>
            <a:ext cx="46306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96100" y="4097834"/>
            <a:ext cx="4630674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Campaign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96100" y="4619774"/>
            <a:ext cx="4630674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ONE high-risk group from Victorian data. Campaign name, message, visual concept, platform + 100-word justification.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896100" y="6284268"/>
            <a:ext cx="4495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96100" y="6465243"/>
            <a:ext cx="46306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designers, video-makers, social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115800" y="3231059"/>
            <a:ext cx="5257800" cy="3939034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2115800" y="3231059"/>
            <a:ext cx="5257800" cy="5715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496800" y="3669209"/>
            <a:ext cx="46306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C · ADVANCED 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96800" y="4154984"/>
            <a:ext cx="4630674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Audit &amp; Report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496800" y="4676924"/>
            <a:ext cx="4630674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your school's water-safety provision. Benchmark against Curriculum 2.0. Priority matrix + recommendations.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496800" y="6341418"/>
            <a:ext cx="44958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496800" y="6522393"/>
            <a:ext cx="46306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students who want real impact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8464004"/>
            <a:ext cx="16459200" cy="765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14400" y="8464004"/>
            <a:ext cx="57150" cy="765721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276350" y="8673554"/>
            <a:ext cx="1628622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All options require: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3+ credible sources with URLs · 1+ Victorian or global statistic · a named target audience · a specific call to action.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9229725"/>
            <a:ext cx="210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 · OPTIONS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497348" y="9229725"/>
            <a:ext cx="29625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 · END OF UNIT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· WHAT A-STANDARD WORK LOOKS LIKE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things that separate "Building" from "Extending"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797945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6300" y="379794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6400" y="3797945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description — to analysis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76400" y="4194125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Argues with evidence. Acknowledges counter-arguments. Doesn't just describe what is.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410700" y="3797945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372600" y="379794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172700" y="3797945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sources, cited with URLs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172700" y="4194125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LSV, RLSSA, WHO, AIHW — not random blog posts. The reader can verify every claim.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178772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6300" y="5178772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76400" y="5178772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— not just individual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76400" y="5574953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a mechanism. "Masculinity norms" beats "boys take more risks." Distinguishes systemic from personal.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410700" y="5178772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372600" y="5178772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172700" y="5178772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 named audience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172700" y="5574953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Minister's brief doesn't read like a TikTok script. The language fits the addressee.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6559600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6300" y="65596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676400" y="6559600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outcomes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76400" y="6955780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metrics. "Reduce CALD drowning deaths by 20% in 5 years" beats "raise awareness."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410700" y="6559600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372600" y="65596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172700" y="6559600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voice is visible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172700" y="6955780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Not a stitched-together summary. Your teacher should feel </a:t>
            </a:r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you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this and made the calls.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 · RUBRIC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959530" y="9229725"/>
            <a:ext cx="55764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RUBRIC · 6 CRITERIA · E → A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YOUR EVIDENCE COMES FROM · CITE THE URL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primary sources for the assessment task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3077766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Saving Victoria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582591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lsv.com.au · lsv.com.au/research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954066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Victorian drowning data, CALD over-representation, SwimSafe rules, patrolled beach locations.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410700" y="3077766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Life Saving Australia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10700" y="3582591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royallifesaving.com.au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0700" y="3954066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National data, inland waterway research, post-COVID trends, "Feet first, first time."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4938713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Health Organization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5443538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who.int/drowning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815013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Global drowning data, prevention guide, social determinants framework.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410700" y="4938713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AIHW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410700" y="5443538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aihw.gov.au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10700" y="5815013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Spinal cord injury data, quadriplegia statistics, Australian injury surveillance.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6799659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comparators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7304484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rlss.org.uk/education · redcross.org/water-safety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7675959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Float to Live, water competency, international approach comparison.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410700" y="6799659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Victorian Curriculum 2.0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10700" y="7304484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victoriancurriculum.vcaa.vic.edu.au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10700" y="7675959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Option C audit · benchmarking school provision against curriculum codes.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14400" y="9229725"/>
            <a:ext cx="210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 · SOURCES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14209" y="9229725"/>
            <a:ext cx="87131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CREDIBLE = .GOV · .ORG · PEER-REVIEWED · CITED URL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WHOLE UNIT ON ONE SLIDE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67" kern="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lessons. One thing each.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242096"/>
            <a:ext cx="2552700" cy="5715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3930" y="3245197"/>
            <a:ext cx="2579370" cy="259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Victorian deaths · 2024–25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Non-fatals 37% above 10-yr avg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multicultural over-representation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deaths at patrolled sites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95700" y="2242096"/>
            <a:ext cx="2552700" cy="5715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957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957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body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5230" y="3245197"/>
            <a:ext cx="2579370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5-stage drowning sequence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4-minute brain window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 ≈ 30% cardiac output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1-10-1 cold-water rule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77000" y="2242096"/>
            <a:ext cx="2552700" cy="5715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770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770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26530" y="3245197"/>
            <a:ext cx="25793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vs structural causes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26530" y="3885158"/>
            <a:ext cx="25793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social determinants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26530" y="4525119"/>
            <a:ext cx="25793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CALD action a school </a:t>
            </a:r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can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26530" y="5165080"/>
            <a:ext cx="25793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 male skew is structural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58300" y="2242096"/>
            <a:ext cx="2552700" cy="5715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2583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583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07830" y="3245197"/>
            <a:ext cx="2579370" cy="259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4-sided fencing −83% child drowning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categories of prevention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strategies, evaluated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vs UK vs US — three messages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039600" y="2242096"/>
            <a:ext cx="2552700" cy="571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0396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0396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diving question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089130" y="3245197"/>
            <a:ext cx="2579370" cy="227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/ 20% / 95% / 66%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Terrigal · Torquay · Bawley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Inland = 5 compounding factors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first, first time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820900" y="2242096"/>
            <a:ext cx="2552700" cy="5715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48209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8209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argument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870430" y="3245197"/>
            <a:ext cx="2579370" cy="227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· campaign · audit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sources with URLs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audience &amp; SMART metric</a:t>
            </a:r>
            <a:endParaRPr lang="en-US" sz="1800" dirty="0"/>
          </a:p>
          <a:p>
            <a:pPr algn="l" marL="160020" indent="-160020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rubric criteria · E → 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9229725"/>
            <a:ext cx="17680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WHOLE UNIT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29217" y="9229725"/>
            <a:ext cx="766771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EMILIE HARRISON · SWIMWATER.SAFETY@GMAIL.COM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7007840" cy="9006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>
                <a:solidFill>
                  <a:srgbClr val="0A1E3D"/>
                </a:solidFill>
              </a:rPr>
              <a:t>Licence &amp; Attribution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565C0"/>
                </a:solidFill>
              </a:rPr>
              <a:t>© 2026 Emilie Harrison — Swim &amp; Water Safety Teaching Hub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1A2840"/>
                </a:solidFill>
              </a:rPr>
              <a:t>Licensed under Creative Commons Attribution 4.0 International (CC BY 4.0). You are free to copy, adapt, remix and redistribute this deck — including commercially — provided you credit the author and indicate any changes.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6E8A"/>
                </a:solidFill>
              </a:rPr>
              <a:t>Attribution: "Swim &amp; Water Safety Teaching Hub" by Emilie Harrison, CC BY 4.0. Source: emilie-harrison.github.io/swim-water-safety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6E8A"/>
                </a:solidFill>
              </a:rPr>
              <a:t>Third-party material is not covered by this licence. Content owned by Life Saving Victoria, Royal Life Saving Australia, Surf Life Saving Australia, VCAA, ACARA, AIATSIS and the Australian Resuscitation Council — including drowning data, clinical guidelines, curriculum content, logos and program names — remains with its owners.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5A6E8A"/>
                </a:solidFill>
              </a:rPr>
              <a:t>Statistics: Life Saving Victoria, Victorian Drowning Report 2024–25. Deck updated September 2026.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A6E8A"/>
                </a:solidFill>
              </a:rPr>
              <a:t>Data sources cited in this deck — retain these citations if you adapt it: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A6E8A"/>
                </a:solidFill>
              </a:rPr>
              <a:t>• Life Saving Victoria. (2025). Victorian Drowning Report 2024–25. Life Saving Victoria: Melbourne.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A6E8A"/>
                </a:solidFill>
              </a:rPr>
              <a:t>• Royal Life Saving Australia (2026). National Drowning Report 2026. RLSSA: Sydney.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A6E8A"/>
                </a:solidFill>
              </a:rPr>
              <a:t>• Surf Life Saving Australia (2026). Summer Coastal Drowning Report 2025/26. SLSA: Sydney.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A6E8A"/>
                </a:solidFill>
              </a:rPr>
              <a:t>These figures remain the property of the publishing organisations.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2026-05-15T08:02:25Z</dcterms:created>
  <dcterms:modified xsi:type="dcterms:W3CDTF">2026-05-15T08:02:25Z</dcterms:modified>
</cp:coreProperties>
</file>