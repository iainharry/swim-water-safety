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7"/>
  </p:sldIdLst>
  <p:notesMasterIdLst>
    <p:notesMasterId r:id="rId42"/>
  </p:notesMasterIdLst>
  <p:sldSz cx="18288000" cy="10287000"/>
  <p:notesSz cx="10287000" cy="18288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notesMaster" Target="notesMasters/notesMaster1.xml"/><Relationship Id="rId43" Type="http://schemas.openxmlformats.org/officeDocument/2006/relationships/presProps" Target="presProps.xml"/><Relationship Id="rId44" Type="http://schemas.openxmlformats.org/officeDocument/2006/relationships/viewProps" Target="viewProps.xml"/><Relationship Id="rId45" Type="http://schemas.openxmlformats.org/officeDocument/2006/relationships/theme" Target="theme/theme1.xml"/><Relationship Id="rId46" Type="http://schemas.openxmlformats.org/officeDocument/2006/relationships/tableStyles" Target="tableStyles.xml"/><Relationship Id="rId47" Type="http://schemas.openxmlformats.org/officeDocument/2006/relationships/slide" Target="slides/slide4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to the Swim and Water Safety unit. This 5-lesson program is built around the Victorian Curriculum and uses real LSV data. The point of this opening slide is to set the tone — water is part of life in Victoria, but it asks a lot of us. Hand out the student workbooks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map of the unit. Each lesson is 50 minutes and connects to a workbook section and curriculum codes. Tell students we'll spend one lesson on each card. Today we're on Lesson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divider for Lesson 1. Don't dwell — just orient students to where we are in the unit.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big question for the whole unit. Read it aloud, then ask the class for a 10-second silent think. Do not answer it yet — we'll come back to it in Lesson 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four numbers are the entire data argument for the unit. Walk through each card slowly. Pause after the '0 of 54' card — that's the most important number in the deck.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Drill into who is most at risk. 1 in 5 of those 54 victims was 15 to 24 years old. Ask: 'Look around the room. We are the next group up. What might explain this?' Take 2-3 student responses.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Where drownings happen. Inland waterways — rivers and dams — are deceptively dangerous. Cold, fast, with submerged hazards you can't see. Most Victorian drownings are NOT at the beach.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connect data to behaviour. Walk students through these four factors and ask them which they think is the biggest factor for our age group. Most will say peer pressure — research backs this 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headline answer to the big question. Patrolled location. That single behaviour change would have prevented every single one of those 54 deaths. Land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1 exit ticket. Five minutes. Workbook Section 1. Students write one fact that surprised them and one question they still have. Collect or photograph.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2 divider. We're moving from the why to the how. This lesson is all about reading the beach.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flags. Run the flag identification game from the workbook — show this slide with all six visible, then have students close their books and try to name them on whiteboards.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this slide to check understanding before moving to rip currents. Ask: 'Where are you allowed to swim? Where are you NOT allowed?'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what a rip looks like. Yellow channel pulling outward. The blue feeder currents along the shore feed water into the rip. Most rips are 1 to 3 metres wide and move at up to 2.5 m/s — faster than an Olympic swimmer.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five steps in order. Make students recite them with you. Stay calm — float — swim parallel — angle back — signal. This is the single most important survival skill in this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Liam's scenario from Workbook Activity 2.2. Read it aloud. Then in pairs students identify two mistakes. Common answers: unpatrolled beach, sprint-swimming against the rip, panicking, friends not knowing what to 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BeachSafe app demo. Pull out your phone. Show students how to search their nearest patrolled beach. Set homework: find your three closest patrolled beaches and write them in your workbook.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2 exit ticket. Without looking at notes, recite the five rip survival steps.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3 divider. Today we move from prevention to response. What do you do if someone is in trouble.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Throw, don't go. This is the rule that keeps would-be rescuers alive. Untrained rescuers who enter the water often become the second victim. Repeat it twice.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rescue hierarchy: talk, reach, throw, row, go. The further down you go, the more dangerous it gets — and the more training required. Most students should stop at throw.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DRS ABCD. Drill the letters. Cover the words and have students recall them. Then on the next slide we'll walk through what to actually DO at each step.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do at each step. Use this for the workbook table activity (Activity 3.1). Pace through each row — D, R, S, A, B, C, D. Students fill in their workbook table as you go.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CPR rhythm. 30 compressions, 2 breaths. Then repeat. About 100 to 120 beats per minute — the rhythm of Stayin' Alive or Baby Shark works well. Get students practising on cushions in pairs.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Calling 000. Walk through the script. Stress: stay calm, give EXACT location (postcode, landmarks), don't hang up until the operator does. Practise with role-play.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River rope swing scenario from Workbook Activity 3.2. Read it. In pairs, students decide first action. Debrief: throw, don't go. Use the rope. The friend who jumped in is now also a victim.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3 exit ticket — write the 7 DRS ABCD letters and one action each, from memory.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4 divider. Now we widen out: different environments, different decisions.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environments, three risk profiles. Patrolled beaches are by far the safest. Rivers and dams are where most Victorian drownings happen. Pools — especially backyard pools with kids — have their own risks.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five SwimSafe rules from LSV. Have students chant them as a class. These should be in long-term memory by the end of this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Cold water shock. 1 minute of gasp reflex, 10 minutes of useful movement, 1 hour before hypothermia. Even strong swimmers drown in the first minute. This is why Victorian rivers and Alpine lakes kill people who 'know how to swim'.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Peer pressure scripts. Give students concrete language they can actually use. Have them practise in pairs — one is the friend pushing, one resists. Then swap.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Alcohol and water. This affects them now (older siblings, family events) and especially when they're 18+. Three reasons it kills: impaired judgment, impaired coordination, faster heat loss.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Myths versus facts on shallow water diving. This is the leading cause of permanent spinal injury in young Australians. Walk through these four pairs. The Bawley Beach and Terrigal cases are real.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4 exit ticket — recite the 5 SwimSafe rules from memory.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5 divider. The final lesson. We move from knowledge to product. Two tasks: personal action plan, then communication campaign.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Personal action plan template. Students pick a real Victorian water activity they will do this summer and answer these six questions. Make it specific to their life — not generic.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campaign options. Students choose ONE. Read each option aloud. Audience matters — the language and format need to suit the audience.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makes a great campaign. Use this as a co-marking checklist before students submit. It's also the rubric they'll be assessed against.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Credible sources only. If they cite something without a URL, they lose marks. Show them the five sources we'll accept and one more if they find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solidFill>
            <a:srgbClr val="003554"/>
          </a:solidFill>
          <a:ln/>
        </p:spPr>
        <p:txBody>
          <a:bodyPr/>
          <a:p/>
        </p:txBody>
      </p:sp>
      <p:sp>
        <p:nvSpPr>
          <p:cNvPr id="3" name="Shape 1"/>
          <p:cNvSpPr/>
          <p:nvPr/>
        </p:nvSpPr>
        <p:spPr>
          <a:xfrm>
            <a:off x="0" y="0"/>
            <a:ext cx="18288000" cy="10287000"/>
          </a:xfrm>
          <a:prstGeom prst="rect">
            <a:avLst/>
          </a:prstGeom>
          <a:solidFill>
            <a:srgbClr val="FFFFFF">
              <a:alpha val="4000"/>
            </a:srgbClr>
          </a:solidFill>
          <a:ln/>
        </p:spPr>
        <p:txBody>
          <a:bodyPr/>
          <a:p/>
        </p:txBody>
      </p:sp>
      <p:sp>
        <p:nvSpPr>
          <p:cNvPr id="4" name="Shape 2"/>
          <p:cNvSpPr/>
          <p:nvPr/>
        </p:nvSpPr>
        <p:spPr>
          <a:xfrm>
            <a:off x="7315200" y="0"/>
            <a:ext cx="10972800" cy="10287000"/>
          </a:xfrm>
          <a:prstGeom prst="rect">
            <a:avLst/>
          </a:prstGeom>
          <a:solidFill>
            <a:srgbClr val="FFFFFF">
              <a:alpha val="6000"/>
            </a:srgbClr>
          </a:solidFill>
          <a:ln/>
        </p:spPr>
        <p:txBody>
          <a:bodyPr/>
          <a:p/>
        </p:txBody>
      </p:sp>
      <p:sp>
        <p:nvSpPr>
          <p:cNvPr id="5" name="Text 3"/>
          <p:cNvSpPr/>
          <p:nvPr/>
        </p:nvSpPr>
        <p:spPr>
          <a:xfrm>
            <a:off x="1047750" y="5113139"/>
            <a:ext cx="16678275" cy="358080"/>
          </a:xfrm>
          <a:prstGeom prst="rect">
            <a:avLst/>
          </a:prstGeom>
          <a:noFill/>
          <a:ln/>
        </p:spPr>
        <p:txBody>
          <a:bodyPr wrap="square" lIns="25400" tIns="25400" rIns="25400" bIns="25400" rtlCol="0" anchor="t">
            <a:normAutofit/>
          </a:bodyPr>
          <a:lstStyle/>
          <a:p>
            <a:pPr algn="l" indent="0" marL="0">
              <a:lnSpc>
                <a:spcPct val="140000"/>
              </a:lnSpc>
              <a:buNone/>
            </a:pPr>
            <a:r>
              <a:rPr lang="en-US" sz="1800" spc="450" kern="0" dirty="0">
                <a:solidFill>
                  <a:srgbClr val="FFD166"/>
                </a:solidFill>
                <a:latin typeface="Courier New" pitchFamily="34" charset="0"/>
                <a:ea typeface="Courier New" pitchFamily="34" charset="-122"/>
                <a:cs typeface="Courier New" pitchFamily="34" charset="-120"/>
              </a:rPr>
              <a:t>YEAR 7–8 HPE · VICTORIAN CURRICULUM 2.0</a:t>
            </a:r>
            <a:endParaRPr lang="en-US" sz="1800" dirty="0"/>
          </a:p>
        </p:txBody>
      </p:sp>
      <p:sp>
        <p:nvSpPr>
          <p:cNvPr id="6" name="Text 4"/>
          <p:cNvSpPr/>
          <p:nvPr/>
        </p:nvSpPr>
        <p:spPr>
          <a:xfrm>
            <a:off x="1047750" y="5699820"/>
            <a:ext cx="16678275" cy="1123950"/>
          </a:xfrm>
          <a:prstGeom prst="rect">
            <a:avLst/>
          </a:prstGeom>
          <a:noFill/>
          <a:ln/>
        </p:spPr>
        <p:txBody>
          <a:bodyPr wrap="square" lIns="25400" tIns="25400" rIns="25400" bIns="25400" rtlCol="0" anchor="t">
            <a:normAutofit/>
          </a:bodyPr>
          <a:lstStyle/>
          <a:p>
            <a:pPr algn="l" indent="0" marL="0">
              <a:lnSpc>
                <a:spcPct val="95000"/>
              </a:lnSpc>
              <a:buNone/>
            </a:pPr>
            <a:r>
              <a:rPr lang="en-US" sz="9000" b="1" spc="-225" kern="0" dirty="0">
                <a:solidFill>
                  <a:srgbClr val="FFFFFF"/>
                </a:solidFill>
                <a:latin typeface="Arial" pitchFamily="34" charset="0"/>
                <a:ea typeface="Arial" pitchFamily="34" charset="-122"/>
                <a:cs typeface="Arial" pitchFamily="34" charset="-120"/>
              </a:rPr>
              <a:t>Swim &amp; </a:t>
            </a:r>
            <a:pPr algn="l" indent="0" marL="0">
              <a:lnSpc>
                <a:spcPct val="95000"/>
              </a:lnSpc>
              <a:buNone/>
            </a:pPr>
            <a:r>
              <a:rPr lang="en-US" sz="9000" b="1" spc="-225" kern="0" dirty="0">
                <a:solidFill>
                  <a:srgbClr val="FFD166"/>
                </a:solidFill>
                <a:latin typeface="Arial" pitchFamily="34" charset="0"/>
                <a:ea typeface="Arial" pitchFamily="34" charset="-122"/>
                <a:cs typeface="Arial" pitchFamily="34" charset="-120"/>
              </a:rPr>
              <a:t>Water Safety</a:t>
            </a:r>
            <a:endParaRPr lang="en-US" sz="9000" dirty="0"/>
          </a:p>
        </p:txBody>
      </p:sp>
      <p:sp>
        <p:nvSpPr>
          <p:cNvPr id="7" name="Text 5"/>
          <p:cNvSpPr/>
          <p:nvPr/>
        </p:nvSpPr>
        <p:spPr>
          <a:xfrm>
            <a:off x="1047750" y="7166670"/>
            <a:ext cx="13735050" cy="1181100"/>
          </a:xfrm>
          <a:prstGeom prst="rect">
            <a:avLst/>
          </a:prstGeom>
          <a:noFill/>
          <a:ln/>
        </p:spPr>
        <p:txBody>
          <a:bodyPr wrap="square" lIns="25400" tIns="25400" rIns="25400" bIns="25400" rtlCol="0" anchor="t">
            <a:normAutofit/>
          </a:bodyPr>
          <a:lstStyle/>
          <a:p>
            <a:pPr algn="l" indent="0" marL="0">
              <a:lnSpc>
                <a:spcPct val="125000"/>
              </a:lnSpc>
              <a:buNone/>
            </a:pPr>
            <a:r>
              <a:rPr lang="en-US" sz="3600" dirty="0">
                <a:solidFill>
                  <a:srgbClr val="FFFFFF">
                    <a:alpha val="85000"/>
                  </a:srgbClr>
                </a:solidFill>
                <a:latin typeface="Arial" pitchFamily="34" charset="0"/>
                <a:ea typeface="Arial" pitchFamily="34" charset="-122"/>
                <a:cs typeface="Arial" pitchFamily="34" charset="-120"/>
              </a:rPr>
              <a:t>A 5-lesson unit on the knowledge, skills and decisions that prevent drowning in Victorian waters.</a:t>
            </a:r>
            <a:endParaRPr lang="en-US" sz="3600" dirty="0"/>
          </a:p>
        </p:txBody>
      </p:sp>
      <p:sp>
        <p:nvSpPr>
          <p:cNvPr id="8" name="Shape 6"/>
          <p:cNvSpPr/>
          <p:nvPr/>
        </p:nvSpPr>
        <p:spPr>
          <a:xfrm>
            <a:off x="1047750" y="8843070"/>
            <a:ext cx="3574256" cy="605730"/>
          </a:xfrm>
          <a:prstGeom prst="roundRect">
            <a:avLst>
              <a:gd name="adj" fmla="val 50000"/>
            </a:avLst>
          </a:prstGeom>
          <a:solidFill>
            <a:srgbClr val="FFFFFF">
              <a:alpha val="12000"/>
            </a:srgbClr>
          </a:solidFill>
          <a:ln w="9525">
            <a:solidFill>
              <a:srgbClr val="FFFFFF">
                <a:alpha val="25000"/>
              </a:srgbClr>
            </a:solidFill>
            <a:prstDash val="solid"/>
          </a:ln>
        </p:spPr>
        <p:txBody>
          <a:bodyPr/>
          <a:p/>
        </p:txBody>
      </p:sp>
      <p:sp>
        <p:nvSpPr>
          <p:cNvPr id="9" name="Text 7"/>
          <p:cNvSpPr/>
          <p:nvPr/>
        </p:nvSpPr>
        <p:spPr>
          <a:xfrm>
            <a:off x="1343025" y="8985945"/>
            <a:ext cx="3090934" cy="358080"/>
          </a:xfrm>
          <a:prstGeom prst="rect">
            <a:avLst/>
          </a:prstGeom>
          <a:noFill/>
          <a:ln/>
        </p:spPr>
        <p:txBody>
          <a:bodyPr wrap="square" lIns="25400" tIns="25400" rIns="25400" bIns="25400" rtlCol="0" anchor="t">
            <a:normAutofit/>
          </a:bodyPr>
          <a:lstStyle/>
          <a:p>
            <a:pPr algn="l" indent="0" marL="0">
              <a:lnSpc>
                <a:spcPct val="140000"/>
              </a:lnSpc>
              <a:buNone/>
            </a:pPr>
            <a:r>
              <a:rPr lang="en-US" sz="1800" spc="225" kern="0" dirty="0">
                <a:solidFill>
                  <a:srgbClr val="FFFFFF">
                    <a:alpha val="90000"/>
                  </a:srgbClr>
                </a:solidFill>
                <a:latin typeface="Courier New" pitchFamily="34" charset="0"/>
                <a:ea typeface="Courier New" pitchFamily="34" charset="-122"/>
                <a:cs typeface="Courier New" pitchFamily="34" charset="-120"/>
              </a:rPr>
              <a:t>5 LESSONS × 50 MIN</a:t>
            </a:r>
            <a:endParaRPr lang="en-US" sz="1800" dirty="0"/>
          </a:p>
        </p:txBody>
      </p:sp>
      <p:sp>
        <p:nvSpPr>
          <p:cNvPr id="10" name="Shape 8"/>
          <p:cNvSpPr/>
          <p:nvPr/>
        </p:nvSpPr>
        <p:spPr>
          <a:xfrm>
            <a:off x="4888706" y="8843070"/>
            <a:ext cx="5563344" cy="605730"/>
          </a:xfrm>
          <a:prstGeom prst="roundRect">
            <a:avLst>
              <a:gd name="adj" fmla="val 50000"/>
            </a:avLst>
          </a:prstGeom>
          <a:solidFill>
            <a:srgbClr val="FFFFFF">
              <a:alpha val="12000"/>
            </a:srgbClr>
          </a:solidFill>
          <a:ln w="9525">
            <a:solidFill>
              <a:srgbClr val="FFFFFF">
                <a:alpha val="25000"/>
              </a:srgbClr>
            </a:solidFill>
            <a:prstDash val="solid"/>
          </a:ln>
        </p:spPr>
        <p:txBody>
          <a:bodyPr/>
          <a:p/>
        </p:txBody>
      </p:sp>
      <p:sp>
        <p:nvSpPr>
          <p:cNvPr id="11" name="Text 9"/>
          <p:cNvSpPr/>
          <p:nvPr/>
        </p:nvSpPr>
        <p:spPr>
          <a:xfrm>
            <a:off x="5183981" y="8985945"/>
            <a:ext cx="5139694" cy="358080"/>
          </a:xfrm>
          <a:prstGeom prst="rect">
            <a:avLst/>
          </a:prstGeom>
          <a:noFill/>
          <a:ln/>
        </p:spPr>
        <p:txBody>
          <a:bodyPr wrap="square" lIns="25400" tIns="25400" rIns="25400" bIns="25400" rtlCol="0" anchor="t">
            <a:normAutofit/>
          </a:bodyPr>
          <a:lstStyle/>
          <a:p>
            <a:pPr algn="l" indent="0" marL="0">
              <a:lnSpc>
                <a:spcPct val="140000"/>
              </a:lnSpc>
              <a:buNone/>
            </a:pPr>
            <a:r>
              <a:rPr lang="en-US" sz="1800" spc="225" kern="0" dirty="0">
                <a:solidFill>
                  <a:srgbClr val="FFFFFF">
                    <a:alpha val="90000"/>
                  </a:srgbClr>
                </a:solidFill>
                <a:latin typeface="Courier New" pitchFamily="34" charset="0"/>
                <a:ea typeface="Courier New" pitchFamily="34" charset="-122"/>
                <a:cs typeface="Courier New" pitchFamily="34" charset="-120"/>
              </a:rPr>
              <a:t>WORKBOOK · POSTERS · SCENARIOS</a:t>
            </a:r>
            <a:endParaRPr lang="en-US" sz="1800" dirty="0"/>
          </a:p>
        </p:txBody>
      </p:sp>
      <p:sp>
        <p:nvSpPr>
          <p:cNvPr id="12" name="Shape 10"/>
          <p:cNvSpPr/>
          <p:nvPr/>
        </p:nvSpPr>
        <p:spPr>
          <a:xfrm>
            <a:off x="10718750" y="8843070"/>
            <a:ext cx="3077021" cy="605730"/>
          </a:xfrm>
          <a:prstGeom prst="roundRect">
            <a:avLst>
              <a:gd name="adj" fmla="val 50000"/>
            </a:avLst>
          </a:prstGeom>
          <a:solidFill>
            <a:srgbClr val="FFFFFF">
              <a:alpha val="12000"/>
            </a:srgbClr>
          </a:solidFill>
          <a:ln w="9525">
            <a:solidFill>
              <a:srgbClr val="FFFFFF">
                <a:alpha val="25000"/>
              </a:srgbClr>
            </a:solidFill>
            <a:prstDash val="solid"/>
          </a:ln>
        </p:spPr>
        <p:txBody>
          <a:bodyPr/>
          <a:p/>
        </p:txBody>
      </p:sp>
      <p:sp>
        <p:nvSpPr>
          <p:cNvPr id="13" name="Text 11"/>
          <p:cNvSpPr/>
          <p:nvPr/>
        </p:nvSpPr>
        <p:spPr>
          <a:xfrm>
            <a:off x="11014025" y="8985945"/>
            <a:ext cx="2578782" cy="358080"/>
          </a:xfrm>
          <a:prstGeom prst="rect">
            <a:avLst/>
          </a:prstGeom>
          <a:noFill/>
          <a:ln/>
        </p:spPr>
        <p:txBody>
          <a:bodyPr wrap="square" lIns="25400" tIns="25400" rIns="25400" bIns="25400" rtlCol="0" anchor="t">
            <a:normAutofit/>
          </a:bodyPr>
          <a:lstStyle/>
          <a:p>
            <a:pPr algn="l" indent="0" marL="0">
              <a:lnSpc>
                <a:spcPct val="140000"/>
              </a:lnSpc>
              <a:buNone/>
            </a:pPr>
            <a:r>
              <a:rPr lang="en-US" sz="1800" spc="225" kern="0" dirty="0">
                <a:solidFill>
                  <a:srgbClr val="FFFFFF">
                    <a:alpha val="90000"/>
                  </a:srgbClr>
                </a:solidFill>
                <a:latin typeface="Courier New" pitchFamily="34" charset="0"/>
                <a:ea typeface="Courier New" pitchFamily="34" charset="-122"/>
                <a:cs typeface="Courier New" pitchFamily="34" charset="-120"/>
              </a:rPr>
              <a:t>CLASSROOM-BASED</a:t>
            </a:r>
            <a:endParaRPr lang="en-US" sz="1800" dirty="0"/>
          </a:p>
        </p:txBody>
      </p:sp>
      <p:sp>
        <p:nvSpPr>
          <p:cNvPr id="14" name="Shape 12"/>
          <p:cNvSpPr/>
          <p:nvPr/>
        </p:nvSpPr>
        <p:spPr>
          <a:xfrm>
            <a:off x="0" y="10153650"/>
            <a:ext cx="18288000" cy="133350"/>
          </a:xfrm>
          <a:prstGeom prst="rect">
            <a:avLst/>
          </a:prstGeom>
          <a:solidFill>
            <a:srgbClr val="1565C0"/>
          </a:solidFill>
          <a:ln/>
        </p:spPr>
        <p:txBody>
          <a:body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7F9"/>
        </a:solidFill>
      </p:bgPr>
    </p:bg>
    <p:spTree>
      <p:nvGrpSpPr>
        <p:cNvPr id="1" name=""/>
        <p:cNvGrpSpPr/>
        <p:nvPr/>
      </p:nvGrpSpPr>
      <p:grpSpPr>
        <a:xfrm>
          <a:off x="0" y="0"/>
          <a:ext cx="0" cy="0"/>
          <a:chOff x="0" y="0"/>
          <a:chExt cx="0" cy="0"/>
        </a:xfrm>
      </p:grpSpPr>
      <p:sp>
        <p:nvSpPr>
          <p:cNvPr id="2" name="Text 0"/>
          <p:cNvSpPr/>
          <p:nvPr/>
        </p:nvSpPr>
        <p:spPr>
          <a:xfrm>
            <a:off x="1047750" y="914400"/>
            <a:ext cx="16678275" cy="358080"/>
          </a:xfrm>
          <a:prstGeom prst="rect">
            <a:avLst/>
          </a:prstGeom>
          <a:noFill/>
          <a:ln/>
        </p:spPr>
        <p:txBody>
          <a:bodyPr wrap="square" lIns="25400" tIns="25400" rIns="25400" bIns="25400" rtlCol="0" anchor="t">
            <a:normAutofit/>
          </a:bodyPr>
          <a:lstStyle/>
          <a:p>
            <a:pPr algn="l" indent="0" marL="0">
              <a:lnSpc>
                <a:spcPct val="140000"/>
              </a:lnSpc>
              <a:buNone/>
            </a:pPr>
            <a:r>
              <a:rPr lang="en-US" sz="1800" spc="300" kern="0" dirty="0">
                <a:solidFill>
                  <a:srgbClr val="5A7A8A"/>
                </a:solidFill>
                <a:latin typeface="Courier New" pitchFamily="34" charset="0"/>
                <a:ea typeface="Courier New" pitchFamily="34" charset="-122"/>
                <a:cs typeface="Courier New" pitchFamily="34" charset="-120"/>
              </a:rPr>
              <a:t>UNIT MAP</a:t>
            </a:r>
            <a:endParaRPr lang="en-US" sz="1800" dirty="0"/>
          </a:p>
        </p:txBody>
      </p:sp>
      <p:sp>
        <p:nvSpPr>
          <p:cNvPr id="3" name="Text 1"/>
          <p:cNvSpPr/>
          <p:nvPr/>
        </p:nvSpPr>
        <p:spPr>
          <a:xfrm>
            <a:off x="1047750" y="1405830"/>
            <a:ext cx="16678275" cy="798165"/>
          </a:xfrm>
          <a:prstGeom prst="rect">
            <a:avLst/>
          </a:prstGeom>
          <a:noFill/>
          <a:ln/>
        </p:spPr>
        <p:txBody>
          <a:bodyPr wrap="square" lIns="25400" tIns="25400" rIns="25400" bIns="25400" rtlCol="0" anchor="t">
            <a:normAutofit/>
          </a:bodyPr>
          <a:lstStyle/>
          <a:p>
            <a:pPr algn="l" indent="0" marL="0">
              <a:lnSpc>
                <a:spcPct val="105000"/>
              </a:lnSpc>
              <a:buNone/>
            </a:pPr>
            <a:r>
              <a:rPr lang="en-US" sz="5700" b="1" spc="-75" kern="0" dirty="0">
                <a:solidFill>
                  <a:srgbClr val="0D1F2D"/>
                </a:solidFill>
                <a:latin typeface="Arial" pitchFamily="34" charset="0"/>
                <a:ea typeface="Arial" pitchFamily="34" charset="-122"/>
                <a:cs typeface="Arial" pitchFamily="34" charset="-120"/>
              </a:rPr>
              <a:t>Five lessons, one question</a:t>
            </a:r>
            <a:endParaRPr lang="en-US" sz="5700" dirty="0"/>
          </a:p>
        </p:txBody>
      </p:sp>
      <p:sp>
        <p:nvSpPr>
          <p:cNvPr id="4" name="Text 2"/>
          <p:cNvSpPr/>
          <p:nvPr/>
        </p:nvSpPr>
        <p:spPr>
          <a:xfrm>
            <a:off x="1047750" y="2337346"/>
            <a:ext cx="16678275" cy="1135261"/>
          </a:xfrm>
          <a:prstGeom prst="rect">
            <a:avLst/>
          </a:prstGeom>
          <a:noFill/>
          <a:ln/>
        </p:spPr>
        <p:txBody>
          <a:bodyPr wrap="square" lIns="25400" tIns="25400" rIns="25400" bIns="25400" rtlCol="0" anchor="t">
            <a:normAutofit/>
          </a:bodyPr>
          <a:lstStyle/>
          <a:p>
            <a:pPr algn="l" indent="0" marL="0">
              <a:lnSpc>
                <a:spcPct val="120000"/>
              </a:lnSpc>
              <a:buNone/>
            </a:pPr>
            <a:r>
              <a:rPr lang="en-US" sz="3600" dirty="0">
                <a:solidFill>
                  <a:srgbClr val="5A7A8A"/>
                </a:solidFill>
                <a:latin typeface="Arial" pitchFamily="34" charset="0"/>
                <a:ea typeface="Arial" pitchFamily="34" charset="-122"/>
                <a:cs typeface="Arial" pitchFamily="34" charset="-120"/>
              </a:rPr>
              <a:t>What knowledge, skills and decisions could prevent most Victorian drownings — including among people our age?</a:t>
            </a:r>
            <a:endParaRPr lang="en-US" sz="3600" dirty="0"/>
          </a:p>
        </p:txBody>
      </p:sp>
      <p:sp>
        <p:nvSpPr>
          <p:cNvPr id="5" name="Shape 3"/>
          <p:cNvSpPr/>
          <p:nvPr/>
        </p:nvSpPr>
        <p:spPr>
          <a:xfrm>
            <a:off x="1047750" y="3891707"/>
            <a:ext cx="2996654" cy="5157043"/>
          </a:xfrm>
          <a:prstGeom prst="roundRect">
            <a:avLst>
              <a:gd name="adj" fmla="val 7629"/>
            </a:avLst>
          </a:prstGeom>
          <a:solidFill>
            <a:srgbClr val="1565C0"/>
          </a:solidFill>
          <a:ln/>
        </p:spPr>
        <p:txBody>
          <a:bodyPr/>
          <a:p/>
        </p:txBody>
      </p:sp>
      <p:sp>
        <p:nvSpPr>
          <p:cNvPr id="6" name="Text 4"/>
          <p:cNvSpPr/>
          <p:nvPr/>
        </p:nvSpPr>
        <p:spPr>
          <a:xfrm>
            <a:off x="1352550" y="4234607"/>
            <a:ext cx="2463254" cy="358080"/>
          </a:xfrm>
          <a:prstGeom prst="rect">
            <a:avLst/>
          </a:prstGeom>
          <a:noFill/>
          <a:ln/>
        </p:spPr>
        <p:txBody>
          <a:bodyPr wrap="square" lIns="25400" tIns="25400" rIns="25400" bIns="25400" rtlCol="0" anchor="t">
            <a:normAutofit/>
          </a:bodyPr>
          <a:lstStyle/>
          <a:p>
            <a:pPr algn="l" indent="0" marL="0">
              <a:lnSpc>
                <a:spcPct val="140000"/>
              </a:lnSpc>
              <a:buNone/>
            </a:pPr>
            <a:r>
              <a:rPr lang="en-US" sz="1800" spc="225" kern="0" dirty="0">
                <a:solidFill>
                  <a:srgbClr val="FFFFFF">
                    <a:alpha val="70000"/>
                  </a:srgbClr>
                </a:solidFill>
                <a:latin typeface="Courier New" pitchFamily="34" charset="0"/>
                <a:ea typeface="Courier New" pitchFamily="34" charset="-122"/>
                <a:cs typeface="Courier New" pitchFamily="34" charset="-120"/>
              </a:rPr>
              <a:t>LESSON 1</a:t>
            </a:r>
            <a:endParaRPr lang="en-US" sz="1800" dirty="0"/>
          </a:p>
        </p:txBody>
      </p:sp>
      <p:sp>
        <p:nvSpPr>
          <p:cNvPr id="7" name="Text 5"/>
          <p:cNvSpPr/>
          <p:nvPr/>
        </p:nvSpPr>
        <p:spPr>
          <a:xfrm>
            <a:off x="1352550" y="4687937"/>
            <a:ext cx="2463254" cy="952500"/>
          </a:xfrm>
          <a:prstGeom prst="rect">
            <a:avLst/>
          </a:prstGeom>
          <a:noFill/>
          <a:ln/>
        </p:spPr>
        <p:txBody>
          <a:bodyPr wrap="square" lIns="25400" tIns="25400" rIns="25400" bIns="25400" rtlCol="0" anchor="t">
            <a:normAutofit/>
          </a:bodyPr>
          <a:lstStyle/>
          <a:p>
            <a:pPr algn="l" indent="0" marL="0">
              <a:lnSpc>
                <a:spcPct val="100000"/>
              </a:lnSpc>
              <a:buNone/>
            </a:pPr>
            <a:r>
              <a:rPr lang="en-US" sz="7200" b="1" dirty="0">
                <a:solidFill>
                  <a:srgbClr val="FFFFFF">
                    <a:alpha val="95000"/>
                  </a:srgbClr>
                </a:solidFill>
                <a:latin typeface="Arial" pitchFamily="34" charset="0"/>
                <a:ea typeface="Arial" pitchFamily="34" charset="-122"/>
                <a:cs typeface="Arial" pitchFamily="34" charset="-120"/>
              </a:rPr>
              <a:t>01</a:t>
            </a:r>
            <a:endParaRPr lang="en-US" sz="7200" dirty="0"/>
          </a:p>
        </p:txBody>
      </p:sp>
      <p:sp>
        <p:nvSpPr>
          <p:cNvPr id="8" name="Text 6"/>
          <p:cNvSpPr/>
          <p:nvPr/>
        </p:nvSpPr>
        <p:spPr>
          <a:xfrm>
            <a:off x="1352550" y="5830937"/>
            <a:ext cx="2463254" cy="1987302"/>
          </a:xfrm>
          <a:prstGeom prst="rect">
            <a:avLst/>
          </a:prstGeom>
          <a:noFill/>
          <a:ln/>
        </p:spPr>
        <p:txBody>
          <a:bodyPr wrap="square" lIns="25400" tIns="25400" rIns="25400" bIns="25400" rtlCol="0" anchor="t">
            <a:normAutofit/>
          </a:bodyPr>
          <a:lstStyle/>
          <a:p>
            <a:pPr algn="l" indent="0" marL="0">
              <a:lnSpc>
                <a:spcPct val="115000"/>
              </a:lnSpc>
              <a:buNone/>
            </a:pPr>
            <a:r>
              <a:rPr lang="en-US" sz="2400" b="1" dirty="0">
                <a:solidFill>
                  <a:srgbClr val="FFFFFF"/>
                </a:solidFill>
                <a:latin typeface="Arial" pitchFamily="34" charset="0"/>
                <a:ea typeface="Arial" pitchFamily="34" charset="-122"/>
                <a:cs typeface="Arial" pitchFamily="34" charset="-120"/>
              </a:rPr>
              <a:t>Victoria's drowning crisis — why it matters to you</a:t>
            </a:r>
            <a:endParaRPr lang="en-US" sz="2400" dirty="0"/>
          </a:p>
        </p:txBody>
      </p:sp>
      <p:sp>
        <p:nvSpPr>
          <p:cNvPr id="9" name="Text 7"/>
          <p:cNvSpPr/>
          <p:nvPr/>
        </p:nvSpPr>
        <p:spPr>
          <a:xfrm>
            <a:off x="1352550" y="8046839"/>
            <a:ext cx="2463254" cy="678061"/>
          </a:xfrm>
          <a:prstGeom prst="rect">
            <a:avLst/>
          </a:prstGeom>
          <a:noFill/>
          <a:ln/>
        </p:spPr>
        <p:txBody>
          <a:bodyPr wrap="square" lIns="25400" tIns="25400" rIns="25400" bIns="25400" rtlCol="0" anchor="t">
            <a:normAutofit/>
          </a:bodyPr>
          <a:lstStyle/>
          <a:p>
            <a:pPr algn="l" indent="0" marL="0">
              <a:lnSpc>
                <a:spcPct val="140000"/>
              </a:lnSpc>
              <a:buNone/>
            </a:pPr>
            <a:r>
              <a:rPr lang="en-US" sz="1800" spc="150" kern="0" dirty="0">
                <a:solidFill>
                  <a:srgbClr val="FFFFFF">
                    <a:alpha val="70000"/>
                  </a:srgbClr>
                </a:solidFill>
                <a:latin typeface="Courier New" pitchFamily="34" charset="0"/>
                <a:ea typeface="Courier New" pitchFamily="34" charset="-122"/>
                <a:cs typeface="Courier New" pitchFamily="34" charset="-120"/>
              </a:rPr>
              <a:t>VCHPEP126 · VCHPEP129</a:t>
            </a:r>
            <a:endParaRPr lang="en-US" sz="1800" dirty="0"/>
          </a:p>
        </p:txBody>
      </p:sp>
      <p:sp>
        <p:nvSpPr>
          <p:cNvPr id="10" name="Shape 8"/>
          <p:cNvSpPr/>
          <p:nvPr/>
        </p:nvSpPr>
        <p:spPr>
          <a:xfrm>
            <a:off x="4311104" y="3891707"/>
            <a:ext cx="2996654" cy="5157043"/>
          </a:xfrm>
          <a:prstGeom prst="roundRect">
            <a:avLst>
              <a:gd name="adj" fmla="val 7629"/>
            </a:avLst>
          </a:prstGeom>
          <a:solidFill>
            <a:srgbClr val="00695C"/>
          </a:solidFill>
          <a:ln/>
        </p:spPr>
        <p:txBody>
          <a:bodyPr/>
          <a:p/>
        </p:txBody>
      </p:sp>
      <p:sp>
        <p:nvSpPr>
          <p:cNvPr id="11" name="Text 9"/>
          <p:cNvSpPr/>
          <p:nvPr/>
        </p:nvSpPr>
        <p:spPr>
          <a:xfrm>
            <a:off x="4615904" y="4234607"/>
            <a:ext cx="2463254" cy="358080"/>
          </a:xfrm>
          <a:prstGeom prst="rect">
            <a:avLst/>
          </a:prstGeom>
          <a:noFill/>
          <a:ln/>
        </p:spPr>
        <p:txBody>
          <a:bodyPr wrap="square" lIns="25400" tIns="25400" rIns="25400" bIns="25400" rtlCol="0" anchor="t">
            <a:normAutofit/>
          </a:bodyPr>
          <a:lstStyle/>
          <a:p>
            <a:pPr algn="l" indent="0" marL="0">
              <a:lnSpc>
                <a:spcPct val="140000"/>
              </a:lnSpc>
              <a:buNone/>
            </a:pPr>
            <a:r>
              <a:rPr lang="en-US" sz="1800" spc="225" kern="0" dirty="0">
                <a:solidFill>
                  <a:srgbClr val="FFFFFF">
                    <a:alpha val="70000"/>
                  </a:srgbClr>
                </a:solidFill>
                <a:latin typeface="Courier New" pitchFamily="34" charset="0"/>
                <a:ea typeface="Courier New" pitchFamily="34" charset="-122"/>
                <a:cs typeface="Courier New" pitchFamily="34" charset="-120"/>
              </a:rPr>
              <a:t>LESSON 2</a:t>
            </a:r>
            <a:endParaRPr lang="en-US" sz="1800" dirty="0"/>
          </a:p>
        </p:txBody>
      </p:sp>
      <p:sp>
        <p:nvSpPr>
          <p:cNvPr id="12" name="Text 10"/>
          <p:cNvSpPr/>
          <p:nvPr/>
        </p:nvSpPr>
        <p:spPr>
          <a:xfrm>
            <a:off x="4615904" y="4687937"/>
            <a:ext cx="2463254" cy="952500"/>
          </a:xfrm>
          <a:prstGeom prst="rect">
            <a:avLst/>
          </a:prstGeom>
          <a:noFill/>
          <a:ln/>
        </p:spPr>
        <p:txBody>
          <a:bodyPr wrap="square" lIns="25400" tIns="25400" rIns="25400" bIns="25400" rtlCol="0" anchor="t">
            <a:normAutofit/>
          </a:bodyPr>
          <a:lstStyle/>
          <a:p>
            <a:pPr algn="l" indent="0" marL="0">
              <a:lnSpc>
                <a:spcPct val="100000"/>
              </a:lnSpc>
              <a:buNone/>
            </a:pPr>
            <a:r>
              <a:rPr lang="en-US" sz="7200" b="1" dirty="0">
                <a:solidFill>
                  <a:srgbClr val="FFFFFF">
                    <a:alpha val="95000"/>
                  </a:srgbClr>
                </a:solidFill>
                <a:latin typeface="Arial" pitchFamily="34" charset="0"/>
                <a:ea typeface="Arial" pitchFamily="34" charset="-122"/>
                <a:cs typeface="Arial" pitchFamily="34" charset="-120"/>
              </a:rPr>
              <a:t>02</a:t>
            </a:r>
            <a:endParaRPr lang="en-US" sz="7200" dirty="0"/>
          </a:p>
        </p:txBody>
      </p:sp>
      <p:sp>
        <p:nvSpPr>
          <p:cNvPr id="13" name="Text 11"/>
          <p:cNvSpPr/>
          <p:nvPr/>
        </p:nvSpPr>
        <p:spPr>
          <a:xfrm>
            <a:off x="4615904" y="5830937"/>
            <a:ext cx="2463254" cy="2307282"/>
          </a:xfrm>
          <a:prstGeom prst="rect">
            <a:avLst/>
          </a:prstGeom>
          <a:noFill/>
          <a:ln/>
        </p:spPr>
        <p:txBody>
          <a:bodyPr wrap="square" lIns="25400" tIns="25400" rIns="25400" bIns="25400" rtlCol="0" anchor="t">
            <a:normAutofit/>
          </a:bodyPr>
          <a:lstStyle/>
          <a:p>
            <a:pPr algn="l" indent="0" marL="0">
              <a:lnSpc>
                <a:spcPct val="115000"/>
              </a:lnSpc>
              <a:buNone/>
            </a:pPr>
            <a:r>
              <a:rPr lang="en-US" sz="2400" b="1" dirty="0">
                <a:solidFill>
                  <a:srgbClr val="FFFFFF"/>
                </a:solidFill>
                <a:latin typeface="Arial" pitchFamily="34" charset="0"/>
                <a:ea typeface="Arial" pitchFamily="34" charset="-122"/>
                <a:cs typeface="Arial" pitchFamily="34" charset="-120"/>
              </a:rPr>
              <a:t>Beach flags, signals &amp; rip current survival</a:t>
            </a:r>
            <a:endParaRPr lang="en-US" sz="2400" dirty="0"/>
          </a:p>
        </p:txBody>
      </p:sp>
      <p:sp>
        <p:nvSpPr>
          <p:cNvPr id="14" name="Text 12"/>
          <p:cNvSpPr/>
          <p:nvPr/>
        </p:nvSpPr>
        <p:spPr>
          <a:xfrm>
            <a:off x="4615904" y="8366820"/>
            <a:ext cx="2463254" cy="358080"/>
          </a:xfrm>
          <a:prstGeom prst="rect">
            <a:avLst/>
          </a:prstGeom>
          <a:noFill/>
          <a:ln/>
        </p:spPr>
        <p:txBody>
          <a:bodyPr wrap="square" lIns="25400" tIns="25400" rIns="25400" bIns="25400" rtlCol="0" anchor="t">
            <a:normAutofit/>
          </a:bodyPr>
          <a:lstStyle/>
          <a:p>
            <a:pPr algn="l" indent="0" marL="0">
              <a:lnSpc>
                <a:spcPct val="140000"/>
              </a:lnSpc>
              <a:buNone/>
            </a:pPr>
            <a:r>
              <a:rPr lang="en-US" sz="1800" spc="150" kern="0" dirty="0">
                <a:solidFill>
                  <a:srgbClr val="FFFFFF">
                    <a:alpha val="70000"/>
                  </a:srgbClr>
                </a:solidFill>
                <a:latin typeface="Courier New" pitchFamily="34" charset="0"/>
                <a:ea typeface="Courier New" pitchFamily="34" charset="-122"/>
                <a:cs typeface="Courier New" pitchFamily="34" charset="-120"/>
              </a:rPr>
              <a:t>VCHPEP126</a:t>
            </a:r>
            <a:endParaRPr lang="en-US" sz="1800" dirty="0"/>
          </a:p>
        </p:txBody>
      </p:sp>
      <p:sp>
        <p:nvSpPr>
          <p:cNvPr id="15" name="Shape 13"/>
          <p:cNvSpPr/>
          <p:nvPr/>
        </p:nvSpPr>
        <p:spPr>
          <a:xfrm>
            <a:off x="7574459" y="3891707"/>
            <a:ext cx="2996654" cy="5157043"/>
          </a:xfrm>
          <a:prstGeom prst="roundRect">
            <a:avLst>
              <a:gd name="adj" fmla="val 7629"/>
            </a:avLst>
          </a:prstGeom>
          <a:solidFill>
            <a:srgbClr val="B71C1C"/>
          </a:solidFill>
          <a:ln/>
        </p:spPr>
        <p:txBody>
          <a:bodyPr/>
          <a:p/>
        </p:txBody>
      </p:sp>
      <p:sp>
        <p:nvSpPr>
          <p:cNvPr id="16" name="Text 14"/>
          <p:cNvSpPr/>
          <p:nvPr/>
        </p:nvSpPr>
        <p:spPr>
          <a:xfrm>
            <a:off x="7879259" y="4234607"/>
            <a:ext cx="2463254" cy="358080"/>
          </a:xfrm>
          <a:prstGeom prst="rect">
            <a:avLst/>
          </a:prstGeom>
          <a:noFill/>
          <a:ln/>
        </p:spPr>
        <p:txBody>
          <a:bodyPr wrap="square" lIns="25400" tIns="25400" rIns="25400" bIns="25400" rtlCol="0" anchor="t">
            <a:normAutofit/>
          </a:bodyPr>
          <a:lstStyle/>
          <a:p>
            <a:pPr algn="l" indent="0" marL="0">
              <a:lnSpc>
                <a:spcPct val="140000"/>
              </a:lnSpc>
              <a:buNone/>
            </a:pPr>
            <a:r>
              <a:rPr lang="en-US" sz="1800" spc="225" kern="0" dirty="0">
                <a:solidFill>
                  <a:srgbClr val="FFFFFF">
                    <a:alpha val="70000"/>
                  </a:srgbClr>
                </a:solidFill>
                <a:latin typeface="Courier New" pitchFamily="34" charset="0"/>
                <a:ea typeface="Courier New" pitchFamily="34" charset="-122"/>
                <a:cs typeface="Courier New" pitchFamily="34" charset="-120"/>
              </a:rPr>
              <a:t>LESSON 3</a:t>
            </a:r>
            <a:endParaRPr lang="en-US" sz="1800" dirty="0"/>
          </a:p>
        </p:txBody>
      </p:sp>
      <p:sp>
        <p:nvSpPr>
          <p:cNvPr id="17" name="Text 15"/>
          <p:cNvSpPr/>
          <p:nvPr/>
        </p:nvSpPr>
        <p:spPr>
          <a:xfrm>
            <a:off x="7879259" y="4687937"/>
            <a:ext cx="2463254" cy="952500"/>
          </a:xfrm>
          <a:prstGeom prst="rect">
            <a:avLst/>
          </a:prstGeom>
          <a:noFill/>
          <a:ln/>
        </p:spPr>
        <p:txBody>
          <a:bodyPr wrap="square" lIns="25400" tIns="25400" rIns="25400" bIns="25400" rtlCol="0" anchor="t">
            <a:normAutofit/>
          </a:bodyPr>
          <a:lstStyle/>
          <a:p>
            <a:pPr algn="l" indent="0" marL="0">
              <a:lnSpc>
                <a:spcPct val="100000"/>
              </a:lnSpc>
              <a:buNone/>
            </a:pPr>
            <a:r>
              <a:rPr lang="en-US" sz="7200" b="1" dirty="0">
                <a:solidFill>
                  <a:srgbClr val="FFFFFF">
                    <a:alpha val="95000"/>
                  </a:srgbClr>
                </a:solidFill>
                <a:latin typeface="Arial" pitchFamily="34" charset="0"/>
                <a:ea typeface="Arial" pitchFamily="34" charset="-122"/>
                <a:cs typeface="Arial" pitchFamily="34" charset="-120"/>
              </a:rPr>
              <a:t>03</a:t>
            </a:r>
            <a:endParaRPr lang="en-US" sz="7200" dirty="0"/>
          </a:p>
        </p:txBody>
      </p:sp>
      <p:sp>
        <p:nvSpPr>
          <p:cNvPr id="18" name="Text 16"/>
          <p:cNvSpPr/>
          <p:nvPr/>
        </p:nvSpPr>
        <p:spPr>
          <a:xfrm>
            <a:off x="7879259" y="5830937"/>
            <a:ext cx="2463254" cy="1987302"/>
          </a:xfrm>
          <a:prstGeom prst="rect">
            <a:avLst/>
          </a:prstGeom>
          <a:noFill/>
          <a:ln/>
        </p:spPr>
        <p:txBody>
          <a:bodyPr wrap="square" lIns="25400" tIns="25400" rIns="25400" bIns="25400" rtlCol="0" anchor="t">
            <a:normAutofit/>
          </a:bodyPr>
          <a:lstStyle/>
          <a:p>
            <a:pPr algn="l" indent="0" marL="0">
              <a:lnSpc>
                <a:spcPct val="115000"/>
              </a:lnSpc>
              <a:buNone/>
            </a:pPr>
            <a:r>
              <a:rPr lang="en-US" sz="2400" b="1" dirty="0">
                <a:solidFill>
                  <a:srgbClr val="FFFFFF"/>
                </a:solidFill>
                <a:latin typeface="Arial" pitchFamily="34" charset="0"/>
                <a:ea typeface="Arial" pitchFamily="34" charset="-122"/>
                <a:cs typeface="Arial" pitchFamily="34" charset="-120"/>
              </a:rPr>
              <a:t>Emergency response — DRS ABCD &amp; rescue skills</a:t>
            </a:r>
            <a:endParaRPr lang="en-US" sz="2400" dirty="0"/>
          </a:p>
        </p:txBody>
      </p:sp>
      <p:sp>
        <p:nvSpPr>
          <p:cNvPr id="19" name="Text 17"/>
          <p:cNvSpPr/>
          <p:nvPr/>
        </p:nvSpPr>
        <p:spPr>
          <a:xfrm>
            <a:off x="7879259" y="8046839"/>
            <a:ext cx="2463254" cy="678061"/>
          </a:xfrm>
          <a:prstGeom prst="rect">
            <a:avLst/>
          </a:prstGeom>
          <a:noFill/>
          <a:ln/>
        </p:spPr>
        <p:txBody>
          <a:bodyPr wrap="square" lIns="25400" tIns="25400" rIns="25400" bIns="25400" rtlCol="0" anchor="t">
            <a:normAutofit/>
          </a:bodyPr>
          <a:lstStyle/>
          <a:p>
            <a:pPr algn="l" indent="0" marL="0">
              <a:lnSpc>
                <a:spcPct val="140000"/>
              </a:lnSpc>
              <a:buNone/>
            </a:pPr>
            <a:r>
              <a:rPr lang="en-US" sz="1800" spc="150" kern="0" dirty="0">
                <a:solidFill>
                  <a:srgbClr val="FFFFFF">
                    <a:alpha val="70000"/>
                  </a:srgbClr>
                </a:solidFill>
                <a:latin typeface="Courier New" pitchFamily="34" charset="0"/>
                <a:ea typeface="Courier New" pitchFamily="34" charset="-122"/>
                <a:cs typeface="Courier New" pitchFamily="34" charset="-120"/>
              </a:rPr>
              <a:t>VCHPEP126 · VCHPEM146</a:t>
            </a:r>
            <a:endParaRPr lang="en-US" sz="1800" dirty="0"/>
          </a:p>
        </p:txBody>
      </p:sp>
      <p:sp>
        <p:nvSpPr>
          <p:cNvPr id="20" name="Shape 18"/>
          <p:cNvSpPr/>
          <p:nvPr/>
        </p:nvSpPr>
        <p:spPr>
          <a:xfrm>
            <a:off x="10837813" y="3891707"/>
            <a:ext cx="2996654" cy="5157043"/>
          </a:xfrm>
          <a:prstGeom prst="roundRect">
            <a:avLst>
              <a:gd name="adj" fmla="val 7629"/>
            </a:avLst>
          </a:prstGeom>
          <a:solidFill>
            <a:srgbClr val="6A1B9A"/>
          </a:solidFill>
          <a:ln/>
        </p:spPr>
        <p:txBody>
          <a:bodyPr/>
          <a:p/>
        </p:txBody>
      </p:sp>
      <p:sp>
        <p:nvSpPr>
          <p:cNvPr id="21" name="Text 19"/>
          <p:cNvSpPr/>
          <p:nvPr/>
        </p:nvSpPr>
        <p:spPr>
          <a:xfrm>
            <a:off x="11142613" y="4234607"/>
            <a:ext cx="2463254" cy="358080"/>
          </a:xfrm>
          <a:prstGeom prst="rect">
            <a:avLst/>
          </a:prstGeom>
          <a:noFill/>
          <a:ln/>
        </p:spPr>
        <p:txBody>
          <a:bodyPr wrap="square" lIns="25400" tIns="25400" rIns="25400" bIns="25400" rtlCol="0" anchor="t">
            <a:normAutofit/>
          </a:bodyPr>
          <a:lstStyle/>
          <a:p>
            <a:pPr algn="l" indent="0" marL="0">
              <a:lnSpc>
                <a:spcPct val="140000"/>
              </a:lnSpc>
              <a:buNone/>
            </a:pPr>
            <a:r>
              <a:rPr lang="en-US" sz="1800" spc="225" kern="0" dirty="0">
                <a:solidFill>
                  <a:srgbClr val="FFFFFF">
                    <a:alpha val="70000"/>
                  </a:srgbClr>
                </a:solidFill>
                <a:latin typeface="Courier New" pitchFamily="34" charset="0"/>
                <a:ea typeface="Courier New" pitchFamily="34" charset="-122"/>
                <a:cs typeface="Courier New" pitchFamily="34" charset="-120"/>
              </a:rPr>
              <a:t>LESSON 4</a:t>
            </a:r>
            <a:endParaRPr lang="en-US" sz="1800" dirty="0"/>
          </a:p>
        </p:txBody>
      </p:sp>
      <p:sp>
        <p:nvSpPr>
          <p:cNvPr id="22" name="Text 20"/>
          <p:cNvSpPr/>
          <p:nvPr/>
        </p:nvSpPr>
        <p:spPr>
          <a:xfrm>
            <a:off x="11142613" y="4687937"/>
            <a:ext cx="2463254" cy="952500"/>
          </a:xfrm>
          <a:prstGeom prst="rect">
            <a:avLst/>
          </a:prstGeom>
          <a:noFill/>
          <a:ln/>
        </p:spPr>
        <p:txBody>
          <a:bodyPr wrap="square" lIns="25400" tIns="25400" rIns="25400" bIns="25400" rtlCol="0" anchor="t">
            <a:normAutofit/>
          </a:bodyPr>
          <a:lstStyle/>
          <a:p>
            <a:pPr algn="l" indent="0" marL="0">
              <a:lnSpc>
                <a:spcPct val="100000"/>
              </a:lnSpc>
              <a:buNone/>
            </a:pPr>
            <a:r>
              <a:rPr lang="en-US" sz="7200" b="1" dirty="0">
                <a:solidFill>
                  <a:srgbClr val="FFFFFF">
                    <a:alpha val="95000"/>
                  </a:srgbClr>
                </a:solidFill>
                <a:latin typeface="Arial" pitchFamily="34" charset="0"/>
                <a:ea typeface="Arial" pitchFamily="34" charset="-122"/>
                <a:cs typeface="Arial" pitchFamily="34" charset="-120"/>
              </a:rPr>
              <a:t>04</a:t>
            </a:r>
            <a:endParaRPr lang="en-US" sz="7200" dirty="0"/>
          </a:p>
        </p:txBody>
      </p:sp>
      <p:sp>
        <p:nvSpPr>
          <p:cNvPr id="23" name="Text 21"/>
          <p:cNvSpPr/>
          <p:nvPr/>
        </p:nvSpPr>
        <p:spPr>
          <a:xfrm>
            <a:off x="11142613" y="5830937"/>
            <a:ext cx="2463254" cy="1987302"/>
          </a:xfrm>
          <a:prstGeom prst="rect">
            <a:avLst/>
          </a:prstGeom>
          <a:noFill/>
          <a:ln/>
        </p:spPr>
        <p:txBody>
          <a:bodyPr wrap="square" lIns="25400" tIns="25400" rIns="25400" bIns="25400" rtlCol="0" anchor="t">
            <a:normAutofit/>
          </a:bodyPr>
          <a:lstStyle/>
          <a:p>
            <a:pPr algn="l" indent="0" marL="0">
              <a:lnSpc>
                <a:spcPct val="115000"/>
              </a:lnSpc>
              <a:buNone/>
            </a:pPr>
            <a:r>
              <a:rPr lang="en-US" sz="2400" b="1" dirty="0">
                <a:solidFill>
                  <a:srgbClr val="FFFFFF"/>
                </a:solidFill>
                <a:latin typeface="Arial" pitchFamily="34" charset="0"/>
                <a:ea typeface="Arial" pitchFamily="34" charset="-122"/>
                <a:cs typeface="Arial" pitchFamily="34" charset="-120"/>
              </a:rPr>
              <a:t>Hazards, decisions, inland waterways &amp; alcohol</a:t>
            </a:r>
            <a:endParaRPr lang="en-US" sz="2400" dirty="0"/>
          </a:p>
        </p:txBody>
      </p:sp>
      <p:sp>
        <p:nvSpPr>
          <p:cNvPr id="24" name="Text 22"/>
          <p:cNvSpPr/>
          <p:nvPr/>
        </p:nvSpPr>
        <p:spPr>
          <a:xfrm>
            <a:off x="11142613" y="8046839"/>
            <a:ext cx="2463254" cy="678061"/>
          </a:xfrm>
          <a:prstGeom prst="rect">
            <a:avLst/>
          </a:prstGeom>
          <a:noFill/>
          <a:ln/>
        </p:spPr>
        <p:txBody>
          <a:bodyPr wrap="square" lIns="25400" tIns="25400" rIns="25400" bIns="25400" rtlCol="0" anchor="t">
            <a:normAutofit/>
          </a:bodyPr>
          <a:lstStyle/>
          <a:p>
            <a:pPr algn="l" indent="0" marL="0">
              <a:lnSpc>
                <a:spcPct val="140000"/>
              </a:lnSpc>
              <a:buNone/>
            </a:pPr>
            <a:r>
              <a:rPr lang="en-US" sz="1800" spc="150" kern="0" dirty="0">
                <a:solidFill>
                  <a:srgbClr val="FFFFFF">
                    <a:alpha val="70000"/>
                  </a:srgbClr>
                </a:solidFill>
                <a:latin typeface="Courier New" pitchFamily="34" charset="0"/>
                <a:ea typeface="Courier New" pitchFamily="34" charset="-122"/>
                <a:cs typeface="Courier New" pitchFamily="34" charset="-120"/>
              </a:rPr>
              <a:t>VCHPEP125 · VCHPEP126</a:t>
            </a:r>
            <a:endParaRPr lang="en-US" sz="1800" dirty="0"/>
          </a:p>
        </p:txBody>
      </p:sp>
      <p:sp>
        <p:nvSpPr>
          <p:cNvPr id="25" name="Shape 23"/>
          <p:cNvSpPr/>
          <p:nvPr/>
        </p:nvSpPr>
        <p:spPr>
          <a:xfrm>
            <a:off x="14101167" y="3891707"/>
            <a:ext cx="3139083" cy="5157043"/>
          </a:xfrm>
          <a:prstGeom prst="roundRect">
            <a:avLst>
              <a:gd name="adj" fmla="val 7282"/>
            </a:avLst>
          </a:prstGeom>
          <a:solidFill>
            <a:srgbClr val="E65100"/>
          </a:solidFill>
          <a:ln/>
        </p:spPr>
        <p:txBody>
          <a:bodyPr/>
          <a:p/>
        </p:txBody>
      </p:sp>
      <p:sp>
        <p:nvSpPr>
          <p:cNvPr id="26" name="Text 24"/>
          <p:cNvSpPr/>
          <p:nvPr/>
        </p:nvSpPr>
        <p:spPr>
          <a:xfrm>
            <a:off x="14405967" y="4234607"/>
            <a:ext cx="2605683" cy="358080"/>
          </a:xfrm>
          <a:prstGeom prst="rect">
            <a:avLst/>
          </a:prstGeom>
          <a:noFill/>
          <a:ln/>
        </p:spPr>
        <p:txBody>
          <a:bodyPr wrap="square" lIns="25400" tIns="25400" rIns="25400" bIns="25400" rtlCol="0" anchor="t">
            <a:normAutofit/>
          </a:bodyPr>
          <a:lstStyle/>
          <a:p>
            <a:pPr algn="l" indent="0" marL="0">
              <a:lnSpc>
                <a:spcPct val="140000"/>
              </a:lnSpc>
              <a:buNone/>
            </a:pPr>
            <a:r>
              <a:rPr lang="en-US" sz="1800" spc="225" kern="0" dirty="0">
                <a:solidFill>
                  <a:srgbClr val="FFFFFF">
                    <a:alpha val="70000"/>
                  </a:srgbClr>
                </a:solidFill>
                <a:latin typeface="Courier New" pitchFamily="34" charset="0"/>
                <a:ea typeface="Courier New" pitchFamily="34" charset="-122"/>
                <a:cs typeface="Courier New" pitchFamily="34" charset="-120"/>
              </a:rPr>
              <a:t>LESSON 5</a:t>
            </a:r>
            <a:endParaRPr lang="en-US" sz="1800" dirty="0"/>
          </a:p>
        </p:txBody>
      </p:sp>
      <p:sp>
        <p:nvSpPr>
          <p:cNvPr id="27" name="Text 25"/>
          <p:cNvSpPr/>
          <p:nvPr/>
        </p:nvSpPr>
        <p:spPr>
          <a:xfrm>
            <a:off x="14405967" y="4687937"/>
            <a:ext cx="2605683" cy="952500"/>
          </a:xfrm>
          <a:prstGeom prst="rect">
            <a:avLst/>
          </a:prstGeom>
          <a:noFill/>
          <a:ln/>
        </p:spPr>
        <p:txBody>
          <a:bodyPr wrap="square" lIns="25400" tIns="25400" rIns="25400" bIns="25400" rtlCol="0" anchor="t">
            <a:normAutofit/>
          </a:bodyPr>
          <a:lstStyle/>
          <a:p>
            <a:pPr algn="l" indent="0" marL="0">
              <a:lnSpc>
                <a:spcPct val="100000"/>
              </a:lnSpc>
              <a:buNone/>
            </a:pPr>
            <a:r>
              <a:rPr lang="en-US" sz="7200" b="1" dirty="0">
                <a:solidFill>
                  <a:srgbClr val="FFFFFF">
                    <a:alpha val="95000"/>
                  </a:srgbClr>
                </a:solidFill>
                <a:latin typeface="Arial" pitchFamily="34" charset="0"/>
                <a:ea typeface="Arial" pitchFamily="34" charset="-122"/>
                <a:cs typeface="Arial" pitchFamily="34" charset="-120"/>
              </a:rPr>
              <a:t>05</a:t>
            </a:r>
            <a:endParaRPr lang="en-US" sz="7200" dirty="0"/>
          </a:p>
        </p:txBody>
      </p:sp>
      <p:sp>
        <p:nvSpPr>
          <p:cNvPr id="28" name="Text 26"/>
          <p:cNvSpPr/>
          <p:nvPr/>
        </p:nvSpPr>
        <p:spPr>
          <a:xfrm>
            <a:off x="14405967" y="5830937"/>
            <a:ext cx="2605683" cy="1987302"/>
          </a:xfrm>
          <a:prstGeom prst="rect">
            <a:avLst/>
          </a:prstGeom>
          <a:noFill/>
          <a:ln/>
        </p:spPr>
        <p:txBody>
          <a:bodyPr wrap="square" lIns="25400" tIns="25400" rIns="25400" bIns="25400" rtlCol="0" anchor="t">
            <a:normAutofit/>
          </a:bodyPr>
          <a:lstStyle/>
          <a:p>
            <a:pPr algn="l" indent="0" marL="0">
              <a:lnSpc>
                <a:spcPct val="115000"/>
              </a:lnSpc>
              <a:buNone/>
            </a:pPr>
            <a:r>
              <a:rPr lang="en-US" sz="2400" b="1" dirty="0">
                <a:solidFill>
                  <a:srgbClr val="FFFFFF"/>
                </a:solidFill>
                <a:latin typeface="Arial" pitchFamily="34" charset="0"/>
                <a:ea typeface="Arial" pitchFamily="34" charset="-122"/>
                <a:cs typeface="Arial" pitchFamily="34" charset="-120"/>
              </a:rPr>
              <a:t>Personal action plan &amp; communication campaign</a:t>
            </a:r>
            <a:endParaRPr lang="en-US" sz="2400" dirty="0"/>
          </a:p>
        </p:txBody>
      </p:sp>
      <p:sp>
        <p:nvSpPr>
          <p:cNvPr id="29" name="Text 27"/>
          <p:cNvSpPr/>
          <p:nvPr/>
        </p:nvSpPr>
        <p:spPr>
          <a:xfrm>
            <a:off x="14405967" y="8046839"/>
            <a:ext cx="2605683" cy="678061"/>
          </a:xfrm>
          <a:prstGeom prst="rect">
            <a:avLst/>
          </a:prstGeom>
          <a:noFill/>
          <a:ln/>
        </p:spPr>
        <p:txBody>
          <a:bodyPr wrap="square" lIns="25400" tIns="25400" rIns="25400" bIns="25400" rtlCol="0" anchor="t">
            <a:normAutofit/>
          </a:bodyPr>
          <a:lstStyle/>
          <a:p>
            <a:pPr algn="l" indent="0" marL="0">
              <a:lnSpc>
                <a:spcPct val="140000"/>
              </a:lnSpc>
              <a:buNone/>
            </a:pPr>
            <a:r>
              <a:rPr lang="en-US" sz="1800" spc="150" kern="0" dirty="0">
                <a:solidFill>
                  <a:srgbClr val="FFFFFF">
                    <a:alpha val="70000"/>
                  </a:srgbClr>
                </a:solidFill>
                <a:latin typeface="Courier New" pitchFamily="34" charset="0"/>
                <a:ea typeface="Courier New" pitchFamily="34" charset="-122"/>
                <a:cs typeface="Courier New" pitchFamily="34" charset="-120"/>
              </a:rPr>
              <a:t>VCHPEP129 · VCHPEP130</a:t>
            </a:r>
            <a:endParaRPr lang="en-US" sz="1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565C0"/>
        </a:solidFill>
      </p:bgPr>
    </p:bg>
    <p:spTree>
      <p:nvGrpSpPr>
        <p:cNvPr id="1" name=""/>
        <p:cNvGrpSpPr/>
        <p:nvPr/>
      </p:nvGrpSpPr>
      <p:grpSpPr>
        <a:xfrm>
          <a:off x="0" y="0"/>
          <a:ext cx="0" cy="0"/>
          <a:chOff x="0" y="0"/>
          <a:chExt cx="0" cy="0"/>
        </a:xfrm>
      </p:grpSpPr>
      <p:sp>
        <p:nvSpPr>
          <p:cNvPr id="2" name="Text 0"/>
          <p:cNvSpPr/>
          <p:nvPr/>
        </p:nvSpPr>
        <p:spPr>
          <a:xfrm>
            <a:off x="1047750" y="2385120"/>
            <a:ext cx="7606244" cy="358080"/>
          </a:xfrm>
          <a:prstGeom prst="rect">
            <a:avLst/>
          </a:prstGeom>
          <a:noFill/>
          <a:ln/>
        </p:spPr>
        <p:txBody>
          <a:bodyPr wrap="square" lIns="25400" tIns="25400" rIns="25400" bIns="25400" rtlCol="0" anchor="t">
            <a:normAutofit/>
          </a:bodyPr>
          <a:lstStyle/>
          <a:p>
            <a:pPr algn="l" indent="0" marL="0">
              <a:lnSpc>
                <a:spcPct val="140000"/>
              </a:lnSpc>
              <a:buNone/>
            </a:pPr>
            <a:r>
              <a:rPr lang="en-US" sz="1800" spc="450" kern="0" dirty="0">
                <a:solidFill>
                  <a:srgbClr val="FFFFFF">
                    <a:alpha val="70000"/>
                  </a:srgbClr>
                </a:solidFill>
                <a:latin typeface="Courier New" pitchFamily="34" charset="0"/>
                <a:ea typeface="Courier New" pitchFamily="34" charset="-122"/>
                <a:cs typeface="Courier New" pitchFamily="34" charset="-120"/>
              </a:rPr>
              <a:t>LESSON 1 · 50 MIN · WORKBOOK SECTION 1</a:t>
            </a:r>
            <a:endParaRPr lang="en-US" sz="1800" dirty="0"/>
          </a:p>
        </p:txBody>
      </p:sp>
      <p:sp>
        <p:nvSpPr>
          <p:cNvPr id="3" name="Text 1"/>
          <p:cNvSpPr/>
          <p:nvPr/>
        </p:nvSpPr>
        <p:spPr>
          <a:xfrm>
            <a:off x="1047750" y="3048000"/>
            <a:ext cx="1950839" cy="1657350"/>
          </a:xfrm>
          <a:prstGeom prst="rect">
            <a:avLst/>
          </a:prstGeom>
          <a:noFill/>
          <a:ln/>
        </p:spPr>
        <p:txBody>
          <a:bodyPr wrap="square" lIns="25400" tIns="25400" rIns="25400" bIns="25400" rtlCol="0" anchor="t">
            <a:normAutofit/>
          </a:bodyPr>
          <a:lstStyle/>
          <a:p>
            <a:pPr algn="l" indent="0" marL="0">
              <a:lnSpc>
                <a:spcPct val="85000"/>
              </a:lnSpc>
              <a:buNone/>
            </a:pPr>
            <a:r>
              <a:rPr lang="en-US" sz="15000" b="1" spc="-450" kern="0" dirty="0">
                <a:solidFill>
                  <a:srgbClr val="FFFFFF">
                    <a:alpha val="25000"/>
                  </a:srgbClr>
                </a:solidFill>
                <a:latin typeface="Arial" pitchFamily="34" charset="0"/>
                <a:ea typeface="Arial" pitchFamily="34" charset="-122"/>
                <a:cs typeface="Arial" pitchFamily="34" charset="-120"/>
              </a:rPr>
              <a:t>01</a:t>
            </a:r>
            <a:endParaRPr lang="en-US" sz="15000" dirty="0"/>
          </a:p>
        </p:txBody>
      </p:sp>
      <p:sp>
        <p:nvSpPr>
          <p:cNvPr id="4" name="Text 2"/>
          <p:cNvSpPr/>
          <p:nvPr/>
        </p:nvSpPr>
        <p:spPr>
          <a:xfrm>
            <a:off x="1047750" y="4895850"/>
            <a:ext cx="14716125" cy="1943100"/>
          </a:xfrm>
          <a:prstGeom prst="rect">
            <a:avLst/>
          </a:prstGeom>
          <a:noFill/>
          <a:ln/>
        </p:spPr>
        <p:txBody>
          <a:bodyPr wrap="square" lIns="25400" tIns="25400" rIns="25400" bIns="25400" rtlCol="0" anchor="t">
            <a:normAutofit/>
          </a:bodyPr>
          <a:lstStyle/>
          <a:p>
            <a:pPr algn="l" indent="0" marL="0">
              <a:lnSpc>
                <a:spcPct val="100000"/>
              </a:lnSpc>
              <a:buNone/>
            </a:pPr>
            <a:r>
              <a:rPr lang="en-US" sz="7500" b="1" spc="-150" kern="0" dirty="0">
                <a:solidFill>
                  <a:srgbClr val="FFFFFF"/>
                </a:solidFill>
                <a:latin typeface="Arial" pitchFamily="34" charset="0"/>
                <a:ea typeface="Arial" pitchFamily="34" charset="-122"/>
                <a:cs typeface="Arial" pitchFamily="34" charset="-120"/>
              </a:rPr>
              <a:t>Victoria's drowning crisis — why it matters to you</a:t>
            </a:r>
            <a:endParaRPr lang="en-US" sz="7500" dirty="0"/>
          </a:p>
        </p:txBody>
      </p:sp>
      <p:sp>
        <p:nvSpPr>
          <p:cNvPr id="5" name="Shape 3"/>
          <p:cNvSpPr/>
          <p:nvPr/>
        </p:nvSpPr>
        <p:spPr>
          <a:xfrm>
            <a:off x="1047750" y="7372350"/>
            <a:ext cx="1844278" cy="529530"/>
          </a:xfrm>
          <a:prstGeom prst="roundRect">
            <a:avLst>
              <a:gd name="adj" fmla="val 50000"/>
            </a:avLst>
          </a:prstGeom>
          <a:solidFill>
            <a:srgbClr val="FFFFFF">
              <a:alpha val="12000"/>
            </a:srgbClr>
          </a:solidFill>
          <a:ln w="9525">
            <a:solidFill>
              <a:srgbClr val="FFFFFF">
                <a:alpha val="25000"/>
              </a:srgbClr>
            </a:solidFill>
            <a:prstDash val="solid"/>
          </a:ln>
        </p:spPr>
        <p:txBody>
          <a:bodyPr/>
          <a:p/>
        </p:txBody>
      </p:sp>
      <p:sp>
        <p:nvSpPr>
          <p:cNvPr id="6" name="Text 4"/>
          <p:cNvSpPr/>
          <p:nvPr/>
        </p:nvSpPr>
        <p:spPr>
          <a:xfrm>
            <a:off x="1266825" y="7477125"/>
            <a:ext cx="1482328" cy="358080"/>
          </a:xfrm>
          <a:prstGeom prst="rect">
            <a:avLst/>
          </a:prstGeom>
          <a:noFill/>
          <a:ln/>
        </p:spPr>
        <p:txBody>
          <a:bodyPr wrap="square" lIns="25400" tIns="25400" rIns="25400" bIns="25400" rtlCol="0" anchor="t">
            <a:normAutofit/>
          </a:bodyPr>
          <a:lstStyle/>
          <a:p>
            <a:pPr algn="l" indent="0" marL="0">
              <a:lnSpc>
                <a:spcPct val="140000"/>
              </a:lnSpc>
              <a:buNone/>
            </a:pPr>
            <a:r>
              <a:rPr lang="en-US" sz="1800" spc="150" kern="0" dirty="0">
                <a:solidFill>
                  <a:srgbClr val="FFFFFF">
                    <a:alpha val="75000"/>
                  </a:srgbClr>
                </a:solidFill>
                <a:latin typeface="Courier New" pitchFamily="34" charset="0"/>
                <a:ea typeface="Courier New" pitchFamily="34" charset="-122"/>
                <a:cs typeface="Courier New" pitchFamily="34" charset="-120"/>
              </a:rPr>
              <a:t>VCHPEP126</a:t>
            </a:r>
            <a:endParaRPr lang="en-US" sz="1800" dirty="0"/>
          </a:p>
        </p:txBody>
      </p:sp>
      <p:sp>
        <p:nvSpPr>
          <p:cNvPr id="7" name="Shape 5"/>
          <p:cNvSpPr/>
          <p:nvPr/>
        </p:nvSpPr>
        <p:spPr>
          <a:xfrm>
            <a:off x="3120628" y="7372350"/>
            <a:ext cx="1844278" cy="529530"/>
          </a:xfrm>
          <a:prstGeom prst="roundRect">
            <a:avLst>
              <a:gd name="adj" fmla="val 50000"/>
            </a:avLst>
          </a:prstGeom>
          <a:solidFill>
            <a:srgbClr val="FFFFFF">
              <a:alpha val="12000"/>
            </a:srgbClr>
          </a:solidFill>
          <a:ln w="9525">
            <a:solidFill>
              <a:srgbClr val="FFFFFF">
                <a:alpha val="25000"/>
              </a:srgbClr>
            </a:solidFill>
            <a:prstDash val="solid"/>
          </a:ln>
        </p:spPr>
        <p:txBody>
          <a:bodyPr/>
          <a:p/>
        </p:txBody>
      </p:sp>
      <p:sp>
        <p:nvSpPr>
          <p:cNvPr id="8" name="Text 6"/>
          <p:cNvSpPr/>
          <p:nvPr/>
        </p:nvSpPr>
        <p:spPr>
          <a:xfrm>
            <a:off x="3339703" y="7477125"/>
            <a:ext cx="1482328" cy="358080"/>
          </a:xfrm>
          <a:prstGeom prst="rect">
            <a:avLst/>
          </a:prstGeom>
          <a:noFill/>
          <a:ln/>
        </p:spPr>
        <p:txBody>
          <a:bodyPr wrap="square" lIns="25400" tIns="25400" rIns="25400" bIns="25400" rtlCol="0" anchor="t">
            <a:normAutofit/>
          </a:bodyPr>
          <a:lstStyle/>
          <a:p>
            <a:pPr algn="l" indent="0" marL="0">
              <a:lnSpc>
                <a:spcPct val="140000"/>
              </a:lnSpc>
              <a:buNone/>
            </a:pPr>
            <a:r>
              <a:rPr lang="en-US" sz="1800" spc="150" kern="0" dirty="0">
                <a:solidFill>
                  <a:srgbClr val="FFFFFF">
                    <a:alpha val="75000"/>
                  </a:srgbClr>
                </a:solidFill>
                <a:latin typeface="Courier New" pitchFamily="34" charset="0"/>
                <a:ea typeface="Courier New" pitchFamily="34" charset="-122"/>
                <a:cs typeface="Courier New" pitchFamily="34" charset="-120"/>
              </a:rPr>
              <a:t>VCHPEP129</a:t>
            </a:r>
            <a:endParaRPr lang="en-US" sz="1800" dirty="0"/>
          </a:p>
        </p:txBody>
      </p:sp>
      <p:sp>
        <p:nvSpPr>
          <p:cNvPr id="9" name="Shape 7"/>
          <p:cNvSpPr/>
          <p:nvPr/>
        </p:nvSpPr>
        <p:spPr>
          <a:xfrm>
            <a:off x="5193506" y="7372350"/>
            <a:ext cx="1844278" cy="529530"/>
          </a:xfrm>
          <a:prstGeom prst="roundRect">
            <a:avLst>
              <a:gd name="adj" fmla="val 50000"/>
            </a:avLst>
          </a:prstGeom>
          <a:solidFill>
            <a:srgbClr val="FFFFFF">
              <a:alpha val="12000"/>
            </a:srgbClr>
          </a:solidFill>
          <a:ln w="9525">
            <a:solidFill>
              <a:srgbClr val="FFFFFF">
                <a:alpha val="25000"/>
              </a:srgbClr>
            </a:solidFill>
            <a:prstDash val="solid"/>
          </a:ln>
        </p:spPr>
        <p:txBody>
          <a:bodyPr/>
          <a:p/>
        </p:txBody>
      </p:sp>
      <p:sp>
        <p:nvSpPr>
          <p:cNvPr id="10" name="Text 8"/>
          <p:cNvSpPr/>
          <p:nvPr/>
        </p:nvSpPr>
        <p:spPr>
          <a:xfrm>
            <a:off x="5412581" y="7477125"/>
            <a:ext cx="1482328" cy="358080"/>
          </a:xfrm>
          <a:prstGeom prst="rect">
            <a:avLst/>
          </a:prstGeom>
          <a:noFill/>
          <a:ln/>
        </p:spPr>
        <p:txBody>
          <a:bodyPr wrap="square" lIns="25400" tIns="25400" rIns="25400" bIns="25400" rtlCol="0" anchor="t">
            <a:normAutofit/>
          </a:bodyPr>
          <a:lstStyle/>
          <a:p>
            <a:pPr algn="l" indent="0" marL="0">
              <a:lnSpc>
                <a:spcPct val="140000"/>
              </a:lnSpc>
              <a:buNone/>
            </a:pPr>
            <a:r>
              <a:rPr lang="en-US" sz="1800" spc="150" kern="0" dirty="0">
                <a:solidFill>
                  <a:srgbClr val="FFFFFF">
                    <a:alpha val="75000"/>
                  </a:srgbClr>
                </a:solidFill>
                <a:latin typeface="Courier New" pitchFamily="34" charset="0"/>
                <a:ea typeface="Courier New" pitchFamily="34" charset="-122"/>
                <a:cs typeface="Courier New" pitchFamily="34" charset="-120"/>
              </a:rPr>
              <a:t>Classroom</a:t>
            </a:r>
            <a:endParaRPr lang="en-US" sz="1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03554"/>
        </a:solidFill>
      </p:bgPr>
    </p:bg>
    <p:spTree>
      <p:nvGrpSpPr>
        <p:cNvPr id="1" name=""/>
        <p:cNvGrpSpPr/>
        <p:nvPr/>
      </p:nvGrpSpPr>
      <p:grpSpPr>
        <a:xfrm>
          <a:off x="0" y="0"/>
          <a:ext cx="0" cy="0"/>
          <a:chOff x="0" y="0"/>
          <a:chExt cx="0" cy="0"/>
        </a:xfrm>
      </p:grpSpPr>
      <p:sp>
        <p:nvSpPr>
          <p:cNvPr id="2" name="Text 0"/>
          <p:cNvSpPr/>
          <p:nvPr/>
        </p:nvSpPr>
        <p:spPr>
          <a:xfrm>
            <a:off x="1047750" y="1870918"/>
            <a:ext cx="1279029" cy="2171700"/>
          </a:xfrm>
          <a:prstGeom prst="rect">
            <a:avLst/>
          </a:prstGeom>
          <a:noFill/>
          <a:ln/>
        </p:spPr>
        <p:txBody>
          <a:bodyPr wrap="square" lIns="25400" tIns="25400" rIns="25400" bIns="25400" rtlCol="0" anchor="t">
            <a:normAutofit/>
          </a:bodyPr>
          <a:lstStyle/>
          <a:p>
            <a:pPr algn="l" indent="0" marL="0">
              <a:lnSpc>
                <a:spcPct val="80000"/>
              </a:lnSpc>
              <a:buNone/>
            </a:pPr>
            <a:r>
              <a:rPr lang="en-US" sz="21000" b="1" dirty="0">
                <a:solidFill>
                  <a:srgbClr val="FFD166">
                    <a:alpha val="95000"/>
                  </a:srgbClr>
                </a:solidFill>
                <a:latin typeface="Arial" pitchFamily="34" charset="0"/>
                <a:ea typeface="Arial" pitchFamily="34" charset="-122"/>
                <a:cs typeface="Arial" pitchFamily="34" charset="-120"/>
              </a:rPr>
              <a:t>"</a:t>
            </a:r>
            <a:endParaRPr lang="en-US" sz="21000" dirty="0"/>
          </a:p>
        </p:txBody>
      </p:sp>
      <p:sp>
        <p:nvSpPr>
          <p:cNvPr id="3" name="Text 1"/>
          <p:cNvSpPr/>
          <p:nvPr/>
        </p:nvSpPr>
        <p:spPr>
          <a:xfrm>
            <a:off x="1047750" y="4195018"/>
            <a:ext cx="15697200" cy="3558183"/>
          </a:xfrm>
          <a:prstGeom prst="rect">
            <a:avLst/>
          </a:prstGeom>
          <a:noFill/>
          <a:ln/>
        </p:spPr>
        <p:txBody>
          <a:bodyPr wrap="square" lIns="25400" tIns="25400" rIns="25400" bIns="25400" rtlCol="0" anchor="t">
            <a:normAutofit/>
          </a:bodyPr>
          <a:lstStyle/>
          <a:p>
            <a:pPr algn="l" indent="0" marL="0">
              <a:lnSpc>
                <a:spcPct val="110000"/>
              </a:lnSpc>
              <a:buNone/>
            </a:pPr>
            <a:r>
              <a:rPr lang="en-US" sz="6300" b="1" spc="-112" kern="0" dirty="0">
                <a:solidFill>
                  <a:srgbClr val="FFFFFF"/>
                </a:solidFill>
                <a:latin typeface="Arial" pitchFamily="34" charset="0"/>
                <a:ea typeface="Arial" pitchFamily="34" charset="-122"/>
                <a:cs typeface="Arial" pitchFamily="34" charset="-120"/>
              </a:rPr>
              <a:t>What knowledge, skills and decisions could prevent most Victorian drowning deaths — including among people our age?</a:t>
            </a:r>
            <a:endParaRPr lang="en-US" sz="6300" dirty="0"/>
          </a:p>
        </p:txBody>
      </p:sp>
      <p:sp>
        <p:nvSpPr>
          <p:cNvPr id="4" name="Text 2"/>
          <p:cNvSpPr/>
          <p:nvPr/>
        </p:nvSpPr>
        <p:spPr>
          <a:xfrm>
            <a:off x="1047750" y="8172301"/>
            <a:ext cx="8536579" cy="358080"/>
          </a:xfrm>
          <a:prstGeom prst="rect">
            <a:avLst/>
          </a:prstGeom>
          <a:noFill/>
          <a:ln/>
        </p:spPr>
        <p:txBody>
          <a:bodyPr wrap="square" lIns="25400" tIns="25400" rIns="25400" bIns="25400" rtlCol="0" anchor="t">
            <a:normAutofit/>
          </a:bodyPr>
          <a:lstStyle/>
          <a:p>
            <a:pPr algn="l" indent="0" marL="0">
              <a:lnSpc>
                <a:spcPct val="140000"/>
              </a:lnSpc>
              <a:buNone/>
            </a:pPr>
            <a:r>
              <a:rPr lang="en-US" sz="1800" spc="225" kern="0" dirty="0">
                <a:solidFill>
                  <a:srgbClr val="FFFFFF">
                    <a:alpha val="60000"/>
                  </a:srgbClr>
                </a:solidFill>
                <a:latin typeface="Courier New" pitchFamily="34" charset="0"/>
                <a:ea typeface="Courier New" pitchFamily="34" charset="-122"/>
                <a:cs typeface="Courier New" pitchFamily="34" charset="-120"/>
              </a:rPr>
              <a:t>THE UNIT'S BIG QUESTION — RETURN TO IT IN LESSON 5</a:t>
            </a:r>
            <a:endParaRPr lang="en-US" sz="1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4F7F9"/>
        </a:solidFill>
      </p:bgPr>
    </p:bg>
    <p:spTree>
      <p:nvGrpSpPr>
        <p:cNvPr id="1" name=""/>
        <p:cNvGrpSpPr/>
        <p:nvPr/>
      </p:nvGrpSpPr>
      <p:grpSpPr>
        <a:xfrm>
          <a:off x="0" y="0"/>
          <a:ext cx="0" cy="0"/>
          <a:chOff x="0" y="0"/>
          <a:chExt cx="0" cy="0"/>
        </a:xfrm>
      </p:grpSpPr>
      <p:sp>
        <p:nvSpPr>
          <p:cNvPr id="2" name="Text 0"/>
          <p:cNvSpPr/>
          <p:nvPr/>
        </p:nvSpPr>
        <p:spPr>
          <a:xfrm>
            <a:off x="1047750" y="914400"/>
            <a:ext cx="16678275" cy="358080"/>
          </a:xfrm>
          <a:prstGeom prst="rect">
            <a:avLst/>
          </a:prstGeom>
          <a:noFill/>
          <a:ln/>
        </p:spPr>
        <p:txBody>
          <a:bodyPr wrap="square" lIns="25400" tIns="25400" rIns="25400" bIns="25400" rtlCol="0" anchor="t">
            <a:normAutofit/>
          </a:bodyPr>
          <a:lstStyle/>
          <a:p>
            <a:pPr algn="l" indent="0" marL="0">
              <a:lnSpc>
                <a:spcPct val="140000"/>
              </a:lnSpc>
              <a:buNone/>
            </a:pPr>
            <a:r>
              <a:rPr lang="en-US" sz="1800" spc="300" kern="0" dirty="0">
                <a:solidFill>
                  <a:srgbClr val="5A7A8A"/>
                </a:solidFill>
                <a:latin typeface="Courier New" pitchFamily="34" charset="0"/>
                <a:ea typeface="Courier New" pitchFamily="34" charset="-122"/>
                <a:cs typeface="Courier New" pitchFamily="34" charset="-120"/>
              </a:rPr>
              <a:t>VICTORIA · 2024–25 · LIFE SAVING VICTORIA REPORT</a:t>
            </a:r>
            <a:endParaRPr lang="en-US" sz="1800" dirty="0"/>
          </a:p>
        </p:txBody>
      </p:sp>
      <p:sp>
        <p:nvSpPr>
          <p:cNvPr id="3" name="Text 1"/>
          <p:cNvSpPr/>
          <p:nvPr/>
        </p:nvSpPr>
        <p:spPr>
          <a:xfrm>
            <a:off x="1047750" y="1405830"/>
            <a:ext cx="16678275" cy="798165"/>
          </a:xfrm>
          <a:prstGeom prst="rect">
            <a:avLst/>
          </a:prstGeom>
          <a:noFill/>
          <a:ln/>
        </p:spPr>
        <p:txBody>
          <a:bodyPr wrap="square" lIns="25400" tIns="25400" rIns="25400" bIns="25400" rtlCol="0" anchor="t">
            <a:normAutofit/>
          </a:bodyPr>
          <a:lstStyle/>
          <a:p>
            <a:pPr algn="l" indent="0" marL="0">
              <a:lnSpc>
                <a:spcPct val="105000"/>
              </a:lnSpc>
              <a:buNone/>
            </a:pPr>
            <a:r>
              <a:rPr lang="en-US" sz="5700" b="1" spc="-75" kern="0" dirty="0">
                <a:solidFill>
                  <a:srgbClr val="0D1F2D"/>
                </a:solidFill>
                <a:latin typeface="Arial" pitchFamily="34" charset="0"/>
                <a:ea typeface="Arial" pitchFamily="34" charset="-122"/>
                <a:cs typeface="Arial" pitchFamily="34" charset="-120"/>
              </a:rPr>
              <a:t>The numbers behind one Victorian summer</a:t>
            </a:r>
            <a:endParaRPr lang="en-US" sz="5700" dirty="0"/>
          </a:p>
        </p:txBody>
      </p:sp>
      <p:sp>
        <p:nvSpPr>
          <p:cNvPr id="4" name="Shape 2"/>
          <p:cNvSpPr/>
          <p:nvPr/>
        </p:nvSpPr>
        <p:spPr>
          <a:xfrm>
            <a:off x="1047750" y="2623096"/>
            <a:ext cx="3833812" cy="6825704"/>
          </a:xfrm>
          <a:prstGeom prst="roundRect">
            <a:avLst>
              <a:gd name="adj" fmla="val 4969"/>
            </a:avLst>
          </a:prstGeom>
          <a:solidFill>
            <a:srgbClr val="FFFFFF"/>
          </a:solidFill>
          <a:ln w="9525">
            <a:solidFill>
              <a:srgbClr val="CDD9E0"/>
            </a:solidFill>
            <a:prstDash val="solid"/>
          </a:ln>
        </p:spPr>
        <p:txBody>
          <a:bodyPr/>
          <a:p/>
        </p:txBody>
      </p:sp>
      <p:sp>
        <p:nvSpPr>
          <p:cNvPr id="5" name="Text 3"/>
          <p:cNvSpPr/>
          <p:nvPr/>
        </p:nvSpPr>
        <p:spPr>
          <a:xfrm>
            <a:off x="1362075" y="2994571"/>
            <a:ext cx="3301317" cy="678061"/>
          </a:xfrm>
          <a:prstGeom prst="rect">
            <a:avLst/>
          </a:prstGeom>
          <a:noFill/>
          <a:ln/>
        </p:spPr>
        <p:txBody>
          <a:bodyPr wrap="square" lIns="25400" tIns="25400" rIns="25400" bIns="25400" rtlCol="0" anchor="t">
            <a:normAutofit/>
          </a:bodyPr>
          <a:lstStyle/>
          <a:p>
            <a:pPr algn="l" indent="0" marL="0">
              <a:lnSpc>
                <a:spcPct val="140000"/>
              </a:lnSpc>
              <a:buNone/>
            </a:pPr>
            <a:r>
              <a:rPr lang="en-US" sz="1800" spc="150" kern="0" dirty="0">
                <a:solidFill>
                  <a:srgbClr val="5A7A8A"/>
                </a:solidFill>
                <a:latin typeface="Courier New" pitchFamily="34" charset="0"/>
                <a:ea typeface="Courier New" pitchFamily="34" charset="-122"/>
                <a:cs typeface="Courier New" pitchFamily="34" charset="-120"/>
              </a:rPr>
              <a:t>TOTAL FATAL DROWNINGS</a:t>
            </a:r>
            <a:endParaRPr lang="en-US" sz="1800" dirty="0"/>
          </a:p>
        </p:txBody>
      </p:sp>
      <p:sp>
        <p:nvSpPr>
          <p:cNvPr id="6" name="Text 4"/>
          <p:cNvSpPr/>
          <p:nvPr/>
        </p:nvSpPr>
        <p:spPr>
          <a:xfrm>
            <a:off x="1362075" y="5392192"/>
            <a:ext cx="3301317" cy="1371600"/>
          </a:xfrm>
          <a:prstGeom prst="rect">
            <a:avLst/>
          </a:prstGeom>
          <a:noFill/>
          <a:ln/>
        </p:spPr>
        <p:txBody>
          <a:bodyPr wrap="square" lIns="25400" tIns="25400" rIns="25400" bIns="25400" rtlCol="0" anchor="t">
            <a:normAutofit/>
          </a:bodyPr>
          <a:lstStyle/>
          <a:p>
            <a:pPr algn="l" indent="0" marL="0">
              <a:lnSpc>
                <a:spcPct val="100000"/>
              </a:lnSpc>
              <a:buNone/>
            </a:pPr>
            <a:r>
              <a:rPr lang="en-US" sz="10500" b="1" spc="-225" kern="0" dirty="0">
                <a:solidFill>
                  <a:srgbClr val="C0392B"/>
                </a:solidFill>
                <a:latin typeface="Arial" pitchFamily="34" charset="0"/>
                <a:ea typeface="Arial" pitchFamily="34" charset="-122"/>
                <a:cs typeface="Arial" pitchFamily="34" charset="-120"/>
              </a:rPr>
              <a:t>52</a:t>
            </a:r>
            <a:endParaRPr lang="en-US" sz="10500" dirty="0"/>
          </a:p>
        </p:txBody>
      </p:sp>
      <p:sp>
        <p:nvSpPr>
          <p:cNvPr id="7" name="Text 5"/>
          <p:cNvSpPr/>
          <p:nvPr/>
        </p:nvSpPr>
        <p:spPr>
          <a:xfrm>
            <a:off x="1362075" y="8483203"/>
            <a:ext cx="3301317" cy="632222"/>
          </a:xfrm>
          <a:prstGeom prst="rect">
            <a:avLst/>
          </a:prstGeom>
          <a:noFill/>
          <a:ln/>
        </p:spPr>
        <p:txBody>
          <a:bodyPr wrap="square" lIns="25400" tIns="25400" rIns="25400" bIns="25400" rtlCol="0" anchor="t">
            <a:normAutofit/>
          </a:bodyPr>
          <a:lstStyle/>
          <a:p>
            <a:pPr algn="l" indent="0" marL="0">
              <a:lnSpc>
                <a:spcPct val="130000"/>
              </a:lnSpc>
              <a:buNone/>
            </a:pPr>
            <a:r>
              <a:rPr lang="en-US" sz="1800" dirty="0">
                <a:solidFill>
                  <a:srgbClr val="0D1F2D"/>
                </a:solidFill>
                <a:latin typeface="Arial" pitchFamily="34" charset="0"/>
                <a:ea typeface="Arial" pitchFamily="34" charset="-122"/>
                <a:cs typeface="Arial" pitchFamily="34" charset="-120"/>
              </a:rPr>
              <a:t>Lives lost in Victorian waters across the year.</a:t>
            </a:r>
            <a:endParaRPr lang="en-US" sz="1800" dirty="0"/>
          </a:p>
        </p:txBody>
      </p:sp>
      <p:sp>
        <p:nvSpPr>
          <p:cNvPr id="8" name="Shape 6"/>
          <p:cNvSpPr/>
          <p:nvPr/>
        </p:nvSpPr>
        <p:spPr>
          <a:xfrm>
            <a:off x="5167313" y="2623096"/>
            <a:ext cx="3833812" cy="6825704"/>
          </a:xfrm>
          <a:prstGeom prst="roundRect">
            <a:avLst>
              <a:gd name="adj" fmla="val 4969"/>
            </a:avLst>
          </a:prstGeom>
          <a:solidFill>
            <a:srgbClr val="FFFFFF"/>
          </a:solidFill>
          <a:ln w="9525">
            <a:solidFill>
              <a:srgbClr val="CDD9E0"/>
            </a:solidFill>
            <a:prstDash val="solid"/>
          </a:ln>
        </p:spPr>
        <p:txBody>
          <a:bodyPr/>
          <a:p/>
        </p:txBody>
      </p:sp>
      <p:sp>
        <p:nvSpPr>
          <p:cNvPr id="9" name="Text 7"/>
          <p:cNvSpPr/>
          <p:nvPr/>
        </p:nvSpPr>
        <p:spPr>
          <a:xfrm>
            <a:off x="5481638" y="2994571"/>
            <a:ext cx="3301317" cy="358080"/>
          </a:xfrm>
          <a:prstGeom prst="rect">
            <a:avLst/>
          </a:prstGeom>
          <a:noFill/>
          <a:ln/>
        </p:spPr>
        <p:txBody>
          <a:bodyPr wrap="square" lIns="25400" tIns="25400" rIns="25400" bIns="25400" rtlCol="0" anchor="t">
            <a:normAutofit/>
          </a:bodyPr>
          <a:lstStyle/>
          <a:p>
            <a:pPr algn="l" indent="0" marL="0">
              <a:lnSpc>
                <a:spcPct val="140000"/>
              </a:lnSpc>
              <a:buNone/>
            </a:pPr>
            <a:r>
              <a:rPr lang="en-US" sz="1800" spc="150" kern="0" dirty="0">
                <a:solidFill>
                  <a:srgbClr val="5A7A8A"/>
                </a:solidFill>
                <a:latin typeface="Courier New" pitchFamily="34" charset="0"/>
                <a:ea typeface="Courier New" pitchFamily="34" charset="-122"/>
                <a:cs typeface="Courier New" pitchFamily="34" charset="-120"/>
              </a:rPr>
              <a:t>AGED 15–24</a:t>
            </a:r>
            <a:endParaRPr lang="en-US" sz="1800" dirty="0"/>
          </a:p>
        </p:txBody>
      </p:sp>
      <p:sp>
        <p:nvSpPr>
          <p:cNvPr id="10" name="Text 8"/>
          <p:cNvSpPr/>
          <p:nvPr/>
        </p:nvSpPr>
        <p:spPr>
          <a:xfrm>
            <a:off x="5481638" y="5232202"/>
            <a:ext cx="3301317" cy="1371600"/>
          </a:xfrm>
          <a:prstGeom prst="rect">
            <a:avLst/>
          </a:prstGeom>
          <a:noFill/>
          <a:ln/>
        </p:spPr>
        <p:txBody>
          <a:bodyPr wrap="square" lIns="25400" tIns="25400" rIns="25400" bIns="25400" rtlCol="0" anchor="t">
            <a:normAutofit/>
          </a:bodyPr>
          <a:lstStyle/>
          <a:p>
            <a:pPr algn="l" indent="0" marL="0">
              <a:lnSpc>
                <a:spcPct val="100000"/>
              </a:lnSpc>
              <a:buNone/>
            </a:pPr>
            <a:r>
              <a:rPr lang="en-US" sz="10500" b="1" spc="-225" kern="0" dirty="0">
                <a:solidFill>
                  <a:srgbClr val="C0392B"/>
                </a:solidFill>
                <a:latin typeface="Arial" pitchFamily="34" charset="0"/>
                <a:ea typeface="Arial" pitchFamily="34" charset="-122"/>
                <a:cs typeface="Arial" pitchFamily="34" charset="-120"/>
              </a:rPr>
              <a:t>about 1 in 8</a:t>
            </a:r>
            <a:endParaRPr lang="en-US" sz="10500" dirty="0"/>
          </a:p>
        </p:txBody>
      </p:sp>
      <p:sp>
        <p:nvSpPr>
          <p:cNvPr id="11" name="Text 9"/>
          <p:cNvSpPr/>
          <p:nvPr/>
        </p:nvSpPr>
        <p:spPr>
          <a:xfrm>
            <a:off x="5481638" y="8483203"/>
            <a:ext cx="3301317" cy="632222"/>
          </a:xfrm>
          <a:prstGeom prst="rect">
            <a:avLst/>
          </a:prstGeom>
          <a:noFill/>
          <a:ln/>
        </p:spPr>
        <p:txBody>
          <a:bodyPr wrap="square" lIns="25400" tIns="25400" rIns="25400" bIns="25400" rtlCol="0" anchor="t">
            <a:normAutofit/>
          </a:bodyPr>
          <a:lstStyle/>
          <a:p>
            <a:pPr algn="l" indent="0" marL="0">
              <a:lnSpc>
                <a:spcPct val="130000"/>
              </a:lnSpc>
              <a:buNone/>
            </a:pPr>
            <a:r>
              <a:rPr lang="en-US" sz="1800" dirty="0">
                <a:solidFill>
                  <a:srgbClr val="0D1F2D"/>
                </a:solidFill>
                <a:latin typeface="Arial" pitchFamily="34" charset="0"/>
                <a:ea typeface="Arial" pitchFamily="34" charset="-122"/>
                <a:cs typeface="Arial" pitchFamily="34" charset="-120"/>
              </a:rPr>
              <a:t>Victims were in or near our school age group.</a:t>
            </a:r>
            <a:endParaRPr lang="en-US" sz="1800" dirty="0"/>
          </a:p>
        </p:txBody>
      </p:sp>
      <p:sp>
        <p:nvSpPr>
          <p:cNvPr id="12" name="Shape 10"/>
          <p:cNvSpPr/>
          <p:nvPr/>
        </p:nvSpPr>
        <p:spPr>
          <a:xfrm>
            <a:off x="9286875" y="2623096"/>
            <a:ext cx="3833812" cy="6825704"/>
          </a:xfrm>
          <a:prstGeom prst="roundRect">
            <a:avLst>
              <a:gd name="adj" fmla="val 4969"/>
            </a:avLst>
          </a:prstGeom>
          <a:solidFill>
            <a:srgbClr val="FFFFFF"/>
          </a:solidFill>
          <a:ln w="9525">
            <a:solidFill>
              <a:srgbClr val="CDD9E0"/>
            </a:solidFill>
            <a:prstDash val="solid"/>
          </a:ln>
        </p:spPr>
        <p:txBody>
          <a:bodyPr/>
          <a:p/>
        </p:txBody>
      </p:sp>
      <p:sp>
        <p:nvSpPr>
          <p:cNvPr id="13" name="Text 11"/>
          <p:cNvSpPr/>
          <p:nvPr/>
        </p:nvSpPr>
        <p:spPr>
          <a:xfrm>
            <a:off x="9601200" y="2994571"/>
            <a:ext cx="3301317" cy="358080"/>
          </a:xfrm>
          <a:prstGeom prst="rect">
            <a:avLst/>
          </a:prstGeom>
          <a:noFill/>
          <a:ln/>
        </p:spPr>
        <p:txBody>
          <a:bodyPr wrap="square" lIns="25400" tIns="25400" rIns="25400" bIns="25400" rtlCol="0" anchor="t">
            <a:normAutofit/>
          </a:bodyPr>
          <a:lstStyle/>
          <a:p>
            <a:pPr algn="l" indent="0" marL="0">
              <a:lnSpc>
                <a:spcPct val="140000"/>
              </a:lnSpc>
              <a:buNone/>
            </a:pPr>
            <a:r>
              <a:rPr lang="en-US" sz="1800" spc="150" kern="0" dirty="0">
                <a:solidFill>
                  <a:srgbClr val="5A7A8A"/>
                </a:solidFill>
                <a:latin typeface="Courier New" pitchFamily="34" charset="0"/>
                <a:ea typeface="Courier New" pitchFamily="34" charset="-122"/>
                <a:cs typeface="Courier New" pitchFamily="34" charset="-120"/>
              </a:rPr>
              <a:t>MALE VICTIMS</a:t>
            </a:r>
            <a:endParaRPr lang="en-US" sz="1800" dirty="0"/>
          </a:p>
        </p:txBody>
      </p:sp>
      <p:sp>
        <p:nvSpPr>
          <p:cNvPr id="14" name="Text 12"/>
          <p:cNvSpPr/>
          <p:nvPr/>
        </p:nvSpPr>
        <p:spPr>
          <a:xfrm>
            <a:off x="9601200" y="5232202"/>
            <a:ext cx="3301317" cy="1371600"/>
          </a:xfrm>
          <a:prstGeom prst="rect">
            <a:avLst/>
          </a:prstGeom>
          <a:noFill/>
          <a:ln/>
        </p:spPr>
        <p:txBody>
          <a:bodyPr wrap="square" lIns="25400" tIns="25400" rIns="25400" bIns="25400" rtlCol="0" anchor="t">
            <a:normAutofit/>
          </a:bodyPr>
          <a:lstStyle/>
          <a:p>
            <a:pPr algn="l" indent="0" marL="0">
              <a:lnSpc>
                <a:spcPct val="100000"/>
              </a:lnSpc>
              <a:buNone/>
            </a:pPr>
            <a:r>
              <a:rPr lang="en-US" sz="10500" b="1" spc="-225" kern="0" dirty="0">
                <a:solidFill>
                  <a:srgbClr val="C0392B"/>
                </a:solidFill>
                <a:latin typeface="Arial" pitchFamily="34" charset="0"/>
                <a:ea typeface="Arial" pitchFamily="34" charset="-122"/>
                <a:cs typeface="Arial" pitchFamily="34" charset="-120"/>
              </a:rPr>
              <a:t>46</a:t>
            </a:r>
            <a:endParaRPr lang="en-US" sz="10500" dirty="0"/>
          </a:p>
        </p:txBody>
      </p:sp>
      <p:sp>
        <p:nvSpPr>
          <p:cNvPr id="15" name="Text 13"/>
          <p:cNvSpPr/>
          <p:nvPr/>
        </p:nvSpPr>
        <p:spPr>
          <a:xfrm>
            <a:off x="9601200" y="8483203"/>
            <a:ext cx="3301317" cy="632222"/>
          </a:xfrm>
          <a:prstGeom prst="rect">
            <a:avLst/>
          </a:prstGeom>
          <a:noFill/>
          <a:ln/>
        </p:spPr>
        <p:txBody>
          <a:bodyPr wrap="square" lIns="25400" tIns="25400" rIns="25400" bIns="25400" rtlCol="0" anchor="t">
            <a:normAutofit/>
          </a:bodyPr>
          <a:lstStyle/>
          <a:p>
            <a:pPr algn="l" indent="0" marL="0">
              <a:lnSpc>
                <a:spcPct val="130000"/>
              </a:lnSpc>
              <a:buNone/>
            </a:pPr>
            <a:r>
              <a:rPr lang="en-US" sz="1800" dirty="0">
                <a:solidFill>
                  <a:srgbClr val="0D1F2D"/>
                </a:solidFill>
                <a:latin typeface="Arial" pitchFamily="34" charset="0"/>
                <a:ea typeface="Arial" pitchFamily="34" charset="-122"/>
                <a:cs typeface="Arial" pitchFamily="34" charset="-120"/>
              </a:rPr>
              <a:t>Of 52 — 38 male, 14 female.</a:t>
            </a:r>
            <a:endParaRPr lang="en-US" sz="1800" dirty="0"/>
          </a:p>
        </p:txBody>
      </p:sp>
      <p:sp>
        <p:nvSpPr>
          <p:cNvPr id="16" name="Shape 14"/>
          <p:cNvSpPr/>
          <p:nvPr/>
        </p:nvSpPr>
        <p:spPr>
          <a:xfrm>
            <a:off x="13406438" y="2623096"/>
            <a:ext cx="3833812" cy="6825704"/>
          </a:xfrm>
          <a:prstGeom prst="roundRect">
            <a:avLst>
              <a:gd name="adj" fmla="val 4969"/>
            </a:avLst>
          </a:prstGeom>
          <a:solidFill>
            <a:srgbClr val="FFFFFF"/>
          </a:solidFill>
          <a:ln w="9525">
            <a:solidFill>
              <a:srgbClr val="CDD9E0"/>
            </a:solidFill>
            <a:prstDash val="solid"/>
          </a:ln>
        </p:spPr>
        <p:txBody>
          <a:bodyPr/>
          <a:p/>
        </p:txBody>
      </p:sp>
      <p:sp>
        <p:nvSpPr>
          <p:cNvPr id="17" name="Text 15"/>
          <p:cNvSpPr/>
          <p:nvPr/>
        </p:nvSpPr>
        <p:spPr>
          <a:xfrm>
            <a:off x="13720763" y="2994571"/>
            <a:ext cx="3301317" cy="358080"/>
          </a:xfrm>
          <a:prstGeom prst="rect">
            <a:avLst/>
          </a:prstGeom>
          <a:noFill/>
          <a:ln/>
        </p:spPr>
        <p:txBody>
          <a:bodyPr wrap="square" lIns="25400" tIns="25400" rIns="25400" bIns="25400" rtlCol="0" anchor="t">
            <a:normAutofit/>
          </a:bodyPr>
          <a:lstStyle/>
          <a:p>
            <a:pPr algn="l" indent="0" marL="0">
              <a:lnSpc>
                <a:spcPct val="140000"/>
              </a:lnSpc>
              <a:buNone/>
            </a:pPr>
            <a:r>
              <a:rPr lang="en-US" sz="1800" spc="150" kern="0" dirty="0">
                <a:solidFill>
                  <a:srgbClr val="5A7A8A"/>
                </a:solidFill>
                <a:latin typeface="Courier New" pitchFamily="34" charset="0"/>
                <a:ea typeface="Courier New" pitchFamily="34" charset="-122"/>
                <a:cs typeface="Courier New" pitchFamily="34" charset="-120"/>
              </a:rPr>
              <a:t>AT PATROLLED SITES</a:t>
            </a:r>
            <a:endParaRPr lang="en-US" sz="1800" dirty="0"/>
          </a:p>
        </p:txBody>
      </p:sp>
      <p:sp>
        <p:nvSpPr>
          <p:cNvPr id="18" name="Text 16"/>
          <p:cNvSpPr/>
          <p:nvPr/>
        </p:nvSpPr>
        <p:spPr>
          <a:xfrm>
            <a:off x="13720763" y="5232202"/>
            <a:ext cx="3301317" cy="1371600"/>
          </a:xfrm>
          <a:prstGeom prst="rect">
            <a:avLst/>
          </a:prstGeom>
          <a:noFill/>
          <a:ln/>
        </p:spPr>
        <p:txBody>
          <a:bodyPr wrap="square" lIns="25400" tIns="25400" rIns="25400" bIns="25400" rtlCol="0" anchor="t">
            <a:normAutofit/>
          </a:bodyPr>
          <a:lstStyle/>
          <a:p>
            <a:pPr algn="l" indent="0" marL="0">
              <a:lnSpc>
                <a:spcPct val="100000"/>
              </a:lnSpc>
              <a:buNone/>
            </a:pPr>
            <a:r>
              <a:rPr lang="en-US" sz="10500" b="1" spc="-225" kern="0" dirty="0">
                <a:solidFill>
                  <a:srgbClr val="006494"/>
                </a:solidFill>
                <a:latin typeface="Arial" pitchFamily="34" charset="0"/>
                <a:ea typeface="Arial" pitchFamily="34" charset="-122"/>
                <a:cs typeface="Arial" pitchFamily="34" charset="-120"/>
              </a:rPr>
              <a:t>0</a:t>
            </a:r>
            <a:endParaRPr lang="en-US" sz="10500" dirty="0"/>
          </a:p>
        </p:txBody>
      </p:sp>
      <p:sp>
        <p:nvSpPr>
          <p:cNvPr id="19" name="Text 17"/>
          <p:cNvSpPr/>
          <p:nvPr/>
        </p:nvSpPr>
        <p:spPr>
          <a:xfrm>
            <a:off x="13720763" y="8483203"/>
            <a:ext cx="3301317" cy="632222"/>
          </a:xfrm>
          <a:prstGeom prst="rect">
            <a:avLst/>
          </a:prstGeom>
          <a:noFill/>
          <a:ln/>
        </p:spPr>
        <p:txBody>
          <a:bodyPr wrap="square" lIns="25400" tIns="25400" rIns="25400" bIns="25400" rtlCol="0" anchor="t">
            <a:normAutofit/>
          </a:bodyPr>
          <a:lstStyle/>
          <a:p>
            <a:pPr algn="l" indent="0" marL="0">
              <a:lnSpc>
                <a:spcPct val="130000"/>
              </a:lnSpc>
              <a:buNone/>
            </a:pPr>
            <a:r>
              <a:rPr lang="en-US" sz="1800" dirty="0">
                <a:solidFill>
                  <a:srgbClr val="0D1F2D"/>
                </a:solidFill>
                <a:latin typeface="Arial" pitchFamily="34" charset="0"/>
                <a:ea typeface="Arial" pitchFamily="34" charset="-122"/>
                <a:cs typeface="Arial" pitchFamily="34" charset="-120"/>
              </a:rPr>
              <a:t>Zero deaths in public swimming pools — first time since 2019–20.</a:t>
            </a:r>
            <a:endParaRPr lang="en-US" sz="1800" dirty="0"/>
          </a:p>
        </p:txBody>
      </p:sp>
      <p:sp>
        <p:nvSpPr>
          <p:cNvPr id="20" name="Text 18"/>
          <p:cNvSpPr/>
          <p:nvPr/>
        </p:nvSpPr>
        <p:spPr>
          <a:xfrm>
            <a:off x="1047750" y="9605070"/>
            <a:ext cx="7401291" cy="358080"/>
          </a:xfrm>
          <a:prstGeom prst="rect">
            <a:avLst/>
          </a:prstGeom>
          <a:noFill/>
          <a:ln/>
        </p:spPr>
        <p:txBody>
          <a:bodyPr wrap="square" lIns="25400" tIns="25400" rIns="25400" bIns="25400" rtlCol="0" anchor="t">
            <a:normAutofit/>
          </a:bodyPr>
          <a:lstStyle/>
          <a:p>
            <a:pPr algn="l" indent="0" marL="0">
              <a:lnSpc>
                <a:spcPct val="140000"/>
              </a:lnSpc>
              <a:buNone/>
            </a:pPr>
            <a:r>
              <a:rPr lang="en-US" sz="1800" spc="150" kern="0" dirty="0">
                <a:solidFill>
                  <a:srgbClr val="5A7A8A"/>
                </a:solidFill>
                <a:latin typeface="Courier New" pitchFamily="34" charset="0"/>
                <a:ea typeface="Courier New" pitchFamily="34" charset="-122"/>
                <a:cs typeface="Courier New" pitchFamily="34" charset="-120"/>
              </a:rPr>
              <a:t>Source · LSV Victorian Drowning Report 2024–25</a:t>
            </a:r>
            <a:endParaRPr lang="en-US" sz="1800" dirty="0"/>
          </a:p>
        </p:txBody>
      </p:sp>
      <p:sp>
        <p:nvSpPr>
          <p:cNvPr id="21" name="Text 19"/>
          <p:cNvSpPr/>
          <p:nvPr/>
        </p:nvSpPr>
        <p:spPr>
          <a:xfrm>
            <a:off x="15748397" y="9605070"/>
            <a:ext cx="1568053" cy="358080"/>
          </a:xfrm>
          <a:prstGeom prst="rect">
            <a:avLst/>
          </a:prstGeom>
          <a:noFill/>
          <a:ln/>
        </p:spPr>
        <p:txBody>
          <a:bodyPr wrap="square" lIns="25400" tIns="25400" rIns="25400" bIns="25400" rtlCol="0" anchor="t">
            <a:normAutofit/>
          </a:bodyPr>
          <a:lstStyle/>
          <a:p>
            <a:pPr algn="l" indent="0" marL="0">
              <a:lnSpc>
                <a:spcPct val="140000"/>
              </a:lnSpc>
              <a:buNone/>
            </a:pPr>
            <a:r>
              <a:rPr lang="en-US" sz="1800" spc="225" kern="0" dirty="0">
                <a:solidFill>
                  <a:srgbClr val="5A7A8A"/>
                </a:solidFill>
                <a:latin typeface="Courier New" pitchFamily="34" charset="0"/>
                <a:ea typeface="Courier New" pitchFamily="34" charset="-122"/>
                <a:cs typeface="Courier New" pitchFamily="34" charset="-120"/>
              </a:rPr>
              <a:t>L1 · DATA</a:t>
            </a:r>
            <a:endParaRPr lang="en-US" sz="1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03554"/>
        </a:solidFill>
      </p:bgPr>
    </p:bg>
    <p:spTree>
      <p:nvGrpSpPr>
        <p:cNvPr id="1" name=""/>
        <p:cNvGrpSpPr/>
        <p:nvPr/>
      </p:nvGrpSpPr>
      <p:grpSpPr>
        <a:xfrm>
          <a:off x="0" y="0"/>
          <a:ext cx="0" cy="0"/>
          <a:chOff x="0" y="0"/>
          <a:chExt cx="0" cy="0"/>
        </a:xfrm>
      </p:grpSpPr>
      <p:sp>
        <p:nvSpPr>
          <p:cNvPr id="2" name="Text 0"/>
          <p:cNvSpPr/>
          <p:nvPr/>
        </p:nvSpPr>
        <p:spPr>
          <a:xfrm>
            <a:off x="1047750" y="1628031"/>
            <a:ext cx="2829788" cy="384721"/>
          </a:xfrm>
          <a:prstGeom prst="rect">
            <a:avLst/>
          </a:prstGeom>
          <a:noFill/>
          <a:ln/>
        </p:spPr>
        <p:txBody>
          <a:bodyPr wrap="square" lIns="25400" tIns="25400" rIns="25400" bIns="25400" rtlCol="0" anchor="t">
            <a:normAutofit/>
          </a:bodyPr>
          <a:lstStyle/>
          <a:p>
            <a:pPr algn="l" indent="0" marL="0">
              <a:lnSpc>
                <a:spcPct val="140000"/>
              </a:lnSpc>
              <a:buNone/>
            </a:pPr>
            <a:r>
              <a:rPr lang="en-US" sz="1950" spc="375" kern="0" dirty="0">
                <a:solidFill>
                  <a:srgbClr val="FFD166"/>
                </a:solidFill>
                <a:latin typeface="Courier New" pitchFamily="34" charset="0"/>
                <a:ea typeface="Courier New" pitchFamily="34" charset="-122"/>
                <a:cs typeface="Courier New" pitchFamily="34" charset="-120"/>
              </a:rPr>
              <a:t>1 IN 5 VICTIMS</a:t>
            </a:r>
            <a:endParaRPr lang="en-US" sz="1950" dirty="0"/>
          </a:p>
        </p:txBody>
      </p:sp>
      <p:sp>
        <p:nvSpPr>
          <p:cNvPr id="3" name="Text 1"/>
          <p:cNvSpPr/>
          <p:nvPr/>
        </p:nvSpPr>
        <p:spPr>
          <a:xfrm>
            <a:off x="1047750" y="2203252"/>
            <a:ext cx="7484989" cy="3762375"/>
          </a:xfrm>
          <a:prstGeom prst="rect">
            <a:avLst/>
          </a:prstGeom>
          <a:noFill/>
          <a:ln/>
        </p:spPr>
        <p:txBody>
          <a:bodyPr wrap="square" lIns="25400" tIns="25400" rIns="25400" bIns="25400" rtlCol="0" anchor="t">
            <a:normAutofit/>
          </a:bodyPr>
          <a:lstStyle/>
          <a:p>
            <a:pPr algn="l" indent="0" marL="0">
              <a:lnSpc>
                <a:spcPct val="85000"/>
              </a:lnSpc>
              <a:buNone/>
            </a:pPr>
            <a:r>
              <a:rPr lang="en-US" sz="34500" b="1" spc="-750" kern="0" dirty="0">
                <a:solidFill>
                  <a:srgbClr val="FFFFFF"/>
                </a:solidFill>
                <a:latin typeface="Arial" pitchFamily="34" charset="0"/>
                <a:ea typeface="Arial" pitchFamily="34" charset="-122"/>
                <a:cs typeface="Arial" pitchFamily="34" charset="-120"/>
              </a:rPr>
              <a:t>20 </a:t>
            </a:r>
            <a:pPr algn="l" indent="0" marL="0">
              <a:lnSpc>
                <a:spcPct val="85000"/>
              </a:lnSpc>
              <a:buNone/>
            </a:pPr>
            <a:r>
              <a:rPr lang="en-US" sz="18000" b="1" spc="-750" kern="0" dirty="0">
                <a:solidFill>
                  <a:srgbClr val="FFD166"/>
                </a:solidFill>
                <a:latin typeface="Arial" pitchFamily="34" charset="0"/>
                <a:ea typeface="Arial" pitchFamily="34" charset="-122"/>
                <a:cs typeface="Arial" pitchFamily="34" charset="-120"/>
              </a:rPr>
              <a:t>%</a:t>
            </a:r>
            <a:endParaRPr lang="en-US" sz="34500" dirty="0"/>
          </a:p>
        </p:txBody>
      </p:sp>
      <p:sp>
        <p:nvSpPr>
          <p:cNvPr id="4" name="Text 2"/>
          <p:cNvSpPr/>
          <p:nvPr/>
        </p:nvSpPr>
        <p:spPr>
          <a:xfrm>
            <a:off x="1047750" y="6232327"/>
            <a:ext cx="13735050" cy="1878062"/>
          </a:xfrm>
          <a:prstGeom prst="rect">
            <a:avLst/>
          </a:prstGeom>
          <a:noFill/>
          <a:ln/>
        </p:spPr>
        <p:txBody>
          <a:bodyPr wrap="square" lIns="25400" tIns="25400" rIns="25400" bIns="25400" rtlCol="0" anchor="t">
            <a:normAutofit/>
          </a:bodyPr>
          <a:lstStyle/>
          <a:p>
            <a:pPr algn="l" indent="0" marL="0">
              <a:lnSpc>
                <a:spcPct val="115000"/>
              </a:lnSpc>
              <a:buNone/>
            </a:pPr>
            <a:r>
              <a:rPr lang="en-US" sz="4200" b="1" dirty="0">
                <a:solidFill>
                  <a:srgbClr val="FFFFFF"/>
                </a:solidFill>
                <a:latin typeface="Arial" pitchFamily="34" charset="0"/>
                <a:ea typeface="Arial" pitchFamily="34" charset="-122"/>
                <a:cs typeface="Arial" pitchFamily="34" charset="-120"/>
              </a:rPr>
              <a:t>of Victorian drownings in 2024–25 were people aged 15 to 24. That's the age group most of us will be in within five years.</a:t>
            </a:r>
            <a:endParaRPr lang="en-US" sz="4200" dirty="0"/>
          </a:p>
        </p:txBody>
      </p:sp>
      <p:sp>
        <p:nvSpPr>
          <p:cNvPr id="5" name="Text 3"/>
          <p:cNvSpPr/>
          <p:nvPr/>
        </p:nvSpPr>
        <p:spPr>
          <a:xfrm>
            <a:off x="1047750" y="8415189"/>
            <a:ext cx="6758687" cy="358080"/>
          </a:xfrm>
          <a:prstGeom prst="rect">
            <a:avLst/>
          </a:prstGeom>
          <a:noFill/>
          <a:ln/>
        </p:spPr>
        <p:txBody>
          <a:bodyPr wrap="square" lIns="25400" tIns="25400" rIns="25400" bIns="25400" rtlCol="0" anchor="t">
            <a:normAutofit/>
          </a:bodyPr>
          <a:lstStyle/>
          <a:p>
            <a:pPr algn="l" indent="0" marL="0">
              <a:lnSpc>
                <a:spcPct val="140000"/>
              </a:lnSpc>
              <a:buNone/>
            </a:pPr>
            <a:r>
              <a:rPr lang="en-US" sz="1800" spc="150" kern="0" dirty="0">
                <a:solidFill>
                  <a:srgbClr val="FFFFFF">
                    <a:alpha val="60000"/>
                  </a:srgbClr>
                </a:solidFill>
                <a:latin typeface="Courier New" pitchFamily="34" charset="0"/>
                <a:ea typeface="Courier New" pitchFamily="34" charset="-122"/>
                <a:cs typeface="Courier New" pitchFamily="34" charset="-120"/>
              </a:rPr>
              <a:t>Life Saving Victoria · lsv.com.au/research</a:t>
            </a:r>
            <a:endParaRPr lang="en-US" sz="1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4F7F9"/>
        </a:solidFill>
      </p:bgPr>
    </p:bg>
    <p:spTree>
      <p:nvGrpSpPr>
        <p:cNvPr id="1" name=""/>
        <p:cNvGrpSpPr/>
        <p:nvPr/>
      </p:nvGrpSpPr>
      <p:grpSpPr>
        <a:xfrm>
          <a:off x="0" y="0"/>
          <a:ext cx="0" cy="0"/>
          <a:chOff x="0" y="0"/>
          <a:chExt cx="0" cy="0"/>
        </a:xfrm>
      </p:grpSpPr>
      <p:sp>
        <p:nvSpPr>
          <p:cNvPr id="2" name="Text 0"/>
          <p:cNvSpPr/>
          <p:nvPr/>
        </p:nvSpPr>
        <p:spPr>
          <a:xfrm>
            <a:off x="1047750" y="914400"/>
            <a:ext cx="16678275" cy="358080"/>
          </a:xfrm>
          <a:prstGeom prst="rect">
            <a:avLst/>
          </a:prstGeom>
          <a:noFill/>
          <a:ln/>
        </p:spPr>
        <p:txBody>
          <a:bodyPr wrap="square" lIns="25400" tIns="25400" rIns="25400" bIns="25400" rtlCol="0" anchor="t">
            <a:normAutofit/>
          </a:bodyPr>
          <a:lstStyle/>
          <a:p>
            <a:pPr algn="l" indent="0" marL="0">
              <a:lnSpc>
                <a:spcPct val="140000"/>
              </a:lnSpc>
              <a:buNone/>
            </a:pPr>
            <a:r>
              <a:rPr lang="en-US" sz="1800" spc="300" kern="0" dirty="0">
                <a:solidFill>
                  <a:srgbClr val="5A7A8A"/>
                </a:solidFill>
                <a:latin typeface="Courier New" pitchFamily="34" charset="0"/>
                <a:ea typeface="Courier New" pitchFamily="34" charset="-122"/>
                <a:cs typeface="Courier New" pitchFamily="34" charset="-120"/>
              </a:rPr>
              <a:t>WHERE IT HAPPENS</a:t>
            </a:r>
            <a:endParaRPr lang="en-US" sz="1800" dirty="0"/>
          </a:p>
        </p:txBody>
      </p:sp>
      <p:sp>
        <p:nvSpPr>
          <p:cNvPr id="3" name="Text 1"/>
          <p:cNvSpPr/>
          <p:nvPr/>
        </p:nvSpPr>
        <p:spPr>
          <a:xfrm>
            <a:off x="1047750" y="1405830"/>
            <a:ext cx="16678275" cy="1558230"/>
          </a:xfrm>
          <a:prstGeom prst="rect">
            <a:avLst/>
          </a:prstGeom>
          <a:noFill/>
          <a:ln/>
        </p:spPr>
        <p:txBody>
          <a:bodyPr wrap="square" lIns="25400" tIns="25400" rIns="25400" bIns="25400" rtlCol="0" anchor="t">
            <a:normAutofit/>
          </a:bodyPr>
          <a:lstStyle/>
          <a:p>
            <a:pPr algn="l" indent="0" marL="0">
              <a:lnSpc>
                <a:spcPct val="105000"/>
              </a:lnSpc>
              <a:buNone/>
            </a:pPr>
            <a:r>
              <a:rPr lang="en-US" sz="5700" b="1" spc="-75" kern="0" dirty="0">
                <a:solidFill>
                  <a:srgbClr val="0D1F2D"/>
                </a:solidFill>
                <a:latin typeface="Arial" pitchFamily="34" charset="0"/>
                <a:ea typeface="Arial" pitchFamily="34" charset="-122"/>
                <a:cs typeface="Arial" pitchFamily="34" charset="-120"/>
              </a:rPr>
              <a:t>Inland waterways kill more Victorians than beaches</a:t>
            </a:r>
            <a:endParaRPr lang="en-US" sz="5700" dirty="0"/>
          </a:p>
        </p:txBody>
      </p:sp>
      <p:sp>
        <p:nvSpPr>
          <p:cNvPr id="4" name="Text 2"/>
          <p:cNvSpPr/>
          <p:nvPr/>
        </p:nvSpPr>
        <p:spPr>
          <a:xfrm>
            <a:off x="1047750" y="3383161"/>
            <a:ext cx="8044815" cy="571500"/>
          </a:xfrm>
          <a:prstGeom prst="rect">
            <a:avLst/>
          </a:prstGeom>
          <a:noFill/>
          <a:ln/>
        </p:spPr>
        <p:txBody>
          <a:bodyPr wrap="square" lIns="25400" tIns="25400" rIns="25400" bIns="25400" rtlCol="0" anchor="t">
            <a:normAutofit/>
          </a:bodyPr>
          <a:lstStyle/>
          <a:p>
            <a:pPr algn="l" indent="0" marL="0">
              <a:lnSpc>
                <a:spcPct val="140000"/>
              </a:lnSpc>
              <a:buNone/>
            </a:pPr>
            <a:r>
              <a:rPr lang="en-US" sz="3000" b="1" dirty="0">
                <a:solidFill>
                  <a:srgbClr val="003554"/>
                </a:solidFill>
                <a:latin typeface="Arial" pitchFamily="34" charset="0"/>
                <a:ea typeface="Arial" pitchFamily="34" charset="-122"/>
                <a:cs typeface="Arial" pitchFamily="34" charset="-120"/>
              </a:rPr>
              <a:t>Rivers, dams &amp; lakes</a:t>
            </a:r>
            <a:endParaRPr lang="en-US" sz="3000" dirty="0"/>
          </a:p>
        </p:txBody>
      </p:sp>
      <p:sp>
        <p:nvSpPr>
          <p:cNvPr id="5" name="Text 3"/>
          <p:cNvSpPr/>
          <p:nvPr/>
        </p:nvSpPr>
        <p:spPr>
          <a:xfrm>
            <a:off x="1047750" y="4145161"/>
            <a:ext cx="8044815" cy="1805583"/>
          </a:xfrm>
          <a:prstGeom prst="rect">
            <a:avLst/>
          </a:prstGeom>
          <a:noFill/>
          <a:ln/>
        </p:spPr>
        <p:txBody>
          <a:bodyPr wrap="square" lIns="25400" tIns="25400" rIns="25400" bIns="25400" rtlCol="0" anchor="t">
            <a:normAutofit/>
          </a:bodyPr>
          <a:lstStyle/>
          <a:p>
            <a:pPr algn="l" indent="0" marL="0">
              <a:lnSpc>
                <a:spcPct val="145000"/>
              </a:lnSpc>
              <a:buNone/>
            </a:pPr>
            <a:r>
              <a:rPr lang="en-US" sz="2400" dirty="0">
                <a:solidFill>
                  <a:srgbClr val="0D1F2D"/>
                </a:solidFill>
                <a:latin typeface="Arial" pitchFamily="34" charset="0"/>
                <a:ea typeface="Arial" pitchFamily="34" charset="-122"/>
                <a:cs typeface="Arial" pitchFamily="34" charset="-120"/>
              </a:rPr>
              <a:t>Cold, fast-moving and full of unseen hazards — submerged logs, sudden depth changes, hidden currents. Most Victorian drownings are at </a:t>
            </a:r>
            <a:pPr algn="l" indent="0" marL="0">
              <a:lnSpc>
                <a:spcPct val="145000"/>
              </a:lnSpc>
              <a:buNone/>
            </a:pPr>
            <a:r>
              <a:rPr lang="en-US" sz="2400" b="1" dirty="0">
                <a:solidFill>
                  <a:srgbClr val="0D1F2D"/>
                </a:solidFill>
                <a:latin typeface="Arial" pitchFamily="34" charset="0"/>
                <a:ea typeface="Arial" pitchFamily="34" charset="-122"/>
                <a:cs typeface="Arial" pitchFamily="34" charset="-120"/>
              </a:rPr>
              <a:t>unpatrolled inland sites </a:t>
            </a:r>
            <a:pPr algn="l" indent="0" marL="0">
              <a:lnSpc>
                <a:spcPct val="145000"/>
              </a:lnSpc>
              <a:buNone/>
            </a:pPr>
            <a:r>
              <a:rPr lang="en-US" sz="2400" dirty="0">
                <a:solidFill>
                  <a:srgbClr val="0D1F2D"/>
                </a:solidFill>
                <a:latin typeface="Arial" pitchFamily="34" charset="0"/>
                <a:ea typeface="Arial" pitchFamily="34" charset="-122"/>
                <a:cs typeface="Arial" pitchFamily="34" charset="-120"/>
              </a:rPr>
              <a:t>, often within an hour of someone's home.</a:t>
            </a:r>
            <a:endParaRPr lang="en-US" sz="2400" dirty="0"/>
          </a:p>
        </p:txBody>
      </p:sp>
      <p:sp>
        <p:nvSpPr>
          <p:cNvPr id="6" name="Text 4"/>
          <p:cNvSpPr/>
          <p:nvPr/>
        </p:nvSpPr>
        <p:spPr>
          <a:xfrm>
            <a:off x="1047750" y="6141244"/>
            <a:ext cx="8044815" cy="921841"/>
          </a:xfrm>
          <a:prstGeom prst="rect">
            <a:avLst/>
          </a:prstGeom>
          <a:noFill/>
          <a:ln/>
        </p:spPr>
        <p:txBody>
          <a:bodyPr wrap="square" lIns="25400" tIns="25400" rIns="25400" bIns="25400" rtlCol="0" anchor="t">
            <a:normAutofit/>
          </a:bodyPr>
          <a:lstStyle/>
          <a:p>
            <a:pPr algn="l" indent="0" marL="0">
              <a:lnSpc>
                <a:spcPct val="145000"/>
              </a:lnSpc>
              <a:buNone/>
            </a:pPr>
            <a:r>
              <a:rPr lang="en-US" sz="2400" dirty="0">
                <a:solidFill>
                  <a:srgbClr val="0D1F2D"/>
                </a:solidFill>
                <a:latin typeface="Arial" pitchFamily="34" charset="0"/>
                <a:ea typeface="Arial" pitchFamily="34" charset="-122"/>
                <a:cs typeface="Arial" pitchFamily="34" charset="-120"/>
              </a:rPr>
              <a:t>Think Yarra, Goulburn, Murray; Lake Eildon, Lake Eppalock; farm dams across regional Victoria.</a:t>
            </a:r>
            <a:endParaRPr lang="en-US" sz="2400" dirty="0"/>
          </a:p>
        </p:txBody>
      </p:sp>
      <p:sp>
        <p:nvSpPr>
          <p:cNvPr id="7" name="Text 5"/>
          <p:cNvSpPr/>
          <p:nvPr/>
        </p:nvSpPr>
        <p:spPr>
          <a:xfrm>
            <a:off x="9429750" y="3383161"/>
            <a:ext cx="8044815" cy="571500"/>
          </a:xfrm>
          <a:prstGeom prst="rect">
            <a:avLst/>
          </a:prstGeom>
          <a:noFill/>
          <a:ln/>
        </p:spPr>
        <p:txBody>
          <a:bodyPr wrap="square" lIns="25400" tIns="25400" rIns="25400" bIns="25400" rtlCol="0" anchor="t">
            <a:normAutofit/>
          </a:bodyPr>
          <a:lstStyle/>
          <a:p>
            <a:pPr algn="l" indent="0" marL="0">
              <a:lnSpc>
                <a:spcPct val="140000"/>
              </a:lnSpc>
              <a:buNone/>
            </a:pPr>
            <a:r>
              <a:rPr lang="en-US" sz="3000" b="1" dirty="0">
                <a:solidFill>
                  <a:srgbClr val="003554"/>
                </a:solidFill>
                <a:latin typeface="Arial" pitchFamily="34" charset="0"/>
                <a:ea typeface="Arial" pitchFamily="34" charset="-122"/>
                <a:cs typeface="Arial" pitchFamily="34" charset="-120"/>
              </a:rPr>
              <a:t>Beaches &amp; pools</a:t>
            </a:r>
            <a:endParaRPr lang="en-US" sz="3000" dirty="0"/>
          </a:p>
        </p:txBody>
      </p:sp>
      <p:sp>
        <p:nvSpPr>
          <p:cNvPr id="8" name="Text 6"/>
          <p:cNvSpPr/>
          <p:nvPr/>
        </p:nvSpPr>
        <p:spPr>
          <a:xfrm>
            <a:off x="9429750" y="4145161"/>
            <a:ext cx="8044815" cy="1363712"/>
          </a:xfrm>
          <a:prstGeom prst="rect">
            <a:avLst/>
          </a:prstGeom>
          <a:noFill/>
          <a:ln/>
        </p:spPr>
        <p:txBody>
          <a:bodyPr wrap="square" lIns="25400" tIns="25400" rIns="25400" bIns="25400" rtlCol="0" anchor="t">
            <a:normAutofit/>
          </a:bodyPr>
          <a:lstStyle/>
          <a:p>
            <a:pPr algn="l" indent="0" marL="0">
              <a:lnSpc>
                <a:spcPct val="145000"/>
              </a:lnSpc>
              <a:buNone/>
            </a:pPr>
            <a:r>
              <a:rPr lang="en-US" sz="2400" dirty="0">
                <a:solidFill>
                  <a:srgbClr val="0D1F2D"/>
                </a:solidFill>
                <a:latin typeface="Arial" pitchFamily="34" charset="0"/>
                <a:ea typeface="Arial" pitchFamily="34" charset="-122"/>
                <a:cs typeface="Arial" pitchFamily="34" charset="-120"/>
              </a:rPr>
              <a:t>Drownings at the beach almost all happen </a:t>
            </a:r>
            <a:pPr algn="l" indent="0" marL="0">
              <a:lnSpc>
                <a:spcPct val="145000"/>
              </a:lnSpc>
              <a:buNone/>
            </a:pPr>
            <a:r>
              <a:rPr lang="en-US" sz="2400" b="1" dirty="0">
                <a:solidFill>
                  <a:srgbClr val="0D1F2D"/>
                </a:solidFill>
                <a:latin typeface="Arial" pitchFamily="34" charset="0"/>
                <a:ea typeface="Arial" pitchFamily="34" charset="-122"/>
                <a:cs typeface="Arial" pitchFamily="34" charset="-120"/>
              </a:rPr>
              <a:t>away from the flags </a:t>
            </a:r>
            <a:pPr algn="l" indent="0" marL="0">
              <a:lnSpc>
                <a:spcPct val="145000"/>
              </a:lnSpc>
              <a:buNone/>
            </a:pPr>
            <a:r>
              <a:rPr lang="en-US" sz="2400" dirty="0">
                <a:solidFill>
                  <a:srgbClr val="0D1F2D"/>
                </a:solidFill>
                <a:latin typeface="Arial" pitchFamily="34" charset="0"/>
                <a:ea typeface="Arial" pitchFamily="34" charset="-122"/>
                <a:cs typeface="Arial" pitchFamily="34" charset="-120"/>
              </a:rPr>
              <a:t>— on unpatrolled stretches, at dawn or dusk, or when the patrol has packed up for the season.</a:t>
            </a:r>
            <a:endParaRPr lang="en-US" sz="2400" dirty="0"/>
          </a:p>
        </p:txBody>
      </p:sp>
      <p:sp>
        <p:nvSpPr>
          <p:cNvPr id="9" name="Text 7"/>
          <p:cNvSpPr/>
          <p:nvPr/>
        </p:nvSpPr>
        <p:spPr>
          <a:xfrm>
            <a:off x="9429750" y="5699373"/>
            <a:ext cx="8044815" cy="1363712"/>
          </a:xfrm>
          <a:prstGeom prst="rect">
            <a:avLst/>
          </a:prstGeom>
          <a:noFill/>
          <a:ln/>
        </p:spPr>
        <p:txBody>
          <a:bodyPr wrap="square" lIns="25400" tIns="25400" rIns="25400" bIns="25400" rtlCol="0" anchor="t">
            <a:normAutofit/>
          </a:bodyPr>
          <a:lstStyle/>
          <a:p>
            <a:pPr algn="l" indent="0" marL="0">
              <a:lnSpc>
                <a:spcPct val="145000"/>
              </a:lnSpc>
              <a:buNone/>
            </a:pPr>
            <a:r>
              <a:rPr lang="en-US" sz="2400" dirty="0">
                <a:solidFill>
                  <a:srgbClr val="0D1F2D"/>
                </a:solidFill>
                <a:latin typeface="Arial" pitchFamily="34" charset="0"/>
                <a:ea typeface="Arial" pitchFamily="34" charset="-122"/>
                <a:cs typeface="Arial" pitchFamily="34" charset="-120"/>
              </a:rPr>
              <a:t>Pool drownings cluster around backyard pools and toddlers — but Year 7–8 students need to know it too, especially when supervising siblings.</a:t>
            </a:r>
            <a:endParaRPr lang="en-US" sz="2400" dirty="0"/>
          </a:p>
        </p:txBody>
      </p:sp>
      <p:sp>
        <p:nvSpPr>
          <p:cNvPr id="10" name="Text 8"/>
          <p:cNvSpPr/>
          <p:nvPr/>
        </p:nvSpPr>
        <p:spPr>
          <a:xfrm>
            <a:off x="1047750" y="9605070"/>
            <a:ext cx="7401291" cy="358080"/>
          </a:xfrm>
          <a:prstGeom prst="rect">
            <a:avLst/>
          </a:prstGeom>
          <a:noFill/>
          <a:ln/>
        </p:spPr>
        <p:txBody>
          <a:bodyPr wrap="square" lIns="25400" tIns="25400" rIns="25400" bIns="25400" rtlCol="0" anchor="t">
            <a:normAutofit/>
          </a:bodyPr>
          <a:lstStyle/>
          <a:p>
            <a:pPr algn="l" indent="0" marL="0">
              <a:lnSpc>
                <a:spcPct val="140000"/>
              </a:lnSpc>
              <a:buNone/>
            </a:pPr>
            <a:r>
              <a:rPr lang="en-US" sz="1800" spc="150" kern="0" dirty="0">
                <a:solidFill>
                  <a:srgbClr val="5A7A8A"/>
                </a:solidFill>
                <a:latin typeface="Courier New" pitchFamily="34" charset="0"/>
                <a:ea typeface="Courier New" pitchFamily="34" charset="-122"/>
                <a:cs typeface="Courier New" pitchFamily="34" charset="-120"/>
              </a:rPr>
              <a:t>Source · LSV Victorian Drowning Report 2024–25</a:t>
            </a:r>
            <a:endParaRPr lang="en-US" sz="1800" dirty="0"/>
          </a:p>
        </p:txBody>
      </p:sp>
      <p:sp>
        <p:nvSpPr>
          <p:cNvPr id="11" name="Text 9"/>
          <p:cNvSpPr/>
          <p:nvPr/>
        </p:nvSpPr>
        <p:spPr>
          <a:xfrm>
            <a:off x="15085368" y="9605070"/>
            <a:ext cx="2231082" cy="358080"/>
          </a:xfrm>
          <a:prstGeom prst="rect">
            <a:avLst/>
          </a:prstGeom>
          <a:noFill/>
          <a:ln/>
        </p:spPr>
        <p:txBody>
          <a:bodyPr wrap="square" lIns="25400" tIns="25400" rIns="25400" bIns="25400" rtlCol="0" anchor="t">
            <a:normAutofit/>
          </a:bodyPr>
          <a:lstStyle/>
          <a:p>
            <a:pPr algn="l" indent="0" marL="0">
              <a:lnSpc>
                <a:spcPct val="140000"/>
              </a:lnSpc>
              <a:buNone/>
            </a:pPr>
            <a:r>
              <a:rPr lang="en-US" sz="1800" spc="225" kern="0" dirty="0">
                <a:solidFill>
                  <a:srgbClr val="5A7A8A"/>
                </a:solidFill>
                <a:latin typeface="Courier New" pitchFamily="34" charset="0"/>
                <a:ea typeface="Courier New" pitchFamily="34" charset="-122"/>
                <a:cs typeface="Courier New" pitchFamily="34" charset="-120"/>
              </a:rPr>
              <a:t>L1 · LOCATION</a:t>
            </a:r>
            <a:endParaRPr lang="en-US" sz="1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4F7F9"/>
        </a:solidFill>
      </p:bgPr>
    </p:bg>
    <p:spTree>
      <p:nvGrpSpPr>
        <p:cNvPr id="1" name=""/>
        <p:cNvGrpSpPr/>
        <p:nvPr/>
      </p:nvGrpSpPr>
      <p:grpSpPr>
        <a:xfrm>
          <a:off x="0" y="0"/>
          <a:ext cx="0" cy="0"/>
          <a:chOff x="0" y="0"/>
          <a:chExt cx="0" cy="0"/>
        </a:xfrm>
      </p:grpSpPr>
      <p:sp>
        <p:nvSpPr>
          <p:cNvPr id="2" name="Text 0"/>
          <p:cNvSpPr/>
          <p:nvPr/>
        </p:nvSpPr>
        <p:spPr>
          <a:xfrm>
            <a:off x="1047750" y="914400"/>
            <a:ext cx="16678275" cy="358080"/>
          </a:xfrm>
          <a:prstGeom prst="rect">
            <a:avLst/>
          </a:prstGeom>
          <a:noFill/>
          <a:ln/>
        </p:spPr>
        <p:txBody>
          <a:bodyPr wrap="square" lIns="25400" tIns="25400" rIns="25400" bIns="25400" rtlCol="0" anchor="t">
            <a:normAutofit/>
          </a:bodyPr>
          <a:lstStyle/>
          <a:p>
            <a:pPr algn="l" indent="0" marL="0">
              <a:lnSpc>
                <a:spcPct val="140000"/>
              </a:lnSpc>
              <a:buNone/>
            </a:pPr>
            <a:r>
              <a:rPr lang="en-US" sz="1800" spc="300" kern="0" dirty="0">
                <a:solidFill>
                  <a:srgbClr val="5A7A8A"/>
                </a:solidFill>
                <a:latin typeface="Courier New" pitchFamily="34" charset="0"/>
                <a:ea typeface="Courier New" pitchFamily="34" charset="-122"/>
                <a:cs typeface="Courier New" pitchFamily="34" charset="-120"/>
              </a:rPr>
              <a:t>WHY OUR AGE GROUP</a:t>
            </a:r>
            <a:endParaRPr lang="en-US" sz="1800" dirty="0"/>
          </a:p>
        </p:txBody>
      </p:sp>
      <p:sp>
        <p:nvSpPr>
          <p:cNvPr id="3" name="Text 1"/>
          <p:cNvSpPr/>
          <p:nvPr/>
        </p:nvSpPr>
        <p:spPr>
          <a:xfrm>
            <a:off x="1047750" y="1405830"/>
            <a:ext cx="16678275" cy="1558230"/>
          </a:xfrm>
          <a:prstGeom prst="rect">
            <a:avLst/>
          </a:prstGeom>
          <a:noFill/>
          <a:ln/>
        </p:spPr>
        <p:txBody>
          <a:bodyPr wrap="square" lIns="25400" tIns="25400" rIns="25400" bIns="25400" rtlCol="0" anchor="t">
            <a:normAutofit/>
          </a:bodyPr>
          <a:lstStyle/>
          <a:p>
            <a:pPr algn="l" indent="0" marL="0">
              <a:lnSpc>
                <a:spcPct val="105000"/>
              </a:lnSpc>
              <a:buNone/>
            </a:pPr>
            <a:r>
              <a:rPr lang="en-US" sz="5700" b="1" spc="-75" kern="0" dirty="0">
                <a:solidFill>
                  <a:srgbClr val="0D1F2D"/>
                </a:solidFill>
                <a:latin typeface="Arial" pitchFamily="34" charset="0"/>
                <a:ea typeface="Arial" pitchFamily="34" charset="-122"/>
                <a:cs typeface="Arial" pitchFamily="34" charset="-120"/>
              </a:rPr>
              <a:t>Four reasons teenagers face higher risk near water</a:t>
            </a:r>
            <a:endParaRPr lang="en-US" sz="5700" dirty="0"/>
          </a:p>
        </p:txBody>
      </p:sp>
      <p:sp>
        <p:nvSpPr>
          <p:cNvPr id="4" name="Shape 2"/>
          <p:cNvSpPr/>
          <p:nvPr/>
        </p:nvSpPr>
        <p:spPr>
          <a:xfrm>
            <a:off x="1047750" y="3383161"/>
            <a:ext cx="16192500" cy="19050"/>
          </a:xfrm>
          <a:prstGeom prst="rect">
            <a:avLst/>
          </a:prstGeom>
          <a:solidFill>
            <a:srgbClr val="0D1F2D"/>
          </a:solidFill>
          <a:ln/>
        </p:spPr>
        <p:txBody>
          <a:bodyPr/>
          <a:p/>
        </p:txBody>
      </p:sp>
      <p:sp>
        <p:nvSpPr>
          <p:cNvPr id="5" name="Text 3"/>
          <p:cNvSpPr/>
          <p:nvPr/>
        </p:nvSpPr>
        <p:spPr>
          <a:xfrm>
            <a:off x="1047750" y="3611761"/>
            <a:ext cx="1123950" cy="571500"/>
          </a:xfrm>
          <a:prstGeom prst="rect">
            <a:avLst/>
          </a:prstGeom>
          <a:noFill/>
          <a:ln/>
        </p:spPr>
        <p:txBody>
          <a:bodyPr wrap="square" lIns="25400" tIns="25400" rIns="25400" bIns="25400" rtlCol="0" anchor="t">
            <a:normAutofit/>
          </a:bodyPr>
          <a:lstStyle/>
          <a:p>
            <a:pPr algn="l" indent="0" marL="0">
              <a:lnSpc>
                <a:spcPct val="100000"/>
              </a:lnSpc>
              <a:buNone/>
            </a:pPr>
            <a:r>
              <a:rPr lang="en-US" sz="4200" b="1" dirty="0">
                <a:solidFill>
                  <a:srgbClr val="006494"/>
                </a:solidFill>
                <a:latin typeface="Arial" pitchFamily="34" charset="0"/>
                <a:ea typeface="Arial" pitchFamily="34" charset="-122"/>
                <a:cs typeface="Arial" pitchFamily="34" charset="-120"/>
              </a:rPr>
              <a:t>01</a:t>
            </a:r>
            <a:endParaRPr lang="en-US" sz="4200" dirty="0"/>
          </a:p>
        </p:txBody>
      </p:sp>
      <p:sp>
        <p:nvSpPr>
          <p:cNvPr id="6" name="Text 4"/>
          <p:cNvSpPr/>
          <p:nvPr/>
        </p:nvSpPr>
        <p:spPr>
          <a:xfrm>
            <a:off x="2438400" y="3611761"/>
            <a:ext cx="15245905" cy="388590"/>
          </a:xfrm>
          <a:prstGeom prst="rect">
            <a:avLst/>
          </a:prstGeom>
          <a:noFill/>
          <a:ln/>
        </p:spPr>
        <p:txBody>
          <a:bodyPr wrap="square" lIns="25400" tIns="25400" rIns="25400" bIns="25400" rtlCol="0" anchor="t">
            <a:normAutofit/>
          </a:bodyPr>
          <a:lstStyle/>
          <a:p>
            <a:pPr algn="l" indent="0" marL="0">
              <a:lnSpc>
                <a:spcPct val="115000"/>
              </a:lnSpc>
              <a:buNone/>
            </a:pPr>
            <a:r>
              <a:rPr lang="en-US" sz="2400" b="1" dirty="0">
                <a:solidFill>
                  <a:srgbClr val="0D1F2D"/>
                </a:solidFill>
                <a:latin typeface="Arial" pitchFamily="34" charset="0"/>
                <a:ea typeface="Arial" pitchFamily="34" charset="-122"/>
                <a:cs typeface="Arial" pitchFamily="34" charset="-120"/>
              </a:rPr>
              <a:t>Overconfidence in swimming ability</a:t>
            </a:r>
            <a:endParaRPr lang="en-US" sz="2400" dirty="0"/>
          </a:p>
        </p:txBody>
      </p:sp>
      <p:sp>
        <p:nvSpPr>
          <p:cNvPr id="7" name="Text 5"/>
          <p:cNvSpPr/>
          <p:nvPr/>
        </p:nvSpPr>
        <p:spPr>
          <a:xfrm>
            <a:off x="2438400" y="4019401"/>
            <a:ext cx="15245905" cy="358080"/>
          </a:xfrm>
          <a:prstGeom prst="rect">
            <a:avLst/>
          </a:prstGeom>
          <a:noFill/>
          <a:ln/>
        </p:spPr>
        <p:txBody>
          <a:bodyPr wrap="square" lIns="25400" tIns="25400" rIns="25400" bIns="25400" rtlCol="0" anchor="t">
            <a:normAutofit/>
          </a:bodyPr>
          <a:lstStyle/>
          <a:p>
            <a:pPr algn="l" indent="0" marL="0">
              <a:lnSpc>
                <a:spcPct val="140000"/>
              </a:lnSpc>
              <a:buNone/>
            </a:pPr>
            <a:r>
              <a:rPr lang="en-US" sz="1800" dirty="0">
                <a:solidFill>
                  <a:srgbClr val="5A7A8A"/>
                </a:solidFill>
                <a:latin typeface="Arial" pitchFamily="34" charset="0"/>
                <a:ea typeface="Arial" pitchFamily="34" charset="-122"/>
                <a:cs typeface="Arial" pitchFamily="34" charset="-120"/>
              </a:rPr>
              <a:t>Pool laps don't prepare you for a cold river or a rip. Most young victims are described by friends as "a good swimmer".</a:t>
            </a:r>
            <a:endParaRPr lang="en-US" sz="1800" dirty="0"/>
          </a:p>
        </p:txBody>
      </p:sp>
      <p:sp>
        <p:nvSpPr>
          <p:cNvPr id="8" name="Shape 6"/>
          <p:cNvSpPr/>
          <p:nvPr/>
        </p:nvSpPr>
        <p:spPr>
          <a:xfrm>
            <a:off x="1047750" y="4777532"/>
            <a:ext cx="16192500" cy="9525"/>
          </a:xfrm>
          <a:prstGeom prst="rect">
            <a:avLst/>
          </a:prstGeom>
          <a:solidFill>
            <a:srgbClr val="CDD9E0"/>
          </a:solidFill>
          <a:ln/>
        </p:spPr>
        <p:txBody>
          <a:bodyPr/>
          <a:p/>
        </p:txBody>
      </p:sp>
      <p:sp>
        <p:nvSpPr>
          <p:cNvPr id="9" name="Text 7"/>
          <p:cNvSpPr/>
          <p:nvPr/>
        </p:nvSpPr>
        <p:spPr>
          <a:xfrm>
            <a:off x="1047750" y="4958507"/>
            <a:ext cx="1123950" cy="571500"/>
          </a:xfrm>
          <a:prstGeom prst="rect">
            <a:avLst/>
          </a:prstGeom>
          <a:noFill/>
          <a:ln/>
        </p:spPr>
        <p:txBody>
          <a:bodyPr wrap="square" lIns="25400" tIns="25400" rIns="25400" bIns="25400" rtlCol="0" anchor="t">
            <a:normAutofit/>
          </a:bodyPr>
          <a:lstStyle/>
          <a:p>
            <a:pPr algn="l" indent="0" marL="0">
              <a:lnSpc>
                <a:spcPct val="100000"/>
              </a:lnSpc>
              <a:buNone/>
            </a:pPr>
            <a:r>
              <a:rPr lang="en-US" sz="4200" b="1" dirty="0">
                <a:solidFill>
                  <a:srgbClr val="006494"/>
                </a:solidFill>
                <a:latin typeface="Arial" pitchFamily="34" charset="0"/>
                <a:ea typeface="Arial" pitchFamily="34" charset="-122"/>
                <a:cs typeface="Arial" pitchFamily="34" charset="-120"/>
              </a:rPr>
              <a:t>02</a:t>
            </a:r>
            <a:endParaRPr lang="en-US" sz="4200" dirty="0"/>
          </a:p>
        </p:txBody>
      </p:sp>
      <p:sp>
        <p:nvSpPr>
          <p:cNvPr id="10" name="Text 8"/>
          <p:cNvSpPr/>
          <p:nvPr/>
        </p:nvSpPr>
        <p:spPr>
          <a:xfrm>
            <a:off x="2438400" y="4958507"/>
            <a:ext cx="15245905" cy="388590"/>
          </a:xfrm>
          <a:prstGeom prst="rect">
            <a:avLst/>
          </a:prstGeom>
          <a:noFill/>
          <a:ln/>
        </p:spPr>
        <p:txBody>
          <a:bodyPr wrap="square" lIns="25400" tIns="25400" rIns="25400" bIns="25400" rtlCol="0" anchor="t">
            <a:normAutofit/>
          </a:bodyPr>
          <a:lstStyle/>
          <a:p>
            <a:pPr algn="l" indent="0" marL="0">
              <a:lnSpc>
                <a:spcPct val="115000"/>
              </a:lnSpc>
              <a:buNone/>
            </a:pPr>
            <a:r>
              <a:rPr lang="en-US" sz="2400" b="1" dirty="0">
                <a:solidFill>
                  <a:srgbClr val="0D1F2D"/>
                </a:solidFill>
                <a:latin typeface="Arial" pitchFamily="34" charset="0"/>
                <a:ea typeface="Arial" pitchFamily="34" charset="-122"/>
                <a:cs typeface="Arial" pitchFamily="34" charset="-120"/>
              </a:rPr>
              <a:t>Peer pressure to swim somewhere unsafe</a:t>
            </a:r>
            <a:endParaRPr lang="en-US" sz="2400" dirty="0"/>
          </a:p>
        </p:txBody>
      </p:sp>
      <p:sp>
        <p:nvSpPr>
          <p:cNvPr id="11" name="Text 9"/>
          <p:cNvSpPr/>
          <p:nvPr/>
        </p:nvSpPr>
        <p:spPr>
          <a:xfrm>
            <a:off x="2438400" y="5366147"/>
            <a:ext cx="15245905" cy="678061"/>
          </a:xfrm>
          <a:prstGeom prst="rect">
            <a:avLst/>
          </a:prstGeom>
          <a:noFill/>
          <a:ln/>
        </p:spPr>
        <p:txBody>
          <a:bodyPr wrap="square" lIns="25400" tIns="25400" rIns="25400" bIns="25400" rtlCol="0" anchor="t">
            <a:normAutofit/>
          </a:bodyPr>
          <a:lstStyle/>
          <a:p>
            <a:pPr algn="l" indent="0" marL="0">
              <a:lnSpc>
                <a:spcPct val="140000"/>
              </a:lnSpc>
              <a:buNone/>
            </a:pPr>
            <a:r>
              <a:rPr lang="en-US" sz="1800" dirty="0">
                <a:solidFill>
                  <a:srgbClr val="5A7A8A"/>
                </a:solidFill>
                <a:latin typeface="Arial" pitchFamily="34" charset="0"/>
                <a:ea typeface="Arial" pitchFamily="34" charset="-122"/>
                <a:cs typeface="Arial" pitchFamily="34" charset="-120"/>
              </a:rPr>
              <a:t>Groups push individuals to jump, swim, or stay in when they wouldn't on their own. "Everyone else is doing it" is the most common factor in young-person drownings.</a:t>
            </a:r>
            <a:endParaRPr lang="en-US" sz="1800" dirty="0"/>
          </a:p>
        </p:txBody>
      </p:sp>
      <p:sp>
        <p:nvSpPr>
          <p:cNvPr id="12" name="Shape 10"/>
          <p:cNvSpPr/>
          <p:nvPr/>
        </p:nvSpPr>
        <p:spPr>
          <a:xfrm>
            <a:off x="1047750" y="6444258"/>
            <a:ext cx="16192500" cy="9525"/>
          </a:xfrm>
          <a:prstGeom prst="rect">
            <a:avLst/>
          </a:prstGeom>
          <a:solidFill>
            <a:srgbClr val="CDD9E0"/>
          </a:solidFill>
          <a:ln/>
        </p:spPr>
        <p:txBody>
          <a:bodyPr/>
          <a:p/>
        </p:txBody>
      </p:sp>
      <p:sp>
        <p:nvSpPr>
          <p:cNvPr id="13" name="Text 11"/>
          <p:cNvSpPr/>
          <p:nvPr/>
        </p:nvSpPr>
        <p:spPr>
          <a:xfrm>
            <a:off x="1047750" y="6625233"/>
            <a:ext cx="1123950" cy="571500"/>
          </a:xfrm>
          <a:prstGeom prst="rect">
            <a:avLst/>
          </a:prstGeom>
          <a:noFill/>
          <a:ln/>
        </p:spPr>
        <p:txBody>
          <a:bodyPr wrap="square" lIns="25400" tIns="25400" rIns="25400" bIns="25400" rtlCol="0" anchor="t">
            <a:normAutofit/>
          </a:bodyPr>
          <a:lstStyle/>
          <a:p>
            <a:pPr algn="l" indent="0" marL="0">
              <a:lnSpc>
                <a:spcPct val="100000"/>
              </a:lnSpc>
              <a:buNone/>
            </a:pPr>
            <a:r>
              <a:rPr lang="en-US" sz="4200" b="1" dirty="0">
                <a:solidFill>
                  <a:srgbClr val="006494"/>
                </a:solidFill>
                <a:latin typeface="Arial" pitchFamily="34" charset="0"/>
                <a:ea typeface="Arial" pitchFamily="34" charset="-122"/>
                <a:cs typeface="Arial" pitchFamily="34" charset="-120"/>
              </a:rPr>
              <a:t>03</a:t>
            </a:r>
            <a:endParaRPr lang="en-US" sz="4200" dirty="0"/>
          </a:p>
        </p:txBody>
      </p:sp>
      <p:sp>
        <p:nvSpPr>
          <p:cNvPr id="14" name="Text 12"/>
          <p:cNvSpPr/>
          <p:nvPr/>
        </p:nvSpPr>
        <p:spPr>
          <a:xfrm>
            <a:off x="2438400" y="6625233"/>
            <a:ext cx="15245905" cy="388590"/>
          </a:xfrm>
          <a:prstGeom prst="rect">
            <a:avLst/>
          </a:prstGeom>
          <a:noFill/>
          <a:ln/>
        </p:spPr>
        <p:txBody>
          <a:bodyPr wrap="square" lIns="25400" tIns="25400" rIns="25400" bIns="25400" rtlCol="0" anchor="t">
            <a:normAutofit/>
          </a:bodyPr>
          <a:lstStyle/>
          <a:p>
            <a:pPr algn="l" indent="0" marL="0">
              <a:lnSpc>
                <a:spcPct val="115000"/>
              </a:lnSpc>
              <a:buNone/>
            </a:pPr>
            <a:r>
              <a:rPr lang="en-US" sz="2400" b="1" dirty="0">
                <a:solidFill>
                  <a:srgbClr val="0D1F2D"/>
                </a:solidFill>
                <a:latin typeface="Arial" pitchFamily="34" charset="0"/>
                <a:ea typeface="Arial" pitchFamily="34" charset="-122"/>
                <a:cs typeface="Arial" pitchFamily="34" charset="-120"/>
              </a:rPr>
              <a:t>Risk-taking and impulse decisions</a:t>
            </a:r>
            <a:endParaRPr lang="en-US" sz="2400" dirty="0"/>
          </a:p>
        </p:txBody>
      </p:sp>
      <p:sp>
        <p:nvSpPr>
          <p:cNvPr id="15" name="Text 13"/>
          <p:cNvSpPr/>
          <p:nvPr/>
        </p:nvSpPr>
        <p:spPr>
          <a:xfrm>
            <a:off x="2438400" y="7032873"/>
            <a:ext cx="15245905" cy="358080"/>
          </a:xfrm>
          <a:prstGeom prst="rect">
            <a:avLst/>
          </a:prstGeom>
          <a:noFill/>
          <a:ln/>
        </p:spPr>
        <p:txBody>
          <a:bodyPr wrap="square" lIns="25400" tIns="25400" rIns="25400" bIns="25400" rtlCol="0" anchor="t">
            <a:normAutofit/>
          </a:bodyPr>
          <a:lstStyle/>
          <a:p>
            <a:pPr algn="l" indent="0" marL="0">
              <a:lnSpc>
                <a:spcPct val="140000"/>
              </a:lnSpc>
              <a:buNone/>
            </a:pPr>
            <a:r>
              <a:rPr lang="en-US" sz="1800" dirty="0">
                <a:solidFill>
                  <a:srgbClr val="5A7A8A"/>
                </a:solidFill>
                <a:latin typeface="Arial" pitchFamily="34" charset="0"/>
                <a:ea typeface="Arial" pitchFamily="34" charset="-122"/>
                <a:cs typeface="Arial" pitchFamily="34" charset="-120"/>
              </a:rPr>
              <a:t>Jumping from rocks, diving into murky water, swimming further than planned — decisions made in seconds with consequences that last a lifetime.</a:t>
            </a:r>
            <a:endParaRPr lang="en-US" sz="1800" dirty="0"/>
          </a:p>
        </p:txBody>
      </p:sp>
      <p:sp>
        <p:nvSpPr>
          <p:cNvPr id="16" name="Shape 14"/>
          <p:cNvSpPr/>
          <p:nvPr/>
        </p:nvSpPr>
        <p:spPr>
          <a:xfrm>
            <a:off x="1047750" y="7791004"/>
            <a:ext cx="16192500" cy="9525"/>
          </a:xfrm>
          <a:prstGeom prst="rect">
            <a:avLst/>
          </a:prstGeom>
          <a:solidFill>
            <a:srgbClr val="CDD9E0"/>
          </a:solidFill>
          <a:ln/>
        </p:spPr>
        <p:txBody>
          <a:bodyPr/>
          <a:p/>
        </p:txBody>
      </p:sp>
      <p:sp>
        <p:nvSpPr>
          <p:cNvPr id="17" name="Text 15"/>
          <p:cNvSpPr/>
          <p:nvPr/>
        </p:nvSpPr>
        <p:spPr>
          <a:xfrm>
            <a:off x="1047750" y="7971979"/>
            <a:ext cx="1123950" cy="571500"/>
          </a:xfrm>
          <a:prstGeom prst="rect">
            <a:avLst/>
          </a:prstGeom>
          <a:noFill/>
          <a:ln/>
        </p:spPr>
        <p:txBody>
          <a:bodyPr wrap="square" lIns="25400" tIns="25400" rIns="25400" bIns="25400" rtlCol="0" anchor="t">
            <a:normAutofit/>
          </a:bodyPr>
          <a:lstStyle/>
          <a:p>
            <a:pPr algn="l" indent="0" marL="0">
              <a:lnSpc>
                <a:spcPct val="100000"/>
              </a:lnSpc>
              <a:buNone/>
            </a:pPr>
            <a:r>
              <a:rPr lang="en-US" sz="4200" b="1" dirty="0">
                <a:solidFill>
                  <a:srgbClr val="006494"/>
                </a:solidFill>
                <a:latin typeface="Arial" pitchFamily="34" charset="0"/>
                <a:ea typeface="Arial" pitchFamily="34" charset="-122"/>
                <a:cs typeface="Arial" pitchFamily="34" charset="-120"/>
              </a:rPr>
              <a:t>04</a:t>
            </a:r>
            <a:endParaRPr lang="en-US" sz="4200" dirty="0"/>
          </a:p>
        </p:txBody>
      </p:sp>
      <p:sp>
        <p:nvSpPr>
          <p:cNvPr id="18" name="Text 16"/>
          <p:cNvSpPr/>
          <p:nvPr/>
        </p:nvSpPr>
        <p:spPr>
          <a:xfrm>
            <a:off x="2438400" y="7971979"/>
            <a:ext cx="15245905" cy="388590"/>
          </a:xfrm>
          <a:prstGeom prst="rect">
            <a:avLst/>
          </a:prstGeom>
          <a:noFill/>
          <a:ln/>
        </p:spPr>
        <p:txBody>
          <a:bodyPr wrap="square" lIns="25400" tIns="25400" rIns="25400" bIns="25400" rtlCol="0" anchor="t">
            <a:normAutofit/>
          </a:bodyPr>
          <a:lstStyle/>
          <a:p>
            <a:pPr algn="l" indent="0" marL="0">
              <a:lnSpc>
                <a:spcPct val="115000"/>
              </a:lnSpc>
              <a:buNone/>
            </a:pPr>
            <a:r>
              <a:rPr lang="en-US" sz="2400" b="1" dirty="0">
                <a:solidFill>
                  <a:srgbClr val="0D1F2D"/>
                </a:solidFill>
                <a:latin typeface="Arial" pitchFamily="34" charset="0"/>
                <a:ea typeface="Arial" pitchFamily="34" charset="-122"/>
                <a:cs typeface="Arial" pitchFamily="34" charset="-120"/>
              </a:rPr>
              <a:t>No-one watching, no-one trained</a:t>
            </a:r>
            <a:endParaRPr lang="en-US" sz="2400" dirty="0"/>
          </a:p>
        </p:txBody>
      </p:sp>
      <p:sp>
        <p:nvSpPr>
          <p:cNvPr id="19" name="Text 17"/>
          <p:cNvSpPr/>
          <p:nvPr/>
        </p:nvSpPr>
        <p:spPr>
          <a:xfrm>
            <a:off x="2438400" y="8379619"/>
            <a:ext cx="15245905" cy="358080"/>
          </a:xfrm>
          <a:prstGeom prst="rect">
            <a:avLst/>
          </a:prstGeom>
          <a:noFill/>
          <a:ln/>
        </p:spPr>
        <p:txBody>
          <a:bodyPr wrap="square" lIns="25400" tIns="25400" rIns="25400" bIns="25400" rtlCol="0" anchor="t">
            <a:normAutofit/>
          </a:bodyPr>
          <a:lstStyle/>
          <a:p>
            <a:pPr algn="l" indent="0" marL="0">
              <a:lnSpc>
                <a:spcPct val="140000"/>
              </a:lnSpc>
              <a:buNone/>
            </a:pPr>
            <a:r>
              <a:rPr lang="en-US" sz="1800" dirty="0">
                <a:solidFill>
                  <a:srgbClr val="5A7A8A"/>
                </a:solidFill>
                <a:latin typeface="Arial" pitchFamily="34" charset="0"/>
                <a:ea typeface="Arial" pitchFamily="34" charset="-122"/>
                <a:cs typeface="Arial" pitchFamily="34" charset="-120"/>
              </a:rPr>
              <a:t>Friends in the water can't rescue friends in the water. Unpatrolled means no lifeguard, no equipment, no quick response.</a:t>
            </a:r>
            <a:endParaRPr lang="en-US" sz="1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06494"/>
        </a:solidFill>
      </p:bgPr>
    </p:bg>
    <p:spTree>
      <p:nvGrpSpPr>
        <p:cNvPr id="1" name=""/>
        <p:cNvGrpSpPr/>
        <p:nvPr/>
      </p:nvGrpSpPr>
      <p:grpSpPr>
        <a:xfrm>
          <a:off x="0" y="0"/>
          <a:ext cx="0" cy="0"/>
          <a:chOff x="0" y="0"/>
          <a:chExt cx="0" cy="0"/>
        </a:xfrm>
      </p:grpSpPr>
      <p:sp>
        <p:nvSpPr>
          <p:cNvPr id="2" name="Text 0"/>
          <p:cNvSpPr/>
          <p:nvPr/>
        </p:nvSpPr>
        <p:spPr>
          <a:xfrm>
            <a:off x="1047750" y="2095500"/>
            <a:ext cx="6468044" cy="384721"/>
          </a:xfrm>
          <a:prstGeom prst="rect">
            <a:avLst/>
          </a:prstGeom>
          <a:noFill/>
          <a:ln/>
        </p:spPr>
        <p:txBody>
          <a:bodyPr wrap="square" lIns="25400" tIns="25400" rIns="25400" bIns="25400" rtlCol="0" anchor="t">
            <a:normAutofit/>
          </a:bodyPr>
          <a:lstStyle/>
          <a:p>
            <a:pPr algn="l" indent="0" marL="0">
              <a:lnSpc>
                <a:spcPct val="140000"/>
              </a:lnSpc>
              <a:buNone/>
            </a:pPr>
            <a:r>
              <a:rPr lang="en-US" sz="1950" spc="375" kern="0" dirty="0">
                <a:solidFill>
                  <a:srgbClr val="FFD166"/>
                </a:solidFill>
                <a:latin typeface="Courier New" pitchFamily="34" charset="0"/>
                <a:ea typeface="Courier New" pitchFamily="34" charset="-122"/>
                <a:cs typeface="Courier New" pitchFamily="34" charset="-120"/>
              </a:rPr>
              <a:t>THE SINGLE MOST IMPORTANT ACTION</a:t>
            </a:r>
            <a:endParaRPr lang="en-US" sz="1950" dirty="0"/>
          </a:p>
        </p:txBody>
      </p:sp>
      <p:sp>
        <p:nvSpPr>
          <p:cNvPr id="3" name="Text 1"/>
          <p:cNvSpPr/>
          <p:nvPr/>
        </p:nvSpPr>
        <p:spPr>
          <a:xfrm>
            <a:off x="1047750" y="2861221"/>
            <a:ext cx="16678275" cy="3181350"/>
          </a:xfrm>
          <a:prstGeom prst="rect">
            <a:avLst/>
          </a:prstGeom>
          <a:noFill/>
          <a:ln/>
        </p:spPr>
        <p:txBody>
          <a:bodyPr wrap="square" lIns="25400" tIns="25400" rIns="25400" bIns="25400" rtlCol="0" anchor="t">
            <a:normAutofit/>
          </a:bodyPr>
          <a:lstStyle/>
          <a:p>
            <a:pPr algn="l" indent="0" marL="0">
              <a:lnSpc>
                <a:spcPct val="100000"/>
              </a:lnSpc>
              <a:buNone/>
            </a:pPr>
            <a:r>
              <a:rPr lang="en-US" sz="8250" b="1" dirty="0">
                <a:solidFill>
                  <a:srgbClr val="FFFFFF"/>
                </a:solidFill>
                <a:latin typeface="Arial" pitchFamily="34" charset="0"/>
                <a:ea typeface="Arial" pitchFamily="34" charset="-122"/>
                <a:cs typeface="Arial" pitchFamily="34" charset="-120"/>
              </a:rPr>
              <a:t>Swim at a patrolled location, between the red and yellow flags.</a:t>
            </a:r>
            <a:endParaRPr lang="en-US" sz="8250" dirty="0"/>
          </a:p>
        </p:txBody>
      </p:sp>
      <p:sp>
        <p:nvSpPr>
          <p:cNvPr id="4" name="Text 2"/>
          <p:cNvSpPr/>
          <p:nvPr/>
        </p:nvSpPr>
        <p:spPr>
          <a:xfrm>
            <a:off x="1047750" y="6480721"/>
            <a:ext cx="14716125" cy="1028700"/>
          </a:xfrm>
          <a:prstGeom prst="rect">
            <a:avLst/>
          </a:prstGeom>
          <a:noFill/>
          <a:ln/>
        </p:spPr>
        <p:txBody>
          <a:bodyPr wrap="square" lIns="25400" tIns="25400" rIns="25400" bIns="25400" rtlCol="0" anchor="t">
            <a:normAutofit/>
          </a:bodyPr>
          <a:lstStyle/>
          <a:p>
            <a:pPr algn="l" indent="0" marL="0">
              <a:lnSpc>
                <a:spcPct val="130000"/>
              </a:lnSpc>
              <a:buNone/>
            </a:pPr>
            <a:r>
              <a:rPr lang="en-US" sz="3000" dirty="0">
                <a:solidFill>
                  <a:srgbClr val="FFFFFF">
                    <a:alpha val="85000"/>
                  </a:srgbClr>
                </a:solidFill>
                <a:latin typeface="Arial" pitchFamily="34" charset="0"/>
                <a:ea typeface="Arial" pitchFamily="34" charset="-122"/>
                <a:cs typeface="Arial" pitchFamily="34" charset="-120"/>
              </a:rPr>
              <a:t>In 2024–25, Victoria recorded zero drowning deaths in public swimming pools — the first time since 2019–20. But 25% of deaths happened in home environments, where no lifeguard can reach.</a:t>
            </a:r>
            <a:pPr algn="l" indent="0" marL="0">
              <a:lnSpc>
                <a:spcPct val="130000"/>
              </a:lnSpc>
              <a:buNone/>
            </a:pPr>
            <a:r>
              <a:rPr lang="en-US" sz="3000" b="1" dirty="0">
                <a:solidFill>
                  <a:srgbClr val="FFD166"/>
                </a:solidFill>
                <a:latin typeface="Arial" pitchFamily="34" charset="0"/>
                <a:ea typeface="Arial" pitchFamily="34" charset="-122"/>
                <a:cs typeface="Arial" pitchFamily="34" charset="-120"/>
              </a:rPr>
              <a:t/>
            </a:r>
            <a:pPr algn="l" indent="0" marL="0">
              <a:lnSpc>
                <a:spcPct val="130000"/>
              </a:lnSpc>
              <a:buNone/>
            </a:pPr>
            <a:r>
              <a:rPr lang="en-US" sz="3000" dirty="0">
                <a:solidFill>
                  <a:srgbClr val="FFFFFF">
                    <a:alpha val="85000"/>
                  </a:srgbClr>
                </a:solidFill>
                <a:latin typeface="Arial" pitchFamily="34" charset="0"/>
                <a:ea typeface="Arial" pitchFamily="34" charset="-122"/>
                <a:cs typeface="Arial" pitchFamily="34" charset="-120"/>
              </a:rPr>
              <a:t/>
            </a:r>
            <a:endParaRPr lang="en-US" sz="3000" dirty="0"/>
          </a:p>
        </p:txBody>
      </p:sp>
      <p:sp>
        <p:nvSpPr>
          <p:cNvPr id="5" name="Text 3"/>
          <p:cNvSpPr/>
          <p:nvPr/>
        </p:nvSpPr>
        <p:spPr>
          <a:xfrm>
            <a:off x="1047750" y="7947571"/>
            <a:ext cx="7402364" cy="358080"/>
          </a:xfrm>
          <a:prstGeom prst="rect">
            <a:avLst/>
          </a:prstGeom>
          <a:noFill/>
          <a:ln/>
        </p:spPr>
        <p:txBody>
          <a:bodyPr wrap="square" lIns="25400" tIns="25400" rIns="25400" bIns="25400" rtlCol="0" anchor="t">
            <a:normAutofit/>
          </a:bodyPr>
          <a:lstStyle/>
          <a:p>
            <a:pPr algn="l" indent="0" marL="0">
              <a:lnSpc>
                <a:spcPct val="140000"/>
              </a:lnSpc>
              <a:buNone/>
            </a:pPr>
            <a:r>
              <a:rPr lang="en-US" sz="1800" spc="150" kern="0" dirty="0">
                <a:solidFill>
                  <a:srgbClr val="FFFFFF">
                    <a:alpha val="60000"/>
                  </a:srgbClr>
                </a:solidFill>
                <a:latin typeface="Courier New" pitchFamily="34" charset="0"/>
                <a:ea typeface="Courier New" pitchFamily="34" charset="-122"/>
                <a:cs typeface="Courier New" pitchFamily="34" charset="-120"/>
              </a:rPr>
              <a:t>Source · LSV Victorian Drowning Report 2024–25</a:t>
            </a:r>
            <a:endParaRPr lang="en-US" sz="1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D1F2D"/>
        </a:solidFill>
      </p:bgPr>
    </p:bg>
    <p:spTree>
      <p:nvGrpSpPr>
        <p:cNvPr id="1" name=""/>
        <p:cNvGrpSpPr/>
        <p:nvPr/>
      </p:nvGrpSpPr>
      <p:grpSpPr>
        <a:xfrm>
          <a:off x="0" y="0"/>
          <a:ext cx="0" cy="0"/>
          <a:chOff x="0" y="0"/>
          <a:chExt cx="0" cy="0"/>
        </a:xfrm>
      </p:grpSpPr>
      <p:sp>
        <p:nvSpPr>
          <p:cNvPr id="2" name="Text 0"/>
          <p:cNvSpPr/>
          <p:nvPr/>
        </p:nvSpPr>
        <p:spPr>
          <a:xfrm>
            <a:off x="1047750" y="3230017"/>
            <a:ext cx="16678275" cy="384721"/>
          </a:xfrm>
          <a:prstGeom prst="rect">
            <a:avLst/>
          </a:prstGeom>
          <a:noFill/>
          <a:ln/>
        </p:spPr>
        <p:txBody>
          <a:bodyPr wrap="square" lIns="25400" tIns="25400" rIns="25400" bIns="25400" rtlCol="0" anchor="t">
            <a:normAutofit/>
          </a:bodyPr>
          <a:lstStyle/>
          <a:p>
            <a:pPr algn="l" indent="0" marL="0">
              <a:lnSpc>
                <a:spcPct val="140000"/>
              </a:lnSpc>
              <a:buNone/>
            </a:pPr>
            <a:r>
              <a:rPr lang="en-US" sz="1950" spc="450" kern="0" dirty="0">
                <a:solidFill>
                  <a:srgbClr val="FFD166"/>
                </a:solidFill>
                <a:latin typeface="Courier New" pitchFamily="34" charset="0"/>
                <a:ea typeface="Courier New" pitchFamily="34" charset="-122"/>
                <a:cs typeface="Courier New" pitchFamily="34" charset="-120"/>
              </a:rPr>
              <a:t>LESSON 1 · EXIT TICKET · 5 MIN</a:t>
            </a:r>
            <a:endParaRPr lang="en-US" sz="1950" dirty="0"/>
          </a:p>
        </p:txBody>
      </p:sp>
      <p:sp>
        <p:nvSpPr>
          <p:cNvPr id="3" name="Text 1"/>
          <p:cNvSpPr/>
          <p:nvPr/>
        </p:nvSpPr>
        <p:spPr>
          <a:xfrm>
            <a:off x="1047750" y="3919537"/>
            <a:ext cx="15697200" cy="1798141"/>
          </a:xfrm>
          <a:prstGeom prst="rect">
            <a:avLst/>
          </a:prstGeom>
          <a:noFill/>
          <a:ln/>
        </p:spPr>
        <p:txBody>
          <a:bodyPr wrap="square" lIns="25400" tIns="25400" rIns="25400" bIns="25400" rtlCol="0" anchor="t">
            <a:normAutofit/>
          </a:bodyPr>
          <a:lstStyle/>
          <a:p>
            <a:pPr algn="l" indent="0" marL="0">
              <a:lnSpc>
                <a:spcPct val="105000"/>
              </a:lnSpc>
              <a:buNone/>
            </a:pPr>
            <a:r>
              <a:rPr lang="en-US" sz="6600" b="1" spc="-75" kern="0" dirty="0">
                <a:solidFill>
                  <a:srgbClr val="FFFFFF"/>
                </a:solidFill>
                <a:latin typeface="Arial" pitchFamily="34" charset="0"/>
                <a:ea typeface="Arial" pitchFamily="34" charset="-122"/>
                <a:cs typeface="Arial" pitchFamily="34" charset="-120"/>
              </a:rPr>
              <a:t>One fact that surprised you. One question you still have.</a:t>
            </a:r>
            <a:endParaRPr lang="en-US" sz="6600" dirty="0"/>
          </a:p>
        </p:txBody>
      </p:sp>
      <p:sp>
        <p:nvSpPr>
          <p:cNvPr id="4" name="Text 2"/>
          <p:cNvSpPr/>
          <p:nvPr/>
        </p:nvSpPr>
        <p:spPr>
          <a:xfrm>
            <a:off x="1047750" y="6155829"/>
            <a:ext cx="15697200" cy="1015305"/>
          </a:xfrm>
          <a:prstGeom prst="rect">
            <a:avLst/>
          </a:prstGeom>
          <a:noFill/>
          <a:ln/>
        </p:spPr>
        <p:txBody>
          <a:bodyPr wrap="square" lIns="25400" tIns="25400" rIns="25400" bIns="25400" rtlCol="0" anchor="t">
            <a:normAutofit/>
          </a:bodyPr>
          <a:lstStyle/>
          <a:p>
            <a:pPr algn="l" indent="0" marL="0">
              <a:lnSpc>
                <a:spcPct val="135000"/>
              </a:lnSpc>
              <a:buNone/>
            </a:pPr>
            <a:r>
              <a:rPr lang="en-US" sz="2850" dirty="0">
                <a:solidFill>
                  <a:srgbClr val="FFFFFF">
                    <a:alpha val="80000"/>
                  </a:srgbClr>
                </a:solidFill>
                <a:latin typeface="Arial" pitchFamily="34" charset="0"/>
                <a:ea typeface="Arial" pitchFamily="34" charset="-122"/>
                <a:cs typeface="Arial" pitchFamily="34" charset="-120"/>
              </a:rPr>
              <a:t>Write both in your workbook before you leave. Be honest — the question is what we'll </a:t>
            </a:r>
            <a:pPr algn="l" indent="0" marL="0">
              <a:lnSpc>
                <a:spcPct val="135000"/>
              </a:lnSpc>
              <a:buNone/>
            </a:pPr>
            <a:r>
              <a:rPr lang="en-US" sz="2850" dirty="0">
                <a:solidFill>
                  <a:srgbClr val="FFD166"/>
                </a:solidFill>
                <a:latin typeface="Arial" pitchFamily="34" charset="0"/>
                <a:ea typeface="Arial" pitchFamily="34" charset="-122"/>
                <a:cs typeface="Arial" pitchFamily="34" charset="-120"/>
              </a:rPr>
              <a:t>come back to </a:t>
            </a:r>
            <a:pPr algn="l" indent="0" marL="0">
              <a:lnSpc>
                <a:spcPct val="135000"/>
              </a:lnSpc>
              <a:buNone/>
            </a:pPr>
            <a:r>
              <a:rPr lang="en-US" sz="2850" dirty="0">
                <a:solidFill>
                  <a:srgbClr val="FFFFFF">
                    <a:alpha val="80000"/>
                  </a:srgbClr>
                </a:solidFill>
                <a:latin typeface="Arial" pitchFamily="34" charset="0"/>
                <a:ea typeface="Arial" pitchFamily="34" charset="-122"/>
                <a:cs typeface="Arial" pitchFamily="34" charset="-120"/>
              </a:rPr>
              <a:t>in Lesson 2.</a:t>
            </a:r>
            <a:endParaRPr lang="en-US" sz="2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0695C"/>
        </a:solidFill>
      </p:bgPr>
    </p:bg>
    <p:spTree>
      <p:nvGrpSpPr>
        <p:cNvPr id="1" name=""/>
        <p:cNvGrpSpPr/>
        <p:nvPr/>
      </p:nvGrpSpPr>
      <p:grpSpPr>
        <a:xfrm>
          <a:off x="0" y="0"/>
          <a:ext cx="0" cy="0"/>
          <a:chOff x="0" y="0"/>
          <a:chExt cx="0" cy="0"/>
        </a:xfrm>
      </p:grpSpPr>
      <p:sp>
        <p:nvSpPr>
          <p:cNvPr id="2" name="Text 0"/>
          <p:cNvSpPr/>
          <p:nvPr/>
        </p:nvSpPr>
        <p:spPr>
          <a:xfrm>
            <a:off x="1047750" y="2385120"/>
            <a:ext cx="7606244" cy="358080"/>
          </a:xfrm>
          <a:prstGeom prst="rect">
            <a:avLst/>
          </a:prstGeom>
          <a:noFill/>
          <a:ln/>
        </p:spPr>
        <p:txBody>
          <a:bodyPr wrap="square" lIns="25400" tIns="25400" rIns="25400" bIns="25400" rtlCol="0" anchor="t">
            <a:normAutofit/>
          </a:bodyPr>
          <a:lstStyle/>
          <a:p>
            <a:pPr algn="l" indent="0" marL="0">
              <a:lnSpc>
                <a:spcPct val="140000"/>
              </a:lnSpc>
              <a:buNone/>
            </a:pPr>
            <a:r>
              <a:rPr lang="en-US" sz="1800" spc="450" kern="0" dirty="0">
                <a:solidFill>
                  <a:srgbClr val="FFFFFF">
                    <a:alpha val="70000"/>
                  </a:srgbClr>
                </a:solidFill>
                <a:latin typeface="Courier New" pitchFamily="34" charset="0"/>
                <a:ea typeface="Courier New" pitchFamily="34" charset="-122"/>
                <a:cs typeface="Courier New" pitchFamily="34" charset="-120"/>
              </a:rPr>
              <a:t>LESSON 2 · 50 MIN · WORKBOOK SECTION 2</a:t>
            </a:r>
            <a:endParaRPr lang="en-US" sz="1800" dirty="0"/>
          </a:p>
        </p:txBody>
      </p:sp>
      <p:sp>
        <p:nvSpPr>
          <p:cNvPr id="3" name="Text 1"/>
          <p:cNvSpPr/>
          <p:nvPr/>
        </p:nvSpPr>
        <p:spPr>
          <a:xfrm>
            <a:off x="1047750" y="3048000"/>
            <a:ext cx="2297460" cy="1657350"/>
          </a:xfrm>
          <a:prstGeom prst="rect">
            <a:avLst/>
          </a:prstGeom>
          <a:noFill/>
          <a:ln/>
        </p:spPr>
        <p:txBody>
          <a:bodyPr wrap="square" lIns="25400" tIns="25400" rIns="25400" bIns="25400" rtlCol="0" anchor="t">
            <a:normAutofit/>
          </a:bodyPr>
          <a:lstStyle/>
          <a:p>
            <a:pPr algn="l" indent="0" marL="0">
              <a:lnSpc>
                <a:spcPct val="85000"/>
              </a:lnSpc>
              <a:buNone/>
            </a:pPr>
            <a:r>
              <a:rPr lang="en-US" sz="15000" b="1" spc="-450" kern="0" dirty="0">
                <a:solidFill>
                  <a:srgbClr val="FFFFFF">
                    <a:alpha val="25000"/>
                  </a:srgbClr>
                </a:solidFill>
                <a:latin typeface="Arial" pitchFamily="34" charset="0"/>
                <a:ea typeface="Arial" pitchFamily="34" charset="-122"/>
                <a:cs typeface="Arial" pitchFamily="34" charset="-120"/>
              </a:rPr>
              <a:t>02</a:t>
            </a:r>
            <a:endParaRPr lang="en-US" sz="15000" dirty="0"/>
          </a:p>
        </p:txBody>
      </p:sp>
      <p:sp>
        <p:nvSpPr>
          <p:cNvPr id="4" name="Text 2"/>
          <p:cNvSpPr/>
          <p:nvPr/>
        </p:nvSpPr>
        <p:spPr>
          <a:xfrm>
            <a:off x="1047750" y="4895850"/>
            <a:ext cx="14716125" cy="1943100"/>
          </a:xfrm>
          <a:prstGeom prst="rect">
            <a:avLst/>
          </a:prstGeom>
          <a:noFill/>
          <a:ln/>
        </p:spPr>
        <p:txBody>
          <a:bodyPr wrap="square" lIns="25400" tIns="25400" rIns="25400" bIns="25400" rtlCol="0" anchor="t">
            <a:normAutofit/>
          </a:bodyPr>
          <a:lstStyle/>
          <a:p>
            <a:pPr algn="l" indent="0" marL="0">
              <a:lnSpc>
                <a:spcPct val="100000"/>
              </a:lnSpc>
              <a:buNone/>
            </a:pPr>
            <a:r>
              <a:rPr lang="en-US" sz="7500" b="1" spc="-150" kern="0" dirty="0">
                <a:solidFill>
                  <a:srgbClr val="FFFFFF"/>
                </a:solidFill>
                <a:latin typeface="Arial" pitchFamily="34" charset="0"/>
                <a:ea typeface="Arial" pitchFamily="34" charset="-122"/>
                <a:cs typeface="Arial" pitchFamily="34" charset="-120"/>
              </a:rPr>
              <a:t>Beach flags, signals &amp; rip current survival</a:t>
            </a:r>
            <a:endParaRPr lang="en-US" sz="7500" dirty="0"/>
          </a:p>
        </p:txBody>
      </p:sp>
      <p:sp>
        <p:nvSpPr>
          <p:cNvPr id="5" name="Shape 3"/>
          <p:cNvSpPr/>
          <p:nvPr/>
        </p:nvSpPr>
        <p:spPr>
          <a:xfrm>
            <a:off x="1047750" y="7372350"/>
            <a:ext cx="1844278" cy="529530"/>
          </a:xfrm>
          <a:prstGeom prst="roundRect">
            <a:avLst>
              <a:gd name="adj" fmla="val 50000"/>
            </a:avLst>
          </a:prstGeom>
          <a:solidFill>
            <a:srgbClr val="FFFFFF">
              <a:alpha val="12000"/>
            </a:srgbClr>
          </a:solidFill>
          <a:ln w="9525">
            <a:solidFill>
              <a:srgbClr val="FFFFFF">
                <a:alpha val="25000"/>
              </a:srgbClr>
            </a:solidFill>
            <a:prstDash val="solid"/>
          </a:ln>
        </p:spPr>
        <p:txBody>
          <a:bodyPr/>
          <a:p/>
        </p:txBody>
      </p:sp>
      <p:sp>
        <p:nvSpPr>
          <p:cNvPr id="6" name="Text 4"/>
          <p:cNvSpPr/>
          <p:nvPr/>
        </p:nvSpPr>
        <p:spPr>
          <a:xfrm>
            <a:off x="1266825" y="7477125"/>
            <a:ext cx="1482328" cy="358080"/>
          </a:xfrm>
          <a:prstGeom prst="rect">
            <a:avLst/>
          </a:prstGeom>
          <a:noFill/>
          <a:ln/>
        </p:spPr>
        <p:txBody>
          <a:bodyPr wrap="square" lIns="25400" tIns="25400" rIns="25400" bIns="25400" rtlCol="0" anchor="t">
            <a:normAutofit/>
          </a:bodyPr>
          <a:lstStyle/>
          <a:p>
            <a:pPr algn="l" indent="0" marL="0">
              <a:lnSpc>
                <a:spcPct val="140000"/>
              </a:lnSpc>
              <a:buNone/>
            </a:pPr>
            <a:r>
              <a:rPr lang="en-US" sz="1800" spc="150" kern="0" dirty="0">
                <a:solidFill>
                  <a:srgbClr val="FFFFFF">
                    <a:alpha val="75000"/>
                  </a:srgbClr>
                </a:solidFill>
                <a:latin typeface="Courier New" pitchFamily="34" charset="0"/>
                <a:ea typeface="Courier New" pitchFamily="34" charset="-122"/>
                <a:cs typeface="Courier New" pitchFamily="34" charset="-120"/>
              </a:rPr>
              <a:t>VCHPEP126</a:t>
            </a:r>
            <a:endParaRPr lang="en-US" sz="1800" dirty="0"/>
          </a:p>
        </p:txBody>
      </p:sp>
      <p:sp>
        <p:nvSpPr>
          <p:cNvPr id="7" name="Shape 5"/>
          <p:cNvSpPr/>
          <p:nvPr/>
        </p:nvSpPr>
        <p:spPr>
          <a:xfrm>
            <a:off x="3120628" y="7372350"/>
            <a:ext cx="1844278" cy="529530"/>
          </a:xfrm>
          <a:prstGeom prst="roundRect">
            <a:avLst>
              <a:gd name="adj" fmla="val 50000"/>
            </a:avLst>
          </a:prstGeom>
          <a:solidFill>
            <a:srgbClr val="FFFFFF">
              <a:alpha val="12000"/>
            </a:srgbClr>
          </a:solidFill>
          <a:ln w="9525">
            <a:solidFill>
              <a:srgbClr val="FFFFFF">
                <a:alpha val="25000"/>
              </a:srgbClr>
            </a:solidFill>
            <a:prstDash val="solid"/>
          </a:ln>
        </p:spPr>
        <p:txBody>
          <a:bodyPr/>
          <a:p/>
        </p:txBody>
      </p:sp>
      <p:sp>
        <p:nvSpPr>
          <p:cNvPr id="8" name="Text 6"/>
          <p:cNvSpPr/>
          <p:nvPr/>
        </p:nvSpPr>
        <p:spPr>
          <a:xfrm>
            <a:off x="3339703" y="7477125"/>
            <a:ext cx="1482328" cy="358080"/>
          </a:xfrm>
          <a:prstGeom prst="rect">
            <a:avLst/>
          </a:prstGeom>
          <a:noFill/>
          <a:ln/>
        </p:spPr>
        <p:txBody>
          <a:bodyPr wrap="square" lIns="25400" tIns="25400" rIns="25400" bIns="25400" rtlCol="0" anchor="t">
            <a:normAutofit/>
          </a:bodyPr>
          <a:lstStyle/>
          <a:p>
            <a:pPr algn="l" indent="0" marL="0">
              <a:lnSpc>
                <a:spcPct val="140000"/>
              </a:lnSpc>
              <a:buNone/>
            </a:pPr>
            <a:r>
              <a:rPr lang="en-US" sz="1800" spc="150" kern="0" dirty="0">
                <a:solidFill>
                  <a:srgbClr val="FFFFFF">
                    <a:alpha val="75000"/>
                  </a:srgbClr>
                </a:solidFill>
                <a:latin typeface="Courier New" pitchFamily="34" charset="0"/>
                <a:ea typeface="Courier New" pitchFamily="34" charset="-122"/>
                <a:cs typeface="Courier New" pitchFamily="34" charset="-120"/>
              </a:rPr>
              <a:t>Classroom</a:t>
            </a:r>
            <a:endParaRPr lang="en-US" sz="18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4F7F9"/>
        </a:solidFill>
      </p:bgPr>
    </p:bg>
    <p:spTree>
      <p:nvGrpSpPr>
        <p:cNvPr id="1" name=""/>
        <p:cNvGrpSpPr/>
        <p:nvPr/>
      </p:nvGrpSpPr>
      <p:grpSpPr>
        <a:xfrm>
          <a:off x="0" y="0"/>
          <a:ext cx="0" cy="0"/>
          <a:chOff x="0" y="0"/>
          <a:chExt cx="0" cy="0"/>
        </a:xfrm>
      </p:grpSpPr>
      <p:sp>
        <p:nvSpPr>
          <p:cNvPr id="2" name="Text 0"/>
          <p:cNvSpPr/>
          <p:nvPr/>
        </p:nvSpPr>
        <p:spPr>
          <a:xfrm>
            <a:off x="1047750" y="914400"/>
            <a:ext cx="16678275" cy="358080"/>
          </a:xfrm>
          <a:prstGeom prst="rect">
            <a:avLst/>
          </a:prstGeom>
          <a:noFill/>
          <a:ln/>
        </p:spPr>
        <p:txBody>
          <a:bodyPr wrap="square" lIns="25400" tIns="25400" rIns="25400" bIns="25400" rtlCol="0" anchor="t">
            <a:normAutofit/>
          </a:bodyPr>
          <a:lstStyle/>
          <a:p>
            <a:pPr algn="l" indent="0" marL="0">
              <a:lnSpc>
                <a:spcPct val="140000"/>
              </a:lnSpc>
              <a:buNone/>
            </a:pPr>
            <a:r>
              <a:rPr lang="en-US" sz="1800" spc="300" kern="0" dirty="0">
                <a:solidFill>
                  <a:srgbClr val="5A7A8A"/>
                </a:solidFill>
                <a:latin typeface="Courier New" pitchFamily="34" charset="0"/>
                <a:ea typeface="Courier New" pitchFamily="34" charset="-122"/>
                <a:cs typeface="Courier New" pitchFamily="34" charset="-120"/>
              </a:rPr>
              <a:t>READING THE BEACH</a:t>
            </a:r>
            <a:endParaRPr lang="en-US" sz="1800" dirty="0"/>
          </a:p>
        </p:txBody>
      </p:sp>
      <p:sp>
        <p:nvSpPr>
          <p:cNvPr id="3" name="Text 1"/>
          <p:cNvSpPr/>
          <p:nvPr/>
        </p:nvSpPr>
        <p:spPr>
          <a:xfrm>
            <a:off x="1047750" y="1405830"/>
            <a:ext cx="16678275" cy="1558230"/>
          </a:xfrm>
          <a:prstGeom prst="rect">
            <a:avLst/>
          </a:prstGeom>
          <a:noFill/>
          <a:ln/>
        </p:spPr>
        <p:txBody>
          <a:bodyPr wrap="square" lIns="25400" tIns="25400" rIns="25400" bIns="25400" rtlCol="0" anchor="t">
            <a:normAutofit/>
          </a:bodyPr>
          <a:lstStyle/>
          <a:p>
            <a:pPr algn="l" indent="0" marL="0">
              <a:lnSpc>
                <a:spcPct val="105000"/>
              </a:lnSpc>
              <a:buNone/>
            </a:pPr>
            <a:r>
              <a:rPr lang="en-US" sz="5700" b="1" spc="-75" kern="0" dirty="0">
                <a:solidFill>
                  <a:srgbClr val="0D1F2D"/>
                </a:solidFill>
                <a:latin typeface="Arial" pitchFamily="34" charset="0"/>
                <a:ea typeface="Arial" pitchFamily="34" charset="-122"/>
                <a:cs typeface="Arial" pitchFamily="34" charset="-120"/>
              </a:rPr>
              <a:t>The six flags every Australian beach-goer must know</a:t>
            </a:r>
            <a:endParaRPr lang="en-US" sz="5700" dirty="0"/>
          </a:p>
        </p:txBody>
      </p:sp>
      <p:sp>
        <p:nvSpPr>
          <p:cNvPr id="4" name="Shape 2"/>
          <p:cNvSpPr/>
          <p:nvPr/>
        </p:nvSpPr>
        <p:spPr>
          <a:xfrm>
            <a:off x="1047750" y="3230761"/>
            <a:ext cx="5245001" cy="2994720"/>
          </a:xfrm>
          <a:prstGeom prst="roundRect">
            <a:avLst>
              <a:gd name="adj" fmla="val 5725"/>
            </a:avLst>
          </a:prstGeom>
          <a:solidFill>
            <a:srgbClr val="FFFFFF"/>
          </a:solidFill>
          <a:ln w="9525">
            <a:solidFill>
              <a:srgbClr val="CDD9E0"/>
            </a:solidFill>
            <a:prstDash val="solid"/>
          </a:ln>
        </p:spPr>
        <p:txBody>
          <a:bodyPr/>
          <a:p/>
        </p:txBody>
      </p:sp>
      <p:sp>
        <p:nvSpPr>
          <p:cNvPr id="5" name="Shape 3"/>
          <p:cNvSpPr/>
          <p:nvPr/>
        </p:nvSpPr>
        <p:spPr>
          <a:xfrm>
            <a:off x="1057275" y="3240286"/>
            <a:ext cx="1238250" cy="2975670"/>
          </a:xfrm>
          <a:prstGeom prst="rect">
            <a:avLst/>
          </a:prstGeom>
          <a:solidFill>
            <a:srgbClr val="E63030"/>
          </a:solidFill>
          <a:ln/>
        </p:spPr>
        <p:txBody>
          <a:bodyPr/>
          <a:p/>
        </p:txBody>
      </p:sp>
      <p:sp>
        <p:nvSpPr>
          <p:cNvPr id="6" name="Shape 4"/>
          <p:cNvSpPr/>
          <p:nvPr/>
        </p:nvSpPr>
        <p:spPr>
          <a:xfrm>
            <a:off x="2295525" y="3240286"/>
            <a:ext cx="3987701" cy="2975670"/>
          </a:xfrm>
          <a:prstGeom prst="rect">
            <a:avLst/>
          </a:prstGeom>
          <a:solidFill>
            <a:srgbClr val="FAFCFF"/>
          </a:solidFill>
          <a:ln/>
        </p:spPr>
        <p:txBody>
          <a:bodyPr/>
          <a:p/>
        </p:txBody>
      </p:sp>
      <p:sp>
        <p:nvSpPr>
          <p:cNvPr id="7" name="Text 5"/>
          <p:cNvSpPr/>
          <p:nvPr/>
        </p:nvSpPr>
        <p:spPr>
          <a:xfrm>
            <a:off x="2524125" y="3430786"/>
            <a:ext cx="3636416" cy="310455"/>
          </a:xfrm>
          <a:prstGeom prst="rect">
            <a:avLst/>
          </a:prstGeom>
          <a:noFill/>
          <a:ln/>
        </p:spPr>
        <p:txBody>
          <a:bodyPr wrap="square" lIns="25400" tIns="25400" rIns="25400" bIns="25400" rtlCol="0" anchor="t">
            <a:normAutofit/>
          </a:bodyPr>
          <a:lstStyle/>
          <a:p>
            <a:pPr algn="l" indent="0" marL="0">
              <a:lnSpc>
                <a:spcPct val="110000"/>
              </a:lnSpc>
              <a:buNone/>
            </a:pPr>
            <a:r>
              <a:rPr lang="en-US" sz="1950" b="1" dirty="0">
                <a:solidFill>
                  <a:srgbClr val="0D1F2D"/>
                </a:solidFill>
                <a:latin typeface="Arial" pitchFamily="34" charset="0"/>
                <a:ea typeface="Arial" pitchFamily="34" charset="-122"/>
                <a:cs typeface="Arial" pitchFamily="34" charset="-120"/>
              </a:rPr>
              <a:t>Red &amp; Yellow</a:t>
            </a:r>
            <a:endParaRPr lang="en-US" sz="1950" dirty="0"/>
          </a:p>
        </p:txBody>
      </p:sp>
      <p:sp>
        <p:nvSpPr>
          <p:cNvPr id="8" name="Text 6"/>
          <p:cNvSpPr/>
          <p:nvPr/>
        </p:nvSpPr>
        <p:spPr>
          <a:xfrm>
            <a:off x="2524125" y="3779341"/>
            <a:ext cx="3636416" cy="632222"/>
          </a:xfrm>
          <a:prstGeom prst="rect">
            <a:avLst/>
          </a:prstGeom>
          <a:noFill/>
          <a:ln/>
        </p:spPr>
        <p:txBody>
          <a:bodyPr wrap="square" lIns="25400" tIns="25400" rIns="25400" bIns="25400" rtlCol="0" anchor="t">
            <a:normAutofit/>
          </a:bodyPr>
          <a:lstStyle/>
          <a:p>
            <a:pPr algn="l" indent="0" marL="0">
              <a:lnSpc>
                <a:spcPct val="130000"/>
              </a:lnSpc>
              <a:buNone/>
            </a:pPr>
            <a:r>
              <a:rPr lang="en-US" sz="1800" b="1" dirty="0">
                <a:solidFill>
                  <a:srgbClr val="1E8449"/>
                </a:solidFill>
                <a:latin typeface="Arial" pitchFamily="34" charset="0"/>
                <a:ea typeface="Arial" pitchFamily="34" charset="-122"/>
                <a:cs typeface="Arial" pitchFamily="34" charset="-120"/>
              </a:rPr>
              <a:t>Swim here. </a:t>
            </a:r>
            <a:pPr algn="l" indent="0" marL="0">
              <a:lnSpc>
                <a:spcPct val="130000"/>
              </a:lnSpc>
              <a:buNone/>
            </a:pPr>
            <a:r>
              <a:rPr lang="en-US" sz="1800" dirty="0">
                <a:solidFill>
                  <a:srgbClr val="0D1F2D"/>
                </a:solidFill>
                <a:latin typeface="Arial" pitchFamily="34" charset="0"/>
                <a:ea typeface="Arial" pitchFamily="34" charset="-122"/>
                <a:cs typeface="Arial" pitchFamily="34" charset="-120"/>
              </a:rPr>
              <a:t>Patrolled swimming area.</a:t>
            </a:r>
            <a:endParaRPr lang="en-US" sz="1800" dirty="0"/>
          </a:p>
        </p:txBody>
      </p:sp>
      <p:sp>
        <p:nvSpPr>
          <p:cNvPr id="9" name="Shape 7"/>
          <p:cNvSpPr/>
          <p:nvPr/>
        </p:nvSpPr>
        <p:spPr>
          <a:xfrm>
            <a:off x="6521351" y="3230761"/>
            <a:ext cx="5245150" cy="2994720"/>
          </a:xfrm>
          <a:prstGeom prst="roundRect">
            <a:avLst>
              <a:gd name="adj" fmla="val 5725"/>
            </a:avLst>
          </a:prstGeom>
          <a:solidFill>
            <a:srgbClr val="FFFFFF"/>
          </a:solidFill>
          <a:ln w="9525">
            <a:solidFill>
              <a:srgbClr val="CDD9E0"/>
            </a:solidFill>
            <a:prstDash val="solid"/>
          </a:ln>
        </p:spPr>
        <p:txBody>
          <a:bodyPr/>
          <a:p/>
        </p:txBody>
      </p:sp>
      <p:sp>
        <p:nvSpPr>
          <p:cNvPr id="10" name="Shape 8"/>
          <p:cNvSpPr/>
          <p:nvPr/>
        </p:nvSpPr>
        <p:spPr>
          <a:xfrm>
            <a:off x="6530876" y="3240286"/>
            <a:ext cx="1238250" cy="2975670"/>
          </a:xfrm>
          <a:prstGeom prst="rect">
            <a:avLst/>
          </a:prstGeom>
          <a:solidFill>
            <a:srgbClr val="E63030"/>
          </a:solidFill>
          <a:ln/>
        </p:spPr>
        <p:txBody>
          <a:bodyPr/>
          <a:p/>
        </p:txBody>
      </p:sp>
      <p:sp>
        <p:nvSpPr>
          <p:cNvPr id="11" name="Shape 9"/>
          <p:cNvSpPr/>
          <p:nvPr/>
        </p:nvSpPr>
        <p:spPr>
          <a:xfrm>
            <a:off x="7769126" y="3240286"/>
            <a:ext cx="3987850" cy="2975670"/>
          </a:xfrm>
          <a:prstGeom prst="rect">
            <a:avLst/>
          </a:prstGeom>
          <a:solidFill>
            <a:srgbClr val="FAFCFF"/>
          </a:solidFill>
          <a:ln/>
        </p:spPr>
        <p:txBody>
          <a:bodyPr/>
          <a:p/>
        </p:txBody>
      </p:sp>
      <p:sp>
        <p:nvSpPr>
          <p:cNvPr id="12" name="Text 10"/>
          <p:cNvSpPr/>
          <p:nvPr/>
        </p:nvSpPr>
        <p:spPr>
          <a:xfrm>
            <a:off x="7997726" y="3430786"/>
            <a:ext cx="3636569" cy="310455"/>
          </a:xfrm>
          <a:prstGeom prst="rect">
            <a:avLst/>
          </a:prstGeom>
          <a:noFill/>
          <a:ln/>
        </p:spPr>
        <p:txBody>
          <a:bodyPr wrap="square" lIns="25400" tIns="25400" rIns="25400" bIns="25400" rtlCol="0" anchor="t">
            <a:normAutofit/>
          </a:bodyPr>
          <a:lstStyle/>
          <a:p>
            <a:pPr algn="l" indent="0" marL="0">
              <a:lnSpc>
                <a:spcPct val="110000"/>
              </a:lnSpc>
              <a:buNone/>
            </a:pPr>
            <a:r>
              <a:rPr lang="en-US" sz="1950" b="1" dirty="0">
                <a:solidFill>
                  <a:srgbClr val="0D1F2D"/>
                </a:solidFill>
                <a:latin typeface="Arial" pitchFamily="34" charset="0"/>
                <a:ea typeface="Arial" pitchFamily="34" charset="-122"/>
                <a:cs typeface="Arial" pitchFamily="34" charset="-120"/>
              </a:rPr>
              <a:t>Solid Red</a:t>
            </a:r>
            <a:endParaRPr lang="en-US" sz="1950" dirty="0"/>
          </a:p>
        </p:txBody>
      </p:sp>
      <p:sp>
        <p:nvSpPr>
          <p:cNvPr id="13" name="Text 11"/>
          <p:cNvSpPr/>
          <p:nvPr/>
        </p:nvSpPr>
        <p:spPr>
          <a:xfrm>
            <a:off x="7997726" y="3779341"/>
            <a:ext cx="3636569" cy="632222"/>
          </a:xfrm>
          <a:prstGeom prst="rect">
            <a:avLst/>
          </a:prstGeom>
          <a:noFill/>
          <a:ln/>
        </p:spPr>
        <p:txBody>
          <a:bodyPr wrap="square" lIns="25400" tIns="25400" rIns="25400" bIns="25400" rtlCol="0" anchor="t">
            <a:normAutofit/>
          </a:bodyPr>
          <a:lstStyle/>
          <a:p>
            <a:pPr algn="l" indent="0" marL="0">
              <a:lnSpc>
                <a:spcPct val="130000"/>
              </a:lnSpc>
              <a:buNone/>
            </a:pPr>
            <a:r>
              <a:rPr lang="en-US" sz="1800" b="1" dirty="0">
                <a:solidFill>
                  <a:srgbClr val="C0392B"/>
                </a:solidFill>
                <a:latin typeface="Arial" pitchFamily="34" charset="0"/>
                <a:ea typeface="Arial" pitchFamily="34" charset="-122"/>
                <a:cs typeface="Arial" pitchFamily="34" charset="-120"/>
              </a:rPr>
              <a:t>Dangerous conditions. </a:t>
            </a:r>
            <a:pPr algn="l" indent="0" marL="0">
              <a:lnSpc>
                <a:spcPct val="130000"/>
              </a:lnSpc>
              <a:buNone/>
            </a:pPr>
            <a:r>
              <a:rPr lang="en-US" sz="1800" dirty="0">
                <a:solidFill>
                  <a:srgbClr val="0D1F2D"/>
                </a:solidFill>
                <a:latin typeface="Arial" pitchFamily="34" charset="0"/>
                <a:ea typeface="Arial" pitchFamily="34" charset="-122"/>
                <a:cs typeface="Arial" pitchFamily="34" charset="-120"/>
              </a:rPr>
              <a:t>Stay out unless very experienced.</a:t>
            </a:r>
            <a:endParaRPr lang="en-US" sz="1800" dirty="0"/>
          </a:p>
        </p:txBody>
      </p:sp>
      <p:sp>
        <p:nvSpPr>
          <p:cNvPr id="14" name="Shape 12"/>
          <p:cNvSpPr/>
          <p:nvPr/>
        </p:nvSpPr>
        <p:spPr>
          <a:xfrm>
            <a:off x="11995100" y="3230761"/>
            <a:ext cx="5245150" cy="2994720"/>
          </a:xfrm>
          <a:prstGeom prst="roundRect">
            <a:avLst>
              <a:gd name="adj" fmla="val 5725"/>
            </a:avLst>
          </a:prstGeom>
          <a:solidFill>
            <a:srgbClr val="FFFFFF"/>
          </a:solidFill>
          <a:ln w="9525">
            <a:solidFill>
              <a:srgbClr val="CDD9E0"/>
            </a:solidFill>
            <a:prstDash val="solid"/>
          </a:ln>
        </p:spPr>
        <p:txBody>
          <a:bodyPr/>
          <a:p/>
        </p:txBody>
      </p:sp>
      <p:sp>
        <p:nvSpPr>
          <p:cNvPr id="15" name="Shape 13"/>
          <p:cNvSpPr/>
          <p:nvPr/>
        </p:nvSpPr>
        <p:spPr>
          <a:xfrm>
            <a:off x="12004625" y="3240286"/>
            <a:ext cx="1238250" cy="2975670"/>
          </a:xfrm>
          <a:prstGeom prst="rect">
            <a:avLst/>
          </a:prstGeom>
          <a:solidFill>
            <a:srgbClr val="FFFFFF"/>
          </a:solidFill>
          <a:ln/>
        </p:spPr>
        <p:txBody>
          <a:bodyPr/>
          <a:p/>
        </p:txBody>
      </p:sp>
      <p:sp>
        <p:nvSpPr>
          <p:cNvPr id="16" name="Shape 14"/>
          <p:cNvSpPr/>
          <p:nvPr/>
        </p:nvSpPr>
        <p:spPr>
          <a:xfrm>
            <a:off x="12004625" y="3240286"/>
            <a:ext cx="619125" cy="1487835"/>
          </a:xfrm>
          <a:prstGeom prst="rect">
            <a:avLst/>
          </a:prstGeom>
          <a:solidFill>
            <a:srgbClr val="111111"/>
          </a:solidFill>
          <a:ln/>
        </p:spPr>
        <p:txBody>
          <a:bodyPr/>
          <a:p/>
        </p:txBody>
      </p:sp>
      <p:sp>
        <p:nvSpPr>
          <p:cNvPr id="17" name="Shape 15"/>
          <p:cNvSpPr/>
          <p:nvPr/>
        </p:nvSpPr>
        <p:spPr>
          <a:xfrm>
            <a:off x="12623750" y="3240286"/>
            <a:ext cx="619125" cy="1487835"/>
          </a:xfrm>
          <a:prstGeom prst="rect">
            <a:avLst/>
          </a:prstGeom>
          <a:solidFill>
            <a:srgbClr val="FFFFFF"/>
          </a:solidFill>
          <a:ln/>
        </p:spPr>
        <p:txBody>
          <a:bodyPr/>
          <a:p/>
        </p:txBody>
      </p:sp>
      <p:sp>
        <p:nvSpPr>
          <p:cNvPr id="18" name="Shape 16"/>
          <p:cNvSpPr/>
          <p:nvPr/>
        </p:nvSpPr>
        <p:spPr>
          <a:xfrm>
            <a:off x="12004625" y="4728121"/>
            <a:ext cx="619125" cy="1487835"/>
          </a:xfrm>
          <a:prstGeom prst="rect">
            <a:avLst/>
          </a:prstGeom>
          <a:solidFill>
            <a:srgbClr val="FFFFFF"/>
          </a:solidFill>
          <a:ln/>
        </p:spPr>
        <p:txBody>
          <a:bodyPr/>
          <a:p/>
        </p:txBody>
      </p:sp>
      <p:sp>
        <p:nvSpPr>
          <p:cNvPr id="19" name="Shape 17"/>
          <p:cNvSpPr/>
          <p:nvPr/>
        </p:nvSpPr>
        <p:spPr>
          <a:xfrm>
            <a:off x="12623750" y="4728121"/>
            <a:ext cx="619125" cy="1487835"/>
          </a:xfrm>
          <a:prstGeom prst="rect">
            <a:avLst/>
          </a:prstGeom>
          <a:solidFill>
            <a:srgbClr val="111111"/>
          </a:solidFill>
          <a:ln/>
        </p:spPr>
        <p:txBody>
          <a:bodyPr/>
          <a:p/>
        </p:txBody>
      </p:sp>
      <p:sp>
        <p:nvSpPr>
          <p:cNvPr id="20" name="Shape 18"/>
          <p:cNvSpPr/>
          <p:nvPr/>
        </p:nvSpPr>
        <p:spPr>
          <a:xfrm>
            <a:off x="13242875" y="3240286"/>
            <a:ext cx="3987850" cy="2975670"/>
          </a:xfrm>
          <a:prstGeom prst="rect">
            <a:avLst/>
          </a:prstGeom>
          <a:solidFill>
            <a:srgbClr val="FAFCFF"/>
          </a:solidFill>
          <a:ln/>
        </p:spPr>
        <p:txBody>
          <a:bodyPr/>
          <a:p/>
        </p:txBody>
      </p:sp>
      <p:sp>
        <p:nvSpPr>
          <p:cNvPr id="21" name="Text 19"/>
          <p:cNvSpPr/>
          <p:nvPr/>
        </p:nvSpPr>
        <p:spPr>
          <a:xfrm>
            <a:off x="13471475" y="3430786"/>
            <a:ext cx="3636569" cy="310455"/>
          </a:xfrm>
          <a:prstGeom prst="rect">
            <a:avLst/>
          </a:prstGeom>
          <a:noFill/>
          <a:ln/>
        </p:spPr>
        <p:txBody>
          <a:bodyPr wrap="square" lIns="25400" tIns="25400" rIns="25400" bIns="25400" rtlCol="0" anchor="t">
            <a:normAutofit/>
          </a:bodyPr>
          <a:lstStyle/>
          <a:p>
            <a:pPr algn="l" indent="0" marL="0">
              <a:lnSpc>
                <a:spcPct val="110000"/>
              </a:lnSpc>
              <a:buNone/>
            </a:pPr>
            <a:r>
              <a:rPr lang="en-US" sz="1950" b="1" dirty="0">
                <a:solidFill>
                  <a:srgbClr val="0D1F2D"/>
                </a:solidFill>
                <a:latin typeface="Arial" pitchFamily="34" charset="0"/>
                <a:ea typeface="Arial" pitchFamily="34" charset="-122"/>
                <a:cs typeface="Arial" pitchFamily="34" charset="-120"/>
              </a:rPr>
              <a:t>Black &amp; White Quartered</a:t>
            </a:r>
            <a:endParaRPr lang="en-US" sz="1950" dirty="0"/>
          </a:p>
        </p:txBody>
      </p:sp>
      <p:sp>
        <p:nvSpPr>
          <p:cNvPr id="22" name="Text 20"/>
          <p:cNvSpPr/>
          <p:nvPr/>
        </p:nvSpPr>
        <p:spPr>
          <a:xfrm>
            <a:off x="13471475" y="3779341"/>
            <a:ext cx="3636569" cy="632222"/>
          </a:xfrm>
          <a:prstGeom prst="rect">
            <a:avLst/>
          </a:prstGeom>
          <a:noFill/>
          <a:ln/>
        </p:spPr>
        <p:txBody>
          <a:bodyPr wrap="square" lIns="25400" tIns="25400" rIns="25400" bIns="25400" rtlCol="0" anchor="t">
            <a:normAutofit/>
          </a:bodyPr>
          <a:lstStyle/>
          <a:p>
            <a:pPr algn="l" indent="0" marL="0">
              <a:lnSpc>
                <a:spcPct val="130000"/>
              </a:lnSpc>
              <a:buNone/>
            </a:pPr>
            <a:r>
              <a:rPr lang="en-US" sz="1800" b="1" dirty="0">
                <a:solidFill>
                  <a:srgbClr val="C0392B"/>
                </a:solidFill>
                <a:latin typeface="Arial" pitchFamily="34" charset="0"/>
                <a:ea typeface="Arial" pitchFamily="34" charset="-122"/>
                <a:cs typeface="Arial" pitchFamily="34" charset="-120"/>
              </a:rPr>
              <a:t>Surfcraft only. </a:t>
            </a:r>
            <a:pPr algn="l" indent="0" marL="0">
              <a:lnSpc>
                <a:spcPct val="130000"/>
              </a:lnSpc>
              <a:buNone/>
            </a:pPr>
            <a:r>
              <a:rPr lang="en-US" sz="1800" dirty="0">
                <a:solidFill>
                  <a:srgbClr val="0D1F2D"/>
                </a:solidFill>
                <a:latin typeface="Arial" pitchFamily="34" charset="0"/>
                <a:ea typeface="Arial" pitchFamily="34" charset="-122"/>
                <a:cs typeface="Arial" pitchFamily="34" charset="-120"/>
              </a:rPr>
              <a:t>No swimmers — surfers and watercraft.</a:t>
            </a:r>
            <a:endParaRPr lang="en-US" sz="1800" dirty="0"/>
          </a:p>
        </p:txBody>
      </p:sp>
      <p:sp>
        <p:nvSpPr>
          <p:cNvPr id="23" name="Shape 21"/>
          <p:cNvSpPr/>
          <p:nvPr/>
        </p:nvSpPr>
        <p:spPr>
          <a:xfrm>
            <a:off x="1047750" y="6454080"/>
            <a:ext cx="5245001" cy="2994720"/>
          </a:xfrm>
          <a:prstGeom prst="roundRect">
            <a:avLst>
              <a:gd name="adj" fmla="val 5725"/>
            </a:avLst>
          </a:prstGeom>
          <a:solidFill>
            <a:srgbClr val="FFFFFF"/>
          </a:solidFill>
          <a:ln w="9525">
            <a:solidFill>
              <a:srgbClr val="CDD9E0"/>
            </a:solidFill>
            <a:prstDash val="solid"/>
          </a:ln>
        </p:spPr>
        <p:txBody>
          <a:bodyPr/>
          <a:p/>
        </p:txBody>
      </p:sp>
      <p:sp>
        <p:nvSpPr>
          <p:cNvPr id="24" name="Shape 22"/>
          <p:cNvSpPr/>
          <p:nvPr/>
        </p:nvSpPr>
        <p:spPr>
          <a:xfrm>
            <a:off x="1057275" y="6463605"/>
            <a:ext cx="1238250" cy="2975670"/>
          </a:xfrm>
          <a:prstGeom prst="rect">
            <a:avLst/>
          </a:prstGeom>
          <a:solidFill>
            <a:srgbClr val="FFD600"/>
          </a:solidFill>
          <a:ln/>
        </p:spPr>
        <p:txBody>
          <a:bodyPr/>
          <a:p/>
        </p:txBody>
      </p:sp>
      <p:sp>
        <p:nvSpPr>
          <p:cNvPr id="25" name="Shape 23"/>
          <p:cNvSpPr/>
          <p:nvPr/>
        </p:nvSpPr>
        <p:spPr>
          <a:xfrm>
            <a:off x="2295525" y="6463605"/>
            <a:ext cx="3987701" cy="2975670"/>
          </a:xfrm>
          <a:prstGeom prst="rect">
            <a:avLst/>
          </a:prstGeom>
          <a:solidFill>
            <a:srgbClr val="FAFCFF"/>
          </a:solidFill>
          <a:ln/>
        </p:spPr>
        <p:txBody>
          <a:bodyPr/>
          <a:p/>
        </p:txBody>
      </p:sp>
      <p:sp>
        <p:nvSpPr>
          <p:cNvPr id="26" name="Text 24"/>
          <p:cNvSpPr/>
          <p:nvPr/>
        </p:nvSpPr>
        <p:spPr>
          <a:xfrm>
            <a:off x="2524125" y="6654105"/>
            <a:ext cx="3636416" cy="310455"/>
          </a:xfrm>
          <a:prstGeom prst="rect">
            <a:avLst/>
          </a:prstGeom>
          <a:noFill/>
          <a:ln/>
        </p:spPr>
        <p:txBody>
          <a:bodyPr wrap="square" lIns="25400" tIns="25400" rIns="25400" bIns="25400" rtlCol="0" anchor="t">
            <a:normAutofit/>
          </a:bodyPr>
          <a:lstStyle/>
          <a:p>
            <a:pPr algn="l" indent="0" marL="0">
              <a:lnSpc>
                <a:spcPct val="110000"/>
              </a:lnSpc>
              <a:buNone/>
            </a:pPr>
            <a:r>
              <a:rPr lang="en-US" sz="1950" b="1" dirty="0">
                <a:solidFill>
                  <a:srgbClr val="0D1F2D"/>
                </a:solidFill>
                <a:latin typeface="Arial" pitchFamily="34" charset="0"/>
                <a:ea typeface="Arial" pitchFamily="34" charset="-122"/>
                <a:cs typeface="Arial" pitchFamily="34" charset="-120"/>
              </a:rPr>
              <a:t>Yellow + Black Ball</a:t>
            </a:r>
            <a:endParaRPr lang="en-US" sz="1950" dirty="0"/>
          </a:p>
        </p:txBody>
      </p:sp>
      <p:sp>
        <p:nvSpPr>
          <p:cNvPr id="27" name="Text 25"/>
          <p:cNvSpPr/>
          <p:nvPr/>
        </p:nvSpPr>
        <p:spPr>
          <a:xfrm>
            <a:off x="2524125" y="7002661"/>
            <a:ext cx="3636416" cy="632222"/>
          </a:xfrm>
          <a:prstGeom prst="rect">
            <a:avLst/>
          </a:prstGeom>
          <a:noFill/>
          <a:ln/>
        </p:spPr>
        <p:txBody>
          <a:bodyPr wrap="square" lIns="25400" tIns="25400" rIns="25400" bIns="25400" rtlCol="0" anchor="t">
            <a:normAutofit/>
          </a:bodyPr>
          <a:lstStyle/>
          <a:p>
            <a:pPr algn="l" indent="0" marL="0">
              <a:lnSpc>
                <a:spcPct val="130000"/>
              </a:lnSpc>
              <a:buNone/>
            </a:pPr>
            <a:r>
              <a:rPr lang="en-US" sz="1800" b="1" dirty="0">
                <a:solidFill>
                  <a:srgbClr val="1E8449"/>
                </a:solidFill>
                <a:latin typeface="Arial" pitchFamily="34" charset="0"/>
                <a:ea typeface="Arial" pitchFamily="34" charset="-122"/>
                <a:cs typeface="Arial" pitchFamily="34" charset="-120"/>
              </a:rPr>
              <a:t>Swimming OK. </a:t>
            </a:r>
            <a:pPr algn="l" indent="0" marL="0">
              <a:lnSpc>
                <a:spcPct val="130000"/>
              </a:lnSpc>
              <a:buNone/>
            </a:pPr>
            <a:r>
              <a:rPr lang="en-US" sz="1800" dirty="0">
                <a:solidFill>
                  <a:srgbClr val="0D1F2D"/>
                </a:solidFill>
                <a:latin typeface="Arial" pitchFamily="34" charset="0"/>
                <a:ea typeface="Arial" pitchFamily="34" charset="-122"/>
                <a:cs typeface="Arial" pitchFamily="34" charset="-120"/>
              </a:rPr>
              <a:t>No surfboards or watercraft.</a:t>
            </a:r>
            <a:endParaRPr lang="en-US" sz="1800" dirty="0"/>
          </a:p>
        </p:txBody>
      </p:sp>
      <p:sp>
        <p:nvSpPr>
          <p:cNvPr id="28" name="Shape 26"/>
          <p:cNvSpPr/>
          <p:nvPr/>
        </p:nvSpPr>
        <p:spPr>
          <a:xfrm>
            <a:off x="6521351" y="6454080"/>
            <a:ext cx="5245150" cy="2994720"/>
          </a:xfrm>
          <a:prstGeom prst="roundRect">
            <a:avLst>
              <a:gd name="adj" fmla="val 5725"/>
            </a:avLst>
          </a:prstGeom>
          <a:solidFill>
            <a:srgbClr val="FFFFFF"/>
          </a:solidFill>
          <a:ln w="9525">
            <a:solidFill>
              <a:srgbClr val="CDD9E0"/>
            </a:solidFill>
            <a:prstDash val="solid"/>
          </a:ln>
        </p:spPr>
        <p:txBody>
          <a:bodyPr/>
          <a:p/>
        </p:txBody>
      </p:sp>
      <p:sp>
        <p:nvSpPr>
          <p:cNvPr id="29" name="Shape 27"/>
          <p:cNvSpPr/>
          <p:nvPr/>
        </p:nvSpPr>
        <p:spPr>
          <a:xfrm>
            <a:off x="6530876" y="6463605"/>
            <a:ext cx="1238250" cy="2975670"/>
          </a:xfrm>
          <a:prstGeom prst="rect">
            <a:avLst/>
          </a:prstGeom>
          <a:solidFill>
            <a:srgbClr val="FF7A1A"/>
          </a:solidFill>
          <a:ln/>
        </p:spPr>
        <p:txBody>
          <a:bodyPr/>
          <a:p/>
        </p:txBody>
      </p:sp>
      <p:sp>
        <p:nvSpPr>
          <p:cNvPr id="30" name="Shape 28"/>
          <p:cNvSpPr/>
          <p:nvPr/>
        </p:nvSpPr>
        <p:spPr>
          <a:xfrm>
            <a:off x="7769126" y="6463605"/>
            <a:ext cx="3987850" cy="2975670"/>
          </a:xfrm>
          <a:prstGeom prst="rect">
            <a:avLst/>
          </a:prstGeom>
          <a:solidFill>
            <a:srgbClr val="FAFCFF"/>
          </a:solidFill>
          <a:ln/>
        </p:spPr>
        <p:txBody>
          <a:bodyPr/>
          <a:p/>
        </p:txBody>
      </p:sp>
      <p:sp>
        <p:nvSpPr>
          <p:cNvPr id="31" name="Text 29"/>
          <p:cNvSpPr/>
          <p:nvPr/>
        </p:nvSpPr>
        <p:spPr>
          <a:xfrm>
            <a:off x="7997726" y="6654105"/>
            <a:ext cx="3636569" cy="310455"/>
          </a:xfrm>
          <a:prstGeom prst="rect">
            <a:avLst/>
          </a:prstGeom>
          <a:noFill/>
          <a:ln/>
        </p:spPr>
        <p:txBody>
          <a:bodyPr wrap="square" lIns="25400" tIns="25400" rIns="25400" bIns="25400" rtlCol="0" anchor="t">
            <a:normAutofit/>
          </a:bodyPr>
          <a:lstStyle/>
          <a:p>
            <a:pPr algn="l" indent="0" marL="0">
              <a:lnSpc>
                <a:spcPct val="110000"/>
              </a:lnSpc>
              <a:buNone/>
            </a:pPr>
            <a:r>
              <a:rPr lang="en-US" sz="1950" b="1" dirty="0">
                <a:solidFill>
                  <a:srgbClr val="0D1F2D"/>
                </a:solidFill>
                <a:latin typeface="Arial" pitchFamily="34" charset="0"/>
                <a:ea typeface="Arial" pitchFamily="34" charset="-122"/>
                <a:cs typeface="Arial" pitchFamily="34" charset="-120"/>
              </a:rPr>
              <a:t>Orange Windsock</a:t>
            </a:r>
            <a:endParaRPr lang="en-US" sz="1950" dirty="0"/>
          </a:p>
        </p:txBody>
      </p:sp>
      <p:sp>
        <p:nvSpPr>
          <p:cNvPr id="32" name="Text 30"/>
          <p:cNvSpPr/>
          <p:nvPr/>
        </p:nvSpPr>
        <p:spPr>
          <a:xfrm>
            <a:off x="7997726" y="7002661"/>
            <a:ext cx="3636569" cy="335161"/>
          </a:xfrm>
          <a:prstGeom prst="rect">
            <a:avLst/>
          </a:prstGeom>
          <a:noFill/>
          <a:ln/>
        </p:spPr>
        <p:txBody>
          <a:bodyPr wrap="square" lIns="25400" tIns="25400" rIns="25400" bIns="25400" rtlCol="0" anchor="t">
            <a:normAutofit/>
          </a:bodyPr>
          <a:lstStyle/>
          <a:p>
            <a:pPr algn="l" indent="0" marL="0">
              <a:lnSpc>
                <a:spcPct val="130000"/>
              </a:lnSpc>
              <a:buNone/>
            </a:pPr>
            <a:r>
              <a:rPr lang="en-US" sz="1800" b="1" dirty="0">
                <a:solidFill>
                  <a:srgbClr val="C0392B"/>
                </a:solidFill>
                <a:latin typeface="Arial" pitchFamily="34" charset="0"/>
                <a:ea typeface="Arial" pitchFamily="34" charset="-122"/>
                <a:cs typeface="Arial" pitchFamily="34" charset="-120"/>
              </a:rPr>
              <a:t>Offshore winds. </a:t>
            </a:r>
            <a:pPr algn="l" indent="0" marL="0">
              <a:lnSpc>
                <a:spcPct val="130000"/>
              </a:lnSpc>
              <a:buNone/>
            </a:pPr>
            <a:r>
              <a:rPr lang="en-US" sz="1800" dirty="0">
                <a:solidFill>
                  <a:srgbClr val="0D1F2D"/>
                </a:solidFill>
                <a:latin typeface="Arial" pitchFamily="34" charset="0"/>
                <a:ea typeface="Arial" pitchFamily="34" charset="-122"/>
                <a:cs typeface="Arial" pitchFamily="34" charset="-120"/>
              </a:rPr>
              <a:t>No inflatables.</a:t>
            </a:r>
            <a:endParaRPr lang="en-US" sz="1800" dirty="0"/>
          </a:p>
        </p:txBody>
      </p:sp>
      <p:sp>
        <p:nvSpPr>
          <p:cNvPr id="33" name="Shape 31"/>
          <p:cNvSpPr/>
          <p:nvPr/>
        </p:nvSpPr>
        <p:spPr>
          <a:xfrm>
            <a:off x="11995100" y="6454080"/>
            <a:ext cx="5245150" cy="2994720"/>
          </a:xfrm>
          <a:prstGeom prst="roundRect">
            <a:avLst>
              <a:gd name="adj" fmla="val 5725"/>
            </a:avLst>
          </a:prstGeom>
          <a:solidFill>
            <a:srgbClr val="FFFFFF"/>
          </a:solidFill>
          <a:ln w="9525">
            <a:solidFill>
              <a:srgbClr val="CDD9E0"/>
            </a:solidFill>
            <a:prstDash val="solid"/>
          </a:ln>
        </p:spPr>
        <p:txBody>
          <a:bodyPr/>
          <a:p/>
        </p:txBody>
      </p:sp>
      <p:sp>
        <p:nvSpPr>
          <p:cNvPr id="34" name="Shape 32"/>
          <p:cNvSpPr/>
          <p:nvPr/>
        </p:nvSpPr>
        <p:spPr>
          <a:xfrm>
            <a:off x="12004625" y="6463605"/>
            <a:ext cx="1238250" cy="2975670"/>
          </a:xfrm>
          <a:prstGeom prst="rect">
            <a:avLst/>
          </a:prstGeom>
          <a:solidFill>
            <a:srgbClr val="7D3C98"/>
          </a:solidFill>
          <a:ln/>
        </p:spPr>
        <p:txBody>
          <a:bodyPr/>
          <a:p/>
        </p:txBody>
      </p:sp>
      <p:sp>
        <p:nvSpPr>
          <p:cNvPr id="35" name="Shape 33"/>
          <p:cNvSpPr/>
          <p:nvPr/>
        </p:nvSpPr>
        <p:spPr>
          <a:xfrm>
            <a:off x="13242875" y="6463605"/>
            <a:ext cx="3987850" cy="2975670"/>
          </a:xfrm>
          <a:prstGeom prst="rect">
            <a:avLst/>
          </a:prstGeom>
          <a:solidFill>
            <a:srgbClr val="FAFCFF"/>
          </a:solidFill>
          <a:ln/>
        </p:spPr>
        <p:txBody>
          <a:bodyPr/>
          <a:p/>
        </p:txBody>
      </p:sp>
      <p:sp>
        <p:nvSpPr>
          <p:cNvPr id="36" name="Text 34"/>
          <p:cNvSpPr/>
          <p:nvPr/>
        </p:nvSpPr>
        <p:spPr>
          <a:xfrm>
            <a:off x="13471475" y="6654105"/>
            <a:ext cx="3636569" cy="310455"/>
          </a:xfrm>
          <a:prstGeom prst="rect">
            <a:avLst/>
          </a:prstGeom>
          <a:noFill/>
          <a:ln/>
        </p:spPr>
        <p:txBody>
          <a:bodyPr wrap="square" lIns="25400" tIns="25400" rIns="25400" bIns="25400" rtlCol="0" anchor="t">
            <a:normAutofit/>
          </a:bodyPr>
          <a:lstStyle/>
          <a:p>
            <a:pPr algn="l" indent="0" marL="0">
              <a:lnSpc>
                <a:spcPct val="110000"/>
              </a:lnSpc>
              <a:buNone/>
            </a:pPr>
            <a:r>
              <a:rPr lang="en-US" sz="1950" b="1" dirty="0">
                <a:solidFill>
                  <a:srgbClr val="0D1F2D"/>
                </a:solidFill>
                <a:latin typeface="Arial" pitchFamily="34" charset="0"/>
                <a:ea typeface="Arial" pitchFamily="34" charset="-122"/>
                <a:cs typeface="Arial" pitchFamily="34" charset="-120"/>
              </a:rPr>
              <a:t>Purple</a:t>
            </a:r>
            <a:endParaRPr lang="en-US" sz="1950" dirty="0"/>
          </a:p>
        </p:txBody>
      </p:sp>
      <p:sp>
        <p:nvSpPr>
          <p:cNvPr id="37" name="Text 35"/>
          <p:cNvSpPr/>
          <p:nvPr/>
        </p:nvSpPr>
        <p:spPr>
          <a:xfrm>
            <a:off x="13471475" y="7002661"/>
            <a:ext cx="3636569" cy="632222"/>
          </a:xfrm>
          <a:prstGeom prst="rect">
            <a:avLst/>
          </a:prstGeom>
          <a:noFill/>
          <a:ln/>
        </p:spPr>
        <p:txBody>
          <a:bodyPr wrap="square" lIns="25400" tIns="25400" rIns="25400" bIns="25400" rtlCol="0" anchor="t">
            <a:normAutofit/>
          </a:bodyPr>
          <a:lstStyle/>
          <a:p>
            <a:pPr algn="l" indent="0" marL="0">
              <a:lnSpc>
                <a:spcPct val="130000"/>
              </a:lnSpc>
              <a:buNone/>
            </a:pPr>
            <a:r>
              <a:rPr lang="en-US" sz="1800" b="1" dirty="0">
                <a:solidFill>
                  <a:srgbClr val="C0392B"/>
                </a:solidFill>
                <a:latin typeface="Arial" pitchFamily="34" charset="0"/>
                <a:ea typeface="Arial" pitchFamily="34" charset="-122"/>
                <a:cs typeface="Arial" pitchFamily="34" charset="-120"/>
              </a:rPr>
              <a:t>Marine stingers </a:t>
            </a:r>
            <a:pPr algn="l" indent="0" marL="0">
              <a:lnSpc>
                <a:spcPct val="130000"/>
              </a:lnSpc>
              <a:buNone/>
            </a:pPr>
            <a:r>
              <a:rPr lang="en-US" sz="1800" dirty="0">
                <a:solidFill>
                  <a:srgbClr val="0D1F2D"/>
                </a:solidFill>
                <a:latin typeface="Arial" pitchFamily="34" charset="0"/>
                <a:ea typeface="Arial" pitchFamily="34" charset="-122"/>
                <a:cs typeface="Arial" pitchFamily="34" charset="-120"/>
              </a:rPr>
              <a:t>or dangerous marine life.</a:t>
            </a:r>
            <a:endParaRPr lang="en-US" sz="18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4F7F9"/>
        </a:solidFill>
      </p:bgPr>
    </p:bg>
    <p:spTree>
      <p:nvGrpSpPr>
        <p:cNvPr id="1" name=""/>
        <p:cNvGrpSpPr/>
        <p:nvPr/>
      </p:nvGrpSpPr>
      <p:grpSpPr>
        <a:xfrm>
          <a:off x="0" y="0"/>
          <a:ext cx="0" cy="0"/>
          <a:chOff x="0" y="0"/>
          <a:chExt cx="0" cy="0"/>
        </a:xfrm>
      </p:grpSpPr>
      <p:sp>
        <p:nvSpPr>
          <p:cNvPr id="2" name="Text 0"/>
          <p:cNvSpPr/>
          <p:nvPr/>
        </p:nvSpPr>
        <p:spPr>
          <a:xfrm>
            <a:off x="1047750" y="914400"/>
            <a:ext cx="16678275" cy="358080"/>
          </a:xfrm>
          <a:prstGeom prst="rect">
            <a:avLst/>
          </a:prstGeom>
          <a:noFill/>
          <a:ln/>
        </p:spPr>
        <p:txBody>
          <a:bodyPr wrap="square" lIns="25400" tIns="25400" rIns="25400" bIns="25400" rtlCol="0" anchor="t">
            <a:normAutofit/>
          </a:bodyPr>
          <a:lstStyle/>
          <a:p>
            <a:pPr algn="l" indent="0" marL="0">
              <a:lnSpc>
                <a:spcPct val="140000"/>
              </a:lnSpc>
              <a:buNone/>
            </a:pPr>
            <a:r>
              <a:rPr lang="en-US" sz="1800" spc="300" kern="0" dirty="0">
                <a:solidFill>
                  <a:srgbClr val="5A7A8A"/>
                </a:solidFill>
                <a:latin typeface="Courier New" pitchFamily="34" charset="0"/>
                <a:ea typeface="Courier New" pitchFamily="34" charset="-122"/>
                <a:cs typeface="Courier New" pitchFamily="34" charset="-120"/>
              </a:rPr>
              <a:t>THE NUMBER-ONE BEACH HAZARD</a:t>
            </a:r>
            <a:endParaRPr lang="en-US" sz="1800" dirty="0"/>
          </a:p>
        </p:txBody>
      </p:sp>
      <p:sp>
        <p:nvSpPr>
          <p:cNvPr id="3" name="Text 1"/>
          <p:cNvSpPr/>
          <p:nvPr/>
        </p:nvSpPr>
        <p:spPr>
          <a:xfrm>
            <a:off x="1047750" y="1405830"/>
            <a:ext cx="16678275" cy="798165"/>
          </a:xfrm>
          <a:prstGeom prst="rect">
            <a:avLst/>
          </a:prstGeom>
          <a:noFill/>
          <a:ln/>
        </p:spPr>
        <p:txBody>
          <a:bodyPr wrap="square" lIns="25400" tIns="25400" rIns="25400" bIns="25400" rtlCol="0" anchor="t">
            <a:normAutofit/>
          </a:bodyPr>
          <a:lstStyle/>
          <a:p>
            <a:pPr algn="l" indent="0" marL="0">
              <a:lnSpc>
                <a:spcPct val="105000"/>
              </a:lnSpc>
              <a:buNone/>
            </a:pPr>
            <a:r>
              <a:rPr lang="en-US" sz="5700" b="1" spc="-75" kern="0" dirty="0">
                <a:solidFill>
                  <a:srgbClr val="0D1F2D"/>
                </a:solidFill>
                <a:latin typeface="Arial" pitchFamily="34" charset="0"/>
                <a:ea typeface="Arial" pitchFamily="34" charset="-122"/>
                <a:cs typeface="Arial" pitchFamily="34" charset="-120"/>
              </a:rPr>
              <a:t>What a rip current actually looks like</a:t>
            </a:r>
            <a:endParaRPr lang="en-US" sz="5700" dirty="0"/>
          </a:p>
        </p:txBody>
      </p:sp>
      <p:sp>
        <p:nvSpPr>
          <p:cNvPr id="4" name="Shape 2"/>
          <p:cNvSpPr/>
          <p:nvPr/>
        </p:nvSpPr>
        <p:spPr>
          <a:xfrm>
            <a:off x="1047750" y="2623096"/>
            <a:ext cx="16192500" cy="7098506"/>
          </a:xfrm>
          <a:prstGeom prst="roundRect">
            <a:avLst>
              <a:gd name="adj" fmla="val 3220"/>
            </a:avLst>
          </a:prstGeom>
          <a:solidFill>
            <a:srgbClr val="023E8A"/>
          </a:solidFill>
          <a:ln/>
        </p:spPr>
        <p:txBody>
          <a:bodyPr/>
          <a:p/>
        </p:txBody>
      </p:sp>
      <p:pic>
        <p:nvPicPr>
          <p:cNvPr id="5" name="Image 0" descr="preencoded.png">    </p:cNvPr>
          <p:cNvPicPr>
            <a:picLocks noChangeAspect="1"/>
          </p:cNvPicPr>
          <p:nvPr/>
        </p:nvPicPr>
        <p:blipFill>
          <a:blip r:embed="rId1"/>
          <a:stretch>
            <a:fillRect/>
          </a:stretch>
        </p:blipFill>
        <p:spPr>
          <a:xfrm>
            <a:off x="1390650" y="2965996"/>
            <a:ext cx="15506700" cy="4755356"/>
          </a:xfrm>
          <a:prstGeom prst="rect">
            <a:avLst/>
          </a:prstGeom>
        </p:spPr>
      </p:pic>
      <p:sp>
        <p:nvSpPr>
          <p:cNvPr id="6" name="Shape 3"/>
          <p:cNvSpPr/>
          <p:nvPr/>
        </p:nvSpPr>
        <p:spPr>
          <a:xfrm>
            <a:off x="1390650" y="8007102"/>
            <a:ext cx="2964061" cy="1371600"/>
          </a:xfrm>
          <a:prstGeom prst="roundRect">
            <a:avLst>
              <a:gd name="adj" fmla="val 9722"/>
            </a:avLst>
          </a:prstGeom>
          <a:solidFill>
            <a:srgbClr val="FFFFFF">
              <a:alpha val="8000"/>
            </a:srgbClr>
          </a:solidFill>
          <a:ln w="9525">
            <a:solidFill>
              <a:srgbClr val="FFFFFF">
                <a:alpha val="18000"/>
              </a:srgbClr>
            </a:solidFill>
            <a:prstDash val="solid"/>
          </a:ln>
        </p:spPr>
        <p:txBody>
          <a:bodyPr/>
          <a:p/>
        </p:txBody>
      </p:sp>
      <p:sp>
        <p:nvSpPr>
          <p:cNvPr id="7" name="Text 4"/>
          <p:cNvSpPr/>
          <p:nvPr/>
        </p:nvSpPr>
        <p:spPr>
          <a:xfrm>
            <a:off x="1609725" y="8188077"/>
            <a:ext cx="2602111" cy="381000"/>
          </a:xfrm>
          <a:prstGeom prst="rect">
            <a:avLst/>
          </a:prstGeom>
          <a:noFill/>
          <a:ln/>
        </p:spPr>
        <p:txBody>
          <a:bodyPr wrap="square" lIns="25400" tIns="25400" rIns="25400" bIns="25400" rtlCol="0" anchor="t">
            <a:normAutofit/>
          </a:bodyPr>
          <a:lstStyle/>
          <a:p>
            <a:pPr algn="l" indent="0" marL="0">
              <a:lnSpc>
                <a:spcPct val="100000"/>
              </a:lnSpc>
              <a:buNone/>
            </a:pPr>
            <a:r>
              <a:rPr lang="en-US" sz="2700" b="1" dirty="0">
                <a:solidFill>
                  <a:srgbClr val="FFD166"/>
                </a:solidFill>
                <a:latin typeface="Arial" pitchFamily="34" charset="0"/>
                <a:ea typeface="Arial" pitchFamily="34" charset="-122"/>
                <a:cs typeface="Arial" pitchFamily="34" charset="-120"/>
              </a:rPr>
              <a:t>1</a:t>
            </a:r>
            <a:endParaRPr lang="en-US" sz="2700" dirty="0"/>
          </a:p>
        </p:txBody>
      </p:sp>
      <p:sp>
        <p:nvSpPr>
          <p:cNvPr id="8" name="Text 5"/>
          <p:cNvSpPr/>
          <p:nvPr/>
        </p:nvSpPr>
        <p:spPr>
          <a:xfrm>
            <a:off x="1609725" y="8626227"/>
            <a:ext cx="2602111" cy="323850"/>
          </a:xfrm>
          <a:prstGeom prst="rect">
            <a:avLst/>
          </a:prstGeom>
          <a:noFill/>
          <a:ln/>
        </p:spPr>
        <p:txBody>
          <a:bodyPr wrap="square" lIns="25400" tIns="25400" rIns="25400" bIns="25400" rtlCol="0" anchor="t">
            <a:normAutofit/>
          </a:bodyPr>
          <a:lstStyle/>
          <a:p>
            <a:pPr algn="l" indent="0" marL="0">
              <a:lnSpc>
                <a:spcPct val="125000"/>
              </a:lnSpc>
              <a:buNone/>
            </a:pPr>
            <a:r>
              <a:rPr lang="en-US" sz="1800" b="1" dirty="0">
                <a:solidFill>
                  <a:srgbClr val="FFFFFF"/>
                </a:solidFill>
                <a:latin typeface="Arial" pitchFamily="34" charset="0"/>
                <a:ea typeface="Arial" pitchFamily="34" charset="-122"/>
                <a:cs typeface="Arial" pitchFamily="34" charset="-120"/>
              </a:rPr>
              <a:t>Stay calm. Don't panic.</a:t>
            </a:r>
            <a:endParaRPr lang="en-US" sz="1800" dirty="0"/>
          </a:p>
        </p:txBody>
      </p:sp>
      <p:sp>
        <p:nvSpPr>
          <p:cNvPr id="9" name="Shape 6"/>
          <p:cNvSpPr/>
          <p:nvPr/>
        </p:nvSpPr>
        <p:spPr>
          <a:xfrm>
            <a:off x="4526161" y="8007102"/>
            <a:ext cx="2964210" cy="1371600"/>
          </a:xfrm>
          <a:prstGeom prst="roundRect">
            <a:avLst>
              <a:gd name="adj" fmla="val 9722"/>
            </a:avLst>
          </a:prstGeom>
          <a:solidFill>
            <a:srgbClr val="FFFFFF">
              <a:alpha val="8000"/>
            </a:srgbClr>
          </a:solidFill>
          <a:ln w="9525">
            <a:solidFill>
              <a:srgbClr val="FFFFFF">
                <a:alpha val="18000"/>
              </a:srgbClr>
            </a:solidFill>
            <a:prstDash val="solid"/>
          </a:ln>
        </p:spPr>
        <p:txBody>
          <a:bodyPr/>
          <a:p/>
        </p:txBody>
      </p:sp>
      <p:sp>
        <p:nvSpPr>
          <p:cNvPr id="10" name="Text 7"/>
          <p:cNvSpPr/>
          <p:nvPr/>
        </p:nvSpPr>
        <p:spPr>
          <a:xfrm>
            <a:off x="4745236" y="8188077"/>
            <a:ext cx="2602260" cy="381000"/>
          </a:xfrm>
          <a:prstGeom prst="rect">
            <a:avLst/>
          </a:prstGeom>
          <a:noFill/>
          <a:ln/>
        </p:spPr>
        <p:txBody>
          <a:bodyPr wrap="square" lIns="25400" tIns="25400" rIns="25400" bIns="25400" rtlCol="0" anchor="t">
            <a:normAutofit/>
          </a:bodyPr>
          <a:lstStyle/>
          <a:p>
            <a:pPr algn="l" indent="0" marL="0">
              <a:lnSpc>
                <a:spcPct val="100000"/>
              </a:lnSpc>
              <a:buNone/>
            </a:pPr>
            <a:r>
              <a:rPr lang="en-US" sz="2700" b="1" dirty="0">
                <a:solidFill>
                  <a:srgbClr val="FFD166"/>
                </a:solidFill>
                <a:latin typeface="Arial" pitchFamily="34" charset="0"/>
                <a:ea typeface="Arial" pitchFamily="34" charset="-122"/>
                <a:cs typeface="Arial" pitchFamily="34" charset="-120"/>
              </a:rPr>
              <a:t>2</a:t>
            </a:r>
            <a:endParaRPr lang="en-US" sz="2700" dirty="0"/>
          </a:p>
        </p:txBody>
      </p:sp>
      <p:sp>
        <p:nvSpPr>
          <p:cNvPr id="11" name="Text 8"/>
          <p:cNvSpPr/>
          <p:nvPr/>
        </p:nvSpPr>
        <p:spPr>
          <a:xfrm>
            <a:off x="4745236" y="8626227"/>
            <a:ext cx="2602260" cy="609600"/>
          </a:xfrm>
          <a:prstGeom prst="rect">
            <a:avLst/>
          </a:prstGeom>
          <a:noFill/>
          <a:ln/>
        </p:spPr>
        <p:txBody>
          <a:bodyPr wrap="square" lIns="25400" tIns="25400" rIns="25400" bIns="25400" rtlCol="0" anchor="t">
            <a:normAutofit/>
          </a:bodyPr>
          <a:lstStyle/>
          <a:p>
            <a:pPr algn="l" indent="0" marL="0">
              <a:lnSpc>
                <a:spcPct val="125000"/>
              </a:lnSpc>
              <a:buNone/>
            </a:pPr>
            <a:r>
              <a:rPr lang="en-US" sz="1800" b="1" dirty="0">
                <a:solidFill>
                  <a:srgbClr val="FFFFFF"/>
                </a:solidFill>
                <a:latin typeface="Arial" pitchFamily="34" charset="0"/>
                <a:ea typeface="Arial" pitchFamily="34" charset="-122"/>
                <a:cs typeface="Arial" pitchFamily="34" charset="-120"/>
              </a:rPr>
              <a:t>Float — conserve energy.</a:t>
            </a:r>
            <a:endParaRPr lang="en-US" sz="1800" dirty="0"/>
          </a:p>
        </p:txBody>
      </p:sp>
      <p:sp>
        <p:nvSpPr>
          <p:cNvPr id="12" name="Shape 9"/>
          <p:cNvSpPr/>
          <p:nvPr/>
        </p:nvSpPr>
        <p:spPr>
          <a:xfrm>
            <a:off x="7661821" y="8007102"/>
            <a:ext cx="2964210" cy="1371600"/>
          </a:xfrm>
          <a:prstGeom prst="roundRect">
            <a:avLst>
              <a:gd name="adj" fmla="val 9722"/>
            </a:avLst>
          </a:prstGeom>
          <a:solidFill>
            <a:srgbClr val="FFFFFF">
              <a:alpha val="8000"/>
            </a:srgbClr>
          </a:solidFill>
          <a:ln w="9525">
            <a:solidFill>
              <a:srgbClr val="FFFFFF">
                <a:alpha val="18000"/>
              </a:srgbClr>
            </a:solidFill>
            <a:prstDash val="solid"/>
          </a:ln>
        </p:spPr>
        <p:txBody>
          <a:bodyPr/>
          <a:p/>
        </p:txBody>
      </p:sp>
      <p:sp>
        <p:nvSpPr>
          <p:cNvPr id="13" name="Text 10"/>
          <p:cNvSpPr/>
          <p:nvPr/>
        </p:nvSpPr>
        <p:spPr>
          <a:xfrm>
            <a:off x="7880896" y="8188077"/>
            <a:ext cx="2602260" cy="381000"/>
          </a:xfrm>
          <a:prstGeom prst="rect">
            <a:avLst/>
          </a:prstGeom>
          <a:noFill/>
          <a:ln/>
        </p:spPr>
        <p:txBody>
          <a:bodyPr wrap="square" lIns="25400" tIns="25400" rIns="25400" bIns="25400" rtlCol="0" anchor="t">
            <a:normAutofit/>
          </a:bodyPr>
          <a:lstStyle/>
          <a:p>
            <a:pPr algn="l" indent="0" marL="0">
              <a:lnSpc>
                <a:spcPct val="100000"/>
              </a:lnSpc>
              <a:buNone/>
            </a:pPr>
            <a:r>
              <a:rPr lang="en-US" sz="2700" b="1" dirty="0">
                <a:solidFill>
                  <a:srgbClr val="FFD166"/>
                </a:solidFill>
                <a:latin typeface="Arial" pitchFamily="34" charset="0"/>
                <a:ea typeface="Arial" pitchFamily="34" charset="-122"/>
                <a:cs typeface="Arial" pitchFamily="34" charset="-120"/>
              </a:rPr>
              <a:t>3</a:t>
            </a:r>
            <a:endParaRPr lang="en-US" sz="2700" dirty="0"/>
          </a:p>
        </p:txBody>
      </p:sp>
      <p:sp>
        <p:nvSpPr>
          <p:cNvPr id="14" name="Text 11"/>
          <p:cNvSpPr/>
          <p:nvPr/>
        </p:nvSpPr>
        <p:spPr>
          <a:xfrm>
            <a:off x="7880896" y="8626227"/>
            <a:ext cx="2602260" cy="323850"/>
          </a:xfrm>
          <a:prstGeom prst="rect">
            <a:avLst/>
          </a:prstGeom>
          <a:noFill/>
          <a:ln/>
        </p:spPr>
        <p:txBody>
          <a:bodyPr wrap="square" lIns="25400" tIns="25400" rIns="25400" bIns="25400" rtlCol="0" anchor="t">
            <a:normAutofit/>
          </a:bodyPr>
          <a:lstStyle/>
          <a:p>
            <a:pPr algn="l" indent="0" marL="0">
              <a:lnSpc>
                <a:spcPct val="125000"/>
              </a:lnSpc>
              <a:buNone/>
            </a:pPr>
            <a:r>
              <a:rPr lang="en-US" sz="1800" b="1" dirty="0">
                <a:solidFill>
                  <a:srgbClr val="FFFFFF"/>
                </a:solidFill>
                <a:latin typeface="Arial" pitchFamily="34" charset="0"/>
                <a:ea typeface="Arial" pitchFamily="34" charset="-122"/>
                <a:cs typeface="Arial" pitchFamily="34" charset="-120"/>
              </a:rPr>
              <a:t>Swim parallel to shore.</a:t>
            </a:r>
            <a:endParaRPr lang="en-US" sz="1800" dirty="0"/>
          </a:p>
        </p:txBody>
      </p:sp>
      <p:sp>
        <p:nvSpPr>
          <p:cNvPr id="15" name="Shape 12"/>
          <p:cNvSpPr/>
          <p:nvPr/>
        </p:nvSpPr>
        <p:spPr>
          <a:xfrm>
            <a:off x="10797480" y="8007102"/>
            <a:ext cx="2964210" cy="1371600"/>
          </a:xfrm>
          <a:prstGeom prst="roundRect">
            <a:avLst>
              <a:gd name="adj" fmla="val 9722"/>
            </a:avLst>
          </a:prstGeom>
          <a:solidFill>
            <a:srgbClr val="FFFFFF">
              <a:alpha val="8000"/>
            </a:srgbClr>
          </a:solidFill>
          <a:ln w="9525">
            <a:solidFill>
              <a:srgbClr val="FFFFFF">
                <a:alpha val="18000"/>
              </a:srgbClr>
            </a:solidFill>
            <a:prstDash val="solid"/>
          </a:ln>
        </p:spPr>
        <p:txBody>
          <a:bodyPr/>
          <a:p/>
        </p:txBody>
      </p:sp>
      <p:sp>
        <p:nvSpPr>
          <p:cNvPr id="16" name="Text 13"/>
          <p:cNvSpPr/>
          <p:nvPr/>
        </p:nvSpPr>
        <p:spPr>
          <a:xfrm>
            <a:off x="11016555" y="8188077"/>
            <a:ext cx="2602260" cy="381000"/>
          </a:xfrm>
          <a:prstGeom prst="rect">
            <a:avLst/>
          </a:prstGeom>
          <a:noFill/>
          <a:ln/>
        </p:spPr>
        <p:txBody>
          <a:bodyPr wrap="square" lIns="25400" tIns="25400" rIns="25400" bIns="25400" rtlCol="0" anchor="t">
            <a:normAutofit/>
          </a:bodyPr>
          <a:lstStyle/>
          <a:p>
            <a:pPr algn="l" indent="0" marL="0">
              <a:lnSpc>
                <a:spcPct val="100000"/>
              </a:lnSpc>
              <a:buNone/>
            </a:pPr>
            <a:r>
              <a:rPr lang="en-US" sz="2700" b="1" dirty="0">
                <a:solidFill>
                  <a:srgbClr val="FFD166"/>
                </a:solidFill>
                <a:latin typeface="Arial" pitchFamily="34" charset="0"/>
                <a:ea typeface="Arial" pitchFamily="34" charset="-122"/>
                <a:cs typeface="Arial" pitchFamily="34" charset="-120"/>
              </a:rPr>
              <a:t>4</a:t>
            </a:r>
            <a:endParaRPr lang="en-US" sz="2700" dirty="0"/>
          </a:p>
        </p:txBody>
      </p:sp>
      <p:sp>
        <p:nvSpPr>
          <p:cNvPr id="17" name="Text 14"/>
          <p:cNvSpPr/>
          <p:nvPr/>
        </p:nvSpPr>
        <p:spPr>
          <a:xfrm>
            <a:off x="11016555" y="8626227"/>
            <a:ext cx="2602260" cy="609600"/>
          </a:xfrm>
          <a:prstGeom prst="rect">
            <a:avLst/>
          </a:prstGeom>
          <a:noFill/>
          <a:ln/>
        </p:spPr>
        <p:txBody>
          <a:bodyPr wrap="square" lIns="25400" tIns="25400" rIns="25400" bIns="25400" rtlCol="0" anchor="t">
            <a:normAutofit/>
          </a:bodyPr>
          <a:lstStyle/>
          <a:p>
            <a:pPr algn="l" indent="0" marL="0">
              <a:lnSpc>
                <a:spcPct val="125000"/>
              </a:lnSpc>
              <a:buNone/>
            </a:pPr>
            <a:r>
              <a:rPr lang="en-US" sz="1800" b="1" dirty="0">
                <a:solidFill>
                  <a:srgbClr val="FFFFFF"/>
                </a:solidFill>
                <a:latin typeface="Arial" pitchFamily="34" charset="0"/>
                <a:ea typeface="Arial" pitchFamily="34" charset="-122"/>
                <a:cs typeface="Arial" pitchFamily="34" charset="-120"/>
              </a:rPr>
              <a:t>Angle back to the beach.</a:t>
            </a:r>
            <a:endParaRPr lang="en-US" sz="1800" dirty="0"/>
          </a:p>
        </p:txBody>
      </p:sp>
      <p:sp>
        <p:nvSpPr>
          <p:cNvPr id="18" name="Shape 15"/>
          <p:cNvSpPr/>
          <p:nvPr/>
        </p:nvSpPr>
        <p:spPr>
          <a:xfrm>
            <a:off x="13933140" y="8007102"/>
            <a:ext cx="2964210" cy="1371600"/>
          </a:xfrm>
          <a:prstGeom prst="roundRect">
            <a:avLst>
              <a:gd name="adj" fmla="val 9722"/>
            </a:avLst>
          </a:prstGeom>
          <a:solidFill>
            <a:srgbClr val="FFFFFF">
              <a:alpha val="8000"/>
            </a:srgbClr>
          </a:solidFill>
          <a:ln w="9525">
            <a:solidFill>
              <a:srgbClr val="FFFFFF">
                <a:alpha val="18000"/>
              </a:srgbClr>
            </a:solidFill>
            <a:prstDash val="solid"/>
          </a:ln>
        </p:spPr>
        <p:txBody>
          <a:bodyPr/>
          <a:p/>
        </p:txBody>
      </p:sp>
      <p:sp>
        <p:nvSpPr>
          <p:cNvPr id="19" name="Text 16"/>
          <p:cNvSpPr/>
          <p:nvPr/>
        </p:nvSpPr>
        <p:spPr>
          <a:xfrm>
            <a:off x="14152215" y="8188077"/>
            <a:ext cx="2602260" cy="381000"/>
          </a:xfrm>
          <a:prstGeom prst="rect">
            <a:avLst/>
          </a:prstGeom>
          <a:noFill/>
          <a:ln/>
        </p:spPr>
        <p:txBody>
          <a:bodyPr wrap="square" lIns="25400" tIns="25400" rIns="25400" bIns="25400" rtlCol="0" anchor="t">
            <a:normAutofit/>
          </a:bodyPr>
          <a:lstStyle/>
          <a:p>
            <a:pPr algn="l" indent="0" marL="0">
              <a:lnSpc>
                <a:spcPct val="100000"/>
              </a:lnSpc>
              <a:buNone/>
            </a:pPr>
            <a:r>
              <a:rPr lang="en-US" sz="2700" b="1" dirty="0">
                <a:solidFill>
                  <a:srgbClr val="FFD166"/>
                </a:solidFill>
                <a:latin typeface="Arial" pitchFamily="34" charset="0"/>
                <a:ea typeface="Arial" pitchFamily="34" charset="-122"/>
                <a:cs typeface="Arial" pitchFamily="34" charset="-120"/>
              </a:rPr>
              <a:t>5</a:t>
            </a:r>
            <a:endParaRPr lang="en-US" sz="2700" dirty="0"/>
          </a:p>
        </p:txBody>
      </p:sp>
      <p:sp>
        <p:nvSpPr>
          <p:cNvPr id="20" name="Text 17"/>
          <p:cNvSpPr/>
          <p:nvPr/>
        </p:nvSpPr>
        <p:spPr>
          <a:xfrm>
            <a:off x="14152215" y="8626227"/>
            <a:ext cx="2602260" cy="323850"/>
          </a:xfrm>
          <a:prstGeom prst="rect">
            <a:avLst/>
          </a:prstGeom>
          <a:noFill/>
          <a:ln/>
        </p:spPr>
        <p:txBody>
          <a:bodyPr wrap="square" lIns="25400" tIns="25400" rIns="25400" bIns="25400" rtlCol="0" anchor="t">
            <a:normAutofit/>
          </a:bodyPr>
          <a:lstStyle/>
          <a:p>
            <a:pPr algn="l" indent="0" marL="0">
              <a:lnSpc>
                <a:spcPct val="125000"/>
              </a:lnSpc>
              <a:buNone/>
            </a:pPr>
            <a:r>
              <a:rPr lang="en-US" sz="1800" b="1" dirty="0">
                <a:solidFill>
                  <a:srgbClr val="FFFFFF"/>
                </a:solidFill>
                <a:latin typeface="Arial" pitchFamily="34" charset="0"/>
                <a:ea typeface="Arial" pitchFamily="34" charset="-122"/>
                <a:cs typeface="Arial" pitchFamily="34" charset="-120"/>
              </a:rPr>
              <a:t>If tired, signal for help.</a:t>
            </a:r>
            <a:endParaRPr lang="en-US" sz="18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4F7F9"/>
        </a:solidFill>
      </p:bgPr>
    </p:bg>
    <p:spTree>
      <p:nvGrpSpPr>
        <p:cNvPr id="1" name=""/>
        <p:cNvGrpSpPr/>
        <p:nvPr/>
      </p:nvGrpSpPr>
      <p:grpSpPr>
        <a:xfrm>
          <a:off x="0" y="0"/>
          <a:ext cx="0" cy="0"/>
          <a:chOff x="0" y="0"/>
          <a:chExt cx="0" cy="0"/>
        </a:xfrm>
      </p:grpSpPr>
      <p:sp>
        <p:nvSpPr>
          <p:cNvPr id="2" name="Text 0"/>
          <p:cNvSpPr/>
          <p:nvPr/>
        </p:nvSpPr>
        <p:spPr>
          <a:xfrm>
            <a:off x="1047750" y="914400"/>
            <a:ext cx="16678275" cy="358080"/>
          </a:xfrm>
          <a:prstGeom prst="rect">
            <a:avLst/>
          </a:prstGeom>
          <a:noFill/>
          <a:ln/>
        </p:spPr>
        <p:txBody>
          <a:bodyPr wrap="square" lIns="25400" tIns="25400" rIns="25400" bIns="25400" rtlCol="0" anchor="t">
            <a:normAutofit/>
          </a:bodyPr>
          <a:lstStyle/>
          <a:p>
            <a:pPr algn="l" indent="0" marL="0">
              <a:lnSpc>
                <a:spcPct val="140000"/>
              </a:lnSpc>
              <a:buNone/>
            </a:pPr>
            <a:r>
              <a:rPr lang="en-US" sz="1800" spc="300" kern="0" dirty="0">
                <a:solidFill>
                  <a:srgbClr val="5A7A8A"/>
                </a:solidFill>
                <a:latin typeface="Courier New" pitchFamily="34" charset="0"/>
                <a:ea typeface="Courier New" pitchFamily="34" charset="-122"/>
                <a:cs typeface="Courier New" pitchFamily="34" charset="-120"/>
              </a:rPr>
              <a:t>IF CAUGHT IN A RIP</a:t>
            </a:r>
            <a:endParaRPr lang="en-US" sz="1800" dirty="0"/>
          </a:p>
        </p:txBody>
      </p:sp>
      <p:sp>
        <p:nvSpPr>
          <p:cNvPr id="3" name="Text 1"/>
          <p:cNvSpPr/>
          <p:nvPr/>
        </p:nvSpPr>
        <p:spPr>
          <a:xfrm>
            <a:off x="1047750" y="1405830"/>
            <a:ext cx="16678275" cy="798165"/>
          </a:xfrm>
          <a:prstGeom prst="rect">
            <a:avLst/>
          </a:prstGeom>
          <a:noFill/>
          <a:ln/>
        </p:spPr>
        <p:txBody>
          <a:bodyPr wrap="square" lIns="25400" tIns="25400" rIns="25400" bIns="25400" rtlCol="0" anchor="t">
            <a:normAutofit/>
          </a:bodyPr>
          <a:lstStyle/>
          <a:p>
            <a:pPr algn="l" indent="0" marL="0">
              <a:lnSpc>
                <a:spcPct val="105000"/>
              </a:lnSpc>
              <a:buNone/>
            </a:pPr>
            <a:r>
              <a:rPr lang="en-US" sz="5700" b="1" spc="-75" kern="0" dirty="0">
                <a:solidFill>
                  <a:srgbClr val="0D1F2D"/>
                </a:solidFill>
                <a:latin typeface="Arial" pitchFamily="34" charset="0"/>
                <a:ea typeface="Arial" pitchFamily="34" charset="-122"/>
                <a:cs typeface="Arial" pitchFamily="34" charset="-120"/>
              </a:rPr>
              <a:t>Five steps. In order. Every time.</a:t>
            </a:r>
            <a:endParaRPr lang="en-US" sz="5700" dirty="0"/>
          </a:p>
        </p:txBody>
      </p:sp>
      <p:sp>
        <p:nvSpPr>
          <p:cNvPr id="4" name="Shape 2"/>
          <p:cNvSpPr/>
          <p:nvPr/>
        </p:nvSpPr>
        <p:spPr>
          <a:xfrm>
            <a:off x="1047750" y="2623096"/>
            <a:ext cx="16192500" cy="19050"/>
          </a:xfrm>
          <a:prstGeom prst="rect">
            <a:avLst/>
          </a:prstGeom>
          <a:solidFill>
            <a:srgbClr val="0D1F2D"/>
          </a:solidFill>
          <a:ln/>
        </p:spPr>
        <p:txBody>
          <a:bodyPr/>
          <a:p/>
        </p:txBody>
      </p:sp>
      <p:sp>
        <p:nvSpPr>
          <p:cNvPr id="5" name="Text 3"/>
          <p:cNvSpPr/>
          <p:nvPr/>
        </p:nvSpPr>
        <p:spPr>
          <a:xfrm>
            <a:off x="1047750" y="2851696"/>
            <a:ext cx="1123950" cy="571500"/>
          </a:xfrm>
          <a:prstGeom prst="rect">
            <a:avLst/>
          </a:prstGeom>
          <a:noFill/>
          <a:ln/>
        </p:spPr>
        <p:txBody>
          <a:bodyPr wrap="square" lIns="25400" tIns="25400" rIns="25400" bIns="25400" rtlCol="0" anchor="t">
            <a:normAutofit/>
          </a:bodyPr>
          <a:lstStyle/>
          <a:p>
            <a:pPr algn="l" indent="0" marL="0">
              <a:lnSpc>
                <a:spcPct val="100000"/>
              </a:lnSpc>
              <a:buNone/>
            </a:pPr>
            <a:r>
              <a:rPr lang="en-US" sz="4200" b="1" dirty="0">
                <a:solidFill>
                  <a:srgbClr val="006494"/>
                </a:solidFill>
                <a:latin typeface="Arial" pitchFamily="34" charset="0"/>
                <a:ea typeface="Arial" pitchFamily="34" charset="-122"/>
                <a:cs typeface="Arial" pitchFamily="34" charset="-120"/>
              </a:rPr>
              <a:t>01</a:t>
            </a:r>
            <a:endParaRPr lang="en-US" sz="4200" dirty="0"/>
          </a:p>
        </p:txBody>
      </p:sp>
      <p:sp>
        <p:nvSpPr>
          <p:cNvPr id="6" name="Text 4"/>
          <p:cNvSpPr/>
          <p:nvPr/>
        </p:nvSpPr>
        <p:spPr>
          <a:xfrm>
            <a:off x="2438400" y="2851696"/>
            <a:ext cx="15245905" cy="388590"/>
          </a:xfrm>
          <a:prstGeom prst="rect">
            <a:avLst/>
          </a:prstGeom>
          <a:noFill/>
          <a:ln/>
        </p:spPr>
        <p:txBody>
          <a:bodyPr wrap="square" lIns="25400" tIns="25400" rIns="25400" bIns="25400" rtlCol="0" anchor="t">
            <a:normAutofit/>
          </a:bodyPr>
          <a:lstStyle/>
          <a:p>
            <a:pPr algn="l" indent="0" marL="0">
              <a:lnSpc>
                <a:spcPct val="115000"/>
              </a:lnSpc>
              <a:buNone/>
            </a:pPr>
            <a:r>
              <a:rPr lang="en-US" sz="2400" b="1" dirty="0">
                <a:solidFill>
                  <a:srgbClr val="0D1F2D"/>
                </a:solidFill>
                <a:latin typeface="Arial" pitchFamily="34" charset="0"/>
                <a:ea typeface="Arial" pitchFamily="34" charset="-122"/>
                <a:cs typeface="Arial" pitchFamily="34" charset="-120"/>
              </a:rPr>
              <a:t>Stay calm</a:t>
            </a:r>
            <a:endParaRPr lang="en-US" sz="2400" dirty="0"/>
          </a:p>
        </p:txBody>
      </p:sp>
      <p:sp>
        <p:nvSpPr>
          <p:cNvPr id="7" name="Text 5"/>
          <p:cNvSpPr/>
          <p:nvPr/>
        </p:nvSpPr>
        <p:spPr>
          <a:xfrm>
            <a:off x="2438400" y="3259336"/>
            <a:ext cx="15245905" cy="358080"/>
          </a:xfrm>
          <a:prstGeom prst="rect">
            <a:avLst/>
          </a:prstGeom>
          <a:noFill/>
          <a:ln/>
        </p:spPr>
        <p:txBody>
          <a:bodyPr wrap="square" lIns="25400" tIns="25400" rIns="25400" bIns="25400" rtlCol="0" anchor="t">
            <a:normAutofit/>
          </a:bodyPr>
          <a:lstStyle/>
          <a:p>
            <a:pPr algn="l" indent="0" marL="0">
              <a:lnSpc>
                <a:spcPct val="140000"/>
              </a:lnSpc>
              <a:buNone/>
            </a:pPr>
            <a:r>
              <a:rPr lang="en-US" sz="1800" dirty="0">
                <a:solidFill>
                  <a:srgbClr val="5A7A8A"/>
                </a:solidFill>
                <a:latin typeface="Arial" pitchFamily="34" charset="0"/>
                <a:ea typeface="Arial" pitchFamily="34" charset="-122"/>
                <a:cs typeface="Arial" pitchFamily="34" charset="-120"/>
              </a:rPr>
              <a:t>Panic burns the energy you need. A rip won't pull you under — it pulls you out.</a:t>
            </a:r>
            <a:endParaRPr lang="en-US" sz="1800" dirty="0"/>
          </a:p>
        </p:txBody>
      </p:sp>
      <p:sp>
        <p:nvSpPr>
          <p:cNvPr id="8" name="Shape 6"/>
          <p:cNvSpPr/>
          <p:nvPr/>
        </p:nvSpPr>
        <p:spPr>
          <a:xfrm>
            <a:off x="1047750" y="4017466"/>
            <a:ext cx="16192500" cy="9525"/>
          </a:xfrm>
          <a:prstGeom prst="rect">
            <a:avLst/>
          </a:prstGeom>
          <a:solidFill>
            <a:srgbClr val="CDD9E0"/>
          </a:solidFill>
          <a:ln/>
        </p:spPr>
        <p:txBody>
          <a:bodyPr/>
          <a:p/>
        </p:txBody>
      </p:sp>
      <p:sp>
        <p:nvSpPr>
          <p:cNvPr id="9" name="Text 7"/>
          <p:cNvSpPr/>
          <p:nvPr/>
        </p:nvSpPr>
        <p:spPr>
          <a:xfrm>
            <a:off x="1047750" y="4198441"/>
            <a:ext cx="1123950" cy="571500"/>
          </a:xfrm>
          <a:prstGeom prst="rect">
            <a:avLst/>
          </a:prstGeom>
          <a:noFill/>
          <a:ln/>
        </p:spPr>
        <p:txBody>
          <a:bodyPr wrap="square" lIns="25400" tIns="25400" rIns="25400" bIns="25400" rtlCol="0" anchor="t">
            <a:normAutofit/>
          </a:bodyPr>
          <a:lstStyle/>
          <a:p>
            <a:pPr algn="l" indent="0" marL="0">
              <a:lnSpc>
                <a:spcPct val="100000"/>
              </a:lnSpc>
              <a:buNone/>
            </a:pPr>
            <a:r>
              <a:rPr lang="en-US" sz="4200" b="1" dirty="0">
                <a:solidFill>
                  <a:srgbClr val="006494"/>
                </a:solidFill>
                <a:latin typeface="Arial" pitchFamily="34" charset="0"/>
                <a:ea typeface="Arial" pitchFamily="34" charset="-122"/>
                <a:cs typeface="Arial" pitchFamily="34" charset="-120"/>
              </a:rPr>
              <a:t>02</a:t>
            </a:r>
            <a:endParaRPr lang="en-US" sz="4200" dirty="0"/>
          </a:p>
        </p:txBody>
      </p:sp>
      <p:sp>
        <p:nvSpPr>
          <p:cNvPr id="10" name="Text 8"/>
          <p:cNvSpPr/>
          <p:nvPr/>
        </p:nvSpPr>
        <p:spPr>
          <a:xfrm>
            <a:off x="2438400" y="4198441"/>
            <a:ext cx="15245905" cy="388590"/>
          </a:xfrm>
          <a:prstGeom prst="rect">
            <a:avLst/>
          </a:prstGeom>
          <a:noFill/>
          <a:ln/>
        </p:spPr>
        <p:txBody>
          <a:bodyPr wrap="square" lIns="25400" tIns="25400" rIns="25400" bIns="25400" rtlCol="0" anchor="t">
            <a:normAutofit/>
          </a:bodyPr>
          <a:lstStyle/>
          <a:p>
            <a:pPr algn="l" indent="0" marL="0">
              <a:lnSpc>
                <a:spcPct val="115000"/>
              </a:lnSpc>
              <a:buNone/>
            </a:pPr>
            <a:r>
              <a:rPr lang="en-US" sz="2400" b="1" dirty="0">
                <a:solidFill>
                  <a:srgbClr val="0D1F2D"/>
                </a:solidFill>
                <a:latin typeface="Arial" pitchFamily="34" charset="0"/>
                <a:ea typeface="Arial" pitchFamily="34" charset="-122"/>
                <a:cs typeface="Arial" pitchFamily="34" charset="-120"/>
              </a:rPr>
              <a:t>Float on your back</a:t>
            </a:r>
            <a:endParaRPr lang="en-US" sz="2400" dirty="0"/>
          </a:p>
        </p:txBody>
      </p:sp>
      <p:sp>
        <p:nvSpPr>
          <p:cNvPr id="11" name="Text 9"/>
          <p:cNvSpPr/>
          <p:nvPr/>
        </p:nvSpPr>
        <p:spPr>
          <a:xfrm>
            <a:off x="2438400" y="4606082"/>
            <a:ext cx="15245905" cy="358080"/>
          </a:xfrm>
          <a:prstGeom prst="rect">
            <a:avLst/>
          </a:prstGeom>
          <a:noFill/>
          <a:ln/>
        </p:spPr>
        <p:txBody>
          <a:bodyPr wrap="square" lIns="25400" tIns="25400" rIns="25400" bIns="25400" rtlCol="0" anchor="t">
            <a:normAutofit/>
          </a:bodyPr>
          <a:lstStyle/>
          <a:p>
            <a:pPr algn="l" indent="0" marL="0">
              <a:lnSpc>
                <a:spcPct val="140000"/>
              </a:lnSpc>
              <a:buNone/>
            </a:pPr>
            <a:r>
              <a:rPr lang="en-US" sz="1800" dirty="0">
                <a:solidFill>
                  <a:srgbClr val="5A7A8A"/>
                </a:solidFill>
                <a:latin typeface="Arial" pitchFamily="34" charset="0"/>
                <a:ea typeface="Arial" pitchFamily="34" charset="-122"/>
                <a:cs typeface="Arial" pitchFamily="34" charset="-120"/>
              </a:rPr>
              <a:t>Let the rip carry you. It usually weakens 30–100 metres offshore. Conserve everything you've got.</a:t>
            </a:r>
            <a:endParaRPr lang="en-US" sz="1800" dirty="0"/>
          </a:p>
        </p:txBody>
      </p:sp>
      <p:sp>
        <p:nvSpPr>
          <p:cNvPr id="12" name="Shape 10"/>
          <p:cNvSpPr/>
          <p:nvPr/>
        </p:nvSpPr>
        <p:spPr>
          <a:xfrm>
            <a:off x="1047750" y="5364212"/>
            <a:ext cx="16192500" cy="9525"/>
          </a:xfrm>
          <a:prstGeom prst="rect">
            <a:avLst/>
          </a:prstGeom>
          <a:solidFill>
            <a:srgbClr val="CDD9E0"/>
          </a:solidFill>
          <a:ln/>
        </p:spPr>
        <p:txBody>
          <a:bodyPr/>
          <a:p/>
        </p:txBody>
      </p:sp>
      <p:sp>
        <p:nvSpPr>
          <p:cNvPr id="13" name="Text 11"/>
          <p:cNvSpPr/>
          <p:nvPr/>
        </p:nvSpPr>
        <p:spPr>
          <a:xfrm>
            <a:off x="1047750" y="5545187"/>
            <a:ext cx="1123950" cy="571500"/>
          </a:xfrm>
          <a:prstGeom prst="rect">
            <a:avLst/>
          </a:prstGeom>
          <a:noFill/>
          <a:ln/>
        </p:spPr>
        <p:txBody>
          <a:bodyPr wrap="square" lIns="25400" tIns="25400" rIns="25400" bIns="25400" rtlCol="0" anchor="t">
            <a:normAutofit/>
          </a:bodyPr>
          <a:lstStyle/>
          <a:p>
            <a:pPr algn="l" indent="0" marL="0">
              <a:lnSpc>
                <a:spcPct val="100000"/>
              </a:lnSpc>
              <a:buNone/>
            </a:pPr>
            <a:r>
              <a:rPr lang="en-US" sz="4200" b="1" dirty="0">
                <a:solidFill>
                  <a:srgbClr val="006494"/>
                </a:solidFill>
                <a:latin typeface="Arial" pitchFamily="34" charset="0"/>
                <a:ea typeface="Arial" pitchFamily="34" charset="-122"/>
                <a:cs typeface="Arial" pitchFamily="34" charset="-120"/>
              </a:rPr>
              <a:t>03</a:t>
            </a:r>
            <a:endParaRPr lang="en-US" sz="4200" dirty="0"/>
          </a:p>
        </p:txBody>
      </p:sp>
      <p:sp>
        <p:nvSpPr>
          <p:cNvPr id="14" name="Text 12"/>
          <p:cNvSpPr/>
          <p:nvPr/>
        </p:nvSpPr>
        <p:spPr>
          <a:xfrm>
            <a:off x="2438400" y="5545187"/>
            <a:ext cx="15245905" cy="388590"/>
          </a:xfrm>
          <a:prstGeom prst="rect">
            <a:avLst/>
          </a:prstGeom>
          <a:noFill/>
          <a:ln/>
        </p:spPr>
        <p:txBody>
          <a:bodyPr wrap="square" lIns="25400" tIns="25400" rIns="25400" bIns="25400" rtlCol="0" anchor="t">
            <a:normAutofit/>
          </a:bodyPr>
          <a:lstStyle/>
          <a:p>
            <a:pPr algn="l" indent="0" marL="0">
              <a:lnSpc>
                <a:spcPct val="115000"/>
              </a:lnSpc>
              <a:buNone/>
            </a:pPr>
            <a:r>
              <a:rPr lang="en-US" sz="2400" b="1" dirty="0">
                <a:solidFill>
                  <a:srgbClr val="0D1F2D"/>
                </a:solidFill>
                <a:latin typeface="Arial" pitchFamily="34" charset="0"/>
                <a:ea typeface="Arial" pitchFamily="34" charset="-122"/>
                <a:cs typeface="Arial" pitchFamily="34" charset="-120"/>
              </a:rPr>
              <a:t>Swim parallel to the shore</a:t>
            </a:r>
            <a:endParaRPr lang="en-US" sz="2400" dirty="0"/>
          </a:p>
        </p:txBody>
      </p:sp>
      <p:sp>
        <p:nvSpPr>
          <p:cNvPr id="15" name="Text 13"/>
          <p:cNvSpPr/>
          <p:nvPr/>
        </p:nvSpPr>
        <p:spPr>
          <a:xfrm>
            <a:off x="2438400" y="5952827"/>
            <a:ext cx="15245905" cy="358080"/>
          </a:xfrm>
          <a:prstGeom prst="rect">
            <a:avLst/>
          </a:prstGeom>
          <a:noFill/>
          <a:ln/>
        </p:spPr>
        <p:txBody>
          <a:bodyPr wrap="square" lIns="25400" tIns="25400" rIns="25400" bIns="25400" rtlCol="0" anchor="t">
            <a:normAutofit/>
          </a:bodyPr>
          <a:lstStyle/>
          <a:p>
            <a:pPr algn="l" indent="0" marL="0">
              <a:lnSpc>
                <a:spcPct val="140000"/>
              </a:lnSpc>
              <a:buNone/>
            </a:pPr>
            <a:r>
              <a:rPr lang="en-US" sz="1800" dirty="0">
                <a:solidFill>
                  <a:srgbClr val="5A7A8A"/>
                </a:solidFill>
                <a:latin typeface="Arial" pitchFamily="34" charset="0"/>
                <a:ea typeface="Arial" pitchFamily="34" charset="-122"/>
                <a:cs typeface="Arial" pitchFamily="34" charset="-120"/>
              </a:rPr>
              <a:t>Across the current, not against it. Aim for the breaking waves on either side — that's where the calmer water is.</a:t>
            </a:r>
            <a:endParaRPr lang="en-US" sz="1800" dirty="0"/>
          </a:p>
        </p:txBody>
      </p:sp>
      <p:sp>
        <p:nvSpPr>
          <p:cNvPr id="16" name="Shape 14"/>
          <p:cNvSpPr/>
          <p:nvPr/>
        </p:nvSpPr>
        <p:spPr>
          <a:xfrm>
            <a:off x="1047750" y="6710958"/>
            <a:ext cx="16192500" cy="9525"/>
          </a:xfrm>
          <a:prstGeom prst="rect">
            <a:avLst/>
          </a:prstGeom>
          <a:solidFill>
            <a:srgbClr val="CDD9E0"/>
          </a:solidFill>
          <a:ln/>
        </p:spPr>
        <p:txBody>
          <a:bodyPr/>
          <a:p/>
        </p:txBody>
      </p:sp>
      <p:sp>
        <p:nvSpPr>
          <p:cNvPr id="17" name="Text 15"/>
          <p:cNvSpPr/>
          <p:nvPr/>
        </p:nvSpPr>
        <p:spPr>
          <a:xfrm>
            <a:off x="1047750" y="6891933"/>
            <a:ext cx="1123950" cy="571500"/>
          </a:xfrm>
          <a:prstGeom prst="rect">
            <a:avLst/>
          </a:prstGeom>
          <a:noFill/>
          <a:ln/>
        </p:spPr>
        <p:txBody>
          <a:bodyPr wrap="square" lIns="25400" tIns="25400" rIns="25400" bIns="25400" rtlCol="0" anchor="t">
            <a:normAutofit/>
          </a:bodyPr>
          <a:lstStyle/>
          <a:p>
            <a:pPr algn="l" indent="0" marL="0">
              <a:lnSpc>
                <a:spcPct val="100000"/>
              </a:lnSpc>
              <a:buNone/>
            </a:pPr>
            <a:r>
              <a:rPr lang="en-US" sz="4200" b="1" dirty="0">
                <a:solidFill>
                  <a:srgbClr val="006494"/>
                </a:solidFill>
                <a:latin typeface="Arial" pitchFamily="34" charset="0"/>
                <a:ea typeface="Arial" pitchFamily="34" charset="-122"/>
                <a:cs typeface="Arial" pitchFamily="34" charset="-120"/>
              </a:rPr>
              <a:t>04</a:t>
            </a:r>
            <a:endParaRPr lang="en-US" sz="4200" dirty="0"/>
          </a:p>
        </p:txBody>
      </p:sp>
      <p:sp>
        <p:nvSpPr>
          <p:cNvPr id="18" name="Text 16"/>
          <p:cNvSpPr/>
          <p:nvPr/>
        </p:nvSpPr>
        <p:spPr>
          <a:xfrm>
            <a:off x="2438400" y="6891933"/>
            <a:ext cx="15245905" cy="388590"/>
          </a:xfrm>
          <a:prstGeom prst="rect">
            <a:avLst/>
          </a:prstGeom>
          <a:noFill/>
          <a:ln/>
        </p:spPr>
        <p:txBody>
          <a:bodyPr wrap="square" lIns="25400" tIns="25400" rIns="25400" bIns="25400" rtlCol="0" anchor="t">
            <a:normAutofit/>
          </a:bodyPr>
          <a:lstStyle/>
          <a:p>
            <a:pPr algn="l" indent="0" marL="0">
              <a:lnSpc>
                <a:spcPct val="115000"/>
              </a:lnSpc>
              <a:buNone/>
            </a:pPr>
            <a:r>
              <a:rPr lang="en-US" sz="2400" b="1" dirty="0">
                <a:solidFill>
                  <a:srgbClr val="0D1F2D"/>
                </a:solidFill>
                <a:latin typeface="Arial" pitchFamily="34" charset="0"/>
                <a:ea typeface="Arial" pitchFamily="34" charset="-122"/>
                <a:cs typeface="Arial" pitchFamily="34" charset="-120"/>
              </a:rPr>
              <a:t>Angle back to shore</a:t>
            </a:r>
            <a:endParaRPr lang="en-US" sz="2400" dirty="0"/>
          </a:p>
        </p:txBody>
      </p:sp>
      <p:sp>
        <p:nvSpPr>
          <p:cNvPr id="19" name="Text 17"/>
          <p:cNvSpPr/>
          <p:nvPr/>
        </p:nvSpPr>
        <p:spPr>
          <a:xfrm>
            <a:off x="2438400" y="7299573"/>
            <a:ext cx="15245905" cy="358080"/>
          </a:xfrm>
          <a:prstGeom prst="rect">
            <a:avLst/>
          </a:prstGeom>
          <a:noFill/>
          <a:ln/>
        </p:spPr>
        <p:txBody>
          <a:bodyPr wrap="square" lIns="25400" tIns="25400" rIns="25400" bIns="25400" rtlCol="0" anchor="t">
            <a:normAutofit/>
          </a:bodyPr>
          <a:lstStyle/>
          <a:p>
            <a:pPr algn="l" indent="0" marL="0">
              <a:lnSpc>
                <a:spcPct val="140000"/>
              </a:lnSpc>
              <a:buNone/>
            </a:pPr>
            <a:r>
              <a:rPr lang="en-US" sz="1800" dirty="0">
                <a:solidFill>
                  <a:srgbClr val="5A7A8A"/>
                </a:solidFill>
                <a:latin typeface="Arial" pitchFamily="34" charset="0"/>
                <a:ea typeface="Arial" pitchFamily="34" charset="-122"/>
                <a:cs typeface="Arial" pitchFamily="34" charset="-120"/>
              </a:rPr>
              <a:t>Once out of the rip, use the broken waves to ride back in. Don't swim straight back through the rip.</a:t>
            </a:r>
            <a:endParaRPr lang="en-US" sz="1800" dirty="0"/>
          </a:p>
        </p:txBody>
      </p:sp>
      <p:sp>
        <p:nvSpPr>
          <p:cNvPr id="20" name="Shape 18"/>
          <p:cNvSpPr/>
          <p:nvPr/>
        </p:nvSpPr>
        <p:spPr>
          <a:xfrm>
            <a:off x="1047750" y="8057704"/>
            <a:ext cx="16192500" cy="9525"/>
          </a:xfrm>
          <a:prstGeom prst="rect">
            <a:avLst/>
          </a:prstGeom>
          <a:solidFill>
            <a:srgbClr val="CDD9E0"/>
          </a:solidFill>
          <a:ln/>
        </p:spPr>
        <p:txBody>
          <a:bodyPr/>
          <a:p/>
        </p:txBody>
      </p:sp>
      <p:sp>
        <p:nvSpPr>
          <p:cNvPr id="21" name="Text 19"/>
          <p:cNvSpPr/>
          <p:nvPr/>
        </p:nvSpPr>
        <p:spPr>
          <a:xfrm>
            <a:off x="1047750" y="8238679"/>
            <a:ext cx="1123950" cy="571500"/>
          </a:xfrm>
          <a:prstGeom prst="rect">
            <a:avLst/>
          </a:prstGeom>
          <a:noFill/>
          <a:ln/>
        </p:spPr>
        <p:txBody>
          <a:bodyPr wrap="square" lIns="25400" tIns="25400" rIns="25400" bIns="25400" rtlCol="0" anchor="t">
            <a:normAutofit/>
          </a:bodyPr>
          <a:lstStyle/>
          <a:p>
            <a:pPr algn="l" indent="0" marL="0">
              <a:lnSpc>
                <a:spcPct val="100000"/>
              </a:lnSpc>
              <a:buNone/>
            </a:pPr>
            <a:r>
              <a:rPr lang="en-US" sz="4200" b="1" dirty="0">
                <a:solidFill>
                  <a:srgbClr val="006494"/>
                </a:solidFill>
                <a:latin typeface="Arial" pitchFamily="34" charset="0"/>
                <a:ea typeface="Arial" pitchFamily="34" charset="-122"/>
                <a:cs typeface="Arial" pitchFamily="34" charset="-120"/>
              </a:rPr>
              <a:t>05</a:t>
            </a:r>
            <a:endParaRPr lang="en-US" sz="4200" dirty="0"/>
          </a:p>
        </p:txBody>
      </p:sp>
      <p:sp>
        <p:nvSpPr>
          <p:cNvPr id="22" name="Text 20"/>
          <p:cNvSpPr/>
          <p:nvPr/>
        </p:nvSpPr>
        <p:spPr>
          <a:xfrm>
            <a:off x="2438400" y="8238679"/>
            <a:ext cx="15245905" cy="388590"/>
          </a:xfrm>
          <a:prstGeom prst="rect">
            <a:avLst/>
          </a:prstGeom>
          <a:noFill/>
          <a:ln/>
        </p:spPr>
        <p:txBody>
          <a:bodyPr wrap="square" lIns="25400" tIns="25400" rIns="25400" bIns="25400" rtlCol="0" anchor="t">
            <a:normAutofit/>
          </a:bodyPr>
          <a:lstStyle/>
          <a:p>
            <a:pPr algn="l" indent="0" marL="0">
              <a:lnSpc>
                <a:spcPct val="115000"/>
              </a:lnSpc>
              <a:buNone/>
            </a:pPr>
            <a:r>
              <a:rPr lang="en-US" sz="2400" b="1" dirty="0">
                <a:solidFill>
                  <a:srgbClr val="0D1F2D"/>
                </a:solidFill>
                <a:latin typeface="Arial" pitchFamily="34" charset="0"/>
                <a:ea typeface="Arial" pitchFamily="34" charset="-122"/>
                <a:cs typeface="Arial" pitchFamily="34" charset="-120"/>
              </a:rPr>
              <a:t>Signal for help</a:t>
            </a:r>
            <a:endParaRPr lang="en-US" sz="2400" dirty="0"/>
          </a:p>
        </p:txBody>
      </p:sp>
      <p:sp>
        <p:nvSpPr>
          <p:cNvPr id="23" name="Text 21"/>
          <p:cNvSpPr/>
          <p:nvPr/>
        </p:nvSpPr>
        <p:spPr>
          <a:xfrm>
            <a:off x="2438400" y="8646319"/>
            <a:ext cx="15245905" cy="358080"/>
          </a:xfrm>
          <a:prstGeom prst="rect">
            <a:avLst/>
          </a:prstGeom>
          <a:noFill/>
          <a:ln/>
        </p:spPr>
        <p:txBody>
          <a:bodyPr wrap="square" lIns="25400" tIns="25400" rIns="25400" bIns="25400" rtlCol="0" anchor="t">
            <a:normAutofit/>
          </a:bodyPr>
          <a:lstStyle/>
          <a:p>
            <a:pPr algn="l" indent="0" marL="0">
              <a:lnSpc>
                <a:spcPct val="140000"/>
              </a:lnSpc>
              <a:buNone/>
            </a:pPr>
            <a:r>
              <a:rPr lang="en-US" sz="1800" dirty="0">
                <a:solidFill>
                  <a:srgbClr val="5A7A8A"/>
                </a:solidFill>
                <a:latin typeface="Arial" pitchFamily="34" charset="0"/>
                <a:ea typeface="Arial" pitchFamily="34" charset="-122"/>
                <a:cs typeface="Arial" pitchFamily="34" charset="-120"/>
              </a:rPr>
              <a:t>One arm raised, held high. Keep floating. A lifeguard's job is to come to you.</a:t>
            </a:r>
            <a:endParaRPr lang="en-US" sz="18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1EDE4"/>
        </a:solidFill>
      </p:bgPr>
    </p:bg>
    <p:spTree>
      <p:nvGrpSpPr>
        <p:cNvPr id="1" name=""/>
        <p:cNvGrpSpPr/>
        <p:nvPr/>
      </p:nvGrpSpPr>
      <p:grpSpPr>
        <a:xfrm>
          <a:off x="0" y="0"/>
          <a:ext cx="0" cy="0"/>
          <a:chOff x="0" y="0"/>
          <a:chExt cx="0" cy="0"/>
        </a:xfrm>
      </p:grpSpPr>
      <p:sp>
        <p:nvSpPr>
          <p:cNvPr id="2" name="Text 0"/>
          <p:cNvSpPr/>
          <p:nvPr/>
        </p:nvSpPr>
        <p:spPr>
          <a:xfrm>
            <a:off x="1047750" y="914400"/>
            <a:ext cx="16678275" cy="358080"/>
          </a:xfrm>
          <a:prstGeom prst="rect">
            <a:avLst/>
          </a:prstGeom>
          <a:noFill/>
          <a:ln/>
        </p:spPr>
        <p:txBody>
          <a:bodyPr wrap="square" lIns="25400" tIns="25400" rIns="25400" bIns="25400" rtlCol="0" anchor="t">
            <a:normAutofit/>
          </a:bodyPr>
          <a:lstStyle/>
          <a:p>
            <a:pPr algn="l" indent="0" marL="0">
              <a:lnSpc>
                <a:spcPct val="140000"/>
              </a:lnSpc>
              <a:buNone/>
            </a:pPr>
            <a:r>
              <a:rPr lang="en-US" sz="1800" spc="300" kern="0" dirty="0">
                <a:solidFill>
                  <a:srgbClr val="5A7A8A"/>
                </a:solidFill>
                <a:latin typeface="Courier New" pitchFamily="34" charset="0"/>
                <a:ea typeface="Courier New" pitchFamily="34" charset="-122"/>
                <a:cs typeface="Courier New" pitchFamily="34" charset="-120"/>
              </a:rPr>
              <a:t>SCENARIO · WORKBOOK ACTIVITY 2.2</a:t>
            </a:r>
            <a:endParaRPr lang="en-US" sz="1800" dirty="0"/>
          </a:p>
        </p:txBody>
      </p:sp>
      <p:sp>
        <p:nvSpPr>
          <p:cNvPr id="3" name="Text 1"/>
          <p:cNvSpPr/>
          <p:nvPr/>
        </p:nvSpPr>
        <p:spPr>
          <a:xfrm>
            <a:off x="1047750" y="1405830"/>
            <a:ext cx="16678275" cy="798165"/>
          </a:xfrm>
          <a:prstGeom prst="rect">
            <a:avLst/>
          </a:prstGeom>
          <a:noFill/>
          <a:ln/>
        </p:spPr>
        <p:txBody>
          <a:bodyPr wrap="square" lIns="25400" tIns="25400" rIns="25400" bIns="25400" rtlCol="0" anchor="t">
            <a:normAutofit/>
          </a:bodyPr>
          <a:lstStyle/>
          <a:p>
            <a:pPr algn="l" indent="0" marL="0">
              <a:lnSpc>
                <a:spcPct val="105000"/>
              </a:lnSpc>
              <a:buNone/>
            </a:pPr>
            <a:r>
              <a:rPr lang="en-US" sz="5700" b="1" spc="-75" kern="0" dirty="0">
                <a:solidFill>
                  <a:srgbClr val="0D1F2D"/>
                </a:solidFill>
                <a:latin typeface="Arial" pitchFamily="34" charset="0"/>
                <a:ea typeface="Arial" pitchFamily="34" charset="-122"/>
                <a:cs typeface="Arial" pitchFamily="34" charset="-120"/>
              </a:rPr>
              <a:t>Liam's day at the beach</a:t>
            </a:r>
            <a:endParaRPr lang="en-US" sz="5700" dirty="0"/>
          </a:p>
        </p:txBody>
      </p:sp>
      <p:sp>
        <p:nvSpPr>
          <p:cNvPr id="4" name="Shape 2"/>
          <p:cNvSpPr/>
          <p:nvPr/>
        </p:nvSpPr>
        <p:spPr>
          <a:xfrm>
            <a:off x="1047750" y="2623096"/>
            <a:ext cx="16192500" cy="6825704"/>
          </a:xfrm>
          <a:prstGeom prst="rect">
            <a:avLst/>
          </a:prstGeom>
          <a:solidFill>
            <a:srgbClr val="FFFFFF"/>
          </a:solidFill>
          <a:ln/>
          <a:effectLst>
            <a:outerShdw sx="100000" sy="100000" kx="0" ky="0" algn="bl" rotWithShape="0" blurRad="285750" dist="57150" dir="5400000">
              <a:srgbClr val="000000">
                <a:alpha val="6000"/>
              </a:srgbClr>
            </a:outerShdw>
          </a:effectLst>
        </p:spPr>
        <p:txBody>
          <a:bodyPr/>
          <a:p/>
        </p:txBody>
      </p:sp>
      <p:sp>
        <p:nvSpPr>
          <p:cNvPr id="5" name="Shape 3"/>
          <p:cNvSpPr/>
          <p:nvPr/>
        </p:nvSpPr>
        <p:spPr>
          <a:xfrm>
            <a:off x="1047750" y="2623096"/>
            <a:ext cx="114300" cy="6825704"/>
          </a:xfrm>
          <a:prstGeom prst="rect">
            <a:avLst/>
          </a:prstGeom>
          <a:solidFill>
            <a:srgbClr val="FFD166"/>
          </a:solidFill>
          <a:ln/>
        </p:spPr>
        <p:txBody>
          <a:bodyPr/>
          <a:p/>
        </p:txBody>
      </p:sp>
      <p:sp>
        <p:nvSpPr>
          <p:cNvPr id="6" name="Text 4"/>
          <p:cNvSpPr/>
          <p:nvPr/>
        </p:nvSpPr>
        <p:spPr>
          <a:xfrm>
            <a:off x="1695450" y="3080296"/>
            <a:ext cx="15461742" cy="331440"/>
          </a:xfrm>
          <a:prstGeom prst="rect">
            <a:avLst/>
          </a:prstGeom>
          <a:noFill/>
          <a:ln/>
        </p:spPr>
        <p:txBody>
          <a:bodyPr wrap="square" lIns="25400" tIns="25400" rIns="25400" bIns="25400" rtlCol="0" anchor="t">
            <a:normAutofit/>
          </a:bodyPr>
          <a:lstStyle/>
          <a:p>
            <a:pPr algn="l" indent="0" marL="0">
              <a:lnSpc>
                <a:spcPct val="140000"/>
              </a:lnSpc>
              <a:buNone/>
            </a:pPr>
            <a:r>
              <a:rPr lang="en-US" sz="1650" spc="300" kern="0" dirty="0">
                <a:solidFill>
                  <a:srgbClr val="B7800C"/>
                </a:solidFill>
                <a:latin typeface="Courier New" pitchFamily="34" charset="0"/>
                <a:ea typeface="Courier New" pitchFamily="34" charset="-122"/>
                <a:cs typeface="Courier New" pitchFamily="34" charset="-120"/>
              </a:rPr>
              <a:t>📍 SCENARIO</a:t>
            </a:r>
            <a:endParaRPr lang="en-US" sz="1650" dirty="0"/>
          </a:p>
        </p:txBody>
      </p:sp>
      <p:sp>
        <p:nvSpPr>
          <p:cNvPr id="7" name="Text 5"/>
          <p:cNvSpPr/>
          <p:nvPr/>
        </p:nvSpPr>
        <p:spPr>
          <a:xfrm>
            <a:off x="1695450" y="3678436"/>
            <a:ext cx="15461742" cy="1957983"/>
          </a:xfrm>
          <a:prstGeom prst="rect">
            <a:avLst/>
          </a:prstGeom>
          <a:noFill/>
          <a:ln/>
        </p:spPr>
        <p:txBody>
          <a:bodyPr wrap="square" lIns="25400" tIns="25400" rIns="25400" bIns="25400" rtlCol="0" anchor="t">
            <a:normAutofit/>
          </a:bodyPr>
          <a:lstStyle/>
          <a:p>
            <a:pPr algn="l" indent="0" marL="0">
              <a:lnSpc>
                <a:spcPct val="140000"/>
              </a:lnSpc>
              <a:buNone/>
            </a:pPr>
            <a:r>
              <a:rPr lang="en-US" sz="2700" b="1" dirty="0">
                <a:solidFill>
                  <a:srgbClr val="003554"/>
                </a:solidFill>
                <a:latin typeface="Arial" pitchFamily="34" charset="0"/>
                <a:ea typeface="Arial" pitchFamily="34" charset="-122"/>
                <a:cs typeface="Arial" pitchFamily="34" charset="-120"/>
              </a:rPr>
              <a:t>Liam </a:t>
            </a:r>
            <a:pPr algn="l" indent="0" marL="0">
              <a:lnSpc>
                <a:spcPct val="140000"/>
              </a:lnSpc>
              <a:buNone/>
            </a:pPr>
            <a:r>
              <a:rPr lang="en-US" sz="2700" dirty="0">
                <a:solidFill>
                  <a:srgbClr val="0D1F2D"/>
                </a:solidFill>
                <a:latin typeface="Arial" pitchFamily="34" charset="0"/>
                <a:ea typeface="Arial" pitchFamily="34" charset="-122"/>
                <a:cs typeface="Arial" pitchFamily="34" charset="-120"/>
              </a:rPr>
              <a:t>is 14. He's at the beach with friends on a hot summer day. They go to an unpatrolled beach. Liam swims out past where the others are standing and feels himself being pulled away from shore quickly. He panics and tries to sprint-swim directly back to the beach, but is getting more tired. His friends notice and don't know what to do.</a:t>
            </a:r>
            <a:endParaRPr lang="en-US" sz="2700" dirty="0"/>
          </a:p>
        </p:txBody>
      </p:sp>
      <p:sp>
        <p:nvSpPr>
          <p:cNvPr id="8" name="Shape 6"/>
          <p:cNvSpPr/>
          <p:nvPr/>
        </p:nvSpPr>
        <p:spPr>
          <a:xfrm>
            <a:off x="1695450" y="8307735"/>
            <a:ext cx="15011400" cy="683865"/>
          </a:xfrm>
          <a:prstGeom prst="roundRect">
            <a:avLst>
              <a:gd name="adj" fmla="val 16714"/>
            </a:avLst>
          </a:prstGeom>
          <a:solidFill>
            <a:srgbClr val="FFF8E1"/>
          </a:solidFill>
          <a:ln w="9525">
            <a:solidFill>
              <a:srgbClr val="FFC107"/>
            </a:solidFill>
            <a:prstDash val="solid"/>
          </a:ln>
        </p:spPr>
        <p:txBody>
          <a:bodyPr/>
          <a:p/>
        </p:txBody>
      </p:sp>
      <p:sp>
        <p:nvSpPr>
          <p:cNvPr id="9" name="Text 7"/>
          <p:cNvSpPr/>
          <p:nvPr/>
        </p:nvSpPr>
        <p:spPr>
          <a:xfrm>
            <a:off x="1933575" y="8488710"/>
            <a:ext cx="14985492" cy="360015"/>
          </a:xfrm>
          <a:prstGeom prst="rect">
            <a:avLst/>
          </a:prstGeom>
          <a:noFill/>
          <a:ln/>
        </p:spPr>
        <p:txBody>
          <a:bodyPr wrap="square" lIns="25400" tIns="25400" rIns="25400" bIns="25400" rtlCol="0" anchor="t">
            <a:normAutofit/>
          </a:bodyPr>
          <a:lstStyle/>
          <a:p>
            <a:pPr algn="l" indent="0" marL="0">
              <a:lnSpc>
                <a:spcPct val="130000"/>
              </a:lnSpc>
              <a:buNone/>
            </a:pPr>
            <a:r>
              <a:rPr lang="en-US" sz="1950" b="1" dirty="0">
                <a:solidFill>
                  <a:srgbClr val="0D1F2D"/>
                </a:solidFill>
                <a:highlight>
                  <a:srgbClr val="FFF8E1"/>
                </a:highlight>
                <a:latin typeface="Arial" pitchFamily="34" charset="0"/>
                <a:ea typeface="Arial" pitchFamily="34" charset="-122"/>
                <a:cs typeface="Arial" pitchFamily="34" charset="-120"/>
              </a:rPr>
              <a:t>In pairs: identify </a:t>
            </a:r>
            <a:pPr algn="l" indent="0" marL="0">
              <a:lnSpc>
                <a:spcPct val="130000"/>
              </a:lnSpc>
              <a:buNone/>
            </a:pPr>
            <a:r>
              <a:rPr lang="en-US" sz="1950" b="1" dirty="0">
                <a:solidFill>
                  <a:srgbClr val="0D1F2D"/>
                </a:solidFill>
                <a:latin typeface="Arial" pitchFamily="34" charset="0"/>
                <a:ea typeface="Arial" pitchFamily="34" charset="-122"/>
                <a:cs typeface="Arial" pitchFamily="34" charset="-120"/>
              </a:rPr>
              <a:t>two mistakes </a:t>
            </a:r>
            <a:pPr algn="l" indent="0" marL="0">
              <a:lnSpc>
                <a:spcPct val="130000"/>
              </a:lnSpc>
              <a:buNone/>
            </a:pPr>
            <a:r>
              <a:rPr lang="en-US" sz="1950" b="1" dirty="0">
                <a:solidFill>
                  <a:srgbClr val="0D1F2D"/>
                </a:solidFill>
                <a:highlight>
                  <a:srgbClr val="FFF8E1"/>
                </a:highlight>
                <a:latin typeface="Arial" pitchFamily="34" charset="0"/>
                <a:ea typeface="Arial" pitchFamily="34" charset="-122"/>
                <a:cs typeface="Arial" pitchFamily="34" charset="-120"/>
              </a:rPr>
              <a:t>Liam or his friends made, and explain what they should have done differently.</a:t>
            </a:r>
            <a:endParaRPr lang="en-US" sz="19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4F7F9"/>
        </a:solidFill>
      </p:bgPr>
    </p:bg>
    <p:spTree>
      <p:nvGrpSpPr>
        <p:cNvPr id="1" name=""/>
        <p:cNvGrpSpPr/>
        <p:nvPr/>
      </p:nvGrpSpPr>
      <p:grpSpPr>
        <a:xfrm>
          <a:off x="0" y="0"/>
          <a:ext cx="0" cy="0"/>
          <a:chOff x="0" y="0"/>
          <a:chExt cx="0" cy="0"/>
        </a:xfrm>
      </p:grpSpPr>
      <p:sp>
        <p:nvSpPr>
          <p:cNvPr id="2" name="Text 0"/>
          <p:cNvSpPr/>
          <p:nvPr/>
        </p:nvSpPr>
        <p:spPr>
          <a:xfrm>
            <a:off x="1047750" y="914400"/>
            <a:ext cx="16678275" cy="358080"/>
          </a:xfrm>
          <a:prstGeom prst="rect">
            <a:avLst/>
          </a:prstGeom>
          <a:noFill/>
          <a:ln/>
        </p:spPr>
        <p:txBody>
          <a:bodyPr wrap="square" lIns="25400" tIns="25400" rIns="25400" bIns="25400" rtlCol="0" anchor="t">
            <a:normAutofit/>
          </a:bodyPr>
          <a:lstStyle/>
          <a:p>
            <a:pPr algn="l" indent="0" marL="0">
              <a:lnSpc>
                <a:spcPct val="140000"/>
              </a:lnSpc>
              <a:buNone/>
            </a:pPr>
            <a:r>
              <a:rPr lang="en-US" sz="1800" spc="300" kern="0" dirty="0">
                <a:solidFill>
                  <a:srgbClr val="5A7A8A"/>
                </a:solidFill>
                <a:latin typeface="Courier New" pitchFamily="34" charset="0"/>
                <a:ea typeface="Courier New" pitchFamily="34" charset="-122"/>
                <a:cs typeface="Courier New" pitchFamily="34" charset="-120"/>
              </a:rPr>
              <a:t>BEFORE YOU GO · TOOLS TO USE</a:t>
            </a:r>
            <a:endParaRPr lang="en-US" sz="1800" dirty="0"/>
          </a:p>
        </p:txBody>
      </p:sp>
      <p:sp>
        <p:nvSpPr>
          <p:cNvPr id="3" name="Text 1"/>
          <p:cNvSpPr/>
          <p:nvPr/>
        </p:nvSpPr>
        <p:spPr>
          <a:xfrm>
            <a:off x="1047750" y="1405830"/>
            <a:ext cx="16678275" cy="798165"/>
          </a:xfrm>
          <a:prstGeom prst="rect">
            <a:avLst/>
          </a:prstGeom>
          <a:noFill/>
          <a:ln/>
        </p:spPr>
        <p:txBody>
          <a:bodyPr wrap="square" lIns="25400" tIns="25400" rIns="25400" bIns="25400" rtlCol="0" anchor="t">
            <a:normAutofit/>
          </a:bodyPr>
          <a:lstStyle/>
          <a:p>
            <a:pPr algn="l" indent="0" marL="0">
              <a:lnSpc>
                <a:spcPct val="105000"/>
              </a:lnSpc>
              <a:buNone/>
            </a:pPr>
            <a:r>
              <a:rPr lang="en-US" sz="5700" b="1" spc="-75" kern="0" dirty="0">
                <a:solidFill>
                  <a:srgbClr val="0D1F2D"/>
                </a:solidFill>
                <a:latin typeface="Arial" pitchFamily="34" charset="0"/>
                <a:ea typeface="Arial" pitchFamily="34" charset="-122"/>
                <a:cs typeface="Arial" pitchFamily="34" charset="-120"/>
              </a:rPr>
              <a:t>Find your three closest patrolled beaches</a:t>
            </a:r>
            <a:endParaRPr lang="en-US" sz="5700" dirty="0"/>
          </a:p>
        </p:txBody>
      </p:sp>
      <p:sp>
        <p:nvSpPr>
          <p:cNvPr id="4" name="Text 2"/>
          <p:cNvSpPr/>
          <p:nvPr/>
        </p:nvSpPr>
        <p:spPr>
          <a:xfrm>
            <a:off x="1047750" y="2337346"/>
            <a:ext cx="16678275" cy="1135261"/>
          </a:xfrm>
          <a:prstGeom prst="rect">
            <a:avLst/>
          </a:prstGeom>
          <a:noFill/>
          <a:ln/>
        </p:spPr>
        <p:txBody>
          <a:bodyPr wrap="square" lIns="25400" tIns="25400" rIns="25400" bIns="25400" rtlCol="0" anchor="t">
            <a:normAutofit/>
          </a:bodyPr>
          <a:lstStyle/>
          <a:p>
            <a:pPr algn="l" indent="0" marL="0">
              <a:lnSpc>
                <a:spcPct val="120000"/>
              </a:lnSpc>
              <a:buNone/>
            </a:pPr>
            <a:r>
              <a:rPr lang="en-US" sz="3600" dirty="0">
                <a:solidFill>
                  <a:srgbClr val="5A7A8A"/>
                </a:solidFill>
                <a:latin typeface="Arial" pitchFamily="34" charset="0"/>
                <a:ea typeface="Arial" pitchFamily="34" charset="-122"/>
                <a:cs typeface="Arial" pitchFamily="34" charset="-120"/>
              </a:rPr>
              <a:t>Use BeachSafe (beachsafe.org.au or the app) at home tonight. Write your three closest patrolled beaches into your workbook before the next lesson.</a:t>
            </a:r>
            <a:endParaRPr lang="en-US" sz="3600" dirty="0"/>
          </a:p>
        </p:txBody>
      </p:sp>
      <p:sp>
        <p:nvSpPr>
          <p:cNvPr id="5" name="Shape 3"/>
          <p:cNvSpPr/>
          <p:nvPr/>
        </p:nvSpPr>
        <p:spPr>
          <a:xfrm>
            <a:off x="1047750" y="4196507"/>
            <a:ext cx="16192500" cy="19050"/>
          </a:xfrm>
          <a:prstGeom prst="rect">
            <a:avLst/>
          </a:prstGeom>
          <a:solidFill>
            <a:srgbClr val="0D1F2D"/>
          </a:solidFill>
          <a:ln/>
        </p:spPr>
        <p:txBody>
          <a:bodyPr/>
          <a:p/>
        </p:txBody>
      </p:sp>
      <p:sp>
        <p:nvSpPr>
          <p:cNvPr id="6" name="Text 4"/>
          <p:cNvSpPr/>
          <p:nvPr/>
        </p:nvSpPr>
        <p:spPr>
          <a:xfrm>
            <a:off x="1047750" y="4425107"/>
            <a:ext cx="1123950" cy="571500"/>
          </a:xfrm>
          <a:prstGeom prst="rect">
            <a:avLst/>
          </a:prstGeom>
          <a:noFill/>
          <a:ln/>
        </p:spPr>
        <p:txBody>
          <a:bodyPr wrap="square" lIns="25400" tIns="25400" rIns="25400" bIns="25400" rtlCol="0" anchor="t">
            <a:normAutofit/>
          </a:bodyPr>
          <a:lstStyle/>
          <a:p>
            <a:pPr algn="l" indent="0" marL="0">
              <a:lnSpc>
                <a:spcPct val="100000"/>
              </a:lnSpc>
              <a:buNone/>
            </a:pPr>
            <a:r>
              <a:rPr lang="en-US" sz="4200" b="1" dirty="0">
                <a:solidFill>
                  <a:srgbClr val="00695C"/>
                </a:solidFill>
                <a:latin typeface="Arial" pitchFamily="34" charset="0"/>
                <a:ea typeface="Arial" pitchFamily="34" charset="-122"/>
                <a:cs typeface="Arial" pitchFamily="34" charset="-120"/>
              </a:rPr>
              <a:t>A</a:t>
            </a:r>
            <a:endParaRPr lang="en-US" sz="4200" dirty="0"/>
          </a:p>
        </p:txBody>
      </p:sp>
      <p:sp>
        <p:nvSpPr>
          <p:cNvPr id="7" name="Text 5"/>
          <p:cNvSpPr/>
          <p:nvPr/>
        </p:nvSpPr>
        <p:spPr>
          <a:xfrm>
            <a:off x="2438400" y="4425107"/>
            <a:ext cx="15245905" cy="388590"/>
          </a:xfrm>
          <a:prstGeom prst="rect">
            <a:avLst/>
          </a:prstGeom>
          <a:noFill/>
          <a:ln/>
        </p:spPr>
        <p:txBody>
          <a:bodyPr wrap="square" lIns="25400" tIns="25400" rIns="25400" bIns="25400" rtlCol="0" anchor="t">
            <a:normAutofit/>
          </a:bodyPr>
          <a:lstStyle/>
          <a:p>
            <a:pPr algn="l" indent="0" marL="0">
              <a:lnSpc>
                <a:spcPct val="115000"/>
              </a:lnSpc>
              <a:buNone/>
            </a:pPr>
            <a:r>
              <a:rPr lang="en-US" sz="2400" b="1" dirty="0">
                <a:solidFill>
                  <a:srgbClr val="0D1F2D"/>
                </a:solidFill>
                <a:latin typeface="Arial" pitchFamily="34" charset="0"/>
                <a:ea typeface="Arial" pitchFamily="34" charset="-122"/>
                <a:cs typeface="Arial" pitchFamily="34" charset="-120"/>
              </a:rPr>
              <a:t>Patrol dates and times</a:t>
            </a:r>
            <a:endParaRPr lang="en-US" sz="2400" dirty="0"/>
          </a:p>
        </p:txBody>
      </p:sp>
      <p:sp>
        <p:nvSpPr>
          <p:cNvPr id="8" name="Text 6"/>
          <p:cNvSpPr/>
          <p:nvPr/>
        </p:nvSpPr>
        <p:spPr>
          <a:xfrm>
            <a:off x="2438400" y="4832747"/>
            <a:ext cx="15245905" cy="678061"/>
          </a:xfrm>
          <a:prstGeom prst="rect">
            <a:avLst/>
          </a:prstGeom>
          <a:noFill/>
          <a:ln/>
        </p:spPr>
        <p:txBody>
          <a:bodyPr wrap="square" lIns="25400" tIns="25400" rIns="25400" bIns="25400" rtlCol="0" anchor="t">
            <a:normAutofit/>
          </a:bodyPr>
          <a:lstStyle/>
          <a:p>
            <a:pPr algn="l" indent="0" marL="0">
              <a:lnSpc>
                <a:spcPct val="140000"/>
              </a:lnSpc>
              <a:buNone/>
            </a:pPr>
            <a:r>
              <a:rPr lang="en-US" sz="1800" dirty="0">
                <a:solidFill>
                  <a:srgbClr val="5A7A8A"/>
                </a:solidFill>
                <a:latin typeface="Arial" pitchFamily="34" charset="0"/>
                <a:ea typeface="Arial" pitchFamily="34" charset="-122"/>
                <a:cs typeface="Arial" pitchFamily="34" charset="-120"/>
              </a:rPr>
              <a:t>Most Victorian beaches are patrolled weekends Nov–Apr, daily over school holidays. Outside those windows, the beach is unpatrolled — even if the flags are still standing.</a:t>
            </a:r>
            <a:endParaRPr lang="en-US" sz="1800" dirty="0"/>
          </a:p>
        </p:txBody>
      </p:sp>
      <p:sp>
        <p:nvSpPr>
          <p:cNvPr id="9" name="Shape 7"/>
          <p:cNvSpPr/>
          <p:nvPr/>
        </p:nvSpPr>
        <p:spPr>
          <a:xfrm>
            <a:off x="1047750" y="5910858"/>
            <a:ext cx="16192500" cy="9525"/>
          </a:xfrm>
          <a:prstGeom prst="rect">
            <a:avLst/>
          </a:prstGeom>
          <a:solidFill>
            <a:srgbClr val="CDD9E0"/>
          </a:solidFill>
          <a:ln/>
        </p:spPr>
        <p:txBody>
          <a:bodyPr/>
          <a:p/>
        </p:txBody>
      </p:sp>
      <p:sp>
        <p:nvSpPr>
          <p:cNvPr id="10" name="Text 8"/>
          <p:cNvSpPr/>
          <p:nvPr/>
        </p:nvSpPr>
        <p:spPr>
          <a:xfrm>
            <a:off x="1047750" y="6091833"/>
            <a:ext cx="1123950" cy="571500"/>
          </a:xfrm>
          <a:prstGeom prst="rect">
            <a:avLst/>
          </a:prstGeom>
          <a:noFill/>
          <a:ln/>
        </p:spPr>
        <p:txBody>
          <a:bodyPr wrap="square" lIns="25400" tIns="25400" rIns="25400" bIns="25400" rtlCol="0" anchor="t">
            <a:normAutofit/>
          </a:bodyPr>
          <a:lstStyle/>
          <a:p>
            <a:pPr algn="l" indent="0" marL="0">
              <a:lnSpc>
                <a:spcPct val="100000"/>
              </a:lnSpc>
              <a:buNone/>
            </a:pPr>
            <a:r>
              <a:rPr lang="en-US" sz="4200" b="1" dirty="0">
                <a:solidFill>
                  <a:srgbClr val="00695C"/>
                </a:solidFill>
                <a:latin typeface="Arial" pitchFamily="34" charset="0"/>
                <a:ea typeface="Arial" pitchFamily="34" charset="-122"/>
                <a:cs typeface="Arial" pitchFamily="34" charset="-120"/>
              </a:rPr>
              <a:t>B</a:t>
            </a:r>
            <a:endParaRPr lang="en-US" sz="4200" dirty="0"/>
          </a:p>
        </p:txBody>
      </p:sp>
      <p:sp>
        <p:nvSpPr>
          <p:cNvPr id="11" name="Text 9"/>
          <p:cNvSpPr/>
          <p:nvPr/>
        </p:nvSpPr>
        <p:spPr>
          <a:xfrm>
            <a:off x="2438400" y="6091833"/>
            <a:ext cx="15245905" cy="388590"/>
          </a:xfrm>
          <a:prstGeom prst="rect">
            <a:avLst/>
          </a:prstGeom>
          <a:noFill/>
          <a:ln/>
        </p:spPr>
        <p:txBody>
          <a:bodyPr wrap="square" lIns="25400" tIns="25400" rIns="25400" bIns="25400" rtlCol="0" anchor="t">
            <a:normAutofit/>
          </a:bodyPr>
          <a:lstStyle/>
          <a:p>
            <a:pPr algn="l" indent="0" marL="0">
              <a:lnSpc>
                <a:spcPct val="115000"/>
              </a:lnSpc>
              <a:buNone/>
            </a:pPr>
            <a:r>
              <a:rPr lang="en-US" sz="2400" b="1" dirty="0">
                <a:solidFill>
                  <a:srgbClr val="0D1F2D"/>
                </a:solidFill>
                <a:latin typeface="Arial" pitchFamily="34" charset="0"/>
                <a:ea typeface="Arial" pitchFamily="34" charset="-122"/>
                <a:cs typeface="Arial" pitchFamily="34" charset="-120"/>
              </a:rPr>
              <a:t>Live conditions</a:t>
            </a:r>
            <a:endParaRPr lang="en-US" sz="2400" dirty="0"/>
          </a:p>
        </p:txBody>
      </p:sp>
      <p:sp>
        <p:nvSpPr>
          <p:cNvPr id="12" name="Text 10"/>
          <p:cNvSpPr/>
          <p:nvPr/>
        </p:nvSpPr>
        <p:spPr>
          <a:xfrm>
            <a:off x="2438400" y="6499473"/>
            <a:ext cx="15245905" cy="358080"/>
          </a:xfrm>
          <a:prstGeom prst="rect">
            <a:avLst/>
          </a:prstGeom>
          <a:noFill/>
          <a:ln/>
        </p:spPr>
        <p:txBody>
          <a:bodyPr wrap="square" lIns="25400" tIns="25400" rIns="25400" bIns="25400" rtlCol="0" anchor="t">
            <a:normAutofit/>
          </a:bodyPr>
          <a:lstStyle/>
          <a:p>
            <a:pPr algn="l" indent="0" marL="0">
              <a:lnSpc>
                <a:spcPct val="140000"/>
              </a:lnSpc>
              <a:buNone/>
            </a:pPr>
            <a:r>
              <a:rPr lang="en-US" sz="1800" dirty="0">
                <a:solidFill>
                  <a:srgbClr val="5A7A8A"/>
                </a:solidFill>
                <a:latin typeface="Arial" pitchFamily="34" charset="0"/>
                <a:ea typeface="Arial" pitchFamily="34" charset="-122"/>
                <a:cs typeface="Arial" pitchFamily="34" charset="-120"/>
              </a:rPr>
              <a:t>Wind, swell, water temperature, rip risk. Check before you leave home, not when you arrive.</a:t>
            </a:r>
            <a:endParaRPr lang="en-US" sz="1800" dirty="0"/>
          </a:p>
        </p:txBody>
      </p:sp>
      <p:sp>
        <p:nvSpPr>
          <p:cNvPr id="13" name="Shape 11"/>
          <p:cNvSpPr/>
          <p:nvPr/>
        </p:nvSpPr>
        <p:spPr>
          <a:xfrm>
            <a:off x="1047750" y="7257604"/>
            <a:ext cx="16192500" cy="9525"/>
          </a:xfrm>
          <a:prstGeom prst="rect">
            <a:avLst/>
          </a:prstGeom>
          <a:solidFill>
            <a:srgbClr val="CDD9E0"/>
          </a:solidFill>
          <a:ln/>
        </p:spPr>
        <p:txBody>
          <a:bodyPr/>
          <a:p/>
        </p:txBody>
      </p:sp>
      <p:sp>
        <p:nvSpPr>
          <p:cNvPr id="14" name="Text 12"/>
          <p:cNvSpPr/>
          <p:nvPr/>
        </p:nvSpPr>
        <p:spPr>
          <a:xfrm>
            <a:off x="1047750" y="7438579"/>
            <a:ext cx="1123950" cy="571500"/>
          </a:xfrm>
          <a:prstGeom prst="rect">
            <a:avLst/>
          </a:prstGeom>
          <a:noFill/>
          <a:ln/>
        </p:spPr>
        <p:txBody>
          <a:bodyPr wrap="square" lIns="25400" tIns="25400" rIns="25400" bIns="25400" rtlCol="0" anchor="t">
            <a:normAutofit/>
          </a:bodyPr>
          <a:lstStyle/>
          <a:p>
            <a:pPr algn="l" indent="0" marL="0">
              <a:lnSpc>
                <a:spcPct val="100000"/>
              </a:lnSpc>
              <a:buNone/>
            </a:pPr>
            <a:r>
              <a:rPr lang="en-US" sz="4200" b="1" dirty="0">
                <a:solidFill>
                  <a:srgbClr val="00695C"/>
                </a:solidFill>
                <a:latin typeface="Arial" pitchFamily="34" charset="0"/>
                <a:ea typeface="Arial" pitchFamily="34" charset="-122"/>
                <a:cs typeface="Arial" pitchFamily="34" charset="-120"/>
              </a:rPr>
              <a:t>C</a:t>
            </a:r>
            <a:endParaRPr lang="en-US" sz="4200" dirty="0"/>
          </a:p>
        </p:txBody>
      </p:sp>
      <p:sp>
        <p:nvSpPr>
          <p:cNvPr id="15" name="Text 13"/>
          <p:cNvSpPr/>
          <p:nvPr/>
        </p:nvSpPr>
        <p:spPr>
          <a:xfrm>
            <a:off x="2438400" y="7438579"/>
            <a:ext cx="15245905" cy="388590"/>
          </a:xfrm>
          <a:prstGeom prst="rect">
            <a:avLst/>
          </a:prstGeom>
          <a:noFill/>
          <a:ln/>
        </p:spPr>
        <p:txBody>
          <a:bodyPr wrap="square" lIns="25400" tIns="25400" rIns="25400" bIns="25400" rtlCol="0" anchor="t">
            <a:normAutofit/>
          </a:bodyPr>
          <a:lstStyle/>
          <a:p>
            <a:pPr algn="l" indent="0" marL="0">
              <a:lnSpc>
                <a:spcPct val="115000"/>
              </a:lnSpc>
              <a:buNone/>
            </a:pPr>
            <a:r>
              <a:rPr lang="en-US" sz="2400" b="1" dirty="0">
                <a:solidFill>
                  <a:srgbClr val="0D1F2D"/>
                </a:solidFill>
                <a:latin typeface="Arial" pitchFamily="34" charset="0"/>
                <a:ea typeface="Arial" pitchFamily="34" charset="-122"/>
                <a:cs typeface="Arial" pitchFamily="34" charset="-120"/>
              </a:rPr>
              <a:t>Hazards specific to that beach</a:t>
            </a:r>
            <a:endParaRPr lang="en-US" sz="2400" dirty="0"/>
          </a:p>
        </p:txBody>
      </p:sp>
      <p:sp>
        <p:nvSpPr>
          <p:cNvPr id="16" name="Text 14"/>
          <p:cNvSpPr/>
          <p:nvPr/>
        </p:nvSpPr>
        <p:spPr>
          <a:xfrm>
            <a:off x="2438400" y="7846219"/>
            <a:ext cx="15245905" cy="358080"/>
          </a:xfrm>
          <a:prstGeom prst="rect">
            <a:avLst/>
          </a:prstGeom>
          <a:noFill/>
          <a:ln/>
        </p:spPr>
        <p:txBody>
          <a:bodyPr wrap="square" lIns="25400" tIns="25400" rIns="25400" bIns="25400" rtlCol="0" anchor="t">
            <a:normAutofit/>
          </a:bodyPr>
          <a:lstStyle/>
          <a:p>
            <a:pPr algn="l" indent="0" marL="0">
              <a:lnSpc>
                <a:spcPct val="140000"/>
              </a:lnSpc>
              <a:buNone/>
            </a:pPr>
            <a:r>
              <a:rPr lang="en-US" sz="1800" dirty="0">
                <a:solidFill>
                  <a:srgbClr val="5A7A8A"/>
                </a:solidFill>
                <a:latin typeface="Arial" pitchFamily="34" charset="0"/>
                <a:ea typeface="Arial" pitchFamily="34" charset="-122"/>
                <a:cs typeface="Arial" pitchFamily="34" charset="-120"/>
              </a:rPr>
              <a:t>Some beaches have submerged rocks, strong tidal flow, or known rip locations. The app tells you.</a:t>
            </a:r>
            <a:endParaRPr lang="en-US" sz="18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D1F2D"/>
        </a:solidFill>
      </p:bgPr>
    </p:bg>
    <p:spTree>
      <p:nvGrpSpPr>
        <p:cNvPr id="1" name=""/>
        <p:cNvGrpSpPr/>
        <p:nvPr/>
      </p:nvGrpSpPr>
      <p:grpSpPr>
        <a:xfrm>
          <a:off x="0" y="0"/>
          <a:ext cx="0" cy="0"/>
          <a:chOff x="0" y="0"/>
          <a:chExt cx="0" cy="0"/>
        </a:xfrm>
      </p:grpSpPr>
      <p:sp>
        <p:nvSpPr>
          <p:cNvPr id="2" name="Text 0"/>
          <p:cNvSpPr/>
          <p:nvPr/>
        </p:nvSpPr>
        <p:spPr>
          <a:xfrm>
            <a:off x="1047750" y="3230017"/>
            <a:ext cx="16678275" cy="384721"/>
          </a:xfrm>
          <a:prstGeom prst="rect">
            <a:avLst/>
          </a:prstGeom>
          <a:noFill/>
          <a:ln/>
        </p:spPr>
        <p:txBody>
          <a:bodyPr wrap="square" lIns="25400" tIns="25400" rIns="25400" bIns="25400" rtlCol="0" anchor="t">
            <a:normAutofit/>
          </a:bodyPr>
          <a:lstStyle/>
          <a:p>
            <a:pPr algn="l" indent="0" marL="0">
              <a:lnSpc>
                <a:spcPct val="140000"/>
              </a:lnSpc>
              <a:buNone/>
            </a:pPr>
            <a:r>
              <a:rPr lang="en-US" sz="1950" spc="450" kern="0" dirty="0">
                <a:solidFill>
                  <a:srgbClr val="FFD166"/>
                </a:solidFill>
                <a:latin typeface="Courier New" pitchFamily="34" charset="0"/>
                <a:ea typeface="Courier New" pitchFamily="34" charset="-122"/>
                <a:cs typeface="Courier New" pitchFamily="34" charset="-120"/>
              </a:rPr>
              <a:t>LESSON 2 · EXIT TICKET · 5 MIN</a:t>
            </a:r>
            <a:endParaRPr lang="en-US" sz="1950" dirty="0"/>
          </a:p>
        </p:txBody>
      </p:sp>
      <p:sp>
        <p:nvSpPr>
          <p:cNvPr id="3" name="Text 1"/>
          <p:cNvSpPr/>
          <p:nvPr/>
        </p:nvSpPr>
        <p:spPr>
          <a:xfrm>
            <a:off x="1047750" y="3919537"/>
            <a:ext cx="15697200" cy="1798141"/>
          </a:xfrm>
          <a:prstGeom prst="rect">
            <a:avLst/>
          </a:prstGeom>
          <a:noFill/>
          <a:ln/>
        </p:spPr>
        <p:txBody>
          <a:bodyPr wrap="square" lIns="25400" tIns="25400" rIns="25400" bIns="25400" rtlCol="0" anchor="t">
            <a:normAutofit/>
          </a:bodyPr>
          <a:lstStyle/>
          <a:p>
            <a:pPr algn="l" indent="0" marL="0">
              <a:lnSpc>
                <a:spcPct val="105000"/>
              </a:lnSpc>
              <a:buNone/>
            </a:pPr>
            <a:r>
              <a:rPr lang="en-US" sz="6600" b="1" spc="-75" kern="0" dirty="0">
                <a:solidFill>
                  <a:srgbClr val="FFFFFF"/>
                </a:solidFill>
                <a:latin typeface="Arial" pitchFamily="34" charset="0"/>
                <a:ea typeface="Arial" pitchFamily="34" charset="-122"/>
                <a:cs typeface="Arial" pitchFamily="34" charset="-120"/>
              </a:rPr>
              <a:t>Recite the five rip-current survival steps from memory.</a:t>
            </a:r>
            <a:endParaRPr lang="en-US" sz="6600" dirty="0"/>
          </a:p>
        </p:txBody>
      </p:sp>
      <p:sp>
        <p:nvSpPr>
          <p:cNvPr id="4" name="Text 2"/>
          <p:cNvSpPr/>
          <p:nvPr/>
        </p:nvSpPr>
        <p:spPr>
          <a:xfrm>
            <a:off x="1047750" y="6155829"/>
            <a:ext cx="15697200" cy="1015305"/>
          </a:xfrm>
          <a:prstGeom prst="rect">
            <a:avLst/>
          </a:prstGeom>
          <a:noFill/>
          <a:ln/>
        </p:spPr>
        <p:txBody>
          <a:bodyPr wrap="square" lIns="25400" tIns="25400" rIns="25400" bIns="25400" rtlCol="0" anchor="t">
            <a:normAutofit/>
          </a:bodyPr>
          <a:lstStyle/>
          <a:p>
            <a:pPr algn="l" indent="0" marL="0">
              <a:lnSpc>
                <a:spcPct val="135000"/>
              </a:lnSpc>
              <a:buNone/>
            </a:pPr>
            <a:r>
              <a:rPr lang="en-US" sz="2850" dirty="0">
                <a:solidFill>
                  <a:srgbClr val="FFFFFF">
                    <a:alpha val="80000"/>
                  </a:srgbClr>
                </a:solidFill>
                <a:latin typeface="Arial" pitchFamily="34" charset="0"/>
                <a:ea typeface="Arial" pitchFamily="34" charset="-122"/>
                <a:cs typeface="Arial" pitchFamily="34" charset="-120"/>
              </a:rPr>
              <a:t>Notes closed. Workbook open to Section 2. Write them in order. If you miss one, that's </a:t>
            </a:r>
            <a:pPr algn="l" indent="0" marL="0">
              <a:lnSpc>
                <a:spcPct val="135000"/>
              </a:lnSpc>
              <a:buNone/>
            </a:pPr>
            <a:r>
              <a:rPr lang="en-US" sz="2850" dirty="0">
                <a:solidFill>
                  <a:srgbClr val="FFD166"/>
                </a:solidFill>
                <a:latin typeface="Arial" pitchFamily="34" charset="0"/>
                <a:ea typeface="Arial" pitchFamily="34" charset="-122"/>
                <a:cs typeface="Arial" pitchFamily="34" charset="-120"/>
              </a:rPr>
              <a:t>tomorrow's revision</a:t>
            </a:r>
            <a:pPr algn="l" indent="0" marL="0">
              <a:lnSpc>
                <a:spcPct val="135000"/>
              </a:lnSpc>
              <a:buNone/>
            </a:pPr>
            <a:r>
              <a:rPr lang="en-US" sz="2850" dirty="0">
                <a:solidFill>
                  <a:srgbClr val="FFFFFF">
                    <a:alpha val="80000"/>
                  </a:srgbClr>
                </a:solidFill>
                <a:latin typeface="Arial" pitchFamily="34" charset="0"/>
                <a:ea typeface="Arial" pitchFamily="34" charset="-122"/>
                <a:cs typeface="Arial" pitchFamily="34" charset="-120"/>
              </a:rPr>
              <a:t>.</a:t>
            </a:r>
            <a:endParaRPr lang="en-US" sz="2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B71C1C"/>
        </a:solidFill>
      </p:bgPr>
    </p:bg>
    <p:spTree>
      <p:nvGrpSpPr>
        <p:cNvPr id="1" name=""/>
        <p:cNvGrpSpPr/>
        <p:nvPr/>
      </p:nvGrpSpPr>
      <p:grpSpPr>
        <a:xfrm>
          <a:off x="0" y="0"/>
          <a:ext cx="0" cy="0"/>
          <a:chOff x="0" y="0"/>
          <a:chExt cx="0" cy="0"/>
        </a:xfrm>
      </p:grpSpPr>
      <p:sp>
        <p:nvSpPr>
          <p:cNvPr id="2" name="Text 0"/>
          <p:cNvSpPr/>
          <p:nvPr/>
        </p:nvSpPr>
        <p:spPr>
          <a:xfrm>
            <a:off x="1047750" y="2385120"/>
            <a:ext cx="7606244" cy="358080"/>
          </a:xfrm>
          <a:prstGeom prst="rect">
            <a:avLst/>
          </a:prstGeom>
          <a:noFill/>
          <a:ln/>
        </p:spPr>
        <p:txBody>
          <a:bodyPr wrap="square" lIns="25400" tIns="25400" rIns="25400" bIns="25400" rtlCol="0" anchor="t">
            <a:normAutofit/>
          </a:bodyPr>
          <a:lstStyle/>
          <a:p>
            <a:pPr algn="l" indent="0" marL="0">
              <a:lnSpc>
                <a:spcPct val="140000"/>
              </a:lnSpc>
              <a:buNone/>
            </a:pPr>
            <a:r>
              <a:rPr lang="en-US" sz="1800" spc="450" kern="0" dirty="0">
                <a:solidFill>
                  <a:srgbClr val="FFFFFF">
                    <a:alpha val="70000"/>
                  </a:srgbClr>
                </a:solidFill>
                <a:latin typeface="Courier New" pitchFamily="34" charset="0"/>
                <a:ea typeface="Courier New" pitchFamily="34" charset="-122"/>
                <a:cs typeface="Courier New" pitchFamily="34" charset="-120"/>
              </a:rPr>
              <a:t>LESSON 3 · 50 MIN · WORKBOOK SECTION 3</a:t>
            </a:r>
            <a:endParaRPr lang="en-US" sz="1800" dirty="0"/>
          </a:p>
        </p:txBody>
      </p:sp>
      <p:sp>
        <p:nvSpPr>
          <p:cNvPr id="3" name="Text 1"/>
          <p:cNvSpPr/>
          <p:nvPr/>
        </p:nvSpPr>
        <p:spPr>
          <a:xfrm>
            <a:off x="1047750" y="3048000"/>
            <a:ext cx="2375595" cy="1657350"/>
          </a:xfrm>
          <a:prstGeom prst="rect">
            <a:avLst/>
          </a:prstGeom>
          <a:noFill/>
          <a:ln/>
        </p:spPr>
        <p:txBody>
          <a:bodyPr wrap="square" lIns="25400" tIns="25400" rIns="25400" bIns="25400" rtlCol="0" anchor="t">
            <a:normAutofit/>
          </a:bodyPr>
          <a:lstStyle/>
          <a:p>
            <a:pPr algn="l" indent="0" marL="0">
              <a:lnSpc>
                <a:spcPct val="85000"/>
              </a:lnSpc>
              <a:buNone/>
            </a:pPr>
            <a:r>
              <a:rPr lang="en-US" sz="15000" b="1" spc="-450" kern="0" dirty="0">
                <a:solidFill>
                  <a:srgbClr val="FFFFFF">
                    <a:alpha val="25000"/>
                  </a:srgbClr>
                </a:solidFill>
                <a:latin typeface="Arial" pitchFamily="34" charset="0"/>
                <a:ea typeface="Arial" pitchFamily="34" charset="-122"/>
                <a:cs typeface="Arial" pitchFamily="34" charset="-120"/>
              </a:rPr>
              <a:t>03</a:t>
            </a:r>
            <a:endParaRPr lang="en-US" sz="15000" dirty="0"/>
          </a:p>
        </p:txBody>
      </p:sp>
      <p:sp>
        <p:nvSpPr>
          <p:cNvPr id="4" name="Text 2"/>
          <p:cNvSpPr/>
          <p:nvPr/>
        </p:nvSpPr>
        <p:spPr>
          <a:xfrm>
            <a:off x="1047750" y="4895850"/>
            <a:ext cx="14716125" cy="1943100"/>
          </a:xfrm>
          <a:prstGeom prst="rect">
            <a:avLst/>
          </a:prstGeom>
          <a:noFill/>
          <a:ln/>
        </p:spPr>
        <p:txBody>
          <a:bodyPr wrap="square" lIns="25400" tIns="25400" rIns="25400" bIns="25400" rtlCol="0" anchor="t">
            <a:normAutofit/>
          </a:bodyPr>
          <a:lstStyle/>
          <a:p>
            <a:pPr algn="l" indent="0" marL="0">
              <a:lnSpc>
                <a:spcPct val="100000"/>
              </a:lnSpc>
              <a:buNone/>
            </a:pPr>
            <a:r>
              <a:rPr lang="en-US" sz="7500" b="1" spc="-150" kern="0" dirty="0">
                <a:solidFill>
                  <a:srgbClr val="FFFFFF"/>
                </a:solidFill>
                <a:latin typeface="Arial" pitchFamily="34" charset="0"/>
                <a:ea typeface="Arial" pitchFamily="34" charset="-122"/>
                <a:cs typeface="Arial" pitchFamily="34" charset="-120"/>
              </a:rPr>
              <a:t>Emergency response — DRS ABCD &amp; rescue skills</a:t>
            </a:r>
            <a:endParaRPr lang="en-US" sz="7500" dirty="0"/>
          </a:p>
        </p:txBody>
      </p:sp>
      <p:sp>
        <p:nvSpPr>
          <p:cNvPr id="5" name="Shape 3"/>
          <p:cNvSpPr/>
          <p:nvPr/>
        </p:nvSpPr>
        <p:spPr>
          <a:xfrm>
            <a:off x="1047750" y="7372350"/>
            <a:ext cx="1844278" cy="529530"/>
          </a:xfrm>
          <a:prstGeom prst="roundRect">
            <a:avLst>
              <a:gd name="adj" fmla="val 50000"/>
            </a:avLst>
          </a:prstGeom>
          <a:solidFill>
            <a:srgbClr val="FFFFFF">
              <a:alpha val="12000"/>
            </a:srgbClr>
          </a:solidFill>
          <a:ln w="9525">
            <a:solidFill>
              <a:srgbClr val="FFFFFF">
                <a:alpha val="25000"/>
              </a:srgbClr>
            </a:solidFill>
            <a:prstDash val="solid"/>
          </a:ln>
        </p:spPr>
        <p:txBody>
          <a:bodyPr/>
          <a:p/>
        </p:txBody>
      </p:sp>
      <p:sp>
        <p:nvSpPr>
          <p:cNvPr id="6" name="Text 4"/>
          <p:cNvSpPr/>
          <p:nvPr/>
        </p:nvSpPr>
        <p:spPr>
          <a:xfrm>
            <a:off x="1266825" y="7477125"/>
            <a:ext cx="1482328" cy="358080"/>
          </a:xfrm>
          <a:prstGeom prst="rect">
            <a:avLst/>
          </a:prstGeom>
          <a:noFill/>
          <a:ln/>
        </p:spPr>
        <p:txBody>
          <a:bodyPr wrap="square" lIns="25400" tIns="25400" rIns="25400" bIns="25400" rtlCol="0" anchor="t">
            <a:normAutofit/>
          </a:bodyPr>
          <a:lstStyle/>
          <a:p>
            <a:pPr algn="l" indent="0" marL="0">
              <a:lnSpc>
                <a:spcPct val="140000"/>
              </a:lnSpc>
              <a:buNone/>
            </a:pPr>
            <a:r>
              <a:rPr lang="en-US" sz="1800" spc="150" kern="0" dirty="0">
                <a:solidFill>
                  <a:srgbClr val="FFFFFF">
                    <a:alpha val="75000"/>
                  </a:srgbClr>
                </a:solidFill>
                <a:latin typeface="Courier New" pitchFamily="34" charset="0"/>
                <a:ea typeface="Courier New" pitchFamily="34" charset="-122"/>
                <a:cs typeface="Courier New" pitchFamily="34" charset="-120"/>
              </a:rPr>
              <a:t>VCHPEP126</a:t>
            </a:r>
            <a:endParaRPr lang="en-US" sz="1800" dirty="0"/>
          </a:p>
        </p:txBody>
      </p:sp>
      <p:sp>
        <p:nvSpPr>
          <p:cNvPr id="7" name="Shape 5"/>
          <p:cNvSpPr/>
          <p:nvPr/>
        </p:nvSpPr>
        <p:spPr>
          <a:xfrm>
            <a:off x="3120628" y="7372350"/>
            <a:ext cx="1844278" cy="529530"/>
          </a:xfrm>
          <a:prstGeom prst="roundRect">
            <a:avLst>
              <a:gd name="adj" fmla="val 50000"/>
            </a:avLst>
          </a:prstGeom>
          <a:solidFill>
            <a:srgbClr val="FFFFFF">
              <a:alpha val="12000"/>
            </a:srgbClr>
          </a:solidFill>
          <a:ln w="9525">
            <a:solidFill>
              <a:srgbClr val="FFFFFF">
                <a:alpha val="25000"/>
              </a:srgbClr>
            </a:solidFill>
            <a:prstDash val="solid"/>
          </a:ln>
        </p:spPr>
        <p:txBody>
          <a:bodyPr/>
          <a:p/>
        </p:txBody>
      </p:sp>
      <p:sp>
        <p:nvSpPr>
          <p:cNvPr id="8" name="Text 6"/>
          <p:cNvSpPr/>
          <p:nvPr/>
        </p:nvSpPr>
        <p:spPr>
          <a:xfrm>
            <a:off x="3339703" y="7477125"/>
            <a:ext cx="1482328" cy="358080"/>
          </a:xfrm>
          <a:prstGeom prst="rect">
            <a:avLst/>
          </a:prstGeom>
          <a:noFill/>
          <a:ln/>
        </p:spPr>
        <p:txBody>
          <a:bodyPr wrap="square" lIns="25400" tIns="25400" rIns="25400" bIns="25400" rtlCol="0" anchor="t">
            <a:normAutofit/>
          </a:bodyPr>
          <a:lstStyle/>
          <a:p>
            <a:pPr algn="l" indent="0" marL="0">
              <a:lnSpc>
                <a:spcPct val="140000"/>
              </a:lnSpc>
              <a:buNone/>
            </a:pPr>
            <a:r>
              <a:rPr lang="en-US" sz="1800" spc="150" kern="0" dirty="0">
                <a:solidFill>
                  <a:srgbClr val="FFFFFF">
                    <a:alpha val="75000"/>
                  </a:srgbClr>
                </a:solidFill>
                <a:latin typeface="Courier New" pitchFamily="34" charset="0"/>
                <a:ea typeface="Courier New" pitchFamily="34" charset="-122"/>
                <a:cs typeface="Courier New" pitchFamily="34" charset="-120"/>
              </a:rPr>
              <a:t>VCHPEP130</a:t>
            </a:r>
            <a:endParaRPr lang="en-US" sz="1800" dirty="0"/>
          </a:p>
        </p:txBody>
      </p:sp>
      <p:sp>
        <p:nvSpPr>
          <p:cNvPr id="9" name="Shape 7"/>
          <p:cNvSpPr/>
          <p:nvPr/>
        </p:nvSpPr>
        <p:spPr>
          <a:xfrm>
            <a:off x="5193506" y="7372350"/>
            <a:ext cx="1844278" cy="529530"/>
          </a:xfrm>
          <a:prstGeom prst="roundRect">
            <a:avLst>
              <a:gd name="adj" fmla="val 50000"/>
            </a:avLst>
          </a:prstGeom>
          <a:solidFill>
            <a:srgbClr val="FFFFFF">
              <a:alpha val="12000"/>
            </a:srgbClr>
          </a:solidFill>
          <a:ln w="9525">
            <a:solidFill>
              <a:srgbClr val="FFFFFF">
                <a:alpha val="25000"/>
              </a:srgbClr>
            </a:solidFill>
            <a:prstDash val="solid"/>
          </a:ln>
        </p:spPr>
        <p:txBody>
          <a:bodyPr/>
          <a:p/>
        </p:txBody>
      </p:sp>
      <p:sp>
        <p:nvSpPr>
          <p:cNvPr id="10" name="Text 8"/>
          <p:cNvSpPr/>
          <p:nvPr/>
        </p:nvSpPr>
        <p:spPr>
          <a:xfrm>
            <a:off x="5412581" y="7477125"/>
            <a:ext cx="1482328" cy="358080"/>
          </a:xfrm>
          <a:prstGeom prst="rect">
            <a:avLst/>
          </a:prstGeom>
          <a:noFill/>
          <a:ln/>
        </p:spPr>
        <p:txBody>
          <a:bodyPr wrap="square" lIns="25400" tIns="25400" rIns="25400" bIns="25400" rtlCol="0" anchor="t">
            <a:normAutofit/>
          </a:bodyPr>
          <a:lstStyle/>
          <a:p>
            <a:pPr algn="l" indent="0" marL="0">
              <a:lnSpc>
                <a:spcPct val="140000"/>
              </a:lnSpc>
              <a:buNone/>
            </a:pPr>
            <a:r>
              <a:rPr lang="en-US" sz="1800" spc="150" kern="0" dirty="0">
                <a:solidFill>
                  <a:srgbClr val="FFFFFF">
                    <a:alpha val="75000"/>
                  </a:srgbClr>
                </a:solidFill>
                <a:latin typeface="Courier New" pitchFamily="34" charset="0"/>
                <a:ea typeface="Courier New" pitchFamily="34" charset="-122"/>
                <a:cs typeface="Courier New" pitchFamily="34" charset="-120"/>
              </a:rPr>
              <a:t>VCHPEM146</a:t>
            </a:r>
            <a:endParaRPr lang="en-US" sz="18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4F7F9"/>
        </a:solidFill>
      </p:bgPr>
    </p:bg>
    <p:spTree>
      <p:nvGrpSpPr>
        <p:cNvPr id="1" name=""/>
        <p:cNvGrpSpPr/>
        <p:nvPr/>
      </p:nvGrpSpPr>
      <p:grpSpPr>
        <a:xfrm>
          <a:off x="0" y="0"/>
          <a:ext cx="0" cy="0"/>
          <a:chOff x="0" y="0"/>
          <a:chExt cx="0" cy="0"/>
        </a:xfrm>
      </p:grpSpPr>
      <p:sp>
        <p:nvSpPr>
          <p:cNvPr id="2" name="Text 0"/>
          <p:cNvSpPr/>
          <p:nvPr/>
        </p:nvSpPr>
        <p:spPr>
          <a:xfrm>
            <a:off x="1047750" y="914400"/>
            <a:ext cx="16678275" cy="358080"/>
          </a:xfrm>
          <a:prstGeom prst="rect">
            <a:avLst/>
          </a:prstGeom>
          <a:noFill/>
          <a:ln/>
        </p:spPr>
        <p:txBody>
          <a:bodyPr wrap="square" lIns="25400" tIns="25400" rIns="25400" bIns="25400" rtlCol="0" anchor="t">
            <a:normAutofit/>
          </a:bodyPr>
          <a:lstStyle/>
          <a:p>
            <a:pPr algn="l" indent="0" marL="0">
              <a:lnSpc>
                <a:spcPct val="140000"/>
              </a:lnSpc>
              <a:buNone/>
            </a:pPr>
            <a:r>
              <a:rPr lang="en-US" sz="1800" spc="300" kern="0" dirty="0">
                <a:solidFill>
                  <a:srgbClr val="5A7A8A"/>
                </a:solidFill>
                <a:latin typeface="Courier New" pitchFamily="34" charset="0"/>
                <a:ea typeface="Courier New" pitchFamily="34" charset="-122"/>
                <a:cs typeface="Courier New" pitchFamily="34" charset="-120"/>
              </a:rPr>
              <a:t>THE RULE THAT KEEPS RESCUERS ALIVE</a:t>
            </a:r>
            <a:endParaRPr lang="en-US" sz="1800" dirty="0"/>
          </a:p>
        </p:txBody>
      </p:sp>
      <p:sp>
        <p:nvSpPr>
          <p:cNvPr id="3" name="Text 1"/>
          <p:cNvSpPr/>
          <p:nvPr/>
        </p:nvSpPr>
        <p:spPr>
          <a:xfrm>
            <a:off x="1047750" y="1405830"/>
            <a:ext cx="16678275" cy="798165"/>
          </a:xfrm>
          <a:prstGeom prst="rect">
            <a:avLst/>
          </a:prstGeom>
          <a:noFill/>
          <a:ln/>
        </p:spPr>
        <p:txBody>
          <a:bodyPr wrap="square" lIns="25400" tIns="25400" rIns="25400" bIns="25400" rtlCol="0" anchor="t">
            <a:normAutofit/>
          </a:bodyPr>
          <a:lstStyle/>
          <a:p>
            <a:pPr algn="l" indent="0" marL="0">
              <a:lnSpc>
                <a:spcPct val="105000"/>
              </a:lnSpc>
              <a:buNone/>
            </a:pPr>
            <a:r>
              <a:rPr lang="en-US" sz="5700" b="1" spc="-75" kern="0" dirty="0">
                <a:solidFill>
                  <a:srgbClr val="0D1F2D"/>
                </a:solidFill>
                <a:latin typeface="Arial" pitchFamily="34" charset="0"/>
                <a:ea typeface="Arial" pitchFamily="34" charset="-122"/>
                <a:cs typeface="Arial" pitchFamily="34" charset="-120"/>
              </a:rPr>
              <a:t>Throw, don't go.</a:t>
            </a:r>
            <a:endParaRPr lang="en-US" sz="5700" dirty="0"/>
          </a:p>
        </p:txBody>
      </p:sp>
      <p:sp>
        <p:nvSpPr>
          <p:cNvPr id="4" name="Text 2"/>
          <p:cNvSpPr/>
          <p:nvPr/>
        </p:nvSpPr>
        <p:spPr>
          <a:xfrm>
            <a:off x="1047750" y="3258443"/>
            <a:ext cx="8264790" cy="3724275"/>
          </a:xfrm>
          <a:prstGeom prst="rect">
            <a:avLst/>
          </a:prstGeom>
          <a:noFill/>
          <a:ln/>
        </p:spPr>
        <p:txBody>
          <a:bodyPr wrap="square" lIns="0" tIns="0" rIns="0" bIns="0" rtlCol="0" anchor="t">
            <a:normAutofit/>
          </a:bodyPr>
          <a:lstStyle/>
          <a:p>
            <a:pPr algn="l" indent="0" marL="0">
              <a:lnSpc>
                <a:spcPct val="100000"/>
              </a:lnSpc>
              <a:buNone/>
            </a:pPr>
            <a:r>
              <a:rPr lang="en-US" sz="6600" b="1" spc="-150" kern="0" dirty="0">
                <a:solidFill>
                  <a:srgbClr val="B71C1C"/>
                </a:solidFill>
                <a:latin typeface="Arial" pitchFamily="34" charset="0"/>
                <a:ea typeface="Arial" pitchFamily="34" charset="-122"/>
                <a:cs typeface="Arial" pitchFamily="34" charset="-120"/>
              </a:rPr>
              <a:t>Untrained rescuers who enter the water often become the</a:t>
            </a:r>
            <a:endParaRPr lang="en-US" sz="6600" dirty="0"/>
          </a:p>
        </p:txBody>
      </p:sp>
      <p:sp>
        <p:nvSpPr>
          <p:cNvPr id="5" name="Text 3"/>
          <p:cNvSpPr/>
          <p:nvPr/>
        </p:nvSpPr>
        <p:spPr>
          <a:xfrm>
            <a:off x="1047750" y="5773043"/>
            <a:ext cx="8403674" cy="2047875"/>
          </a:xfrm>
          <a:prstGeom prst="rect">
            <a:avLst/>
          </a:prstGeom>
          <a:noFill/>
          <a:ln/>
        </p:spPr>
        <p:txBody>
          <a:bodyPr wrap="square" lIns="25400" tIns="25400" rIns="25400" bIns="25400" rtlCol="0" anchor="t">
            <a:normAutofit/>
          </a:bodyPr>
          <a:lstStyle/>
          <a:p>
            <a:pPr algn="l" indent="0" marL="0">
              <a:lnSpc>
                <a:spcPct val="100000"/>
              </a:lnSpc>
              <a:buNone/>
            </a:pPr>
            <a:r>
              <a:rPr lang="en-US" sz="6600" b="1" spc="-150" kern="0" dirty="0">
                <a:solidFill>
                  <a:srgbClr val="C0392B"/>
                </a:solidFill>
                <a:latin typeface="Arial" pitchFamily="34" charset="0"/>
                <a:ea typeface="Arial" pitchFamily="34" charset="-122"/>
                <a:cs typeface="Arial" pitchFamily="34" charset="-120"/>
              </a:rPr>
              <a:t>second victim</a:t>
            </a:r>
            <a:endParaRPr lang="en-US" sz="6600" dirty="0"/>
          </a:p>
        </p:txBody>
      </p:sp>
      <p:sp>
        <p:nvSpPr>
          <p:cNvPr id="6" name="Text 4"/>
          <p:cNvSpPr/>
          <p:nvPr/>
        </p:nvSpPr>
        <p:spPr>
          <a:xfrm>
            <a:off x="3749873" y="6611243"/>
            <a:ext cx="309562" cy="1209675"/>
          </a:xfrm>
          <a:prstGeom prst="rect">
            <a:avLst/>
          </a:prstGeom>
          <a:noFill/>
          <a:ln/>
        </p:spPr>
        <p:txBody>
          <a:bodyPr wrap="square" lIns="0" tIns="0" rIns="0" bIns="0" rtlCol="0" anchor="t">
            <a:normAutofit/>
          </a:bodyPr>
          <a:lstStyle/>
          <a:p>
            <a:pPr algn="l" indent="0" marL="0">
              <a:lnSpc>
                <a:spcPct val="100000"/>
              </a:lnSpc>
              <a:buNone/>
            </a:pPr>
            <a:r>
              <a:rPr lang="en-US" sz="6600" b="1" spc="-150" kern="0" dirty="0">
                <a:solidFill>
                  <a:srgbClr val="B71C1C"/>
                </a:solidFill>
                <a:latin typeface="Arial" pitchFamily="34" charset="0"/>
                <a:ea typeface="Arial" pitchFamily="34" charset="-122"/>
                <a:cs typeface="Arial" pitchFamily="34" charset="-120"/>
              </a:rPr>
              <a:t>.</a:t>
            </a:r>
            <a:endParaRPr lang="en-US" sz="6600" dirty="0"/>
          </a:p>
        </p:txBody>
      </p:sp>
      <p:sp>
        <p:nvSpPr>
          <p:cNvPr id="7" name="Text 5"/>
          <p:cNvSpPr/>
          <p:nvPr/>
        </p:nvSpPr>
        <p:spPr>
          <a:xfrm>
            <a:off x="1047750" y="7849493"/>
            <a:ext cx="8427894" cy="830461"/>
          </a:xfrm>
          <a:prstGeom prst="rect">
            <a:avLst/>
          </a:prstGeom>
          <a:noFill/>
          <a:ln/>
        </p:spPr>
        <p:txBody>
          <a:bodyPr wrap="square" lIns="25400" tIns="25400" rIns="25400" bIns="25400" rtlCol="0" anchor="t">
            <a:normAutofit/>
          </a:bodyPr>
          <a:lstStyle/>
          <a:p>
            <a:pPr algn="l" indent="0" marL="0">
              <a:lnSpc>
                <a:spcPct val="130000"/>
              </a:lnSpc>
              <a:buNone/>
            </a:pPr>
            <a:r>
              <a:rPr lang="en-US" sz="2400" b="1" dirty="0">
                <a:solidFill>
                  <a:srgbClr val="5A7A8A"/>
                </a:solidFill>
                <a:latin typeface="Arial" pitchFamily="34" charset="0"/>
                <a:ea typeface="Arial" pitchFamily="34" charset="-122"/>
                <a:cs typeface="Arial" pitchFamily="34" charset="-120"/>
              </a:rPr>
              <a:t>If you can throw or reach the casualty without entering the water — do that.</a:t>
            </a:r>
            <a:endParaRPr lang="en-US" sz="2400" dirty="0"/>
          </a:p>
        </p:txBody>
      </p:sp>
      <p:sp>
        <p:nvSpPr>
          <p:cNvPr id="8" name="Text 6"/>
          <p:cNvSpPr/>
          <p:nvPr/>
        </p:nvSpPr>
        <p:spPr>
          <a:xfrm>
            <a:off x="9801671" y="4125367"/>
            <a:ext cx="7661736" cy="331440"/>
          </a:xfrm>
          <a:prstGeom prst="rect">
            <a:avLst/>
          </a:prstGeom>
          <a:noFill/>
          <a:ln/>
        </p:spPr>
        <p:txBody>
          <a:bodyPr wrap="square" lIns="25400" tIns="25400" rIns="25400" bIns="25400" rtlCol="0" anchor="t">
            <a:normAutofit/>
          </a:bodyPr>
          <a:lstStyle/>
          <a:p>
            <a:pPr algn="l" indent="0" marL="0">
              <a:lnSpc>
                <a:spcPct val="140000"/>
              </a:lnSpc>
              <a:buNone/>
            </a:pPr>
            <a:r>
              <a:rPr lang="en-US" sz="1650" spc="225" kern="0" dirty="0">
                <a:solidFill>
                  <a:srgbClr val="5A7A8A"/>
                </a:solidFill>
                <a:latin typeface="Courier New" pitchFamily="34" charset="0"/>
                <a:ea typeface="Courier New" pitchFamily="34" charset="-122"/>
                <a:cs typeface="Courier New" pitchFamily="34" charset="-120"/>
              </a:rPr>
              <a:t>USE WHATEVER FLOATS</a:t>
            </a:r>
            <a:endParaRPr lang="en-US" sz="1650" dirty="0"/>
          </a:p>
        </p:txBody>
      </p:sp>
      <p:sp>
        <p:nvSpPr>
          <p:cNvPr id="9" name="Shape 7"/>
          <p:cNvSpPr/>
          <p:nvPr/>
        </p:nvSpPr>
        <p:spPr>
          <a:xfrm>
            <a:off x="9801671" y="4590157"/>
            <a:ext cx="3633490" cy="1592461"/>
          </a:xfrm>
          <a:prstGeom prst="roundRect">
            <a:avLst>
              <a:gd name="adj" fmla="val 9570"/>
            </a:avLst>
          </a:prstGeom>
          <a:solidFill>
            <a:srgbClr val="FFFFFF"/>
          </a:solidFill>
          <a:ln w="9525">
            <a:solidFill>
              <a:srgbClr val="CDD9E0"/>
            </a:solidFill>
            <a:prstDash val="solid"/>
          </a:ln>
        </p:spPr>
        <p:txBody>
          <a:bodyPr/>
          <a:p/>
        </p:txBody>
      </p:sp>
      <p:sp>
        <p:nvSpPr>
          <p:cNvPr id="10" name="Text 8"/>
          <p:cNvSpPr/>
          <p:nvPr/>
        </p:nvSpPr>
        <p:spPr>
          <a:xfrm>
            <a:off x="10039796" y="4828282"/>
            <a:ext cx="3251957" cy="278011"/>
          </a:xfrm>
          <a:prstGeom prst="rect">
            <a:avLst/>
          </a:prstGeom>
          <a:noFill/>
          <a:ln/>
        </p:spPr>
        <p:txBody>
          <a:bodyPr wrap="square" lIns="25400" tIns="25400" rIns="25400" bIns="25400" rtlCol="0" anchor="t">
            <a:normAutofit/>
          </a:bodyPr>
          <a:lstStyle/>
          <a:p>
            <a:pPr algn="l" indent="0" marL="0">
              <a:lnSpc>
                <a:spcPct val="140000"/>
              </a:lnSpc>
              <a:buNone/>
            </a:pPr>
            <a:r>
              <a:rPr lang="en-US" sz="1350" spc="150" kern="0" dirty="0">
                <a:solidFill>
                  <a:srgbClr val="5A7A8A"/>
                </a:solidFill>
                <a:latin typeface="Courier New" pitchFamily="34" charset="0"/>
                <a:ea typeface="Courier New" pitchFamily="34" charset="-122"/>
                <a:cs typeface="Courier New" pitchFamily="34" charset="-120"/>
              </a:rPr>
              <a:t>A</a:t>
            </a:r>
            <a:endParaRPr lang="en-US" sz="1350" dirty="0"/>
          </a:p>
        </p:txBody>
      </p:sp>
      <p:sp>
        <p:nvSpPr>
          <p:cNvPr id="11" name="Text 9"/>
          <p:cNvSpPr/>
          <p:nvPr/>
        </p:nvSpPr>
        <p:spPr>
          <a:xfrm>
            <a:off x="10039796" y="5144393"/>
            <a:ext cx="3251957" cy="438150"/>
          </a:xfrm>
          <a:prstGeom prst="rect">
            <a:avLst/>
          </a:prstGeom>
          <a:noFill/>
          <a:ln/>
        </p:spPr>
        <p:txBody>
          <a:bodyPr wrap="square" lIns="25400" tIns="25400" rIns="25400" bIns="25400" rtlCol="0" anchor="t">
            <a:normAutofit/>
          </a:bodyPr>
          <a:lstStyle/>
          <a:p>
            <a:pPr algn="l" indent="0" marL="0">
              <a:lnSpc>
                <a:spcPct val="140000"/>
              </a:lnSpc>
              <a:buNone/>
            </a:pPr>
            <a:r>
              <a:rPr lang="en-US" sz="2250" b="1" dirty="0">
                <a:solidFill>
                  <a:srgbClr val="0D1F2D"/>
                </a:solidFill>
                <a:latin typeface="Arial" pitchFamily="34" charset="0"/>
                <a:ea typeface="Arial" pitchFamily="34" charset="-122"/>
                <a:cs typeface="Arial" pitchFamily="34" charset="-120"/>
              </a:rPr>
              <a:t>Rope or long towel</a:t>
            </a:r>
            <a:endParaRPr lang="en-US" sz="2250" dirty="0"/>
          </a:p>
        </p:txBody>
      </p:sp>
      <p:sp>
        <p:nvSpPr>
          <p:cNvPr id="12" name="Shape 10"/>
          <p:cNvSpPr/>
          <p:nvPr/>
        </p:nvSpPr>
        <p:spPr>
          <a:xfrm>
            <a:off x="13606611" y="4590157"/>
            <a:ext cx="3633639" cy="1592461"/>
          </a:xfrm>
          <a:prstGeom prst="roundRect">
            <a:avLst>
              <a:gd name="adj" fmla="val 9570"/>
            </a:avLst>
          </a:prstGeom>
          <a:solidFill>
            <a:srgbClr val="FFFFFF"/>
          </a:solidFill>
          <a:ln w="9525">
            <a:solidFill>
              <a:srgbClr val="CDD9E0"/>
            </a:solidFill>
            <a:prstDash val="solid"/>
          </a:ln>
        </p:spPr>
        <p:txBody>
          <a:bodyPr/>
          <a:p/>
        </p:txBody>
      </p:sp>
      <p:sp>
        <p:nvSpPr>
          <p:cNvPr id="13" name="Text 11"/>
          <p:cNvSpPr/>
          <p:nvPr/>
        </p:nvSpPr>
        <p:spPr>
          <a:xfrm>
            <a:off x="13844736" y="4828282"/>
            <a:ext cx="3252110" cy="278011"/>
          </a:xfrm>
          <a:prstGeom prst="rect">
            <a:avLst/>
          </a:prstGeom>
          <a:noFill/>
          <a:ln/>
        </p:spPr>
        <p:txBody>
          <a:bodyPr wrap="square" lIns="25400" tIns="25400" rIns="25400" bIns="25400" rtlCol="0" anchor="t">
            <a:normAutofit/>
          </a:bodyPr>
          <a:lstStyle/>
          <a:p>
            <a:pPr algn="l" indent="0" marL="0">
              <a:lnSpc>
                <a:spcPct val="140000"/>
              </a:lnSpc>
              <a:buNone/>
            </a:pPr>
            <a:r>
              <a:rPr lang="en-US" sz="1350" spc="150" kern="0" dirty="0">
                <a:solidFill>
                  <a:srgbClr val="5A7A8A"/>
                </a:solidFill>
                <a:latin typeface="Courier New" pitchFamily="34" charset="0"/>
                <a:ea typeface="Courier New" pitchFamily="34" charset="-122"/>
                <a:cs typeface="Courier New" pitchFamily="34" charset="-120"/>
              </a:rPr>
              <a:t>B</a:t>
            </a:r>
            <a:endParaRPr lang="en-US" sz="1350" dirty="0"/>
          </a:p>
        </p:txBody>
      </p:sp>
      <p:sp>
        <p:nvSpPr>
          <p:cNvPr id="14" name="Text 12"/>
          <p:cNvSpPr/>
          <p:nvPr/>
        </p:nvSpPr>
        <p:spPr>
          <a:xfrm>
            <a:off x="13844736" y="5144393"/>
            <a:ext cx="3252110" cy="838200"/>
          </a:xfrm>
          <a:prstGeom prst="rect">
            <a:avLst/>
          </a:prstGeom>
          <a:noFill/>
          <a:ln/>
        </p:spPr>
        <p:txBody>
          <a:bodyPr wrap="square" lIns="25400" tIns="25400" rIns="25400" bIns="25400" rtlCol="0" anchor="t">
            <a:normAutofit/>
          </a:bodyPr>
          <a:lstStyle/>
          <a:p>
            <a:pPr algn="l" indent="0" marL="0">
              <a:lnSpc>
                <a:spcPct val="140000"/>
              </a:lnSpc>
              <a:buNone/>
            </a:pPr>
            <a:r>
              <a:rPr lang="en-US" sz="2250" b="1" dirty="0">
                <a:solidFill>
                  <a:srgbClr val="0D1F2D"/>
                </a:solidFill>
                <a:latin typeface="Arial" pitchFamily="34" charset="0"/>
                <a:ea typeface="Arial" pitchFamily="34" charset="-122"/>
                <a:cs typeface="Arial" pitchFamily="34" charset="-120"/>
              </a:rPr>
              <a:t>Kickboard or bodyboard</a:t>
            </a:r>
            <a:endParaRPr lang="en-US" sz="2250" dirty="0"/>
          </a:p>
        </p:txBody>
      </p:sp>
      <p:sp>
        <p:nvSpPr>
          <p:cNvPr id="15" name="Shape 13"/>
          <p:cNvSpPr/>
          <p:nvPr/>
        </p:nvSpPr>
        <p:spPr>
          <a:xfrm>
            <a:off x="9801671" y="6354068"/>
            <a:ext cx="3633490" cy="1592461"/>
          </a:xfrm>
          <a:prstGeom prst="roundRect">
            <a:avLst>
              <a:gd name="adj" fmla="val 9570"/>
            </a:avLst>
          </a:prstGeom>
          <a:solidFill>
            <a:srgbClr val="FFFFFF"/>
          </a:solidFill>
          <a:ln w="9525">
            <a:solidFill>
              <a:srgbClr val="CDD9E0"/>
            </a:solidFill>
            <a:prstDash val="solid"/>
          </a:ln>
        </p:spPr>
        <p:txBody>
          <a:bodyPr/>
          <a:p/>
        </p:txBody>
      </p:sp>
      <p:sp>
        <p:nvSpPr>
          <p:cNvPr id="16" name="Text 14"/>
          <p:cNvSpPr/>
          <p:nvPr/>
        </p:nvSpPr>
        <p:spPr>
          <a:xfrm>
            <a:off x="10039796" y="6592193"/>
            <a:ext cx="3251957" cy="278011"/>
          </a:xfrm>
          <a:prstGeom prst="rect">
            <a:avLst/>
          </a:prstGeom>
          <a:noFill/>
          <a:ln/>
        </p:spPr>
        <p:txBody>
          <a:bodyPr wrap="square" lIns="25400" tIns="25400" rIns="25400" bIns="25400" rtlCol="0" anchor="t">
            <a:normAutofit/>
          </a:bodyPr>
          <a:lstStyle/>
          <a:p>
            <a:pPr algn="l" indent="0" marL="0">
              <a:lnSpc>
                <a:spcPct val="140000"/>
              </a:lnSpc>
              <a:buNone/>
            </a:pPr>
            <a:r>
              <a:rPr lang="en-US" sz="1350" spc="150" kern="0" dirty="0">
                <a:solidFill>
                  <a:srgbClr val="5A7A8A"/>
                </a:solidFill>
                <a:latin typeface="Courier New" pitchFamily="34" charset="0"/>
                <a:ea typeface="Courier New" pitchFamily="34" charset="-122"/>
                <a:cs typeface="Courier New" pitchFamily="34" charset="-120"/>
              </a:rPr>
              <a:t>C</a:t>
            </a:r>
            <a:endParaRPr lang="en-US" sz="1350" dirty="0"/>
          </a:p>
        </p:txBody>
      </p:sp>
      <p:sp>
        <p:nvSpPr>
          <p:cNvPr id="17" name="Text 15"/>
          <p:cNvSpPr/>
          <p:nvPr/>
        </p:nvSpPr>
        <p:spPr>
          <a:xfrm>
            <a:off x="10039796" y="6908304"/>
            <a:ext cx="3251957" cy="838200"/>
          </a:xfrm>
          <a:prstGeom prst="rect">
            <a:avLst/>
          </a:prstGeom>
          <a:noFill/>
          <a:ln/>
        </p:spPr>
        <p:txBody>
          <a:bodyPr wrap="square" lIns="25400" tIns="25400" rIns="25400" bIns="25400" rtlCol="0" anchor="t">
            <a:normAutofit/>
          </a:bodyPr>
          <a:lstStyle/>
          <a:p>
            <a:pPr algn="l" indent="0" marL="0">
              <a:lnSpc>
                <a:spcPct val="140000"/>
              </a:lnSpc>
              <a:buNone/>
            </a:pPr>
            <a:r>
              <a:rPr lang="en-US" sz="2250" b="1" dirty="0">
                <a:solidFill>
                  <a:srgbClr val="0D1F2D"/>
                </a:solidFill>
                <a:latin typeface="Arial" pitchFamily="34" charset="0"/>
                <a:ea typeface="Arial" pitchFamily="34" charset="-122"/>
                <a:cs typeface="Arial" pitchFamily="34" charset="-120"/>
              </a:rPr>
              <a:t>Esky lid · empty bottle</a:t>
            </a:r>
            <a:endParaRPr lang="en-US" sz="2250" dirty="0"/>
          </a:p>
        </p:txBody>
      </p:sp>
      <p:sp>
        <p:nvSpPr>
          <p:cNvPr id="18" name="Shape 16"/>
          <p:cNvSpPr/>
          <p:nvPr/>
        </p:nvSpPr>
        <p:spPr>
          <a:xfrm>
            <a:off x="13606611" y="6354068"/>
            <a:ext cx="3633639" cy="1592461"/>
          </a:xfrm>
          <a:prstGeom prst="roundRect">
            <a:avLst>
              <a:gd name="adj" fmla="val 9570"/>
            </a:avLst>
          </a:prstGeom>
          <a:solidFill>
            <a:srgbClr val="FFFFFF"/>
          </a:solidFill>
          <a:ln w="9525">
            <a:solidFill>
              <a:srgbClr val="CDD9E0"/>
            </a:solidFill>
            <a:prstDash val="solid"/>
          </a:ln>
        </p:spPr>
        <p:txBody>
          <a:bodyPr/>
          <a:p/>
        </p:txBody>
      </p:sp>
      <p:sp>
        <p:nvSpPr>
          <p:cNvPr id="19" name="Text 17"/>
          <p:cNvSpPr/>
          <p:nvPr/>
        </p:nvSpPr>
        <p:spPr>
          <a:xfrm>
            <a:off x="13844736" y="6592193"/>
            <a:ext cx="3252110" cy="278011"/>
          </a:xfrm>
          <a:prstGeom prst="rect">
            <a:avLst/>
          </a:prstGeom>
          <a:noFill/>
          <a:ln/>
        </p:spPr>
        <p:txBody>
          <a:bodyPr wrap="square" lIns="25400" tIns="25400" rIns="25400" bIns="25400" rtlCol="0" anchor="t">
            <a:normAutofit/>
          </a:bodyPr>
          <a:lstStyle/>
          <a:p>
            <a:pPr algn="l" indent="0" marL="0">
              <a:lnSpc>
                <a:spcPct val="140000"/>
              </a:lnSpc>
              <a:buNone/>
            </a:pPr>
            <a:r>
              <a:rPr lang="en-US" sz="1350" spc="150" kern="0" dirty="0">
                <a:solidFill>
                  <a:srgbClr val="5A7A8A"/>
                </a:solidFill>
                <a:latin typeface="Courier New" pitchFamily="34" charset="0"/>
                <a:ea typeface="Courier New" pitchFamily="34" charset="-122"/>
                <a:cs typeface="Courier New" pitchFamily="34" charset="-120"/>
              </a:rPr>
              <a:t>D</a:t>
            </a:r>
            <a:endParaRPr lang="en-US" sz="1350" dirty="0"/>
          </a:p>
        </p:txBody>
      </p:sp>
      <p:sp>
        <p:nvSpPr>
          <p:cNvPr id="20" name="Text 18"/>
          <p:cNvSpPr/>
          <p:nvPr/>
        </p:nvSpPr>
        <p:spPr>
          <a:xfrm>
            <a:off x="13844736" y="6908304"/>
            <a:ext cx="3252110" cy="438150"/>
          </a:xfrm>
          <a:prstGeom prst="rect">
            <a:avLst/>
          </a:prstGeom>
          <a:noFill/>
          <a:ln/>
        </p:spPr>
        <p:txBody>
          <a:bodyPr wrap="square" lIns="25400" tIns="25400" rIns="25400" bIns="25400" rtlCol="0" anchor="t">
            <a:normAutofit/>
          </a:bodyPr>
          <a:lstStyle/>
          <a:p>
            <a:pPr algn="l" indent="0" marL="0">
              <a:lnSpc>
                <a:spcPct val="140000"/>
              </a:lnSpc>
              <a:buNone/>
            </a:pPr>
            <a:r>
              <a:rPr lang="en-US" sz="2250" b="1" dirty="0">
                <a:solidFill>
                  <a:srgbClr val="0D1F2D"/>
                </a:solidFill>
                <a:latin typeface="Arial" pitchFamily="34" charset="0"/>
                <a:ea typeface="Arial" pitchFamily="34" charset="-122"/>
                <a:cs typeface="Arial" pitchFamily="34" charset="-120"/>
              </a:rPr>
              <a:t>Inflatable · life ring</a:t>
            </a:r>
            <a:endParaRPr lang="en-US" sz="22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4F7F9"/>
        </a:solidFill>
      </p:bgPr>
    </p:bg>
    <p:spTree>
      <p:nvGrpSpPr>
        <p:cNvPr id="1" name=""/>
        <p:cNvGrpSpPr/>
        <p:nvPr/>
      </p:nvGrpSpPr>
      <p:grpSpPr>
        <a:xfrm>
          <a:off x="0" y="0"/>
          <a:ext cx="0" cy="0"/>
          <a:chOff x="0" y="0"/>
          <a:chExt cx="0" cy="0"/>
        </a:xfrm>
      </p:grpSpPr>
      <p:sp>
        <p:nvSpPr>
          <p:cNvPr id="2" name="Text 0"/>
          <p:cNvSpPr/>
          <p:nvPr/>
        </p:nvSpPr>
        <p:spPr>
          <a:xfrm>
            <a:off x="1047750" y="914400"/>
            <a:ext cx="16678275" cy="358080"/>
          </a:xfrm>
          <a:prstGeom prst="rect">
            <a:avLst/>
          </a:prstGeom>
          <a:noFill/>
          <a:ln/>
        </p:spPr>
        <p:txBody>
          <a:bodyPr wrap="square" lIns="25400" tIns="25400" rIns="25400" bIns="25400" rtlCol="0" anchor="t">
            <a:normAutofit/>
          </a:bodyPr>
          <a:lstStyle/>
          <a:p>
            <a:pPr algn="l" indent="0" marL="0">
              <a:lnSpc>
                <a:spcPct val="140000"/>
              </a:lnSpc>
              <a:buNone/>
            </a:pPr>
            <a:r>
              <a:rPr lang="en-US" sz="1800" spc="300" kern="0" dirty="0">
                <a:solidFill>
                  <a:srgbClr val="5A7A8A"/>
                </a:solidFill>
                <a:latin typeface="Courier New" pitchFamily="34" charset="0"/>
                <a:ea typeface="Courier New" pitchFamily="34" charset="-122"/>
                <a:cs typeface="Courier New" pitchFamily="34" charset="-120"/>
              </a:rPr>
              <a:t>RESCUE HIERARCHY · RLSSA</a:t>
            </a:r>
            <a:endParaRPr lang="en-US" sz="1800" dirty="0"/>
          </a:p>
        </p:txBody>
      </p:sp>
      <p:sp>
        <p:nvSpPr>
          <p:cNvPr id="3" name="Text 1"/>
          <p:cNvSpPr/>
          <p:nvPr/>
        </p:nvSpPr>
        <p:spPr>
          <a:xfrm>
            <a:off x="1047750" y="1405830"/>
            <a:ext cx="16678275" cy="1558230"/>
          </a:xfrm>
          <a:prstGeom prst="rect">
            <a:avLst/>
          </a:prstGeom>
          <a:noFill/>
          <a:ln/>
        </p:spPr>
        <p:txBody>
          <a:bodyPr wrap="square" lIns="25400" tIns="25400" rIns="25400" bIns="25400" rtlCol="0" anchor="t">
            <a:normAutofit/>
          </a:bodyPr>
          <a:lstStyle/>
          <a:p>
            <a:pPr algn="l" indent="0" marL="0">
              <a:lnSpc>
                <a:spcPct val="105000"/>
              </a:lnSpc>
              <a:buNone/>
            </a:pPr>
            <a:r>
              <a:rPr lang="en-US" sz="5700" b="1" spc="-75" kern="0" dirty="0">
                <a:solidFill>
                  <a:srgbClr val="0D1F2D"/>
                </a:solidFill>
                <a:latin typeface="Arial" pitchFamily="34" charset="0"/>
                <a:ea typeface="Arial" pitchFamily="34" charset="-122"/>
                <a:cs typeface="Arial" pitchFamily="34" charset="-120"/>
              </a:rPr>
              <a:t>Five rescue options — safest to most dangerous</a:t>
            </a:r>
            <a:endParaRPr lang="en-US" sz="5700" dirty="0"/>
          </a:p>
        </p:txBody>
      </p:sp>
      <p:sp>
        <p:nvSpPr>
          <p:cNvPr id="4" name="Shape 2"/>
          <p:cNvSpPr/>
          <p:nvPr/>
        </p:nvSpPr>
        <p:spPr>
          <a:xfrm>
            <a:off x="1047750" y="3383161"/>
            <a:ext cx="16192500" cy="19050"/>
          </a:xfrm>
          <a:prstGeom prst="rect">
            <a:avLst/>
          </a:prstGeom>
          <a:solidFill>
            <a:srgbClr val="0D1F2D"/>
          </a:solidFill>
          <a:ln/>
        </p:spPr>
        <p:txBody>
          <a:bodyPr/>
          <a:p/>
        </p:txBody>
      </p:sp>
      <p:sp>
        <p:nvSpPr>
          <p:cNvPr id="5" name="Text 3"/>
          <p:cNvSpPr/>
          <p:nvPr/>
        </p:nvSpPr>
        <p:spPr>
          <a:xfrm>
            <a:off x="1047750" y="3611761"/>
            <a:ext cx="1123950" cy="571500"/>
          </a:xfrm>
          <a:prstGeom prst="rect">
            <a:avLst/>
          </a:prstGeom>
          <a:noFill/>
          <a:ln/>
        </p:spPr>
        <p:txBody>
          <a:bodyPr wrap="square" lIns="25400" tIns="25400" rIns="25400" bIns="25400" rtlCol="0" anchor="t">
            <a:normAutofit/>
          </a:bodyPr>
          <a:lstStyle/>
          <a:p>
            <a:pPr algn="l" indent="0" marL="0">
              <a:lnSpc>
                <a:spcPct val="100000"/>
              </a:lnSpc>
              <a:buNone/>
            </a:pPr>
            <a:r>
              <a:rPr lang="en-US" sz="4200" b="1" dirty="0">
                <a:solidFill>
                  <a:srgbClr val="1E8449"/>
                </a:solidFill>
                <a:latin typeface="Arial" pitchFamily="34" charset="0"/>
                <a:ea typeface="Arial" pitchFamily="34" charset="-122"/>
                <a:cs typeface="Arial" pitchFamily="34" charset="-120"/>
              </a:rPr>
              <a:t>01</a:t>
            </a:r>
            <a:endParaRPr lang="en-US" sz="4200" dirty="0"/>
          </a:p>
        </p:txBody>
      </p:sp>
      <p:sp>
        <p:nvSpPr>
          <p:cNvPr id="6" name="Text 4"/>
          <p:cNvSpPr/>
          <p:nvPr/>
        </p:nvSpPr>
        <p:spPr>
          <a:xfrm>
            <a:off x="2438400" y="3611761"/>
            <a:ext cx="15245905" cy="388590"/>
          </a:xfrm>
          <a:prstGeom prst="rect">
            <a:avLst/>
          </a:prstGeom>
          <a:noFill/>
          <a:ln/>
        </p:spPr>
        <p:txBody>
          <a:bodyPr wrap="square" lIns="25400" tIns="25400" rIns="25400" bIns="25400" rtlCol="0" anchor="t">
            <a:normAutofit/>
          </a:bodyPr>
          <a:lstStyle/>
          <a:p>
            <a:pPr algn="l" indent="0" marL="0">
              <a:lnSpc>
                <a:spcPct val="115000"/>
              </a:lnSpc>
              <a:buNone/>
            </a:pPr>
            <a:r>
              <a:rPr lang="en-US" sz="2400" b="1" dirty="0">
                <a:solidFill>
                  <a:srgbClr val="0D1F2D"/>
                </a:solidFill>
                <a:latin typeface="Arial" pitchFamily="34" charset="0"/>
                <a:ea typeface="Arial" pitchFamily="34" charset="-122"/>
                <a:cs typeface="Arial" pitchFamily="34" charset="-120"/>
              </a:rPr>
              <a:t>Talk</a:t>
            </a:r>
            <a:endParaRPr lang="en-US" sz="2400" dirty="0"/>
          </a:p>
        </p:txBody>
      </p:sp>
      <p:sp>
        <p:nvSpPr>
          <p:cNvPr id="7" name="Text 5"/>
          <p:cNvSpPr/>
          <p:nvPr/>
        </p:nvSpPr>
        <p:spPr>
          <a:xfrm>
            <a:off x="2438400" y="4019401"/>
            <a:ext cx="15245905" cy="358080"/>
          </a:xfrm>
          <a:prstGeom prst="rect">
            <a:avLst/>
          </a:prstGeom>
          <a:noFill/>
          <a:ln/>
        </p:spPr>
        <p:txBody>
          <a:bodyPr wrap="square" lIns="25400" tIns="25400" rIns="25400" bIns="25400" rtlCol="0" anchor="t">
            <a:normAutofit/>
          </a:bodyPr>
          <a:lstStyle/>
          <a:p>
            <a:pPr algn="l" indent="0" marL="0">
              <a:lnSpc>
                <a:spcPct val="140000"/>
              </a:lnSpc>
              <a:buNone/>
            </a:pPr>
            <a:r>
              <a:rPr lang="en-US" sz="1800" dirty="0">
                <a:solidFill>
                  <a:srgbClr val="5A7A8A"/>
                </a:solidFill>
                <a:latin typeface="Arial" pitchFamily="34" charset="0"/>
                <a:ea typeface="Arial" pitchFamily="34" charset="-122"/>
                <a:cs typeface="Arial" pitchFamily="34" charset="-120"/>
              </a:rPr>
              <a:t>Shout calm instructions. Tell the person to float, to look at you, to swim across to safety. Sometimes that's enough.</a:t>
            </a:r>
            <a:endParaRPr lang="en-US" sz="1800" dirty="0"/>
          </a:p>
        </p:txBody>
      </p:sp>
      <p:sp>
        <p:nvSpPr>
          <p:cNvPr id="8" name="Shape 6"/>
          <p:cNvSpPr/>
          <p:nvPr/>
        </p:nvSpPr>
        <p:spPr>
          <a:xfrm>
            <a:off x="1047750" y="4777532"/>
            <a:ext cx="16192500" cy="9525"/>
          </a:xfrm>
          <a:prstGeom prst="rect">
            <a:avLst/>
          </a:prstGeom>
          <a:solidFill>
            <a:srgbClr val="CDD9E0"/>
          </a:solidFill>
          <a:ln/>
        </p:spPr>
        <p:txBody>
          <a:bodyPr/>
          <a:p/>
        </p:txBody>
      </p:sp>
      <p:sp>
        <p:nvSpPr>
          <p:cNvPr id="9" name="Text 7"/>
          <p:cNvSpPr/>
          <p:nvPr/>
        </p:nvSpPr>
        <p:spPr>
          <a:xfrm>
            <a:off x="1047750" y="4958507"/>
            <a:ext cx="1123950" cy="571500"/>
          </a:xfrm>
          <a:prstGeom prst="rect">
            <a:avLst/>
          </a:prstGeom>
          <a:noFill/>
          <a:ln/>
        </p:spPr>
        <p:txBody>
          <a:bodyPr wrap="square" lIns="25400" tIns="25400" rIns="25400" bIns="25400" rtlCol="0" anchor="t">
            <a:normAutofit/>
          </a:bodyPr>
          <a:lstStyle/>
          <a:p>
            <a:pPr algn="l" indent="0" marL="0">
              <a:lnSpc>
                <a:spcPct val="100000"/>
              </a:lnSpc>
              <a:buNone/>
            </a:pPr>
            <a:r>
              <a:rPr lang="en-US" sz="4200" b="1" dirty="0">
                <a:solidFill>
                  <a:srgbClr val="1E8449"/>
                </a:solidFill>
                <a:latin typeface="Arial" pitchFamily="34" charset="0"/>
                <a:ea typeface="Arial" pitchFamily="34" charset="-122"/>
                <a:cs typeface="Arial" pitchFamily="34" charset="-120"/>
              </a:rPr>
              <a:t>02</a:t>
            </a:r>
            <a:endParaRPr lang="en-US" sz="4200" dirty="0"/>
          </a:p>
        </p:txBody>
      </p:sp>
      <p:sp>
        <p:nvSpPr>
          <p:cNvPr id="10" name="Text 8"/>
          <p:cNvSpPr/>
          <p:nvPr/>
        </p:nvSpPr>
        <p:spPr>
          <a:xfrm>
            <a:off x="2438400" y="4958507"/>
            <a:ext cx="15245905" cy="388590"/>
          </a:xfrm>
          <a:prstGeom prst="rect">
            <a:avLst/>
          </a:prstGeom>
          <a:noFill/>
          <a:ln/>
        </p:spPr>
        <p:txBody>
          <a:bodyPr wrap="square" lIns="25400" tIns="25400" rIns="25400" bIns="25400" rtlCol="0" anchor="t">
            <a:normAutofit/>
          </a:bodyPr>
          <a:lstStyle/>
          <a:p>
            <a:pPr algn="l" indent="0" marL="0">
              <a:lnSpc>
                <a:spcPct val="115000"/>
              </a:lnSpc>
              <a:buNone/>
            </a:pPr>
            <a:r>
              <a:rPr lang="en-US" sz="2400" b="1" dirty="0">
                <a:solidFill>
                  <a:srgbClr val="0D1F2D"/>
                </a:solidFill>
                <a:latin typeface="Arial" pitchFamily="34" charset="0"/>
                <a:ea typeface="Arial" pitchFamily="34" charset="-122"/>
                <a:cs typeface="Arial" pitchFamily="34" charset="-120"/>
              </a:rPr>
              <a:t>Reach</a:t>
            </a:r>
            <a:endParaRPr lang="en-US" sz="2400" dirty="0"/>
          </a:p>
        </p:txBody>
      </p:sp>
      <p:sp>
        <p:nvSpPr>
          <p:cNvPr id="11" name="Text 9"/>
          <p:cNvSpPr/>
          <p:nvPr/>
        </p:nvSpPr>
        <p:spPr>
          <a:xfrm>
            <a:off x="2438400" y="5366147"/>
            <a:ext cx="15245905" cy="358080"/>
          </a:xfrm>
          <a:prstGeom prst="rect">
            <a:avLst/>
          </a:prstGeom>
          <a:noFill/>
          <a:ln/>
        </p:spPr>
        <p:txBody>
          <a:bodyPr wrap="square" lIns="25400" tIns="25400" rIns="25400" bIns="25400" rtlCol="0" anchor="t">
            <a:normAutofit/>
          </a:bodyPr>
          <a:lstStyle/>
          <a:p>
            <a:pPr algn="l" indent="0" marL="0">
              <a:lnSpc>
                <a:spcPct val="140000"/>
              </a:lnSpc>
              <a:buNone/>
            </a:pPr>
            <a:r>
              <a:rPr lang="en-US" sz="1800" dirty="0">
                <a:solidFill>
                  <a:srgbClr val="5A7A8A"/>
                </a:solidFill>
                <a:latin typeface="Arial" pitchFamily="34" charset="0"/>
                <a:ea typeface="Arial" pitchFamily="34" charset="-122"/>
                <a:cs typeface="Arial" pitchFamily="34" charset="-120"/>
              </a:rPr>
              <a:t>From the bank or pool edge — extend a pole, branch, paddle or towel. Lie down so you don't get pulled in.</a:t>
            </a:r>
            <a:endParaRPr lang="en-US" sz="1800" dirty="0"/>
          </a:p>
        </p:txBody>
      </p:sp>
      <p:sp>
        <p:nvSpPr>
          <p:cNvPr id="12" name="Shape 10"/>
          <p:cNvSpPr/>
          <p:nvPr/>
        </p:nvSpPr>
        <p:spPr>
          <a:xfrm>
            <a:off x="1047750" y="6124277"/>
            <a:ext cx="16192500" cy="9525"/>
          </a:xfrm>
          <a:prstGeom prst="rect">
            <a:avLst/>
          </a:prstGeom>
          <a:solidFill>
            <a:srgbClr val="CDD9E0"/>
          </a:solidFill>
          <a:ln/>
        </p:spPr>
        <p:txBody>
          <a:bodyPr/>
          <a:p/>
        </p:txBody>
      </p:sp>
      <p:sp>
        <p:nvSpPr>
          <p:cNvPr id="13" name="Text 11"/>
          <p:cNvSpPr/>
          <p:nvPr/>
        </p:nvSpPr>
        <p:spPr>
          <a:xfrm>
            <a:off x="1047750" y="6305252"/>
            <a:ext cx="1123950" cy="571500"/>
          </a:xfrm>
          <a:prstGeom prst="rect">
            <a:avLst/>
          </a:prstGeom>
          <a:noFill/>
          <a:ln/>
        </p:spPr>
        <p:txBody>
          <a:bodyPr wrap="square" lIns="25400" tIns="25400" rIns="25400" bIns="25400" rtlCol="0" anchor="t">
            <a:normAutofit/>
          </a:bodyPr>
          <a:lstStyle/>
          <a:p>
            <a:pPr algn="l" indent="0" marL="0">
              <a:lnSpc>
                <a:spcPct val="100000"/>
              </a:lnSpc>
              <a:buNone/>
            </a:pPr>
            <a:r>
              <a:rPr lang="en-US" sz="4200" b="1" dirty="0">
                <a:solidFill>
                  <a:srgbClr val="E65100"/>
                </a:solidFill>
                <a:latin typeface="Arial" pitchFamily="34" charset="0"/>
                <a:ea typeface="Arial" pitchFamily="34" charset="-122"/>
                <a:cs typeface="Arial" pitchFamily="34" charset="-120"/>
              </a:rPr>
              <a:t>03</a:t>
            </a:r>
            <a:endParaRPr lang="en-US" sz="4200" dirty="0"/>
          </a:p>
        </p:txBody>
      </p:sp>
      <p:sp>
        <p:nvSpPr>
          <p:cNvPr id="14" name="Text 12"/>
          <p:cNvSpPr/>
          <p:nvPr/>
        </p:nvSpPr>
        <p:spPr>
          <a:xfrm>
            <a:off x="2438400" y="6305252"/>
            <a:ext cx="15245905" cy="388590"/>
          </a:xfrm>
          <a:prstGeom prst="rect">
            <a:avLst/>
          </a:prstGeom>
          <a:noFill/>
          <a:ln/>
        </p:spPr>
        <p:txBody>
          <a:bodyPr wrap="square" lIns="25400" tIns="25400" rIns="25400" bIns="25400" rtlCol="0" anchor="t">
            <a:normAutofit/>
          </a:bodyPr>
          <a:lstStyle/>
          <a:p>
            <a:pPr algn="l" indent="0" marL="0">
              <a:lnSpc>
                <a:spcPct val="115000"/>
              </a:lnSpc>
              <a:buNone/>
            </a:pPr>
            <a:r>
              <a:rPr lang="en-US" sz="2400" b="1" dirty="0">
                <a:solidFill>
                  <a:srgbClr val="0D1F2D"/>
                </a:solidFill>
                <a:latin typeface="Arial" pitchFamily="34" charset="0"/>
                <a:ea typeface="Arial" pitchFamily="34" charset="-122"/>
                <a:cs typeface="Arial" pitchFamily="34" charset="-120"/>
              </a:rPr>
              <a:t>Throw</a:t>
            </a:r>
            <a:endParaRPr lang="en-US" sz="2400" dirty="0"/>
          </a:p>
        </p:txBody>
      </p:sp>
      <p:sp>
        <p:nvSpPr>
          <p:cNvPr id="15" name="Text 13"/>
          <p:cNvSpPr/>
          <p:nvPr/>
        </p:nvSpPr>
        <p:spPr>
          <a:xfrm>
            <a:off x="2438400" y="6712893"/>
            <a:ext cx="15245905" cy="358080"/>
          </a:xfrm>
          <a:prstGeom prst="rect">
            <a:avLst/>
          </a:prstGeom>
          <a:noFill/>
          <a:ln/>
        </p:spPr>
        <p:txBody>
          <a:bodyPr wrap="square" lIns="25400" tIns="25400" rIns="25400" bIns="25400" rtlCol="0" anchor="t">
            <a:normAutofit/>
          </a:bodyPr>
          <a:lstStyle/>
          <a:p>
            <a:pPr algn="l" indent="0" marL="0">
              <a:lnSpc>
                <a:spcPct val="140000"/>
              </a:lnSpc>
              <a:buNone/>
            </a:pPr>
            <a:r>
              <a:rPr lang="en-US" sz="1800" dirty="0">
                <a:solidFill>
                  <a:srgbClr val="5A7A8A"/>
                </a:solidFill>
                <a:latin typeface="Arial" pitchFamily="34" charset="0"/>
                <a:ea typeface="Arial" pitchFamily="34" charset="-122"/>
                <a:cs typeface="Arial" pitchFamily="34" charset="-120"/>
              </a:rPr>
              <a:t>A floating object on a rope is ideal — a kickboard, life ring, esky lid. Aim past the person so the rope crosses their chest.</a:t>
            </a:r>
            <a:endParaRPr lang="en-US" sz="1800" dirty="0"/>
          </a:p>
        </p:txBody>
      </p:sp>
      <p:sp>
        <p:nvSpPr>
          <p:cNvPr id="16" name="Shape 14"/>
          <p:cNvSpPr/>
          <p:nvPr/>
        </p:nvSpPr>
        <p:spPr>
          <a:xfrm>
            <a:off x="1047750" y="7471023"/>
            <a:ext cx="16192500" cy="9525"/>
          </a:xfrm>
          <a:prstGeom prst="rect">
            <a:avLst/>
          </a:prstGeom>
          <a:solidFill>
            <a:srgbClr val="CDD9E0"/>
          </a:solidFill>
          <a:ln/>
        </p:spPr>
        <p:txBody>
          <a:bodyPr/>
          <a:p/>
        </p:txBody>
      </p:sp>
      <p:sp>
        <p:nvSpPr>
          <p:cNvPr id="17" name="Text 15"/>
          <p:cNvSpPr/>
          <p:nvPr/>
        </p:nvSpPr>
        <p:spPr>
          <a:xfrm>
            <a:off x="1047750" y="7651998"/>
            <a:ext cx="1123950" cy="571500"/>
          </a:xfrm>
          <a:prstGeom prst="rect">
            <a:avLst/>
          </a:prstGeom>
          <a:noFill/>
          <a:ln/>
        </p:spPr>
        <p:txBody>
          <a:bodyPr wrap="square" lIns="25400" tIns="25400" rIns="25400" bIns="25400" rtlCol="0" anchor="t">
            <a:normAutofit/>
          </a:bodyPr>
          <a:lstStyle/>
          <a:p>
            <a:pPr algn="l" indent="0" marL="0">
              <a:lnSpc>
                <a:spcPct val="100000"/>
              </a:lnSpc>
              <a:buNone/>
            </a:pPr>
            <a:r>
              <a:rPr lang="en-US" sz="4200" b="1" dirty="0">
                <a:solidFill>
                  <a:srgbClr val="C0392B"/>
                </a:solidFill>
                <a:latin typeface="Arial" pitchFamily="34" charset="0"/>
                <a:ea typeface="Arial" pitchFamily="34" charset="-122"/>
                <a:cs typeface="Arial" pitchFamily="34" charset="-120"/>
              </a:rPr>
              <a:t>04</a:t>
            </a:r>
            <a:endParaRPr lang="en-US" sz="4200" dirty="0"/>
          </a:p>
        </p:txBody>
      </p:sp>
      <p:sp>
        <p:nvSpPr>
          <p:cNvPr id="18" name="Text 16"/>
          <p:cNvSpPr/>
          <p:nvPr/>
        </p:nvSpPr>
        <p:spPr>
          <a:xfrm>
            <a:off x="2438400" y="7651998"/>
            <a:ext cx="15245905" cy="388590"/>
          </a:xfrm>
          <a:prstGeom prst="rect">
            <a:avLst/>
          </a:prstGeom>
          <a:noFill/>
          <a:ln/>
        </p:spPr>
        <p:txBody>
          <a:bodyPr wrap="square" lIns="25400" tIns="25400" rIns="25400" bIns="25400" rtlCol="0" anchor="t">
            <a:normAutofit/>
          </a:bodyPr>
          <a:lstStyle/>
          <a:p>
            <a:pPr algn="l" indent="0" marL="0">
              <a:lnSpc>
                <a:spcPct val="115000"/>
              </a:lnSpc>
              <a:buNone/>
            </a:pPr>
            <a:r>
              <a:rPr lang="en-US" sz="2400" b="1" dirty="0">
                <a:solidFill>
                  <a:srgbClr val="0D1F2D"/>
                </a:solidFill>
                <a:latin typeface="Arial" pitchFamily="34" charset="0"/>
                <a:ea typeface="Arial" pitchFamily="34" charset="-122"/>
                <a:cs typeface="Arial" pitchFamily="34" charset="-120"/>
              </a:rPr>
              <a:t>Row</a:t>
            </a:r>
            <a:endParaRPr lang="en-US" sz="2400" dirty="0"/>
          </a:p>
        </p:txBody>
      </p:sp>
      <p:sp>
        <p:nvSpPr>
          <p:cNvPr id="19" name="Text 17"/>
          <p:cNvSpPr/>
          <p:nvPr/>
        </p:nvSpPr>
        <p:spPr>
          <a:xfrm>
            <a:off x="2438400" y="8059638"/>
            <a:ext cx="15245905" cy="358080"/>
          </a:xfrm>
          <a:prstGeom prst="rect">
            <a:avLst/>
          </a:prstGeom>
          <a:noFill/>
          <a:ln/>
        </p:spPr>
        <p:txBody>
          <a:bodyPr wrap="square" lIns="25400" tIns="25400" rIns="25400" bIns="25400" rtlCol="0" anchor="t">
            <a:normAutofit/>
          </a:bodyPr>
          <a:lstStyle/>
          <a:p>
            <a:pPr algn="l" indent="0" marL="0">
              <a:lnSpc>
                <a:spcPct val="140000"/>
              </a:lnSpc>
              <a:buNone/>
            </a:pPr>
            <a:r>
              <a:rPr lang="en-US" sz="1800" dirty="0">
                <a:solidFill>
                  <a:srgbClr val="5A7A8A"/>
                </a:solidFill>
                <a:latin typeface="Arial" pitchFamily="34" charset="0"/>
                <a:ea typeface="Arial" pitchFamily="34" charset="-122"/>
                <a:cs typeface="Arial" pitchFamily="34" charset="-120"/>
              </a:rPr>
              <a:t>Use a boat, kayak or paddleboard — only if you're confident on it. Approach into the wind so you don't drift past them.</a:t>
            </a:r>
            <a:endParaRPr lang="en-US" sz="1800" dirty="0"/>
          </a:p>
        </p:txBody>
      </p:sp>
      <p:sp>
        <p:nvSpPr>
          <p:cNvPr id="20" name="Shape 18"/>
          <p:cNvSpPr/>
          <p:nvPr/>
        </p:nvSpPr>
        <p:spPr>
          <a:xfrm>
            <a:off x="1047750" y="8817769"/>
            <a:ext cx="16192500" cy="9525"/>
          </a:xfrm>
          <a:prstGeom prst="rect">
            <a:avLst/>
          </a:prstGeom>
          <a:solidFill>
            <a:srgbClr val="CDD9E0"/>
          </a:solidFill>
          <a:ln/>
        </p:spPr>
        <p:txBody>
          <a:bodyPr/>
          <a:p/>
        </p:txBody>
      </p:sp>
      <p:sp>
        <p:nvSpPr>
          <p:cNvPr id="21" name="Text 19"/>
          <p:cNvSpPr/>
          <p:nvPr/>
        </p:nvSpPr>
        <p:spPr>
          <a:xfrm>
            <a:off x="1047750" y="8998744"/>
            <a:ext cx="1123950" cy="571500"/>
          </a:xfrm>
          <a:prstGeom prst="rect">
            <a:avLst/>
          </a:prstGeom>
          <a:noFill/>
          <a:ln/>
        </p:spPr>
        <p:txBody>
          <a:bodyPr wrap="square" lIns="25400" tIns="25400" rIns="25400" bIns="25400" rtlCol="0" anchor="t">
            <a:normAutofit/>
          </a:bodyPr>
          <a:lstStyle/>
          <a:p>
            <a:pPr algn="l" indent="0" marL="0">
              <a:lnSpc>
                <a:spcPct val="100000"/>
              </a:lnSpc>
              <a:buNone/>
            </a:pPr>
            <a:r>
              <a:rPr lang="en-US" sz="4200" b="1" dirty="0">
                <a:solidFill>
                  <a:srgbClr val="C0392B"/>
                </a:solidFill>
                <a:latin typeface="Arial" pitchFamily="34" charset="0"/>
                <a:ea typeface="Arial" pitchFamily="34" charset="-122"/>
                <a:cs typeface="Arial" pitchFamily="34" charset="-120"/>
              </a:rPr>
              <a:t>05</a:t>
            </a:r>
            <a:endParaRPr lang="en-US" sz="4200" dirty="0"/>
          </a:p>
        </p:txBody>
      </p:sp>
      <p:sp>
        <p:nvSpPr>
          <p:cNvPr id="22" name="Text 20"/>
          <p:cNvSpPr/>
          <p:nvPr/>
        </p:nvSpPr>
        <p:spPr>
          <a:xfrm>
            <a:off x="2438400" y="8998744"/>
            <a:ext cx="15245905" cy="388590"/>
          </a:xfrm>
          <a:prstGeom prst="rect">
            <a:avLst/>
          </a:prstGeom>
          <a:noFill/>
          <a:ln/>
        </p:spPr>
        <p:txBody>
          <a:bodyPr wrap="square" lIns="25400" tIns="25400" rIns="25400" bIns="25400" rtlCol="0" anchor="t">
            <a:normAutofit/>
          </a:bodyPr>
          <a:lstStyle/>
          <a:p>
            <a:pPr algn="l" indent="0" marL="0">
              <a:lnSpc>
                <a:spcPct val="115000"/>
              </a:lnSpc>
              <a:buNone/>
            </a:pPr>
            <a:r>
              <a:rPr lang="en-US" sz="2400" b="1" dirty="0">
                <a:solidFill>
                  <a:srgbClr val="0D1F2D"/>
                </a:solidFill>
                <a:latin typeface="Arial" pitchFamily="34" charset="0"/>
                <a:ea typeface="Arial" pitchFamily="34" charset="-122"/>
                <a:cs typeface="Arial" pitchFamily="34" charset="-120"/>
              </a:rPr>
              <a:t>Go</a:t>
            </a:r>
            <a:endParaRPr lang="en-US" sz="2400" dirty="0"/>
          </a:p>
        </p:txBody>
      </p:sp>
      <p:sp>
        <p:nvSpPr>
          <p:cNvPr id="23" name="Text 21"/>
          <p:cNvSpPr/>
          <p:nvPr/>
        </p:nvSpPr>
        <p:spPr>
          <a:xfrm>
            <a:off x="2438400" y="9406384"/>
            <a:ext cx="15245905" cy="358080"/>
          </a:xfrm>
          <a:prstGeom prst="rect">
            <a:avLst/>
          </a:prstGeom>
          <a:noFill/>
          <a:ln/>
        </p:spPr>
        <p:txBody>
          <a:bodyPr wrap="square" lIns="25400" tIns="25400" rIns="25400" bIns="25400" rtlCol="0" anchor="t">
            <a:normAutofit/>
          </a:bodyPr>
          <a:lstStyle/>
          <a:p>
            <a:pPr algn="l" indent="0" marL="0">
              <a:lnSpc>
                <a:spcPct val="140000"/>
              </a:lnSpc>
              <a:buNone/>
            </a:pPr>
            <a:r>
              <a:rPr lang="en-US" sz="1800" dirty="0">
                <a:solidFill>
                  <a:srgbClr val="5A7A8A"/>
                </a:solidFill>
                <a:latin typeface="Arial" pitchFamily="34" charset="0"/>
                <a:ea typeface="Arial" pitchFamily="34" charset="-122"/>
                <a:cs typeface="Arial" pitchFamily="34" charset="-120"/>
              </a:rPr>
              <a:t>Enter the water only as a </a:t>
            </a:r>
            <a:pPr algn="l" indent="0" marL="0">
              <a:lnSpc>
                <a:spcPct val="140000"/>
              </a:lnSpc>
              <a:buNone/>
            </a:pPr>
            <a:r>
              <a:rPr lang="en-US" sz="1800" b="1" dirty="0">
                <a:solidFill>
                  <a:srgbClr val="5A7A8A"/>
                </a:solidFill>
                <a:latin typeface="Arial" pitchFamily="34" charset="0"/>
                <a:ea typeface="Arial" pitchFamily="34" charset="-122"/>
                <a:cs typeface="Arial" pitchFamily="34" charset="-120"/>
              </a:rPr>
              <a:t>last resort</a:t>
            </a:r>
            <a:pPr algn="l" indent="0" marL="0">
              <a:lnSpc>
                <a:spcPct val="140000"/>
              </a:lnSpc>
              <a:buNone/>
            </a:pPr>
            <a:r>
              <a:rPr lang="en-US" sz="1800" dirty="0">
                <a:solidFill>
                  <a:srgbClr val="5A7A8A"/>
                </a:solidFill>
                <a:latin typeface="Arial" pitchFamily="34" charset="0"/>
                <a:ea typeface="Arial" pitchFamily="34" charset="-122"/>
                <a:cs typeface="Arial" pitchFamily="34" charset="-120"/>
              </a:rPr>
              <a:t>, only with a flotation aid, only if trained. Most students should never reach this step.</a:t>
            </a:r>
            <a:endParaRPr lang="en-US" sz="18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4F7F9"/>
        </a:solidFill>
      </p:bgPr>
    </p:bg>
    <p:spTree>
      <p:nvGrpSpPr>
        <p:cNvPr id="1" name=""/>
        <p:cNvGrpSpPr/>
        <p:nvPr/>
      </p:nvGrpSpPr>
      <p:grpSpPr>
        <a:xfrm>
          <a:off x="0" y="0"/>
          <a:ext cx="0" cy="0"/>
          <a:chOff x="0" y="0"/>
          <a:chExt cx="0" cy="0"/>
        </a:xfrm>
      </p:grpSpPr>
      <p:sp>
        <p:nvSpPr>
          <p:cNvPr id="2" name="Text 0"/>
          <p:cNvSpPr/>
          <p:nvPr/>
        </p:nvSpPr>
        <p:spPr>
          <a:xfrm>
            <a:off x="1047750" y="914400"/>
            <a:ext cx="16678275" cy="358080"/>
          </a:xfrm>
          <a:prstGeom prst="rect">
            <a:avLst/>
          </a:prstGeom>
          <a:noFill/>
          <a:ln/>
        </p:spPr>
        <p:txBody>
          <a:bodyPr wrap="square" lIns="25400" tIns="25400" rIns="25400" bIns="25400" rtlCol="0" anchor="t">
            <a:normAutofit/>
          </a:bodyPr>
          <a:lstStyle/>
          <a:p>
            <a:pPr algn="l" indent="0" marL="0">
              <a:lnSpc>
                <a:spcPct val="140000"/>
              </a:lnSpc>
              <a:buNone/>
            </a:pPr>
            <a:r>
              <a:rPr lang="en-US" sz="1800" spc="300" kern="0" dirty="0">
                <a:solidFill>
                  <a:srgbClr val="5A7A8A"/>
                </a:solidFill>
                <a:latin typeface="Courier New" pitchFamily="34" charset="0"/>
                <a:ea typeface="Courier New" pitchFamily="34" charset="-122"/>
                <a:cs typeface="Courier New" pitchFamily="34" charset="-120"/>
              </a:rPr>
              <a:t>THE EMERGENCY ACTION PLAN</a:t>
            </a:r>
            <a:endParaRPr lang="en-US" sz="1800" dirty="0"/>
          </a:p>
        </p:txBody>
      </p:sp>
      <p:sp>
        <p:nvSpPr>
          <p:cNvPr id="3" name="Text 1"/>
          <p:cNvSpPr/>
          <p:nvPr/>
        </p:nvSpPr>
        <p:spPr>
          <a:xfrm>
            <a:off x="1047750" y="1405830"/>
            <a:ext cx="16678275" cy="798165"/>
          </a:xfrm>
          <a:prstGeom prst="rect">
            <a:avLst/>
          </a:prstGeom>
          <a:noFill/>
          <a:ln/>
        </p:spPr>
        <p:txBody>
          <a:bodyPr wrap="square" lIns="25400" tIns="25400" rIns="25400" bIns="25400" rtlCol="0" anchor="t">
            <a:normAutofit/>
          </a:bodyPr>
          <a:lstStyle/>
          <a:p>
            <a:pPr algn="l" indent="0" marL="0">
              <a:lnSpc>
                <a:spcPct val="105000"/>
              </a:lnSpc>
              <a:buNone/>
            </a:pPr>
            <a:r>
              <a:rPr lang="en-US" sz="5700" b="1" spc="-75" kern="0" dirty="0">
                <a:solidFill>
                  <a:srgbClr val="0D1F2D"/>
                </a:solidFill>
                <a:latin typeface="Arial" pitchFamily="34" charset="0"/>
                <a:ea typeface="Arial" pitchFamily="34" charset="-122"/>
                <a:cs typeface="Arial" pitchFamily="34" charset="-120"/>
              </a:rPr>
              <a:t>DRS ABCD — seven steps, in order</a:t>
            </a:r>
            <a:endParaRPr lang="en-US" sz="5700" dirty="0"/>
          </a:p>
        </p:txBody>
      </p:sp>
      <p:sp>
        <p:nvSpPr>
          <p:cNvPr id="4" name="Shape 2"/>
          <p:cNvSpPr/>
          <p:nvPr/>
        </p:nvSpPr>
        <p:spPr>
          <a:xfrm>
            <a:off x="1047750" y="2623096"/>
            <a:ext cx="2166193" cy="1836390"/>
          </a:xfrm>
          <a:prstGeom prst="roundRect">
            <a:avLst>
              <a:gd name="adj" fmla="val 9336"/>
            </a:avLst>
          </a:prstGeom>
          <a:solidFill>
            <a:srgbClr val="003554"/>
          </a:solidFill>
          <a:ln/>
        </p:spPr>
        <p:txBody>
          <a:bodyPr/>
          <a:p/>
        </p:txBody>
      </p:sp>
      <p:sp>
        <p:nvSpPr>
          <p:cNvPr id="5" name="Text 3"/>
          <p:cNvSpPr/>
          <p:nvPr/>
        </p:nvSpPr>
        <p:spPr>
          <a:xfrm>
            <a:off x="1756618" y="2889796"/>
            <a:ext cx="748308" cy="952500"/>
          </a:xfrm>
          <a:prstGeom prst="rect">
            <a:avLst/>
          </a:prstGeom>
          <a:noFill/>
          <a:ln/>
        </p:spPr>
        <p:txBody>
          <a:bodyPr wrap="square" lIns="25400" tIns="25400" rIns="25400" bIns="25400" rtlCol="0" anchor="t">
            <a:normAutofit/>
          </a:bodyPr>
          <a:lstStyle/>
          <a:p>
            <a:pPr algn="ctr" indent="0" marL="0">
              <a:lnSpc>
                <a:spcPct val="100000"/>
              </a:lnSpc>
              <a:buNone/>
            </a:pPr>
            <a:r>
              <a:rPr lang="en-US" sz="7200" b="1" dirty="0">
                <a:solidFill>
                  <a:srgbClr val="FFD166"/>
                </a:solidFill>
                <a:latin typeface="Arial" pitchFamily="34" charset="0"/>
                <a:ea typeface="Arial" pitchFamily="34" charset="-122"/>
                <a:cs typeface="Arial" pitchFamily="34" charset="-120"/>
              </a:rPr>
              <a:t>D</a:t>
            </a:r>
            <a:endParaRPr lang="en-US" sz="7200" dirty="0"/>
          </a:p>
        </p:txBody>
      </p:sp>
      <p:sp>
        <p:nvSpPr>
          <p:cNvPr id="6" name="Text 4"/>
          <p:cNvSpPr/>
          <p:nvPr/>
        </p:nvSpPr>
        <p:spPr>
          <a:xfrm>
            <a:off x="1658243" y="3899446"/>
            <a:ext cx="945059" cy="331440"/>
          </a:xfrm>
          <a:prstGeom prst="rect">
            <a:avLst/>
          </a:prstGeom>
          <a:noFill/>
          <a:ln/>
        </p:spPr>
        <p:txBody>
          <a:bodyPr wrap="square" lIns="25400" tIns="25400" rIns="25400" bIns="25400" rtlCol="0" anchor="t">
            <a:normAutofit/>
          </a:bodyPr>
          <a:lstStyle/>
          <a:p>
            <a:pPr algn="ctr" indent="0" marL="0">
              <a:lnSpc>
                <a:spcPct val="140000"/>
              </a:lnSpc>
              <a:buNone/>
            </a:pPr>
            <a:r>
              <a:rPr lang="en-US" sz="1650" spc="150" kern="0" dirty="0">
                <a:solidFill>
                  <a:srgbClr val="FFFFFF">
                    <a:alpha val="85000"/>
                  </a:srgbClr>
                </a:solidFill>
                <a:latin typeface="Courier New" pitchFamily="34" charset="0"/>
                <a:ea typeface="Courier New" pitchFamily="34" charset="-122"/>
                <a:cs typeface="Courier New" pitchFamily="34" charset="-120"/>
              </a:rPr>
              <a:t>DANGER</a:t>
            </a:r>
            <a:endParaRPr lang="en-US" sz="1650" dirty="0"/>
          </a:p>
        </p:txBody>
      </p:sp>
      <p:sp>
        <p:nvSpPr>
          <p:cNvPr id="7" name="Shape 5"/>
          <p:cNvSpPr/>
          <p:nvPr/>
        </p:nvSpPr>
        <p:spPr>
          <a:xfrm>
            <a:off x="3385393" y="2623096"/>
            <a:ext cx="2166193" cy="1836390"/>
          </a:xfrm>
          <a:prstGeom prst="roundRect">
            <a:avLst>
              <a:gd name="adj" fmla="val 9336"/>
            </a:avLst>
          </a:prstGeom>
          <a:solidFill>
            <a:srgbClr val="003554"/>
          </a:solidFill>
          <a:ln/>
        </p:spPr>
        <p:txBody>
          <a:bodyPr/>
          <a:p/>
        </p:txBody>
      </p:sp>
      <p:sp>
        <p:nvSpPr>
          <p:cNvPr id="8" name="Text 6"/>
          <p:cNvSpPr/>
          <p:nvPr/>
        </p:nvSpPr>
        <p:spPr>
          <a:xfrm>
            <a:off x="4128046" y="2889796"/>
            <a:ext cx="680740" cy="952500"/>
          </a:xfrm>
          <a:prstGeom prst="rect">
            <a:avLst/>
          </a:prstGeom>
          <a:noFill/>
          <a:ln/>
        </p:spPr>
        <p:txBody>
          <a:bodyPr wrap="square" lIns="25400" tIns="25400" rIns="25400" bIns="25400" rtlCol="0" anchor="t">
            <a:normAutofit/>
          </a:bodyPr>
          <a:lstStyle/>
          <a:p>
            <a:pPr algn="ctr" indent="0" marL="0">
              <a:lnSpc>
                <a:spcPct val="100000"/>
              </a:lnSpc>
              <a:buNone/>
            </a:pPr>
            <a:r>
              <a:rPr lang="en-US" sz="7200" b="1" dirty="0">
                <a:solidFill>
                  <a:srgbClr val="FFD166"/>
                </a:solidFill>
                <a:latin typeface="Arial" pitchFamily="34" charset="0"/>
                <a:ea typeface="Arial" pitchFamily="34" charset="-122"/>
                <a:cs typeface="Arial" pitchFamily="34" charset="-120"/>
              </a:rPr>
              <a:t>R</a:t>
            </a:r>
            <a:endParaRPr lang="en-US" sz="7200" dirty="0"/>
          </a:p>
        </p:txBody>
      </p:sp>
      <p:sp>
        <p:nvSpPr>
          <p:cNvPr id="9" name="Text 7"/>
          <p:cNvSpPr/>
          <p:nvPr/>
        </p:nvSpPr>
        <p:spPr>
          <a:xfrm>
            <a:off x="3851077" y="3899446"/>
            <a:ext cx="1234678" cy="331440"/>
          </a:xfrm>
          <a:prstGeom prst="rect">
            <a:avLst/>
          </a:prstGeom>
          <a:noFill/>
          <a:ln/>
        </p:spPr>
        <p:txBody>
          <a:bodyPr wrap="square" lIns="25400" tIns="25400" rIns="25400" bIns="25400" rtlCol="0" anchor="t">
            <a:normAutofit/>
          </a:bodyPr>
          <a:lstStyle/>
          <a:p>
            <a:pPr algn="ctr" indent="0" marL="0">
              <a:lnSpc>
                <a:spcPct val="140000"/>
              </a:lnSpc>
              <a:buNone/>
            </a:pPr>
            <a:r>
              <a:rPr lang="en-US" sz="1650" spc="150" kern="0" dirty="0">
                <a:solidFill>
                  <a:srgbClr val="FFFFFF">
                    <a:alpha val="85000"/>
                  </a:srgbClr>
                </a:solidFill>
                <a:latin typeface="Courier New" pitchFamily="34" charset="0"/>
                <a:ea typeface="Courier New" pitchFamily="34" charset="-122"/>
                <a:cs typeface="Courier New" pitchFamily="34" charset="-120"/>
              </a:rPr>
              <a:t>RESPONSE</a:t>
            </a:r>
            <a:endParaRPr lang="en-US" sz="1650" dirty="0"/>
          </a:p>
        </p:txBody>
      </p:sp>
      <p:sp>
        <p:nvSpPr>
          <p:cNvPr id="10" name="Shape 8"/>
          <p:cNvSpPr/>
          <p:nvPr/>
        </p:nvSpPr>
        <p:spPr>
          <a:xfrm>
            <a:off x="5723037" y="2623096"/>
            <a:ext cx="2166342" cy="1836390"/>
          </a:xfrm>
          <a:prstGeom prst="roundRect">
            <a:avLst>
              <a:gd name="adj" fmla="val 9336"/>
            </a:avLst>
          </a:prstGeom>
          <a:solidFill>
            <a:srgbClr val="003554"/>
          </a:solidFill>
          <a:ln/>
        </p:spPr>
        <p:txBody>
          <a:bodyPr/>
          <a:p/>
        </p:txBody>
      </p:sp>
      <p:sp>
        <p:nvSpPr>
          <p:cNvPr id="11" name="Text 9"/>
          <p:cNvSpPr/>
          <p:nvPr/>
        </p:nvSpPr>
        <p:spPr>
          <a:xfrm>
            <a:off x="6484590" y="2889796"/>
            <a:ext cx="643235" cy="952500"/>
          </a:xfrm>
          <a:prstGeom prst="rect">
            <a:avLst/>
          </a:prstGeom>
          <a:noFill/>
          <a:ln/>
        </p:spPr>
        <p:txBody>
          <a:bodyPr wrap="square" lIns="25400" tIns="25400" rIns="25400" bIns="25400" rtlCol="0" anchor="t">
            <a:normAutofit/>
          </a:bodyPr>
          <a:lstStyle/>
          <a:p>
            <a:pPr algn="ctr" indent="0" marL="0">
              <a:lnSpc>
                <a:spcPct val="100000"/>
              </a:lnSpc>
              <a:buNone/>
            </a:pPr>
            <a:r>
              <a:rPr lang="en-US" sz="7200" b="1" dirty="0">
                <a:solidFill>
                  <a:srgbClr val="FFD166"/>
                </a:solidFill>
                <a:latin typeface="Arial" pitchFamily="34" charset="0"/>
                <a:ea typeface="Arial" pitchFamily="34" charset="-122"/>
                <a:cs typeface="Arial" pitchFamily="34" charset="-120"/>
              </a:rPr>
              <a:t>S</a:t>
            </a:r>
            <a:endParaRPr lang="en-US" sz="7200" dirty="0"/>
          </a:p>
        </p:txBody>
      </p:sp>
      <p:sp>
        <p:nvSpPr>
          <p:cNvPr id="12" name="Text 10"/>
          <p:cNvSpPr/>
          <p:nvPr/>
        </p:nvSpPr>
        <p:spPr>
          <a:xfrm>
            <a:off x="6478488" y="3899446"/>
            <a:ext cx="655439" cy="331440"/>
          </a:xfrm>
          <a:prstGeom prst="rect">
            <a:avLst/>
          </a:prstGeom>
          <a:noFill/>
          <a:ln/>
        </p:spPr>
        <p:txBody>
          <a:bodyPr wrap="square" lIns="25400" tIns="25400" rIns="25400" bIns="25400" rtlCol="0" anchor="t">
            <a:normAutofit/>
          </a:bodyPr>
          <a:lstStyle/>
          <a:p>
            <a:pPr algn="ctr" indent="0" marL="0">
              <a:lnSpc>
                <a:spcPct val="140000"/>
              </a:lnSpc>
              <a:buNone/>
            </a:pPr>
            <a:r>
              <a:rPr lang="en-US" sz="1650" spc="150" kern="0" dirty="0">
                <a:solidFill>
                  <a:srgbClr val="FFFFFF">
                    <a:alpha val="85000"/>
                  </a:srgbClr>
                </a:solidFill>
                <a:latin typeface="Courier New" pitchFamily="34" charset="0"/>
                <a:ea typeface="Courier New" pitchFamily="34" charset="-122"/>
                <a:cs typeface="Courier New" pitchFamily="34" charset="-120"/>
              </a:rPr>
              <a:t>SEND</a:t>
            </a:r>
            <a:endParaRPr lang="en-US" sz="1650" dirty="0"/>
          </a:p>
        </p:txBody>
      </p:sp>
      <p:sp>
        <p:nvSpPr>
          <p:cNvPr id="13" name="Shape 11"/>
          <p:cNvSpPr/>
          <p:nvPr/>
        </p:nvSpPr>
        <p:spPr>
          <a:xfrm>
            <a:off x="8060829" y="2623096"/>
            <a:ext cx="2166193" cy="1836390"/>
          </a:xfrm>
          <a:prstGeom prst="roundRect">
            <a:avLst>
              <a:gd name="adj" fmla="val 9336"/>
            </a:avLst>
          </a:prstGeom>
          <a:solidFill>
            <a:srgbClr val="003554"/>
          </a:solidFill>
          <a:ln/>
        </p:spPr>
        <p:txBody>
          <a:bodyPr/>
          <a:p/>
        </p:txBody>
      </p:sp>
      <p:sp>
        <p:nvSpPr>
          <p:cNvPr id="14" name="Text 12"/>
          <p:cNvSpPr/>
          <p:nvPr/>
        </p:nvSpPr>
        <p:spPr>
          <a:xfrm>
            <a:off x="8760619" y="2889796"/>
            <a:ext cx="766614" cy="952500"/>
          </a:xfrm>
          <a:prstGeom prst="rect">
            <a:avLst/>
          </a:prstGeom>
          <a:noFill/>
          <a:ln/>
        </p:spPr>
        <p:txBody>
          <a:bodyPr wrap="square" lIns="25400" tIns="25400" rIns="25400" bIns="25400" rtlCol="0" anchor="t">
            <a:normAutofit/>
          </a:bodyPr>
          <a:lstStyle/>
          <a:p>
            <a:pPr algn="ctr" indent="0" marL="0">
              <a:lnSpc>
                <a:spcPct val="100000"/>
              </a:lnSpc>
              <a:buNone/>
            </a:pPr>
            <a:r>
              <a:rPr lang="en-US" sz="7200" b="1" dirty="0">
                <a:solidFill>
                  <a:srgbClr val="FFD166"/>
                </a:solidFill>
                <a:latin typeface="Arial" pitchFamily="34" charset="0"/>
                <a:ea typeface="Arial" pitchFamily="34" charset="-122"/>
                <a:cs typeface="Arial" pitchFamily="34" charset="-120"/>
              </a:rPr>
              <a:t>A</a:t>
            </a:r>
            <a:endParaRPr lang="en-US" sz="7200" dirty="0"/>
          </a:p>
        </p:txBody>
      </p:sp>
      <p:sp>
        <p:nvSpPr>
          <p:cNvPr id="15" name="Text 13"/>
          <p:cNvSpPr/>
          <p:nvPr/>
        </p:nvSpPr>
        <p:spPr>
          <a:xfrm>
            <a:off x="8671322" y="3899446"/>
            <a:ext cx="945059" cy="331440"/>
          </a:xfrm>
          <a:prstGeom prst="rect">
            <a:avLst/>
          </a:prstGeom>
          <a:noFill/>
          <a:ln/>
        </p:spPr>
        <p:txBody>
          <a:bodyPr wrap="square" lIns="25400" tIns="25400" rIns="25400" bIns="25400" rtlCol="0" anchor="t">
            <a:normAutofit/>
          </a:bodyPr>
          <a:lstStyle/>
          <a:p>
            <a:pPr algn="ctr" indent="0" marL="0">
              <a:lnSpc>
                <a:spcPct val="140000"/>
              </a:lnSpc>
              <a:buNone/>
            </a:pPr>
            <a:r>
              <a:rPr lang="en-US" sz="1650" spc="150" kern="0" dirty="0">
                <a:solidFill>
                  <a:srgbClr val="FFFFFF">
                    <a:alpha val="85000"/>
                  </a:srgbClr>
                </a:solidFill>
                <a:latin typeface="Courier New" pitchFamily="34" charset="0"/>
                <a:ea typeface="Courier New" pitchFamily="34" charset="-122"/>
                <a:cs typeface="Courier New" pitchFamily="34" charset="-120"/>
              </a:rPr>
              <a:t>AIRWAY</a:t>
            </a:r>
            <a:endParaRPr lang="en-US" sz="1650" dirty="0"/>
          </a:p>
        </p:txBody>
      </p:sp>
      <p:sp>
        <p:nvSpPr>
          <p:cNvPr id="16" name="Shape 14"/>
          <p:cNvSpPr/>
          <p:nvPr/>
        </p:nvSpPr>
        <p:spPr>
          <a:xfrm>
            <a:off x="10398472" y="2623096"/>
            <a:ext cx="2166342" cy="1836390"/>
          </a:xfrm>
          <a:prstGeom prst="roundRect">
            <a:avLst>
              <a:gd name="adj" fmla="val 9336"/>
            </a:avLst>
          </a:prstGeom>
          <a:solidFill>
            <a:srgbClr val="003554"/>
          </a:solidFill>
          <a:ln/>
        </p:spPr>
        <p:txBody>
          <a:bodyPr/>
          <a:p/>
        </p:txBody>
      </p:sp>
      <p:sp>
        <p:nvSpPr>
          <p:cNvPr id="17" name="Text 15"/>
          <p:cNvSpPr/>
          <p:nvPr/>
        </p:nvSpPr>
        <p:spPr>
          <a:xfrm>
            <a:off x="11136660" y="2889796"/>
            <a:ext cx="689818" cy="952500"/>
          </a:xfrm>
          <a:prstGeom prst="rect">
            <a:avLst/>
          </a:prstGeom>
          <a:noFill/>
          <a:ln/>
        </p:spPr>
        <p:txBody>
          <a:bodyPr wrap="square" lIns="25400" tIns="25400" rIns="25400" bIns="25400" rtlCol="0" anchor="t">
            <a:normAutofit/>
          </a:bodyPr>
          <a:lstStyle/>
          <a:p>
            <a:pPr algn="ctr" indent="0" marL="0">
              <a:lnSpc>
                <a:spcPct val="100000"/>
              </a:lnSpc>
              <a:buNone/>
            </a:pPr>
            <a:r>
              <a:rPr lang="en-US" sz="7200" b="1" dirty="0">
                <a:solidFill>
                  <a:srgbClr val="FFD166"/>
                </a:solidFill>
                <a:latin typeface="Arial" pitchFamily="34" charset="0"/>
                <a:ea typeface="Arial" pitchFamily="34" charset="-122"/>
                <a:cs typeface="Arial" pitchFamily="34" charset="-120"/>
              </a:rPr>
              <a:t>B</a:t>
            </a:r>
            <a:endParaRPr lang="en-US" sz="7200" dirty="0"/>
          </a:p>
        </p:txBody>
      </p:sp>
      <p:sp>
        <p:nvSpPr>
          <p:cNvPr id="18" name="Text 16"/>
          <p:cNvSpPr/>
          <p:nvPr/>
        </p:nvSpPr>
        <p:spPr>
          <a:xfrm>
            <a:off x="10791825" y="3899446"/>
            <a:ext cx="1379488" cy="331440"/>
          </a:xfrm>
          <a:prstGeom prst="rect">
            <a:avLst/>
          </a:prstGeom>
          <a:noFill/>
          <a:ln/>
        </p:spPr>
        <p:txBody>
          <a:bodyPr wrap="square" lIns="25400" tIns="25400" rIns="25400" bIns="25400" rtlCol="0" anchor="t">
            <a:normAutofit/>
          </a:bodyPr>
          <a:lstStyle/>
          <a:p>
            <a:pPr algn="ctr" indent="0" marL="0">
              <a:lnSpc>
                <a:spcPct val="140000"/>
              </a:lnSpc>
              <a:buNone/>
            </a:pPr>
            <a:r>
              <a:rPr lang="en-US" sz="1650" spc="150" kern="0" dirty="0">
                <a:solidFill>
                  <a:srgbClr val="FFFFFF">
                    <a:alpha val="85000"/>
                  </a:srgbClr>
                </a:solidFill>
                <a:latin typeface="Courier New" pitchFamily="34" charset="0"/>
                <a:ea typeface="Courier New" pitchFamily="34" charset="-122"/>
                <a:cs typeface="Courier New" pitchFamily="34" charset="-120"/>
              </a:rPr>
              <a:t>BREATHING</a:t>
            </a:r>
            <a:endParaRPr lang="en-US" sz="1650" dirty="0"/>
          </a:p>
        </p:txBody>
      </p:sp>
      <p:sp>
        <p:nvSpPr>
          <p:cNvPr id="19" name="Shape 17"/>
          <p:cNvSpPr/>
          <p:nvPr/>
        </p:nvSpPr>
        <p:spPr>
          <a:xfrm>
            <a:off x="12736264" y="2623096"/>
            <a:ext cx="2166193" cy="1836390"/>
          </a:xfrm>
          <a:prstGeom prst="roundRect">
            <a:avLst>
              <a:gd name="adj" fmla="val 9336"/>
            </a:avLst>
          </a:prstGeom>
          <a:solidFill>
            <a:srgbClr val="003554"/>
          </a:solidFill>
          <a:ln/>
        </p:spPr>
        <p:txBody>
          <a:bodyPr/>
          <a:p/>
        </p:txBody>
      </p:sp>
      <p:sp>
        <p:nvSpPr>
          <p:cNvPr id="20" name="Text 18"/>
          <p:cNvSpPr/>
          <p:nvPr/>
        </p:nvSpPr>
        <p:spPr>
          <a:xfrm>
            <a:off x="13434566" y="2889796"/>
            <a:ext cx="769441" cy="952500"/>
          </a:xfrm>
          <a:prstGeom prst="rect">
            <a:avLst/>
          </a:prstGeom>
          <a:noFill/>
          <a:ln/>
        </p:spPr>
        <p:txBody>
          <a:bodyPr wrap="square" lIns="25400" tIns="25400" rIns="25400" bIns="25400" rtlCol="0" anchor="t">
            <a:normAutofit/>
          </a:bodyPr>
          <a:lstStyle/>
          <a:p>
            <a:pPr algn="ctr" indent="0" marL="0">
              <a:lnSpc>
                <a:spcPct val="100000"/>
              </a:lnSpc>
              <a:buNone/>
            </a:pPr>
            <a:r>
              <a:rPr lang="en-US" sz="7200" b="1" dirty="0">
                <a:solidFill>
                  <a:srgbClr val="FFD166"/>
                </a:solidFill>
                <a:latin typeface="Arial" pitchFamily="34" charset="0"/>
                <a:ea typeface="Arial" pitchFamily="34" charset="-122"/>
                <a:cs typeface="Arial" pitchFamily="34" charset="-120"/>
              </a:rPr>
              <a:t>C</a:t>
            </a:r>
            <a:endParaRPr lang="en-US" sz="7200" dirty="0"/>
          </a:p>
        </p:txBody>
      </p:sp>
      <p:sp>
        <p:nvSpPr>
          <p:cNvPr id="21" name="Text 19"/>
          <p:cNvSpPr/>
          <p:nvPr/>
        </p:nvSpPr>
        <p:spPr>
          <a:xfrm>
            <a:off x="13564046" y="3899446"/>
            <a:ext cx="510629" cy="331440"/>
          </a:xfrm>
          <a:prstGeom prst="rect">
            <a:avLst/>
          </a:prstGeom>
          <a:noFill/>
          <a:ln/>
        </p:spPr>
        <p:txBody>
          <a:bodyPr wrap="square" lIns="25400" tIns="25400" rIns="25400" bIns="25400" rtlCol="0" anchor="t">
            <a:normAutofit/>
          </a:bodyPr>
          <a:lstStyle/>
          <a:p>
            <a:pPr algn="ctr" indent="0" marL="0">
              <a:lnSpc>
                <a:spcPct val="140000"/>
              </a:lnSpc>
              <a:buNone/>
            </a:pPr>
            <a:r>
              <a:rPr lang="en-US" sz="1650" spc="150" kern="0" dirty="0">
                <a:solidFill>
                  <a:srgbClr val="FFFFFF">
                    <a:alpha val="85000"/>
                  </a:srgbClr>
                </a:solidFill>
                <a:latin typeface="Courier New" pitchFamily="34" charset="0"/>
                <a:ea typeface="Courier New" pitchFamily="34" charset="-122"/>
                <a:cs typeface="Courier New" pitchFamily="34" charset="-120"/>
              </a:rPr>
              <a:t>CPR</a:t>
            </a:r>
            <a:endParaRPr lang="en-US" sz="1650" dirty="0"/>
          </a:p>
        </p:txBody>
      </p:sp>
      <p:sp>
        <p:nvSpPr>
          <p:cNvPr id="22" name="Shape 20"/>
          <p:cNvSpPr/>
          <p:nvPr/>
        </p:nvSpPr>
        <p:spPr>
          <a:xfrm>
            <a:off x="15073908" y="2623096"/>
            <a:ext cx="2166342" cy="1836390"/>
          </a:xfrm>
          <a:prstGeom prst="roundRect">
            <a:avLst>
              <a:gd name="adj" fmla="val 9336"/>
            </a:avLst>
          </a:prstGeom>
          <a:solidFill>
            <a:srgbClr val="003554"/>
          </a:solidFill>
          <a:ln/>
        </p:spPr>
        <p:txBody>
          <a:bodyPr/>
          <a:p/>
        </p:txBody>
      </p:sp>
      <p:sp>
        <p:nvSpPr>
          <p:cNvPr id="23" name="Text 21"/>
          <p:cNvSpPr/>
          <p:nvPr/>
        </p:nvSpPr>
        <p:spPr>
          <a:xfrm>
            <a:off x="15782925" y="2889796"/>
            <a:ext cx="748308" cy="952500"/>
          </a:xfrm>
          <a:prstGeom prst="rect">
            <a:avLst/>
          </a:prstGeom>
          <a:noFill/>
          <a:ln/>
        </p:spPr>
        <p:txBody>
          <a:bodyPr wrap="square" lIns="25400" tIns="25400" rIns="25400" bIns="25400" rtlCol="0" anchor="t">
            <a:normAutofit/>
          </a:bodyPr>
          <a:lstStyle/>
          <a:p>
            <a:pPr algn="ctr" indent="0" marL="0">
              <a:lnSpc>
                <a:spcPct val="100000"/>
              </a:lnSpc>
              <a:buNone/>
            </a:pPr>
            <a:r>
              <a:rPr lang="en-US" sz="7200" b="1" dirty="0">
                <a:solidFill>
                  <a:srgbClr val="FFD166"/>
                </a:solidFill>
                <a:latin typeface="Arial" pitchFamily="34" charset="0"/>
                <a:ea typeface="Arial" pitchFamily="34" charset="-122"/>
                <a:cs typeface="Arial" pitchFamily="34" charset="-120"/>
              </a:rPr>
              <a:t>D</a:t>
            </a:r>
            <a:endParaRPr lang="en-US" sz="7200" dirty="0"/>
          </a:p>
        </p:txBody>
      </p:sp>
      <p:sp>
        <p:nvSpPr>
          <p:cNvPr id="24" name="Text 22"/>
          <p:cNvSpPr/>
          <p:nvPr/>
        </p:nvSpPr>
        <p:spPr>
          <a:xfrm>
            <a:off x="15756880" y="3899446"/>
            <a:ext cx="800249" cy="331440"/>
          </a:xfrm>
          <a:prstGeom prst="rect">
            <a:avLst/>
          </a:prstGeom>
          <a:noFill/>
          <a:ln/>
        </p:spPr>
        <p:txBody>
          <a:bodyPr wrap="square" lIns="25400" tIns="25400" rIns="25400" bIns="25400" rtlCol="0" anchor="t">
            <a:normAutofit/>
          </a:bodyPr>
          <a:lstStyle/>
          <a:p>
            <a:pPr algn="ctr" indent="0" marL="0">
              <a:lnSpc>
                <a:spcPct val="140000"/>
              </a:lnSpc>
              <a:buNone/>
            </a:pPr>
            <a:r>
              <a:rPr lang="en-US" sz="1650" spc="150" kern="0" dirty="0">
                <a:solidFill>
                  <a:srgbClr val="FFFFFF">
                    <a:alpha val="85000"/>
                  </a:srgbClr>
                </a:solidFill>
                <a:latin typeface="Courier New" pitchFamily="34" charset="0"/>
                <a:ea typeface="Courier New" pitchFamily="34" charset="-122"/>
                <a:cs typeface="Courier New" pitchFamily="34" charset="-120"/>
              </a:rPr>
              <a:t>DEFIB</a:t>
            </a:r>
            <a:endParaRPr lang="en-US" sz="1650" dirty="0"/>
          </a:p>
        </p:txBody>
      </p:sp>
      <p:sp>
        <p:nvSpPr>
          <p:cNvPr id="25" name="Text 23"/>
          <p:cNvSpPr/>
          <p:nvPr/>
        </p:nvSpPr>
        <p:spPr>
          <a:xfrm>
            <a:off x="1047750" y="4992886"/>
            <a:ext cx="14716125" cy="891480"/>
          </a:xfrm>
          <a:prstGeom prst="rect">
            <a:avLst/>
          </a:prstGeom>
          <a:noFill/>
          <a:ln/>
        </p:spPr>
        <p:txBody>
          <a:bodyPr wrap="square" lIns="25400" tIns="25400" rIns="25400" bIns="25400" rtlCol="0" anchor="t">
            <a:normAutofit/>
          </a:bodyPr>
          <a:lstStyle/>
          <a:p>
            <a:pPr algn="l" indent="0" marL="0">
              <a:lnSpc>
                <a:spcPct val="140000"/>
              </a:lnSpc>
              <a:buNone/>
            </a:pPr>
            <a:r>
              <a:rPr lang="en-US" sz="2400" dirty="0">
                <a:solidFill>
                  <a:srgbClr val="5A7A8A"/>
                </a:solidFill>
                <a:latin typeface="Arial" pitchFamily="34" charset="0"/>
                <a:ea typeface="Arial" pitchFamily="34" charset="-122"/>
                <a:cs typeface="Arial" pitchFamily="34" charset="-120"/>
              </a:rPr>
              <a:t>Used by every Australian first-aid organisation. The order matters — checking </a:t>
            </a:r>
            <a:pPr algn="l" indent="0" marL="0">
              <a:lnSpc>
                <a:spcPct val="140000"/>
              </a:lnSpc>
              <a:buNone/>
            </a:pPr>
            <a:r>
              <a:rPr lang="en-US" sz="2400" b="1" dirty="0">
                <a:solidFill>
                  <a:srgbClr val="0D1F2D"/>
                </a:solidFill>
                <a:latin typeface="Arial" pitchFamily="34" charset="0"/>
                <a:ea typeface="Arial" pitchFamily="34" charset="-122"/>
                <a:cs typeface="Arial" pitchFamily="34" charset="-120"/>
              </a:rPr>
              <a:t>Danger </a:t>
            </a:r>
            <a:pPr algn="l" indent="0" marL="0">
              <a:lnSpc>
                <a:spcPct val="140000"/>
              </a:lnSpc>
              <a:buNone/>
            </a:pPr>
            <a:r>
              <a:rPr lang="en-US" sz="2400" dirty="0">
                <a:solidFill>
                  <a:srgbClr val="5A7A8A"/>
                </a:solidFill>
                <a:latin typeface="Arial" pitchFamily="34" charset="0"/>
                <a:ea typeface="Arial" pitchFamily="34" charset="-122"/>
                <a:cs typeface="Arial" pitchFamily="34" charset="-120"/>
              </a:rPr>
              <a:t>before </a:t>
            </a:r>
            <a:pPr algn="l" indent="0" marL="0">
              <a:lnSpc>
                <a:spcPct val="140000"/>
              </a:lnSpc>
              <a:buNone/>
            </a:pPr>
            <a:r>
              <a:rPr lang="en-US" sz="2400" b="1" dirty="0">
                <a:solidFill>
                  <a:srgbClr val="0D1F2D"/>
                </a:solidFill>
                <a:latin typeface="Arial" pitchFamily="34" charset="0"/>
                <a:ea typeface="Arial" pitchFamily="34" charset="-122"/>
                <a:cs typeface="Arial" pitchFamily="34" charset="-120"/>
              </a:rPr>
              <a:t>Response </a:t>
            </a:r>
            <a:pPr algn="l" indent="0" marL="0">
              <a:lnSpc>
                <a:spcPct val="140000"/>
              </a:lnSpc>
              <a:buNone/>
            </a:pPr>
            <a:r>
              <a:rPr lang="en-US" sz="2400" dirty="0">
                <a:solidFill>
                  <a:srgbClr val="5A7A8A"/>
                </a:solidFill>
                <a:latin typeface="Arial" pitchFamily="34" charset="0"/>
                <a:ea typeface="Arial" pitchFamily="34" charset="-122"/>
                <a:cs typeface="Arial" pitchFamily="34" charset="-120"/>
              </a:rPr>
              <a:t>stops you becoming the next casualty.</a:t>
            </a:r>
            <a:endParaRPr lang="en-US" sz="24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4F7F9"/>
        </a:solidFill>
      </p:bgPr>
    </p:bg>
    <p:spTree>
      <p:nvGrpSpPr>
        <p:cNvPr id="1" name=""/>
        <p:cNvGrpSpPr/>
        <p:nvPr/>
      </p:nvGrpSpPr>
      <p:grpSpPr>
        <a:xfrm>
          <a:off x="0" y="0"/>
          <a:ext cx="0" cy="0"/>
          <a:chOff x="0" y="0"/>
          <a:chExt cx="0" cy="0"/>
        </a:xfrm>
      </p:grpSpPr>
      <p:sp>
        <p:nvSpPr>
          <p:cNvPr id="2" name="Text 0"/>
          <p:cNvSpPr/>
          <p:nvPr/>
        </p:nvSpPr>
        <p:spPr>
          <a:xfrm>
            <a:off x="1047750" y="914400"/>
            <a:ext cx="16678275" cy="358080"/>
          </a:xfrm>
          <a:prstGeom prst="rect">
            <a:avLst/>
          </a:prstGeom>
          <a:noFill/>
          <a:ln/>
        </p:spPr>
        <p:txBody>
          <a:bodyPr wrap="square" lIns="25400" tIns="25400" rIns="25400" bIns="25400" rtlCol="0" anchor="t">
            <a:normAutofit/>
          </a:bodyPr>
          <a:lstStyle/>
          <a:p>
            <a:pPr algn="l" indent="0" marL="0">
              <a:lnSpc>
                <a:spcPct val="140000"/>
              </a:lnSpc>
              <a:buNone/>
            </a:pPr>
            <a:r>
              <a:rPr lang="en-US" sz="1800" spc="300" kern="0" dirty="0">
                <a:solidFill>
                  <a:srgbClr val="5A7A8A"/>
                </a:solidFill>
                <a:latin typeface="Courier New" pitchFamily="34" charset="0"/>
                <a:ea typeface="Courier New" pitchFamily="34" charset="-122"/>
                <a:cs typeface="Courier New" pitchFamily="34" charset="-120"/>
              </a:rPr>
              <a:t>WHAT TO ACTUALLY DO · WORKBOOK ACTIVITY 3.1</a:t>
            </a:r>
            <a:endParaRPr lang="en-US" sz="1800" dirty="0"/>
          </a:p>
        </p:txBody>
      </p:sp>
      <p:sp>
        <p:nvSpPr>
          <p:cNvPr id="3" name="Text 1"/>
          <p:cNvSpPr/>
          <p:nvPr/>
        </p:nvSpPr>
        <p:spPr>
          <a:xfrm>
            <a:off x="1047750" y="1405830"/>
            <a:ext cx="16678275" cy="798165"/>
          </a:xfrm>
          <a:prstGeom prst="rect">
            <a:avLst/>
          </a:prstGeom>
          <a:noFill/>
          <a:ln/>
        </p:spPr>
        <p:txBody>
          <a:bodyPr wrap="square" lIns="25400" tIns="25400" rIns="25400" bIns="25400" rtlCol="0" anchor="t">
            <a:normAutofit/>
          </a:bodyPr>
          <a:lstStyle/>
          <a:p>
            <a:pPr algn="l" indent="0" marL="0">
              <a:lnSpc>
                <a:spcPct val="105000"/>
              </a:lnSpc>
              <a:buNone/>
            </a:pPr>
            <a:r>
              <a:rPr lang="en-US" sz="5700" b="1" spc="-75" kern="0" dirty="0">
                <a:solidFill>
                  <a:srgbClr val="0D1F2D"/>
                </a:solidFill>
                <a:latin typeface="Arial" pitchFamily="34" charset="0"/>
                <a:ea typeface="Arial" pitchFamily="34" charset="-122"/>
                <a:cs typeface="Arial" pitchFamily="34" charset="-120"/>
              </a:rPr>
              <a:t>DRS ABCD — what you do at each step</a:t>
            </a:r>
            <a:endParaRPr lang="en-US" sz="5700" dirty="0"/>
          </a:p>
        </p:txBody>
      </p:sp>
      <p:sp>
        <p:nvSpPr>
          <p:cNvPr id="4" name="Shape 2"/>
          <p:cNvSpPr/>
          <p:nvPr/>
        </p:nvSpPr>
        <p:spPr>
          <a:xfrm>
            <a:off x="1047750" y="2623096"/>
            <a:ext cx="16192500" cy="19050"/>
          </a:xfrm>
          <a:prstGeom prst="rect">
            <a:avLst/>
          </a:prstGeom>
          <a:solidFill>
            <a:srgbClr val="0D1F2D"/>
          </a:solidFill>
          <a:ln/>
        </p:spPr>
        <p:txBody>
          <a:bodyPr/>
          <a:p/>
        </p:txBody>
      </p:sp>
      <p:sp>
        <p:nvSpPr>
          <p:cNvPr id="5" name="Shape 3"/>
          <p:cNvSpPr/>
          <p:nvPr/>
        </p:nvSpPr>
        <p:spPr>
          <a:xfrm>
            <a:off x="1047750" y="3758357"/>
            <a:ext cx="16192500" cy="9525"/>
          </a:xfrm>
          <a:prstGeom prst="rect">
            <a:avLst/>
          </a:prstGeom>
          <a:solidFill>
            <a:srgbClr val="CDD9E0"/>
          </a:solidFill>
          <a:ln/>
        </p:spPr>
        <p:txBody>
          <a:bodyPr/>
          <a:p/>
        </p:txBody>
      </p:sp>
      <p:sp>
        <p:nvSpPr>
          <p:cNvPr id="6" name="Text 4"/>
          <p:cNvSpPr/>
          <p:nvPr/>
        </p:nvSpPr>
        <p:spPr>
          <a:xfrm>
            <a:off x="1047750" y="2813596"/>
            <a:ext cx="933450" cy="457200"/>
          </a:xfrm>
          <a:prstGeom prst="rect">
            <a:avLst/>
          </a:prstGeom>
          <a:noFill/>
          <a:ln/>
        </p:spPr>
        <p:txBody>
          <a:bodyPr wrap="square" lIns="25400" tIns="25400" rIns="25400" bIns="25400" rtlCol="0" anchor="t">
            <a:normAutofit/>
          </a:bodyPr>
          <a:lstStyle/>
          <a:p>
            <a:pPr algn="l" indent="0" marL="0">
              <a:lnSpc>
                <a:spcPct val="100000"/>
              </a:lnSpc>
              <a:buNone/>
            </a:pPr>
            <a:r>
              <a:rPr lang="en-US" sz="3300" b="1" dirty="0">
                <a:solidFill>
                  <a:srgbClr val="C0392B"/>
                </a:solidFill>
                <a:latin typeface="Arial" pitchFamily="34" charset="0"/>
                <a:ea typeface="Arial" pitchFamily="34" charset="-122"/>
                <a:cs typeface="Arial" pitchFamily="34" charset="-120"/>
              </a:rPr>
              <a:t>D</a:t>
            </a:r>
            <a:endParaRPr lang="en-US" sz="3300" dirty="0"/>
          </a:p>
        </p:txBody>
      </p:sp>
      <p:sp>
        <p:nvSpPr>
          <p:cNvPr id="7" name="Text 5"/>
          <p:cNvSpPr/>
          <p:nvPr/>
        </p:nvSpPr>
        <p:spPr>
          <a:xfrm>
            <a:off x="2209800" y="2889796"/>
            <a:ext cx="5055755" cy="411361"/>
          </a:xfrm>
          <a:prstGeom prst="rect">
            <a:avLst/>
          </a:prstGeom>
          <a:noFill/>
          <a:ln/>
        </p:spPr>
        <p:txBody>
          <a:bodyPr wrap="square" lIns="25400" tIns="25400" rIns="25400" bIns="25400" rtlCol="0" anchor="t">
            <a:normAutofit/>
          </a:bodyPr>
          <a:lstStyle/>
          <a:p>
            <a:pPr algn="l" indent="0" marL="0">
              <a:lnSpc>
                <a:spcPct val="140000"/>
              </a:lnSpc>
              <a:buNone/>
            </a:pPr>
            <a:r>
              <a:rPr lang="en-US" sz="2100" b="1" dirty="0">
                <a:solidFill>
                  <a:srgbClr val="0D1F2D"/>
                </a:solidFill>
                <a:latin typeface="Arial" pitchFamily="34" charset="0"/>
                <a:ea typeface="Arial" pitchFamily="34" charset="-122"/>
                <a:cs typeface="Arial" pitchFamily="34" charset="-120"/>
              </a:rPr>
              <a:t>Danger</a:t>
            </a:r>
            <a:endParaRPr lang="en-US" sz="2100" dirty="0"/>
          </a:p>
        </p:txBody>
      </p:sp>
      <p:sp>
        <p:nvSpPr>
          <p:cNvPr id="8" name="Text 6"/>
          <p:cNvSpPr/>
          <p:nvPr/>
        </p:nvSpPr>
        <p:spPr>
          <a:xfrm>
            <a:off x="7423100" y="2918371"/>
            <a:ext cx="10111664" cy="706636"/>
          </a:xfrm>
          <a:prstGeom prst="rect">
            <a:avLst/>
          </a:prstGeom>
          <a:noFill/>
          <a:ln/>
        </p:spPr>
        <p:txBody>
          <a:bodyPr wrap="square" lIns="25400" tIns="25400" rIns="25400" bIns="25400" rtlCol="0" anchor="t">
            <a:normAutofit/>
          </a:bodyPr>
          <a:lstStyle/>
          <a:p>
            <a:pPr algn="l" indent="0" marL="0">
              <a:lnSpc>
                <a:spcPct val="135000"/>
              </a:lnSpc>
              <a:buNone/>
            </a:pPr>
            <a:r>
              <a:rPr lang="en-US" sz="1950" dirty="0">
                <a:solidFill>
                  <a:srgbClr val="5A7A8A"/>
                </a:solidFill>
                <a:latin typeface="Arial" pitchFamily="34" charset="0"/>
                <a:ea typeface="Arial" pitchFamily="34" charset="-122"/>
                <a:cs typeface="Arial" pitchFamily="34" charset="-120"/>
              </a:rPr>
              <a:t>Check for hazards to you, bystanders, and the casualty. Electricity, traffic, more water entering — don't approach until it's safe.</a:t>
            </a:r>
            <a:endParaRPr lang="en-US" sz="1950" dirty="0"/>
          </a:p>
        </p:txBody>
      </p:sp>
      <p:sp>
        <p:nvSpPr>
          <p:cNvPr id="9" name="Shape 7"/>
          <p:cNvSpPr/>
          <p:nvPr/>
        </p:nvSpPr>
        <p:spPr>
          <a:xfrm>
            <a:off x="1047750" y="4884093"/>
            <a:ext cx="16192500" cy="9525"/>
          </a:xfrm>
          <a:prstGeom prst="rect">
            <a:avLst/>
          </a:prstGeom>
          <a:solidFill>
            <a:srgbClr val="CDD9E0"/>
          </a:solidFill>
          <a:ln/>
        </p:spPr>
        <p:txBody>
          <a:bodyPr/>
          <a:p/>
        </p:txBody>
      </p:sp>
      <p:sp>
        <p:nvSpPr>
          <p:cNvPr id="10" name="Text 8"/>
          <p:cNvSpPr/>
          <p:nvPr/>
        </p:nvSpPr>
        <p:spPr>
          <a:xfrm>
            <a:off x="1047750" y="3939332"/>
            <a:ext cx="933450" cy="457200"/>
          </a:xfrm>
          <a:prstGeom prst="rect">
            <a:avLst/>
          </a:prstGeom>
          <a:noFill/>
          <a:ln/>
        </p:spPr>
        <p:txBody>
          <a:bodyPr wrap="square" lIns="25400" tIns="25400" rIns="25400" bIns="25400" rtlCol="0" anchor="t">
            <a:normAutofit/>
          </a:bodyPr>
          <a:lstStyle/>
          <a:p>
            <a:pPr algn="l" indent="0" marL="0">
              <a:lnSpc>
                <a:spcPct val="100000"/>
              </a:lnSpc>
              <a:buNone/>
            </a:pPr>
            <a:r>
              <a:rPr lang="en-US" sz="3300" b="1" dirty="0">
                <a:solidFill>
                  <a:srgbClr val="C0392B"/>
                </a:solidFill>
                <a:latin typeface="Arial" pitchFamily="34" charset="0"/>
                <a:ea typeface="Arial" pitchFamily="34" charset="-122"/>
                <a:cs typeface="Arial" pitchFamily="34" charset="-120"/>
              </a:rPr>
              <a:t>R</a:t>
            </a:r>
            <a:endParaRPr lang="en-US" sz="3300" dirty="0"/>
          </a:p>
        </p:txBody>
      </p:sp>
      <p:sp>
        <p:nvSpPr>
          <p:cNvPr id="11" name="Text 9"/>
          <p:cNvSpPr/>
          <p:nvPr/>
        </p:nvSpPr>
        <p:spPr>
          <a:xfrm>
            <a:off x="2209800" y="4015532"/>
            <a:ext cx="5055755" cy="411361"/>
          </a:xfrm>
          <a:prstGeom prst="rect">
            <a:avLst/>
          </a:prstGeom>
          <a:noFill/>
          <a:ln/>
        </p:spPr>
        <p:txBody>
          <a:bodyPr wrap="square" lIns="25400" tIns="25400" rIns="25400" bIns="25400" rtlCol="0" anchor="t">
            <a:normAutofit/>
          </a:bodyPr>
          <a:lstStyle/>
          <a:p>
            <a:pPr algn="l" indent="0" marL="0">
              <a:lnSpc>
                <a:spcPct val="140000"/>
              </a:lnSpc>
              <a:buNone/>
            </a:pPr>
            <a:r>
              <a:rPr lang="en-US" sz="2100" b="1" dirty="0">
                <a:solidFill>
                  <a:srgbClr val="0D1F2D"/>
                </a:solidFill>
                <a:latin typeface="Arial" pitchFamily="34" charset="0"/>
                <a:ea typeface="Arial" pitchFamily="34" charset="-122"/>
                <a:cs typeface="Arial" pitchFamily="34" charset="-120"/>
              </a:rPr>
              <a:t>Response</a:t>
            </a:r>
            <a:endParaRPr lang="en-US" sz="2100" dirty="0"/>
          </a:p>
        </p:txBody>
      </p:sp>
      <p:sp>
        <p:nvSpPr>
          <p:cNvPr id="12" name="Text 10"/>
          <p:cNvSpPr/>
          <p:nvPr/>
        </p:nvSpPr>
        <p:spPr>
          <a:xfrm>
            <a:off x="7423100" y="4044107"/>
            <a:ext cx="10111664" cy="706636"/>
          </a:xfrm>
          <a:prstGeom prst="rect">
            <a:avLst/>
          </a:prstGeom>
          <a:noFill/>
          <a:ln/>
        </p:spPr>
        <p:txBody>
          <a:bodyPr wrap="square" lIns="25400" tIns="25400" rIns="25400" bIns="25400" rtlCol="0" anchor="t">
            <a:normAutofit/>
          </a:bodyPr>
          <a:lstStyle/>
          <a:p>
            <a:pPr algn="l" indent="0" marL="0">
              <a:lnSpc>
                <a:spcPct val="135000"/>
              </a:lnSpc>
              <a:buNone/>
            </a:pPr>
            <a:r>
              <a:rPr lang="en-US" sz="1950" dirty="0">
                <a:solidFill>
                  <a:srgbClr val="5A7A8A"/>
                </a:solidFill>
                <a:latin typeface="Arial" pitchFamily="34" charset="0"/>
                <a:ea typeface="Arial" pitchFamily="34" charset="-122"/>
                <a:cs typeface="Arial" pitchFamily="34" charset="-120"/>
              </a:rPr>
              <a:t>Tap shoulder, ask loudly: "Can you hear me? Open your eyes." If no response, treat as unconscious.</a:t>
            </a:r>
            <a:endParaRPr lang="en-US" sz="1950" dirty="0"/>
          </a:p>
        </p:txBody>
      </p:sp>
      <p:sp>
        <p:nvSpPr>
          <p:cNvPr id="13" name="Shape 11"/>
          <p:cNvSpPr/>
          <p:nvPr/>
        </p:nvSpPr>
        <p:spPr>
          <a:xfrm>
            <a:off x="1047750" y="6009829"/>
            <a:ext cx="16192500" cy="9525"/>
          </a:xfrm>
          <a:prstGeom prst="rect">
            <a:avLst/>
          </a:prstGeom>
          <a:solidFill>
            <a:srgbClr val="CDD9E0"/>
          </a:solidFill>
          <a:ln/>
        </p:spPr>
        <p:txBody>
          <a:bodyPr/>
          <a:p/>
        </p:txBody>
      </p:sp>
      <p:sp>
        <p:nvSpPr>
          <p:cNvPr id="14" name="Text 12"/>
          <p:cNvSpPr/>
          <p:nvPr/>
        </p:nvSpPr>
        <p:spPr>
          <a:xfrm>
            <a:off x="1047750" y="5065068"/>
            <a:ext cx="933450" cy="457200"/>
          </a:xfrm>
          <a:prstGeom prst="rect">
            <a:avLst/>
          </a:prstGeom>
          <a:noFill/>
          <a:ln/>
        </p:spPr>
        <p:txBody>
          <a:bodyPr wrap="square" lIns="25400" tIns="25400" rIns="25400" bIns="25400" rtlCol="0" anchor="t">
            <a:normAutofit/>
          </a:bodyPr>
          <a:lstStyle/>
          <a:p>
            <a:pPr algn="l" indent="0" marL="0">
              <a:lnSpc>
                <a:spcPct val="100000"/>
              </a:lnSpc>
              <a:buNone/>
            </a:pPr>
            <a:r>
              <a:rPr lang="en-US" sz="3300" b="1" dirty="0">
                <a:solidFill>
                  <a:srgbClr val="C0392B"/>
                </a:solidFill>
                <a:latin typeface="Arial" pitchFamily="34" charset="0"/>
                <a:ea typeface="Arial" pitchFamily="34" charset="-122"/>
                <a:cs typeface="Arial" pitchFamily="34" charset="-120"/>
              </a:rPr>
              <a:t>S</a:t>
            </a:r>
            <a:endParaRPr lang="en-US" sz="3300" dirty="0"/>
          </a:p>
        </p:txBody>
      </p:sp>
      <p:sp>
        <p:nvSpPr>
          <p:cNvPr id="15" name="Text 13"/>
          <p:cNvSpPr/>
          <p:nvPr/>
        </p:nvSpPr>
        <p:spPr>
          <a:xfrm>
            <a:off x="2209800" y="5141268"/>
            <a:ext cx="5055755" cy="411361"/>
          </a:xfrm>
          <a:prstGeom prst="rect">
            <a:avLst/>
          </a:prstGeom>
          <a:noFill/>
          <a:ln/>
        </p:spPr>
        <p:txBody>
          <a:bodyPr wrap="square" lIns="25400" tIns="25400" rIns="25400" bIns="25400" rtlCol="0" anchor="t">
            <a:normAutofit/>
          </a:bodyPr>
          <a:lstStyle/>
          <a:p>
            <a:pPr algn="l" indent="0" marL="0">
              <a:lnSpc>
                <a:spcPct val="140000"/>
              </a:lnSpc>
              <a:buNone/>
            </a:pPr>
            <a:r>
              <a:rPr lang="en-US" sz="2100" b="1" dirty="0">
                <a:solidFill>
                  <a:srgbClr val="0D1F2D"/>
                </a:solidFill>
                <a:latin typeface="Arial" pitchFamily="34" charset="0"/>
                <a:ea typeface="Arial" pitchFamily="34" charset="-122"/>
                <a:cs typeface="Arial" pitchFamily="34" charset="-120"/>
              </a:rPr>
              <a:t>Send for help</a:t>
            </a:r>
            <a:endParaRPr lang="en-US" sz="2100" dirty="0"/>
          </a:p>
        </p:txBody>
      </p:sp>
      <p:sp>
        <p:nvSpPr>
          <p:cNvPr id="16" name="Text 14"/>
          <p:cNvSpPr/>
          <p:nvPr/>
        </p:nvSpPr>
        <p:spPr>
          <a:xfrm>
            <a:off x="7423100" y="5169843"/>
            <a:ext cx="10111664" cy="706636"/>
          </a:xfrm>
          <a:prstGeom prst="rect">
            <a:avLst/>
          </a:prstGeom>
          <a:noFill/>
          <a:ln/>
        </p:spPr>
        <p:txBody>
          <a:bodyPr wrap="square" lIns="25400" tIns="25400" rIns="25400" bIns="25400" rtlCol="0" anchor="t">
            <a:normAutofit/>
          </a:bodyPr>
          <a:lstStyle/>
          <a:p>
            <a:pPr algn="l" indent="0" marL="0">
              <a:lnSpc>
                <a:spcPct val="135000"/>
              </a:lnSpc>
              <a:buNone/>
            </a:pPr>
            <a:r>
              <a:rPr lang="en-US" sz="1950" dirty="0">
                <a:solidFill>
                  <a:srgbClr val="5A7A8A"/>
                </a:solidFill>
                <a:latin typeface="Arial" pitchFamily="34" charset="0"/>
                <a:ea typeface="Arial" pitchFamily="34" charset="-122"/>
                <a:cs typeface="Arial" pitchFamily="34" charset="-120"/>
              </a:rPr>
              <a:t>Call 000 (triple zero). Put on speakerphone. Don't hang up. Send someone else to flag down emergency services.</a:t>
            </a:r>
            <a:endParaRPr lang="en-US" sz="1950" dirty="0"/>
          </a:p>
        </p:txBody>
      </p:sp>
      <p:sp>
        <p:nvSpPr>
          <p:cNvPr id="17" name="Shape 15"/>
          <p:cNvSpPr/>
          <p:nvPr/>
        </p:nvSpPr>
        <p:spPr>
          <a:xfrm>
            <a:off x="1047750" y="7135564"/>
            <a:ext cx="16192500" cy="9525"/>
          </a:xfrm>
          <a:prstGeom prst="rect">
            <a:avLst/>
          </a:prstGeom>
          <a:solidFill>
            <a:srgbClr val="CDD9E0"/>
          </a:solidFill>
          <a:ln/>
        </p:spPr>
        <p:txBody>
          <a:bodyPr/>
          <a:p/>
        </p:txBody>
      </p:sp>
      <p:sp>
        <p:nvSpPr>
          <p:cNvPr id="18" name="Text 16"/>
          <p:cNvSpPr/>
          <p:nvPr/>
        </p:nvSpPr>
        <p:spPr>
          <a:xfrm>
            <a:off x="1047750" y="6190804"/>
            <a:ext cx="933450" cy="457200"/>
          </a:xfrm>
          <a:prstGeom prst="rect">
            <a:avLst/>
          </a:prstGeom>
          <a:noFill/>
          <a:ln/>
        </p:spPr>
        <p:txBody>
          <a:bodyPr wrap="square" lIns="25400" tIns="25400" rIns="25400" bIns="25400" rtlCol="0" anchor="t">
            <a:normAutofit/>
          </a:bodyPr>
          <a:lstStyle/>
          <a:p>
            <a:pPr algn="l" indent="0" marL="0">
              <a:lnSpc>
                <a:spcPct val="100000"/>
              </a:lnSpc>
              <a:buNone/>
            </a:pPr>
            <a:r>
              <a:rPr lang="en-US" sz="3300" b="1" dirty="0">
                <a:solidFill>
                  <a:srgbClr val="C0392B"/>
                </a:solidFill>
                <a:latin typeface="Arial" pitchFamily="34" charset="0"/>
                <a:ea typeface="Arial" pitchFamily="34" charset="-122"/>
                <a:cs typeface="Arial" pitchFamily="34" charset="-120"/>
              </a:rPr>
              <a:t>A</a:t>
            </a:r>
            <a:endParaRPr lang="en-US" sz="3300" dirty="0"/>
          </a:p>
        </p:txBody>
      </p:sp>
      <p:sp>
        <p:nvSpPr>
          <p:cNvPr id="19" name="Text 17"/>
          <p:cNvSpPr/>
          <p:nvPr/>
        </p:nvSpPr>
        <p:spPr>
          <a:xfrm>
            <a:off x="2209800" y="6267004"/>
            <a:ext cx="5055755" cy="411361"/>
          </a:xfrm>
          <a:prstGeom prst="rect">
            <a:avLst/>
          </a:prstGeom>
          <a:noFill/>
          <a:ln/>
        </p:spPr>
        <p:txBody>
          <a:bodyPr wrap="square" lIns="25400" tIns="25400" rIns="25400" bIns="25400" rtlCol="0" anchor="t">
            <a:normAutofit/>
          </a:bodyPr>
          <a:lstStyle/>
          <a:p>
            <a:pPr algn="l" indent="0" marL="0">
              <a:lnSpc>
                <a:spcPct val="140000"/>
              </a:lnSpc>
              <a:buNone/>
            </a:pPr>
            <a:r>
              <a:rPr lang="en-US" sz="2100" b="1" dirty="0">
                <a:solidFill>
                  <a:srgbClr val="0D1F2D"/>
                </a:solidFill>
                <a:latin typeface="Arial" pitchFamily="34" charset="0"/>
                <a:ea typeface="Arial" pitchFamily="34" charset="-122"/>
                <a:cs typeface="Arial" pitchFamily="34" charset="-120"/>
              </a:rPr>
              <a:t>Airway</a:t>
            </a:r>
            <a:endParaRPr lang="en-US" sz="2100" dirty="0"/>
          </a:p>
        </p:txBody>
      </p:sp>
      <p:sp>
        <p:nvSpPr>
          <p:cNvPr id="20" name="Text 18"/>
          <p:cNvSpPr/>
          <p:nvPr/>
        </p:nvSpPr>
        <p:spPr>
          <a:xfrm>
            <a:off x="7423100" y="6295579"/>
            <a:ext cx="10111664" cy="706636"/>
          </a:xfrm>
          <a:prstGeom prst="rect">
            <a:avLst/>
          </a:prstGeom>
          <a:noFill/>
          <a:ln/>
        </p:spPr>
        <p:txBody>
          <a:bodyPr wrap="square" lIns="25400" tIns="25400" rIns="25400" bIns="25400" rtlCol="0" anchor="t">
            <a:normAutofit/>
          </a:bodyPr>
          <a:lstStyle/>
          <a:p>
            <a:pPr algn="l" indent="0" marL="0">
              <a:lnSpc>
                <a:spcPct val="135000"/>
              </a:lnSpc>
              <a:buNone/>
            </a:pPr>
            <a:r>
              <a:rPr lang="en-US" sz="1950" dirty="0">
                <a:solidFill>
                  <a:srgbClr val="5A7A8A"/>
                </a:solidFill>
                <a:latin typeface="Arial" pitchFamily="34" charset="0"/>
                <a:ea typeface="Arial" pitchFamily="34" charset="-122"/>
                <a:cs typeface="Arial" pitchFamily="34" charset="-120"/>
              </a:rPr>
              <a:t>Tilt head back, lift chin. Clear water, sand, vomit. Check the airway is open before checking breathing.</a:t>
            </a:r>
            <a:endParaRPr lang="en-US" sz="1950" dirty="0"/>
          </a:p>
        </p:txBody>
      </p:sp>
      <p:sp>
        <p:nvSpPr>
          <p:cNvPr id="21" name="Shape 19"/>
          <p:cNvSpPr/>
          <p:nvPr/>
        </p:nvSpPr>
        <p:spPr>
          <a:xfrm>
            <a:off x="1047750" y="7937450"/>
            <a:ext cx="16192500" cy="9525"/>
          </a:xfrm>
          <a:prstGeom prst="rect">
            <a:avLst/>
          </a:prstGeom>
          <a:solidFill>
            <a:srgbClr val="CDD9E0"/>
          </a:solidFill>
          <a:ln/>
        </p:spPr>
        <p:txBody>
          <a:bodyPr/>
          <a:p/>
        </p:txBody>
      </p:sp>
      <p:sp>
        <p:nvSpPr>
          <p:cNvPr id="22" name="Text 20"/>
          <p:cNvSpPr/>
          <p:nvPr/>
        </p:nvSpPr>
        <p:spPr>
          <a:xfrm>
            <a:off x="1047750" y="7316539"/>
            <a:ext cx="933450" cy="457200"/>
          </a:xfrm>
          <a:prstGeom prst="rect">
            <a:avLst/>
          </a:prstGeom>
          <a:noFill/>
          <a:ln/>
        </p:spPr>
        <p:txBody>
          <a:bodyPr wrap="square" lIns="25400" tIns="25400" rIns="25400" bIns="25400" rtlCol="0" anchor="t">
            <a:normAutofit/>
          </a:bodyPr>
          <a:lstStyle/>
          <a:p>
            <a:pPr algn="l" indent="0" marL="0">
              <a:lnSpc>
                <a:spcPct val="100000"/>
              </a:lnSpc>
              <a:buNone/>
            </a:pPr>
            <a:r>
              <a:rPr lang="en-US" sz="3300" b="1" dirty="0">
                <a:solidFill>
                  <a:srgbClr val="C0392B"/>
                </a:solidFill>
                <a:latin typeface="Arial" pitchFamily="34" charset="0"/>
                <a:ea typeface="Arial" pitchFamily="34" charset="-122"/>
                <a:cs typeface="Arial" pitchFamily="34" charset="-120"/>
              </a:rPr>
              <a:t>B</a:t>
            </a:r>
            <a:endParaRPr lang="en-US" sz="3300" dirty="0"/>
          </a:p>
        </p:txBody>
      </p:sp>
      <p:sp>
        <p:nvSpPr>
          <p:cNvPr id="23" name="Text 21"/>
          <p:cNvSpPr/>
          <p:nvPr/>
        </p:nvSpPr>
        <p:spPr>
          <a:xfrm>
            <a:off x="2209800" y="7392739"/>
            <a:ext cx="5055755" cy="411361"/>
          </a:xfrm>
          <a:prstGeom prst="rect">
            <a:avLst/>
          </a:prstGeom>
          <a:noFill/>
          <a:ln/>
        </p:spPr>
        <p:txBody>
          <a:bodyPr wrap="square" lIns="25400" tIns="25400" rIns="25400" bIns="25400" rtlCol="0" anchor="t">
            <a:normAutofit/>
          </a:bodyPr>
          <a:lstStyle/>
          <a:p>
            <a:pPr algn="l" indent="0" marL="0">
              <a:lnSpc>
                <a:spcPct val="140000"/>
              </a:lnSpc>
              <a:buNone/>
            </a:pPr>
            <a:r>
              <a:rPr lang="en-US" sz="2100" b="1" dirty="0">
                <a:solidFill>
                  <a:srgbClr val="0D1F2D"/>
                </a:solidFill>
                <a:latin typeface="Arial" pitchFamily="34" charset="0"/>
                <a:ea typeface="Arial" pitchFamily="34" charset="-122"/>
                <a:cs typeface="Arial" pitchFamily="34" charset="-120"/>
              </a:rPr>
              <a:t>Breathing</a:t>
            </a:r>
            <a:endParaRPr lang="en-US" sz="2100" dirty="0"/>
          </a:p>
        </p:txBody>
      </p:sp>
      <p:sp>
        <p:nvSpPr>
          <p:cNvPr id="24" name="Text 22"/>
          <p:cNvSpPr/>
          <p:nvPr/>
        </p:nvSpPr>
        <p:spPr>
          <a:xfrm>
            <a:off x="7423100" y="7421314"/>
            <a:ext cx="10111664" cy="372368"/>
          </a:xfrm>
          <a:prstGeom prst="rect">
            <a:avLst/>
          </a:prstGeom>
          <a:noFill/>
          <a:ln/>
        </p:spPr>
        <p:txBody>
          <a:bodyPr wrap="square" lIns="25400" tIns="25400" rIns="25400" bIns="25400" rtlCol="0" anchor="t">
            <a:normAutofit/>
          </a:bodyPr>
          <a:lstStyle/>
          <a:p>
            <a:pPr algn="l" indent="0" marL="0">
              <a:lnSpc>
                <a:spcPct val="135000"/>
              </a:lnSpc>
              <a:buNone/>
            </a:pPr>
            <a:r>
              <a:rPr lang="en-US" sz="1950" dirty="0">
                <a:solidFill>
                  <a:srgbClr val="5A7A8A"/>
                </a:solidFill>
                <a:latin typeface="Arial" pitchFamily="34" charset="0"/>
                <a:ea typeface="Arial" pitchFamily="34" charset="-122"/>
                <a:cs typeface="Arial" pitchFamily="34" charset="-120"/>
              </a:rPr>
              <a:t>Look, listen, feel for up to 10 seconds. If not breathing normally — start CPR.</a:t>
            </a:r>
            <a:endParaRPr lang="en-US" sz="1950" dirty="0"/>
          </a:p>
        </p:txBody>
      </p:sp>
      <p:sp>
        <p:nvSpPr>
          <p:cNvPr id="25" name="Shape 23"/>
          <p:cNvSpPr/>
          <p:nvPr/>
        </p:nvSpPr>
        <p:spPr>
          <a:xfrm>
            <a:off x="1047750" y="9063186"/>
            <a:ext cx="16192500" cy="9525"/>
          </a:xfrm>
          <a:prstGeom prst="rect">
            <a:avLst/>
          </a:prstGeom>
          <a:solidFill>
            <a:srgbClr val="CDD9E0"/>
          </a:solidFill>
          <a:ln/>
        </p:spPr>
        <p:txBody>
          <a:bodyPr/>
          <a:p/>
        </p:txBody>
      </p:sp>
      <p:sp>
        <p:nvSpPr>
          <p:cNvPr id="26" name="Text 24"/>
          <p:cNvSpPr/>
          <p:nvPr/>
        </p:nvSpPr>
        <p:spPr>
          <a:xfrm>
            <a:off x="1047750" y="8118425"/>
            <a:ext cx="933450" cy="457200"/>
          </a:xfrm>
          <a:prstGeom prst="rect">
            <a:avLst/>
          </a:prstGeom>
          <a:noFill/>
          <a:ln/>
        </p:spPr>
        <p:txBody>
          <a:bodyPr wrap="square" lIns="25400" tIns="25400" rIns="25400" bIns="25400" rtlCol="0" anchor="t">
            <a:normAutofit/>
          </a:bodyPr>
          <a:lstStyle/>
          <a:p>
            <a:pPr algn="l" indent="0" marL="0">
              <a:lnSpc>
                <a:spcPct val="100000"/>
              </a:lnSpc>
              <a:buNone/>
            </a:pPr>
            <a:r>
              <a:rPr lang="en-US" sz="3300" b="1" dirty="0">
                <a:solidFill>
                  <a:srgbClr val="C0392B"/>
                </a:solidFill>
                <a:latin typeface="Arial" pitchFamily="34" charset="0"/>
                <a:ea typeface="Arial" pitchFamily="34" charset="-122"/>
                <a:cs typeface="Arial" pitchFamily="34" charset="-120"/>
              </a:rPr>
              <a:t>C</a:t>
            </a:r>
            <a:endParaRPr lang="en-US" sz="3300" dirty="0"/>
          </a:p>
        </p:txBody>
      </p:sp>
      <p:sp>
        <p:nvSpPr>
          <p:cNvPr id="27" name="Text 25"/>
          <p:cNvSpPr/>
          <p:nvPr/>
        </p:nvSpPr>
        <p:spPr>
          <a:xfrm>
            <a:off x="2209800" y="8194625"/>
            <a:ext cx="5055755" cy="411361"/>
          </a:xfrm>
          <a:prstGeom prst="rect">
            <a:avLst/>
          </a:prstGeom>
          <a:noFill/>
          <a:ln/>
        </p:spPr>
        <p:txBody>
          <a:bodyPr wrap="square" lIns="25400" tIns="25400" rIns="25400" bIns="25400" rtlCol="0" anchor="t">
            <a:normAutofit/>
          </a:bodyPr>
          <a:lstStyle/>
          <a:p>
            <a:pPr algn="l" indent="0" marL="0">
              <a:lnSpc>
                <a:spcPct val="140000"/>
              </a:lnSpc>
              <a:buNone/>
            </a:pPr>
            <a:r>
              <a:rPr lang="en-US" sz="2100" b="1" dirty="0">
                <a:solidFill>
                  <a:srgbClr val="0D1F2D"/>
                </a:solidFill>
                <a:latin typeface="Arial" pitchFamily="34" charset="0"/>
                <a:ea typeface="Arial" pitchFamily="34" charset="-122"/>
                <a:cs typeface="Arial" pitchFamily="34" charset="-120"/>
              </a:rPr>
              <a:t>CPR</a:t>
            </a:r>
            <a:endParaRPr lang="en-US" sz="2100" dirty="0"/>
          </a:p>
        </p:txBody>
      </p:sp>
      <p:sp>
        <p:nvSpPr>
          <p:cNvPr id="28" name="Text 26"/>
          <p:cNvSpPr/>
          <p:nvPr/>
        </p:nvSpPr>
        <p:spPr>
          <a:xfrm>
            <a:off x="7423100" y="8223200"/>
            <a:ext cx="10111664" cy="706636"/>
          </a:xfrm>
          <a:prstGeom prst="rect">
            <a:avLst/>
          </a:prstGeom>
          <a:noFill/>
          <a:ln/>
        </p:spPr>
        <p:txBody>
          <a:bodyPr wrap="square" lIns="25400" tIns="25400" rIns="25400" bIns="25400" rtlCol="0" anchor="t">
            <a:normAutofit/>
          </a:bodyPr>
          <a:lstStyle/>
          <a:p>
            <a:pPr algn="l" indent="0" marL="0">
              <a:lnSpc>
                <a:spcPct val="135000"/>
              </a:lnSpc>
              <a:buNone/>
            </a:pPr>
            <a:r>
              <a:rPr lang="en-US" sz="1950" dirty="0">
                <a:solidFill>
                  <a:srgbClr val="5A7A8A"/>
                </a:solidFill>
                <a:latin typeface="Arial" pitchFamily="34" charset="0"/>
                <a:ea typeface="Arial" pitchFamily="34" charset="-122"/>
                <a:cs typeface="Arial" pitchFamily="34" charset="-120"/>
              </a:rPr>
              <a:t>30 chest compressions, then 2 rescue breaths. Repeat until help arrives or the casualty starts breathing.</a:t>
            </a:r>
            <a:endParaRPr lang="en-US" sz="1950" dirty="0"/>
          </a:p>
        </p:txBody>
      </p:sp>
      <p:sp>
        <p:nvSpPr>
          <p:cNvPr id="29" name="Shape 27"/>
          <p:cNvSpPr/>
          <p:nvPr/>
        </p:nvSpPr>
        <p:spPr>
          <a:xfrm>
            <a:off x="1047750" y="10188922"/>
            <a:ext cx="16192500" cy="9525"/>
          </a:xfrm>
          <a:prstGeom prst="rect">
            <a:avLst/>
          </a:prstGeom>
          <a:solidFill>
            <a:srgbClr val="CDD9E0"/>
          </a:solidFill>
          <a:ln/>
        </p:spPr>
        <p:txBody>
          <a:bodyPr/>
          <a:p/>
        </p:txBody>
      </p:sp>
      <p:sp>
        <p:nvSpPr>
          <p:cNvPr id="30" name="Text 28"/>
          <p:cNvSpPr/>
          <p:nvPr/>
        </p:nvSpPr>
        <p:spPr>
          <a:xfrm>
            <a:off x="1047750" y="9244161"/>
            <a:ext cx="933450" cy="457200"/>
          </a:xfrm>
          <a:prstGeom prst="rect">
            <a:avLst/>
          </a:prstGeom>
          <a:noFill/>
          <a:ln/>
        </p:spPr>
        <p:txBody>
          <a:bodyPr wrap="square" lIns="25400" tIns="25400" rIns="25400" bIns="25400" rtlCol="0" anchor="t">
            <a:normAutofit/>
          </a:bodyPr>
          <a:lstStyle/>
          <a:p>
            <a:pPr algn="l" indent="0" marL="0">
              <a:lnSpc>
                <a:spcPct val="100000"/>
              </a:lnSpc>
              <a:buNone/>
            </a:pPr>
            <a:r>
              <a:rPr lang="en-US" sz="3300" b="1" dirty="0">
                <a:solidFill>
                  <a:srgbClr val="C0392B"/>
                </a:solidFill>
                <a:latin typeface="Arial" pitchFamily="34" charset="0"/>
                <a:ea typeface="Arial" pitchFamily="34" charset="-122"/>
                <a:cs typeface="Arial" pitchFamily="34" charset="-120"/>
              </a:rPr>
              <a:t>D</a:t>
            </a:r>
            <a:endParaRPr lang="en-US" sz="3300" dirty="0"/>
          </a:p>
        </p:txBody>
      </p:sp>
      <p:sp>
        <p:nvSpPr>
          <p:cNvPr id="31" name="Text 29"/>
          <p:cNvSpPr/>
          <p:nvPr/>
        </p:nvSpPr>
        <p:spPr>
          <a:xfrm>
            <a:off x="2209800" y="9320361"/>
            <a:ext cx="5055755" cy="411361"/>
          </a:xfrm>
          <a:prstGeom prst="rect">
            <a:avLst/>
          </a:prstGeom>
          <a:noFill/>
          <a:ln/>
        </p:spPr>
        <p:txBody>
          <a:bodyPr wrap="square" lIns="25400" tIns="25400" rIns="25400" bIns="25400" rtlCol="0" anchor="t">
            <a:normAutofit/>
          </a:bodyPr>
          <a:lstStyle/>
          <a:p>
            <a:pPr algn="l" indent="0" marL="0">
              <a:lnSpc>
                <a:spcPct val="140000"/>
              </a:lnSpc>
              <a:buNone/>
            </a:pPr>
            <a:r>
              <a:rPr lang="en-US" sz="2100" b="1" dirty="0">
                <a:solidFill>
                  <a:srgbClr val="0D1F2D"/>
                </a:solidFill>
                <a:latin typeface="Arial" pitchFamily="34" charset="0"/>
                <a:ea typeface="Arial" pitchFamily="34" charset="-122"/>
                <a:cs typeface="Arial" pitchFamily="34" charset="-120"/>
              </a:rPr>
              <a:t>Defibrillation</a:t>
            </a:r>
            <a:endParaRPr lang="en-US" sz="2100" dirty="0"/>
          </a:p>
        </p:txBody>
      </p:sp>
      <p:sp>
        <p:nvSpPr>
          <p:cNvPr id="32" name="Text 30"/>
          <p:cNvSpPr/>
          <p:nvPr/>
        </p:nvSpPr>
        <p:spPr>
          <a:xfrm>
            <a:off x="7423100" y="9348936"/>
            <a:ext cx="10111664" cy="706636"/>
          </a:xfrm>
          <a:prstGeom prst="rect">
            <a:avLst/>
          </a:prstGeom>
          <a:noFill/>
          <a:ln/>
        </p:spPr>
        <p:txBody>
          <a:bodyPr wrap="square" lIns="25400" tIns="25400" rIns="25400" bIns="25400" rtlCol="0" anchor="t">
            <a:normAutofit/>
          </a:bodyPr>
          <a:lstStyle/>
          <a:p>
            <a:pPr algn="l" indent="0" marL="0">
              <a:lnSpc>
                <a:spcPct val="135000"/>
              </a:lnSpc>
              <a:buNone/>
            </a:pPr>
            <a:r>
              <a:rPr lang="en-US" sz="1950" dirty="0">
                <a:solidFill>
                  <a:srgbClr val="5A7A8A"/>
                </a:solidFill>
                <a:latin typeface="Arial" pitchFamily="34" charset="0"/>
                <a:ea typeface="Arial" pitchFamily="34" charset="-122"/>
                <a:cs typeface="Arial" pitchFamily="34" charset="-120"/>
              </a:rPr>
              <a:t>If an AED is available, turn it on and follow the voice prompts. Don't dry the chest if wet from water — the AED tells you.</a:t>
            </a:r>
            <a:endParaRPr lang="en-US" sz="19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B71C1C"/>
        </a:solidFill>
      </p:bgPr>
    </p:bg>
    <p:spTree>
      <p:nvGrpSpPr>
        <p:cNvPr id="1" name=""/>
        <p:cNvGrpSpPr/>
        <p:nvPr/>
      </p:nvGrpSpPr>
      <p:grpSpPr>
        <a:xfrm>
          <a:off x="0" y="0"/>
          <a:ext cx="0" cy="0"/>
          <a:chOff x="0" y="0"/>
          <a:chExt cx="0" cy="0"/>
        </a:xfrm>
      </p:grpSpPr>
      <p:sp>
        <p:nvSpPr>
          <p:cNvPr id="2" name="Text 0"/>
          <p:cNvSpPr/>
          <p:nvPr/>
        </p:nvSpPr>
        <p:spPr>
          <a:xfrm>
            <a:off x="1047750" y="2480518"/>
            <a:ext cx="2038648" cy="384721"/>
          </a:xfrm>
          <a:prstGeom prst="rect">
            <a:avLst/>
          </a:prstGeom>
          <a:noFill/>
          <a:ln/>
        </p:spPr>
        <p:txBody>
          <a:bodyPr wrap="square" lIns="25400" tIns="25400" rIns="25400" bIns="25400" rtlCol="0" anchor="t">
            <a:normAutofit/>
          </a:bodyPr>
          <a:lstStyle/>
          <a:p>
            <a:pPr algn="l" indent="0" marL="0">
              <a:lnSpc>
                <a:spcPct val="140000"/>
              </a:lnSpc>
              <a:buNone/>
            </a:pPr>
            <a:r>
              <a:rPr lang="en-US" sz="1950" spc="375" kern="0" dirty="0">
                <a:solidFill>
                  <a:srgbClr val="FFD166"/>
                </a:solidFill>
                <a:latin typeface="Courier New" pitchFamily="34" charset="0"/>
                <a:ea typeface="Courier New" pitchFamily="34" charset="-122"/>
                <a:cs typeface="Courier New" pitchFamily="34" charset="-120"/>
              </a:rPr>
              <a:t>CPR RHYTHM</a:t>
            </a:r>
            <a:endParaRPr lang="en-US" sz="1950" dirty="0"/>
          </a:p>
        </p:txBody>
      </p:sp>
      <p:sp>
        <p:nvSpPr>
          <p:cNvPr id="3" name="Text 1"/>
          <p:cNvSpPr/>
          <p:nvPr/>
        </p:nvSpPr>
        <p:spPr>
          <a:xfrm>
            <a:off x="1047750" y="3246239"/>
            <a:ext cx="3781584" cy="2628900"/>
          </a:xfrm>
          <a:prstGeom prst="rect">
            <a:avLst/>
          </a:prstGeom>
          <a:noFill/>
          <a:ln/>
        </p:spPr>
        <p:txBody>
          <a:bodyPr wrap="square" lIns="25400" tIns="25400" rIns="25400" bIns="25400" rtlCol="0" anchor="t">
            <a:normAutofit/>
          </a:bodyPr>
          <a:lstStyle/>
          <a:p>
            <a:pPr algn="l" indent="0" marL="0">
              <a:lnSpc>
                <a:spcPct val="85000"/>
              </a:lnSpc>
              <a:buNone/>
            </a:pPr>
            <a:r>
              <a:rPr lang="en-US" sz="24000" b="1" spc="-750" kern="0" dirty="0">
                <a:solidFill>
                  <a:srgbClr val="FFFFFF"/>
                </a:solidFill>
                <a:latin typeface="Arial" pitchFamily="34" charset="0"/>
                <a:ea typeface="Arial" pitchFamily="34" charset="-122"/>
                <a:cs typeface="Arial" pitchFamily="34" charset="-120"/>
              </a:rPr>
              <a:t>30</a:t>
            </a:r>
            <a:endParaRPr lang="en-US" sz="24000" dirty="0"/>
          </a:p>
        </p:txBody>
      </p:sp>
      <p:sp>
        <p:nvSpPr>
          <p:cNvPr id="4" name="Text 2"/>
          <p:cNvSpPr/>
          <p:nvPr/>
        </p:nvSpPr>
        <p:spPr>
          <a:xfrm>
            <a:off x="1047750" y="5951339"/>
            <a:ext cx="3781584" cy="384721"/>
          </a:xfrm>
          <a:prstGeom prst="rect">
            <a:avLst/>
          </a:prstGeom>
          <a:noFill/>
          <a:ln/>
        </p:spPr>
        <p:txBody>
          <a:bodyPr wrap="square" lIns="25400" tIns="25400" rIns="25400" bIns="25400" rtlCol="0" anchor="t">
            <a:normAutofit/>
          </a:bodyPr>
          <a:lstStyle/>
          <a:p>
            <a:pPr algn="l" indent="0" marL="0">
              <a:lnSpc>
                <a:spcPct val="140000"/>
              </a:lnSpc>
              <a:buNone/>
            </a:pPr>
            <a:r>
              <a:rPr lang="en-US" sz="1950" spc="300" kern="0" dirty="0">
                <a:solidFill>
                  <a:srgbClr val="FFFFFF">
                    <a:alpha val="80000"/>
                  </a:srgbClr>
                </a:solidFill>
                <a:latin typeface="Courier New" pitchFamily="34" charset="0"/>
                <a:ea typeface="Courier New" pitchFamily="34" charset="-122"/>
                <a:cs typeface="Courier New" pitchFamily="34" charset="-120"/>
              </a:rPr>
              <a:t>COMPRESSIONS</a:t>
            </a:r>
            <a:endParaRPr lang="en-US" sz="1950" dirty="0"/>
          </a:p>
        </p:txBody>
      </p:sp>
      <p:sp>
        <p:nvSpPr>
          <p:cNvPr id="5" name="Text 3"/>
          <p:cNvSpPr/>
          <p:nvPr/>
        </p:nvSpPr>
        <p:spPr>
          <a:xfrm>
            <a:off x="5290691" y="4151114"/>
            <a:ext cx="1086148" cy="1752600"/>
          </a:xfrm>
          <a:prstGeom prst="rect">
            <a:avLst/>
          </a:prstGeom>
          <a:noFill/>
          <a:ln/>
        </p:spPr>
        <p:txBody>
          <a:bodyPr wrap="square" lIns="25400" tIns="25400" rIns="25400" bIns="25400" rtlCol="0" anchor="t">
            <a:normAutofit/>
          </a:bodyPr>
          <a:lstStyle/>
          <a:p>
            <a:pPr algn="l" indent="0" marL="0">
              <a:lnSpc>
                <a:spcPct val="100000"/>
              </a:lnSpc>
              <a:buNone/>
            </a:pPr>
            <a:r>
              <a:rPr lang="en-US" sz="13500" b="1" dirty="0">
                <a:solidFill>
                  <a:srgbClr val="FFD166"/>
                </a:solidFill>
                <a:latin typeface="Arial" pitchFamily="34" charset="0"/>
                <a:ea typeface="Arial" pitchFamily="34" charset="-122"/>
                <a:cs typeface="Arial" pitchFamily="34" charset="-120"/>
              </a:rPr>
              <a:t>+</a:t>
            </a:r>
            <a:endParaRPr lang="en-US" sz="13500" dirty="0"/>
          </a:p>
        </p:txBody>
      </p:sp>
      <p:sp>
        <p:nvSpPr>
          <p:cNvPr id="6" name="Text 4"/>
          <p:cNvSpPr/>
          <p:nvPr/>
        </p:nvSpPr>
        <p:spPr>
          <a:xfrm>
            <a:off x="6872139" y="3246239"/>
            <a:ext cx="1715393" cy="2628900"/>
          </a:xfrm>
          <a:prstGeom prst="rect">
            <a:avLst/>
          </a:prstGeom>
          <a:noFill/>
          <a:ln/>
        </p:spPr>
        <p:txBody>
          <a:bodyPr wrap="square" lIns="25400" tIns="25400" rIns="25400" bIns="25400" rtlCol="0" anchor="t">
            <a:normAutofit/>
          </a:bodyPr>
          <a:lstStyle/>
          <a:p>
            <a:pPr algn="l" indent="0" marL="0">
              <a:lnSpc>
                <a:spcPct val="85000"/>
              </a:lnSpc>
              <a:buNone/>
            </a:pPr>
            <a:r>
              <a:rPr lang="en-US" sz="24000" b="1" spc="-750" kern="0" dirty="0">
                <a:solidFill>
                  <a:srgbClr val="FFFFFF"/>
                </a:solidFill>
                <a:latin typeface="Arial" pitchFamily="34" charset="0"/>
                <a:ea typeface="Arial" pitchFamily="34" charset="-122"/>
                <a:cs typeface="Arial" pitchFamily="34" charset="-120"/>
              </a:rPr>
              <a:t>2</a:t>
            </a:r>
            <a:endParaRPr lang="en-US" sz="24000" dirty="0"/>
          </a:p>
        </p:txBody>
      </p:sp>
      <p:sp>
        <p:nvSpPr>
          <p:cNvPr id="7" name="Text 5"/>
          <p:cNvSpPr/>
          <p:nvPr/>
        </p:nvSpPr>
        <p:spPr>
          <a:xfrm>
            <a:off x="6872139" y="5951339"/>
            <a:ext cx="1715393" cy="384721"/>
          </a:xfrm>
          <a:prstGeom prst="rect">
            <a:avLst/>
          </a:prstGeom>
          <a:noFill/>
          <a:ln/>
        </p:spPr>
        <p:txBody>
          <a:bodyPr wrap="square" lIns="25400" tIns="25400" rIns="25400" bIns="25400" rtlCol="0" anchor="t">
            <a:normAutofit/>
          </a:bodyPr>
          <a:lstStyle/>
          <a:p>
            <a:pPr algn="l" indent="0" marL="0">
              <a:lnSpc>
                <a:spcPct val="140000"/>
              </a:lnSpc>
              <a:buNone/>
            </a:pPr>
            <a:r>
              <a:rPr lang="en-US" sz="1950" spc="300" kern="0" dirty="0">
                <a:solidFill>
                  <a:srgbClr val="FFFFFF">
                    <a:alpha val="80000"/>
                  </a:srgbClr>
                </a:solidFill>
                <a:latin typeface="Courier New" pitchFamily="34" charset="0"/>
                <a:ea typeface="Courier New" pitchFamily="34" charset="-122"/>
                <a:cs typeface="Courier New" pitchFamily="34" charset="-120"/>
              </a:rPr>
              <a:t>BREATHS</a:t>
            </a:r>
            <a:endParaRPr lang="en-US" sz="1950" dirty="0"/>
          </a:p>
        </p:txBody>
      </p:sp>
      <p:sp>
        <p:nvSpPr>
          <p:cNvPr id="8" name="Text 6"/>
          <p:cNvSpPr/>
          <p:nvPr/>
        </p:nvSpPr>
        <p:spPr>
          <a:xfrm>
            <a:off x="1047750" y="6831360"/>
            <a:ext cx="13735050" cy="1089422"/>
          </a:xfrm>
          <a:prstGeom prst="rect">
            <a:avLst/>
          </a:prstGeom>
          <a:noFill/>
          <a:ln/>
        </p:spPr>
        <p:txBody>
          <a:bodyPr wrap="square" lIns="25400" tIns="25400" rIns="25400" bIns="25400" rtlCol="0" anchor="t">
            <a:normAutofit/>
          </a:bodyPr>
          <a:lstStyle/>
          <a:p>
            <a:pPr algn="l" indent="0" marL="0">
              <a:lnSpc>
                <a:spcPct val="115000"/>
              </a:lnSpc>
              <a:buNone/>
            </a:pPr>
            <a:r>
              <a:rPr lang="en-US" sz="3600" b="1" dirty="0">
                <a:solidFill>
                  <a:srgbClr val="FFFFFF"/>
                </a:solidFill>
                <a:latin typeface="Arial" pitchFamily="34" charset="0"/>
                <a:ea typeface="Arial" pitchFamily="34" charset="-122"/>
                <a:cs typeface="Arial" pitchFamily="34" charset="-120"/>
              </a:rPr>
              <a:t>Repeat until help arrives. About </a:t>
            </a:r>
            <a:pPr algn="l" indent="0" marL="0">
              <a:lnSpc>
                <a:spcPct val="115000"/>
              </a:lnSpc>
              <a:buNone/>
            </a:pPr>
            <a:r>
              <a:rPr lang="en-US" sz="3600" b="1" dirty="0">
                <a:solidFill>
                  <a:srgbClr val="FFD166"/>
                </a:solidFill>
                <a:latin typeface="Arial" pitchFamily="34" charset="0"/>
                <a:ea typeface="Arial" pitchFamily="34" charset="-122"/>
                <a:cs typeface="Arial" pitchFamily="34" charset="-120"/>
              </a:rPr>
              <a:t>100–120 beats per minute </a:t>
            </a:r>
            <a:pPr algn="l" indent="0" marL="0">
              <a:lnSpc>
                <a:spcPct val="115000"/>
              </a:lnSpc>
              <a:buNone/>
            </a:pPr>
            <a:r>
              <a:rPr lang="en-US" sz="3600" b="1" dirty="0">
                <a:solidFill>
                  <a:srgbClr val="FFFFFF"/>
                </a:solidFill>
                <a:latin typeface="Arial" pitchFamily="34" charset="0"/>
                <a:ea typeface="Arial" pitchFamily="34" charset="-122"/>
                <a:cs typeface="Arial" pitchFamily="34" charset="-120"/>
              </a:rPr>
              <a:t>— the rhythm of "Stayin' Alive".</a:t>
            </a:r>
            <a:endParaRPr lang="en-US" sz="36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C0392B"/>
        </a:solidFill>
      </p:bgPr>
    </p:bg>
    <p:spTree>
      <p:nvGrpSpPr>
        <p:cNvPr id="1" name=""/>
        <p:cNvGrpSpPr/>
        <p:nvPr/>
      </p:nvGrpSpPr>
      <p:grpSpPr>
        <a:xfrm>
          <a:off x="0" y="0"/>
          <a:ext cx="0" cy="0"/>
          <a:chOff x="0" y="0"/>
          <a:chExt cx="0" cy="0"/>
        </a:xfrm>
      </p:grpSpPr>
      <p:sp>
        <p:nvSpPr>
          <p:cNvPr id="2" name="Text 0"/>
          <p:cNvSpPr/>
          <p:nvPr/>
        </p:nvSpPr>
        <p:spPr>
          <a:xfrm>
            <a:off x="1047750" y="3355628"/>
            <a:ext cx="7112640" cy="384721"/>
          </a:xfrm>
          <a:prstGeom prst="rect">
            <a:avLst/>
          </a:prstGeom>
          <a:noFill/>
          <a:ln/>
        </p:spPr>
        <p:txBody>
          <a:bodyPr wrap="square" lIns="25400" tIns="25400" rIns="25400" bIns="25400" rtlCol="0" anchor="t">
            <a:normAutofit/>
          </a:bodyPr>
          <a:lstStyle/>
          <a:p>
            <a:pPr algn="l" indent="0" marL="0">
              <a:lnSpc>
                <a:spcPct val="140000"/>
              </a:lnSpc>
              <a:buNone/>
            </a:pPr>
            <a:r>
              <a:rPr lang="en-US" sz="1950" spc="375" kern="0" dirty="0">
                <a:solidFill>
                  <a:srgbClr val="FFD166"/>
                </a:solidFill>
                <a:latin typeface="Courier New" pitchFamily="34" charset="0"/>
                <a:ea typeface="Courier New" pitchFamily="34" charset="-122"/>
                <a:cs typeface="Courier New" pitchFamily="34" charset="-120"/>
              </a:rPr>
              <a:t>CALL</a:t>
            </a:r>
            <a:endParaRPr lang="en-US" sz="1950" dirty="0"/>
          </a:p>
        </p:txBody>
      </p:sp>
      <p:sp>
        <p:nvSpPr>
          <p:cNvPr id="3" name="Text 1"/>
          <p:cNvSpPr/>
          <p:nvPr/>
        </p:nvSpPr>
        <p:spPr>
          <a:xfrm>
            <a:off x="1047750" y="3930848"/>
            <a:ext cx="7112640" cy="3114675"/>
          </a:xfrm>
          <a:prstGeom prst="rect">
            <a:avLst/>
          </a:prstGeom>
          <a:noFill/>
          <a:ln/>
        </p:spPr>
        <p:txBody>
          <a:bodyPr wrap="square" lIns="25400" tIns="25400" rIns="25400" bIns="25400" rtlCol="0" anchor="t">
            <a:normAutofit/>
          </a:bodyPr>
          <a:lstStyle/>
          <a:p>
            <a:pPr algn="l" indent="0" marL="0">
              <a:lnSpc>
                <a:spcPct val="85000"/>
              </a:lnSpc>
              <a:buNone/>
            </a:pPr>
            <a:r>
              <a:rPr lang="en-US" sz="28500" b="1" spc="-600" kern="0" dirty="0">
                <a:solidFill>
                  <a:srgbClr val="FFFFFF"/>
                </a:solidFill>
                <a:latin typeface="Arial" pitchFamily="34" charset="0"/>
                <a:ea typeface="Arial" pitchFamily="34" charset="-122"/>
                <a:cs typeface="Arial" pitchFamily="34" charset="-120"/>
              </a:rPr>
              <a:t>000</a:t>
            </a:r>
            <a:endParaRPr lang="en-US" sz="28500" dirty="0"/>
          </a:p>
        </p:txBody>
      </p:sp>
      <p:sp>
        <p:nvSpPr>
          <p:cNvPr id="4" name="Shape 2"/>
          <p:cNvSpPr/>
          <p:nvPr/>
        </p:nvSpPr>
        <p:spPr>
          <a:xfrm>
            <a:off x="8524726" y="2067074"/>
            <a:ext cx="8715524" cy="19050"/>
          </a:xfrm>
          <a:prstGeom prst="rect">
            <a:avLst/>
          </a:prstGeom>
          <a:solidFill>
            <a:srgbClr val="FFFFFF">
              <a:alpha val="50000"/>
            </a:srgbClr>
          </a:solidFill>
          <a:ln/>
        </p:spPr>
        <p:txBody>
          <a:bodyPr/>
          <a:p/>
        </p:txBody>
      </p:sp>
      <p:sp>
        <p:nvSpPr>
          <p:cNvPr id="5" name="Text 3"/>
          <p:cNvSpPr/>
          <p:nvPr/>
        </p:nvSpPr>
        <p:spPr>
          <a:xfrm>
            <a:off x="8524726" y="2295674"/>
            <a:ext cx="647700" cy="457200"/>
          </a:xfrm>
          <a:prstGeom prst="rect">
            <a:avLst/>
          </a:prstGeom>
          <a:noFill/>
          <a:ln/>
        </p:spPr>
        <p:txBody>
          <a:bodyPr wrap="square" lIns="25400" tIns="25400" rIns="25400" bIns="25400" rtlCol="0" anchor="t">
            <a:normAutofit/>
          </a:bodyPr>
          <a:lstStyle/>
          <a:p>
            <a:pPr algn="l" indent="0" marL="0">
              <a:lnSpc>
                <a:spcPct val="100000"/>
              </a:lnSpc>
              <a:buNone/>
            </a:pPr>
            <a:r>
              <a:rPr lang="en-US" sz="3300" b="1" dirty="0">
                <a:solidFill>
                  <a:srgbClr val="FFD166"/>
                </a:solidFill>
                <a:latin typeface="Arial" pitchFamily="34" charset="0"/>
                <a:ea typeface="Arial" pitchFamily="34" charset="-122"/>
                <a:cs typeface="Arial" pitchFamily="34" charset="-120"/>
              </a:rPr>
              <a:t>01</a:t>
            </a:r>
            <a:endParaRPr lang="en-US" sz="3300" dirty="0"/>
          </a:p>
        </p:txBody>
      </p:sp>
      <p:sp>
        <p:nvSpPr>
          <p:cNvPr id="6" name="Text 4"/>
          <p:cNvSpPr/>
          <p:nvPr/>
        </p:nvSpPr>
        <p:spPr>
          <a:xfrm>
            <a:off x="9324826" y="2295674"/>
            <a:ext cx="8152887" cy="758130"/>
          </a:xfrm>
          <a:prstGeom prst="rect">
            <a:avLst/>
          </a:prstGeom>
          <a:noFill/>
          <a:ln/>
        </p:spPr>
        <p:txBody>
          <a:bodyPr wrap="square" lIns="25400" tIns="25400" rIns="25400" bIns="25400" rtlCol="0" anchor="t">
            <a:normAutofit/>
          </a:bodyPr>
          <a:lstStyle/>
          <a:p>
            <a:pPr algn="l" indent="0" marL="0">
              <a:lnSpc>
                <a:spcPct val="135000"/>
              </a:lnSpc>
              <a:buNone/>
            </a:pPr>
            <a:r>
              <a:rPr lang="en-US" sz="2100" dirty="0">
                <a:solidFill>
                  <a:srgbClr val="FFFFFF"/>
                </a:solidFill>
                <a:latin typeface="Arial" pitchFamily="34" charset="0"/>
                <a:ea typeface="Arial" pitchFamily="34" charset="-122"/>
                <a:cs typeface="Arial" pitchFamily="34" charset="-120"/>
              </a:rPr>
              <a:t>Ask for </a:t>
            </a:r>
            <a:pPr algn="l" indent="0" marL="0">
              <a:lnSpc>
                <a:spcPct val="135000"/>
              </a:lnSpc>
              <a:buNone/>
            </a:pPr>
            <a:r>
              <a:rPr lang="en-US" sz="2100" b="1" dirty="0">
                <a:solidFill>
                  <a:srgbClr val="FFD166"/>
                </a:solidFill>
                <a:latin typeface="Arial" pitchFamily="34" charset="0"/>
                <a:ea typeface="Arial" pitchFamily="34" charset="-122"/>
                <a:cs typeface="Arial" pitchFamily="34" charset="-120"/>
              </a:rPr>
              <a:t>Police, Fire, or Ambulance </a:t>
            </a:r>
            <a:pPr algn="l" indent="0" marL="0">
              <a:lnSpc>
                <a:spcPct val="135000"/>
              </a:lnSpc>
              <a:buNone/>
            </a:pPr>
            <a:r>
              <a:rPr lang="en-US" sz="2100" dirty="0">
                <a:solidFill>
                  <a:srgbClr val="FFFFFF"/>
                </a:solidFill>
                <a:latin typeface="Arial" pitchFamily="34" charset="0"/>
                <a:ea typeface="Arial" pitchFamily="34" charset="-122"/>
                <a:cs typeface="Arial" pitchFamily="34" charset="-120"/>
              </a:rPr>
              <a:t>. Water emergency = Ambulance.</a:t>
            </a:r>
            <a:endParaRPr lang="en-US" sz="2100" dirty="0"/>
          </a:p>
        </p:txBody>
      </p:sp>
      <p:sp>
        <p:nvSpPr>
          <p:cNvPr id="7" name="Shape 5"/>
          <p:cNvSpPr/>
          <p:nvPr/>
        </p:nvSpPr>
        <p:spPr>
          <a:xfrm>
            <a:off x="8524726" y="3415754"/>
            <a:ext cx="8715524" cy="9525"/>
          </a:xfrm>
          <a:prstGeom prst="rect">
            <a:avLst/>
          </a:prstGeom>
          <a:solidFill>
            <a:srgbClr val="FFFFFF">
              <a:alpha val="30000"/>
            </a:srgbClr>
          </a:solidFill>
          <a:ln/>
        </p:spPr>
        <p:txBody>
          <a:bodyPr/>
          <a:p/>
        </p:txBody>
      </p:sp>
      <p:sp>
        <p:nvSpPr>
          <p:cNvPr id="8" name="Text 6"/>
          <p:cNvSpPr/>
          <p:nvPr/>
        </p:nvSpPr>
        <p:spPr>
          <a:xfrm>
            <a:off x="8524726" y="3577679"/>
            <a:ext cx="647700" cy="457200"/>
          </a:xfrm>
          <a:prstGeom prst="rect">
            <a:avLst/>
          </a:prstGeom>
          <a:noFill/>
          <a:ln/>
        </p:spPr>
        <p:txBody>
          <a:bodyPr wrap="square" lIns="25400" tIns="25400" rIns="25400" bIns="25400" rtlCol="0" anchor="t">
            <a:normAutofit/>
          </a:bodyPr>
          <a:lstStyle/>
          <a:p>
            <a:pPr algn="l" indent="0" marL="0">
              <a:lnSpc>
                <a:spcPct val="100000"/>
              </a:lnSpc>
              <a:buNone/>
            </a:pPr>
            <a:r>
              <a:rPr lang="en-US" sz="3300" b="1" dirty="0">
                <a:solidFill>
                  <a:srgbClr val="FFD166"/>
                </a:solidFill>
                <a:latin typeface="Arial" pitchFamily="34" charset="0"/>
                <a:ea typeface="Arial" pitchFamily="34" charset="-122"/>
                <a:cs typeface="Arial" pitchFamily="34" charset="-120"/>
              </a:rPr>
              <a:t>02</a:t>
            </a:r>
            <a:endParaRPr lang="en-US" sz="3300" dirty="0"/>
          </a:p>
        </p:txBody>
      </p:sp>
      <p:sp>
        <p:nvSpPr>
          <p:cNvPr id="9" name="Text 7"/>
          <p:cNvSpPr/>
          <p:nvPr/>
        </p:nvSpPr>
        <p:spPr>
          <a:xfrm>
            <a:off x="9324826" y="3577679"/>
            <a:ext cx="8152887" cy="758130"/>
          </a:xfrm>
          <a:prstGeom prst="rect">
            <a:avLst/>
          </a:prstGeom>
          <a:noFill/>
          <a:ln/>
        </p:spPr>
        <p:txBody>
          <a:bodyPr wrap="square" lIns="25400" tIns="25400" rIns="25400" bIns="25400" rtlCol="0" anchor="t">
            <a:normAutofit/>
          </a:bodyPr>
          <a:lstStyle/>
          <a:p>
            <a:pPr algn="l" indent="0" marL="0">
              <a:lnSpc>
                <a:spcPct val="135000"/>
              </a:lnSpc>
              <a:buNone/>
            </a:pPr>
            <a:r>
              <a:rPr lang="en-US" sz="2100" dirty="0">
                <a:solidFill>
                  <a:srgbClr val="FFFFFF"/>
                </a:solidFill>
                <a:latin typeface="Arial" pitchFamily="34" charset="0"/>
                <a:ea typeface="Arial" pitchFamily="34" charset="-122"/>
                <a:cs typeface="Arial" pitchFamily="34" charset="-120"/>
              </a:rPr>
              <a:t>Give the </a:t>
            </a:r>
            <a:pPr algn="l" indent="0" marL="0">
              <a:lnSpc>
                <a:spcPct val="135000"/>
              </a:lnSpc>
              <a:buNone/>
            </a:pPr>
            <a:r>
              <a:rPr lang="en-US" sz="2100" b="1" dirty="0">
                <a:solidFill>
                  <a:srgbClr val="FFD166"/>
                </a:solidFill>
                <a:latin typeface="Arial" pitchFamily="34" charset="0"/>
                <a:ea typeface="Arial" pitchFamily="34" charset="-122"/>
                <a:cs typeface="Arial" pitchFamily="34" charset="-120"/>
              </a:rPr>
              <a:t>exact location </a:t>
            </a:r>
            <a:pPr algn="l" indent="0" marL="0">
              <a:lnSpc>
                <a:spcPct val="135000"/>
              </a:lnSpc>
              <a:buNone/>
            </a:pPr>
            <a:r>
              <a:rPr lang="en-US" sz="2100" dirty="0">
                <a:solidFill>
                  <a:srgbClr val="FFFFFF"/>
                </a:solidFill>
                <a:latin typeface="Arial" pitchFamily="34" charset="0"/>
                <a:ea typeface="Arial" pitchFamily="34" charset="-122"/>
                <a:cs typeface="Arial" pitchFamily="34" charset="-120"/>
              </a:rPr>
              <a:t>. Address, road name, nearest landmark, GPS pin if you have it.</a:t>
            </a:r>
            <a:endParaRPr lang="en-US" sz="2100" dirty="0"/>
          </a:p>
        </p:txBody>
      </p:sp>
      <p:sp>
        <p:nvSpPr>
          <p:cNvPr id="10" name="Shape 8"/>
          <p:cNvSpPr/>
          <p:nvPr/>
        </p:nvSpPr>
        <p:spPr>
          <a:xfrm>
            <a:off x="8524726" y="4697760"/>
            <a:ext cx="8715524" cy="9525"/>
          </a:xfrm>
          <a:prstGeom prst="rect">
            <a:avLst/>
          </a:prstGeom>
          <a:solidFill>
            <a:srgbClr val="FFFFFF">
              <a:alpha val="30000"/>
            </a:srgbClr>
          </a:solidFill>
          <a:ln/>
        </p:spPr>
        <p:txBody>
          <a:bodyPr/>
          <a:p/>
        </p:txBody>
      </p:sp>
      <p:sp>
        <p:nvSpPr>
          <p:cNvPr id="11" name="Text 9"/>
          <p:cNvSpPr/>
          <p:nvPr/>
        </p:nvSpPr>
        <p:spPr>
          <a:xfrm>
            <a:off x="8524726" y="4859685"/>
            <a:ext cx="647700" cy="457200"/>
          </a:xfrm>
          <a:prstGeom prst="rect">
            <a:avLst/>
          </a:prstGeom>
          <a:noFill/>
          <a:ln/>
        </p:spPr>
        <p:txBody>
          <a:bodyPr wrap="square" lIns="25400" tIns="25400" rIns="25400" bIns="25400" rtlCol="0" anchor="t">
            <a:normAutofit/>
          </a:bodyPr>
          <a:lstStyle/>
          <a:p>
            <a:pPr algn="l" indent="0" marL="0">
              <a:lnSpc>
                <a:spcPct val="100000"/>
              </a:lnSpc>
              <a:buNone/>
            </a:pPr>
            <a:r>
              <a:rPr lang="en-US" sz="3300" b="1" dirty="0">
                <a:solidFill>
                  <a:srgbClr val="FFD166"/>
                </a:solidFill>
                <a:latin typeface="Arial" pitchFamily="34" charset="0"/>
                <a:ea typeface="Arial" pitchFamily="34" charset="-122"/>
                <a:cs typeface="Arial" pitchFamily="34" charset="-120"/>
              </a:rPr>
              <a:t>03</a:t>
            </a:r>
            <a:endParaRPr lang="en-US" sz="3300" dirty="0"/>
          </a:p>
        </p:txBody>
      </p:sp>
      <p:sp>
        <p:nvSpPr>
          <p:cNvPr id="12" name="Text 10"/>
          <p:cNvSpPr/>
          <p:nvPr/>
        </p:nvSpPr>
        <p:spPr>
          <a:xfrm>
            <a:off x="9324826" y="4859685"/>
            <a:ext cx="8152887" cy="758130"/>
          </a:xfrm>
          <a:prstGeom prst="rect">
            <a:avLst/>
          </a:prstGeom>
          <a:noFill/>
          <a:ln/>
        </p:spPr>
        <p:txBody>
          <a:bodyPr wrap="square" lIns="25400" tIns="25400" rIns="25400" bIns="25400" rtlCol="0" anchor="t">
            <a:normAutofit/>
          </a:bodyPr>
          <a:lstStyle/>
          <a:p>
            <a:pPr algn="l" indent="0" marL="0">
              <a:lnSpc>
                <a:spcPct val="135000"/>
              </a:lnSpc>
              <a:buNone/>
            </a:pPr>
            <a:r>
              <a:rPr lang="en-US" sz="2100" dirty="0">
                <a:solidFill>
                  <a:srgbClr val="FFFFFF"/>
                </a:solidFill>
                <a:latin typeface="Arial" pitchFamily="34" charset="0"/>
                <a:ea typeface="Arial" pitchFamily="34" charset="-122"/>
                <a:cs typeface="Arial" pitchFamily="34" charset="-120"/>
              </a:rPr>
              <a:t>Describe the casualty: </a:t>
            </a:r>
            <a:pPr algn="l" indent="0" marL="0">
              <a:lnSpc>
                <a:spcPct val="135000"/>
              </a:lnSpc>
              <a:buNone/>
            </a:pPr>
            <a:r>
              <a:rPr lang="en-US" sz="2100" b="1" dirty="0">
                <a:solidFill>
                  <a:srgbClr val="FFD166"/>
                </a:solidFill>
                <a:latin typeface="Arial" pitchFamily="34" charset="0"/>
                <a:ea typeface="Arial" pitchFamily="34" charset="-122"/>
                <a:cs typeface="Arial" pitchFamily="34" charset="-120"/>
              </a:rPr>
              <a:t>conscious or not, breathing or not </a:t>
            </a:r>
            <a:pPr algn="l" indent="0" marL="0">
              <a:lnSpc>
                <a:spcPct val="135000"/>
              </a:lnSpc>
              <a:buNone/>
            </a:pPr>
            <a:r>
              <a:rPr lang="en-US" sz="2100" dirty="0">
                <a:solidFill>
                  <a:srgbClr val="FFFFFF"/>
                </a:solidFill>
                <a:latin typeface="Arial" pitchFamily="34" charset="0"/>
                <a:ea typeface="Arial" pitchFamily="34" charset="-122"/>
                <a:cs typeface="Arial" pitchFamily="34" charset="-120"/>
              </a:rPr>
              <a:t>, age, how long they were in the water.</a:t>
            </a:r>
            <a:endParaRPr lang="en-US" sz="2100" dirty="0"/>
          </a:p>
        </p:txBody>
      </p:sp>
      <p:sp>
        <p:nvSpPr>
          <p:cNvPr id="13" name="Shape 11"/>
          <p:cNvSpPr/>
          <p:nvPr/>
        </p:nvSpPr>
        <p:spPr>
          <a:xfrm>
            <a:off x="8524726" y="5979765"/>
            <a:ext cx="8715524" cy="9525"/>
          </a:xfrm>
          <a:prstGeom prst="rect">
            <a:avLst/>
          </a:prstGeom>
          <a:solidFill>
            <a:srgbClr val="FFFFFF">
              <a:alpha val="30000"/>
            </a:srgbClr>
          </a:solidFill>
          <a:ln/>
        </p:spPr>
        <p:txBody>
          <a:bodyPr/>
          <a:p/>
        </p:txBody>
      </p:sp>
      <p:sp>
        <p:nvSpPr>
          <p:cNvPr id="14" name="Text 12"/>
          <p:cNvSpPr/>
          <p:nvPr/>
        </p:nvSpPr>
        <p:spPr>
          <a:xfrm>
            <a:off x="8524726" y="6141690"/>
            <a:ext cx="647700" cy="457200"/>
          </a:xfrm>
          <a:prstGeom prst="rect">
            <a:avLst/>
          </a:prstGeom>
          <a:noFill/>
          <a:ln/>
        </p:spPr>
        <p:txBody>
          <a:bodyPr wrap="square" lIns="25400" tIns="25400" rIns="25400" bIns="25400" rtlCol="0" anchor="t">
            <a:normAutofit/>
          </a:bodyPr>
          <a:lstStyle/>
          <a:p>
            <a:pPr algn="l" indent="0" marL="0">
              <a:lnSpc>
                <a:spcPct val="100000"/>
              </a:lnSpc>
              <a:buNone/>
            </a:pPr>
            <a:r>
              <a:rPr lang="en-US" sz="3300" b="1" dirty="0">
                <a:solidFill>
                  <a:srgbClr val="FFD166"/>
                </a:solidFill>
                <a:latin typeface="Arial" pitchFamily="34" charset="0"/>
                <a:ea typeface="Arial" pitchFamily="34" charset="-122"/>
                <a:cs typeface="Arial" pitchFamily="34" charset="-120"/>
              </a:rPr>
              <a:t>04</a:t>
            </a:r>
            <a:endParaRPr lang="en-US" sz="3300" dirty="0"/>
          </a:p>
        </p:txBody>
      </p:sp>
      <p:sp>
        <p:nvSpPr>
          <p:cNvPr id="15" name="Text 13"/>
          <p:cNvSpPr/>
          <p:nvPr/>
        </p:nvSpPr>
        <p:spPr>
          <a:xfrm>
            <a:off x="9324826" y="6141690"/>
            <a:ext cx="8152887" cy="758130"/>
          </a:xfrm>
          <a:prstGeom prst="rect">
            <a:avLst/>
          </a:prstGeom>
          <a:noFill/>
          <a:ln/>
        </p:spPr>
        <p:txBody>
          <a:bodyPr wrap="square" lIns="25400" tIns="25400" rIns="25400" bIns="25400" rtlCol="0" anchor="t">
            <a:normAutofit/>
          </a:bodyPr>
          <a:lstStyle/>
          <a:p>
            <a:pPr algn="l" indent="0" marL="0">
              <a:lnSpc>
                <a:spcPct val="135000"/>
              </a:lnSpc>
              <a:buNone/>
            </a:pPr>
            <a:r>
              <a:rPr lang="en-US" sz="2100" dirty="0">
                <a:solidFill>
                  <a:srgbClr val="FFFFFF"/>
                </a:solidFill>
                <a:latin typeface="Arial" pitchFamily="34" charset="0"/>
                <a:ea typeface="Arial" pitchFamily="34" charset="-122"/>
                <a:cs typeface="Arial" pitchFamily="34" charset="-120"/>
              </a:rPr>
              <a:t>Stay on the line. Put it on </a:t>
            </a:r>
            <a:pPr algn="l" indent="0" marL="0">
              <a:lnSpc>
                <a:spcPct val="135000"/>
              </a:lnSpc>
              <a:buNone/>
            </a:pPr>
            <a:r>
              <a:rPr lang="en-US" sz="2100" b="1" dirty="0">
                <a:solidFill>
                  <a:srgbClr val="FFD166"/>
                </a:solidFill>
                <a:latin typeface="Arial" pitchFamily="34" charset="0"/>
                <a:ea typeface="Arial" pitchFamily="34" charset="-122"/>
                <a:cs typeface="Arial" pitchFamily="34" charset="-120"/>
              </a:rPr>
              <a:t>speaker </a:t>
            </a:r>
            <a:pPr algn="l" indent="0" marL="0">
              <a:lnSpc>
                <a:spcPct val="135000"/>
              </a:lnSpc>
              <a:buNone/>
            </a:pPr>
            <a:r>
              <a:rPr lang="en-US" sz="2100" dirty="0">
                <a:solidFill>
                  <a:srgbClr val="FFFFFF"/>
                </a:solidFill>
                <a:latin typeface="Arial" pitchFamily="34" charset="0"/>
                <a:ea typeface="Arial" pitchFamily="34" charset="-122"/>
                <a:cs typeface="Arial" pitchFamily="34" charset="-120"/>
              </a:rPr>
              <a:t>. Do not hang up until the operator tells you to.</a:t>
            </a:r>
            <a:endParaRPr lang="en-US" sz="2100" dirty="0"/>
          </a:p>
        </p:txBody>
      </p:sp>
      <p:sp>
        <p:nvSpPr>
          <p:cNvPr id="16" name="Shape 14"/>
          <p:cNvSpPr/>
          <p:nvPr/>
        </p:nvSpPr>
        <p:spPr>
          <a:xfrm>
            <a:off x="8524726" y="7261771"/>
            <a:ext cx="8715524" cy="9525"/>
          </a:xfrm>
          <a:prstGeom prst="rect">
            <a:avLst/>
          </a:prstGeom>
          <a:solidFill>
            <a:srgbClr val="FFFFFF">
              <a:alpha val="30000"/>
            </a:srgbClr>
          </a:solidFill>
          <a:ln/>
        </p:spPr>
        <p:txBody>
          <a:bodyPr/>
          <a:p/>
        </p:txBody>
      </p:sp>
      <p:sp>
        <p:nvSpPr>
          <p:cNvPr id="17" name="Text 15"/>
          <p:cNvSpPr/>
          <p:nvPr/>
        </p:nvSpPr>
        <p:spPr>
          <a:xfrm>
            <a:off x="8524726" y="7423696"/>
            <a:ext cx="647700" cy="457200"/>
          </a:xfrm>
          <a:prstGeom prst="rect">
            <a:avLst/>
          </a:prstGeom>
          <a:noFill/>
          <a:ln/>
        </p:spPr>
        <p:txBody>
          <a:bodyPr wrap="square" lIns="25400" tIns="25400" rIns="25400" bIns="25400" rtlCol="0" anchor="t">
            <a:normAutofit/>
          </a:bodyPr>
          <a:lstStyle/>
          <a:p>
            <a:pPr algn="l" indent="0" marL="0">
              <a:lnSpc>
                <a:spcPct val="100000"/>
              </a:lnSpc>
              <a:buNone/>
            </a:pPr>
            <a:r>
              <a:rPr lang="en-US" sz="3300" b="1" dirty="0">
                <a:solidFill>
                  <a:srgbClr val="FFD166"/>
                </a:solidFill>
                <a:latin typeface="Arial" pitchFamily="34" charset="0"/>
                <a:ea typeface="Arial" pitchFamily="34" charset="-122"/>
                <a:cs typeface="Arial" pitchFamily="34" charset="-120"/>
              </a:rPr>
              <a:t>05</a:t>
            </a:r>
            <a:endParaRPr lang="en-US" sz="3300" dirty="0"/>
          </a:p>
        </p:txBody>
      </p:sp>
      <p:sp>
        <p:nvSpPr>
          <p:cNvPr id="18" name="Text 16"/>
          <p:cNvSpPr/>
          <p:nvPr/>
        </p:nvSpPr>
        <p:spPr>
          <a:xfrm>
            <a:off x="9324826" y="7423696"/>
            <a:ext cx="8152887" cy="758130"/>
          </a:xfrm>
          <a:prstGeom prst="rect">
            <a:avLst/>
          </a:prstGeom>
          <a:noFill/>
          <a:ln/>
        </p:spPr>
        <p:txBody>
          <a:bodyPr wrap="square" lIns="25400" tIns="25400" rIns="25400" bIns="25400" rtlCol="0" anchor="t">
            <a:normAutofit/>
          </a:bodyPr>
          <a:lstStyle/>
          <a:p>
            <a:pPr algn="l" indent="0" marL="0">
              <a:lnSpc>
                <a:spcPct val="135000"/>
              </a:lnSpc>
              <a:buNone/>
            </a:pPr>
            <a:r>
              <a:rPr lang="en-US" sz="2100" dirty="0">
                <a:solidFill>
                  <a:srgbClr val="FFFFFF"/>
                </a:solidFill>
                <a:latin typeface="Arial" pitchFamily="34" charset="0"/>
                <a:ea typeface="Arial" pitchFamily="34" charset="-122"/>
                <a:cs typeface="Arial" pitchFamily="34" charset="-120"/>
              </a:rPr>
              <a:t>Send someone to </a:t>
            </a:r>
            <a:pPr algn="l" indent="0" marL="0">
              <a:lnSpc>
                <a:spcPct val="135000"/>
              </a:lnSpc>
              <a:buNone/>
            </a:pPr>
            <a:r>
              <a:rPr lang="en-US" sz="2100" b="1" dirty="0">
                <a:solidFill>
                  <a:srgbClr val="FFD166"/>
                </a:solidFill>
                <a:latin typeface="Arial" pitchFamily="34" charset="0"/>
                <a:ea typeface="Arial" pitchFamily="34" charset="-122"/>
                <a:cs typeface="Arial" pitchFamily="34" charset="-120"/>
              </a:rPr>
              <a:t>flag down the ambulance </a:t>
            </a:r>
            <a:pPr algn="l" indent="0" marL="0">
              <a:lnSpc>
                <a:spcPct val="135000"/>
              </a:lnSpc>
              <a:buNone/>
            </a:pPr>
            <a:r>
              <a:rPr lang="en-US" sz="2100" dirty="0">
                <a:solidFill>
                  <a:srgbClr val="FFFFFF"/>
                </a:solidFill>
                <a:latin typeface="Arial" pitchFamily="34" charset="0"/>
                <a:ea typeface="Arial" pitchFamily="34" charset="-122"/>
                <a:cs typeface="Arial" pitchFamily="34" charset="-120"/>
              </a:rPr>
              <a:t>at the road or carpark.</a:t>
            </a:r>
            <a:endParaRPr lang="en-US" sz="21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1EDE4"/>
        </a:solidFill>
      </p:bgPr>
    </p:bg>
    <p:spTree>
      <p:nvGrpSpPr>
        <p:cNvPr id="1" name=""/>
        <p:cNvGrpSpPr/>
        <p:nvPr/>
      </p:nvGrpSpPr>
      <p:grpSpPr>
        <a:xfrm>
          <a:off x="0" y="0"/>
          <a:ext cx="0" cy="0"/>
          <a:chOff x="0" y="0"/>
          <a:chExt cx="0" cy="0"/>
        </a:xfrm>
      </p:grpSpPr>
      <p:sp>
        <p:nvSpPr>
          <p:cNvPr id="2" name="Text 0"/>
          <p:cNvSpPr/>
          <p:nvPr/>
        </p:nvSpPr>
        <p:spPr>
          <a:xfrm>
            <a:off x="1047750" y="914400"/>
            <a:ext cx="16678275" cy="358080"/>
          </a:xfrm>
          <a:prstGeom prst="rect">
            <a:avLst/>
          </a:prstGeom>
          <a:noFill/>
          <a:ln/>
        </p:spPr>
        <p:txBody>
          <a:bodyPr wrap="square" lIns="25400" tIns="25400" rIns="25400" bIns="25400" rtlCol="0" anchor="t">
            <a:normAutofit/>
          </a:bodyPr>
          <a:lstStyle/>
          <a:p>
            <a:pPr algn="l" indent="0" marL="0">
              <a:lnSpc>
                <a:spcPct val="140000"/>
              </a:lnSpc>
              <a:buNone/>
            </a:pPr>
            <a:r>
              <a:rPr lang="en-US" sz="1800" spc="300" kern="0" dirty="0">
                <a:solidFill>
                  <a:srgbClr val="5A7A8A"/>
                </a:solidFill>
                <a:latin typeface="Courier New" pitchFamily="34" charset="0"/>
                <a:ea typeface="Courier New" pitchFamily="34" charset="-122"/>
                <a:cs typeface="Courier New" pitchFamily="34" charset="-120"/>
              </a:rPr>
              <a:t>SCENARIO · WORKBOOK ACTIVITY 3.2</a:t>
            </a:r>
            <a:endParaRPr lang="en-US" sz="1800" dirty="0"/>
          </a:p>
        </p:txBody>
      </p:sp>
      <p:sp>
        <p:nvSpPr>
          <p:cNvPr id="3" name="Text 1"/>
          <p:cNvSpPr/>
          <p:nvPr/>
        </p:nvSpPr>
        <p:spPr>
          <a:xfrm>
            <a:off x="1047750" y="1405830"/>
            <a:ext cx="16678275" cy="798165"/>
          </a:xfrm>
          <a:prstGeom prst="rect">
            <a:avLst/>
          </a:prstGeom>
          <a:noFill/>
          <a:ln/>
        </p:spPr>
        <p:txBody>
          <a:bodyPr wrap="square" lIns="25400" tIns="25400" rIns="25400" bIns="25400" rtlCol="0" anchor="t">
            <a:normAutofit/>
          </a:bodyPr>
          <a:lstStyle/>
          <a:p>
            <a:pPr algn="l" indent="0" marL="0">
              <a:lnSpc>
                <a:spcPct val="105000"/>
              </a:lnSpc>
              <a:buNone/>
            </a:pPr>
            <a:r>
              <a:rPr lang="en-US" sz="5700" b="1" spc="-75" kern="0" dirty="0">
                <a:solidFill>
                  <a:srgbClr val="0D1F2D"/>
                </a:solidFill>
                <a:latin typeface="Arial" pitchFamily="34" charset="0"/>
                <a:ea typeface="Arial" pitchFamily="34" charset="-122"/>
                <a:cs typeface="Arial" pitchFamily="34" charset="-120"/>
              </a:rPr>
              <a:t>The river rope swing</a:t>
            </a:r>
            <a:endParaRPr lang="en-US" sz="5700" dirty="0"/>
          </a:p>
        </p:txBody>
      </p:sp>
      <p:sp>
        <p:nvSpPr>
          <p:cNvPr id="4" name="Shape 2"/>
          <p:cNvSpPr/>
          <p:nvPr/>
        </p:nvSpPr>
        <p:spPr>
          <a:xfrm>
            <a:off x="1047750" y="2623096"/>
            <a:ext cx="16192500" cy="6825704"/>
          </a:xfrm>
          <a:prstGeom prst="rect">
            <a:avLst/>
          </a:prstGeom>
          <a:solidFill>
            <a:srgbClr val="FFFFFF"/>
          </a:solidFill>
          <a:ln/>
          <a:effectLst>
            <a:outerShdw sx="100000" sy="100000" kx="0" ky="0" algn="bl" rotWithShape="0" blurRad="285750" dist="57150" dir="5400000">
              <a:srgbClr val="000000">
                <a:alpha val="6000"/>
              </a:srgbClr>
            </a:outerShdw>
          </a:effectLst>
        </p:spPr>
        <p:txBody>
          <a:bodyPr/>
          <a:p/>
        </p:txBody>
      </p:sp>
      <p:sp>
        <p:nvSpPr>
          <p:cNvPr id="5" name="Shape 3"/>
          <p:cNvSpPr/>
          <p:nvPr/>
        </p:nvSpPr>
        <p:spPr>
          <a:xfrm>
            <a:off x="1047750" y="2623096"/>
            <a:ext cx="114300" cy="6825704"/>
          </a:xfrm>
          <a:prstGeom prst="rect">
            <a:avLst/>
          </a:prstGeom>
          <a:solidFill>
            <a:srgbClr val="FFD166"/>
          </a:solidFill>
          <a:ln/>
        </p:spPr>
        <p:txBody>
          <a:bodyPr/>
          <a:p/>
        </p:txBody>
      </p:sp>
      <p:sp>
        <p:nvSpPr>
          <p:cNvPr id="6" name="Text 4"/>
          <p:cNvSpPr/>
          <p:nvPr/>
        </p:nvSpPr>
        <p:spPr>
          <a:xfrm>
            <a:off x="1695450" y="3080296"/>
            <a:ext cx="15461742" cy="331440"/>
          </a:xfrm>
          <a:prstGeom prst="rect">
            <a:avLst/>
          </a:prstGeom>
          <a:noFill/>
          <a:ln/>
        </p:spPr>
        <p:txBody>
          <a:bodyPr wrap="square" lIns="25400" tIns="25400" rIns="25400" bIns="25400" rtlCol="0" anchor="t">
            <a:normAutofit/>
          </a:bodyPr>
          <a:lstStyle/>
          <a:p>
            <a:pPr algn="l" indent="0" marL="0">
              <a:lnSpc>
                <a:spcPct val="140000"/>
              </a:lnSpc>
              <a:buNone/>
            </a:pPr>
            <a:r>
              <a:rPr lang="en-US" sz="1650" spc="300" kern="0" dirty="0">
                <a:solidFill>
                  <a:srgbClr val="B7800C"/>
                </a:solidFill>
                <a:latin typeface="Courier New" pitchFamily="34" charset="0"/>
                <a:ea typeface="Courier New" pitchFamily="34" charset="-122"/>
                <a:cs typeface="Courier New" pitchFamily="34" charset="-120"/>
              </a:rPr>
              <a:t>📍 SCENARIO</a:t>
            </a:r>
            <a:endParaRPr lang="en-US" sz="1650" dirty="0"/>
          </a:p>
        </p:txBody>
      </p:sp>
      <p:sp>
        <p:nvSpPr>
          <p:cNvPr id="7" name="Text 5"/>
          <p:cNvSpPr/>
          <p:nvPr/>
        </p:nvSpPr>
        <p:spPr>
          <a:xfrm>
            <a:off x="1695450" y="3678436"/>
            <a:ext cx="15461742" cy="1957983"/>
          </a:xfrm>
          <a:prstGeom prst="rect">
            <a:avLst/>
          </a:prstGeom>
          <a:noFill/>
          <a:ln/>
        </p:spPr>
        <p:txBody>
          <a:bodyPr wrap="square" lIns="25400" tIns="25400" rIns="25400" bIns="25400" rtlCol="0" anchor="t">
            <a:normAutofit/>
          </a:bodyPr>
          <a:lstStyle/>
          <a:p>
            <a:pPr algn="l" indent="0" marL="0">
              <a:lnSpc>
                <a:spcPct val="140000"/>
              </a:lnSpc>
              <a:buNone/>
            </a:pPr>
            <a:r>
              <a:rPr lang="en-US" sz="2700" dirty="0">
                <a:solidFill>
                  <a:srgbClr val="0D1F2D"/>
                </a:solidFill>
                <a:latin typeface="Arial" pitchFamily="34" charset="0"/>
                <a:ea typeface="Arial" pitchFamily="34" charset="-122"/>
                <a:cs typeface="Arial" pitchFamily="34" charset="-120"/>
              </a:rPr>
              <a:t>It's a hot February day. You're at a popular but </a:t>
            </a:r>
            <a:pPr algn="l" indent="0" marL="0">
              <a:lnSpc>
                <a:spcPct val="140000"/>
              </a:lnSpc>
              <a:buNone/>
            </a:pPr>
            <a:r>
              <a:rPr lang="en-US" sz="2700" b="1" dirty="0">
                <a:solidFill>
                  <a:srgbClr val="003554"/>
                </a:solidFill>
                <a:latin typeface="Arial" pitchFamily="34" charset="0"/>
                <a:ea typeface="Arial" pitchFamily="34" charset="-122"/>
                <a:cs typeface="Arial" pitchFamily="34" charset="-120"/>
              </a:rPr>
              <a:t>unpatrolled </a:t>
            </a:r>
            <a:pPr algn="l" indent="0" marL="0">
              <a:lnSpc>
                <a:spcPct val="140000"/>
              </a:lnSpc>
              <a:buNone/>
            </a:pPr>
            <a:r>
              <a:rPr lang="en-US" sz="2700" dirty="0">
                <a:solidFill>
                  <a:srgbClr val="0D1F2D"/>
                </a:solidFill>
                <a:latin typeface="Arial" pitchFamily="34" charset="0"/>
                <a:ea typeface="Arial" pitchFamily="34" charset="-122"/>
                <a:cs typeface="Arial" pitchFamily="34" charset="-120"/>
              </a:rPr>
              <a:t>rope swing over a river. A 16-year-old you don't know swings out, lets go, and hits the water awkwardly. He sinks and doesn't resurface. One of his friends jumps in to help — and also starts struggling. You're on the bank. You have a </a:t>
            </a:r>
            <a:pPr algn="l" indent="0" marL="0">
              <a:lnSpc>
                <a:spcPct val="140000"/>
              </a:lnSpc>
              <a:buNone/>
            </a:pPr>
            <a:r>
              <a:rPr lang="en-US" sz="2700" b="1" dirty="0">
                <a:solidFill>
                  <a:srgbClr val="003554"/>
                </a:solidFill>
                <a:latin typeface="Arial" pitchFamily="34" charset="0"/>
                <a:ea typeface="Arial" pitchFamily="34" charset="-122"/>
                <a:cs typeface="Arial" pitchFamily="34" charset="-120"/>
              </a:rPr>
              <a:t>towel, a rope on the swing, and your phone</a:t>
            </a:r>
            <a:pPr algn="l" indent="0" marL="0">
              <a:lnSpc>
                <a:spcPct val="140000"/>
              </a:lnSpc>
              <a:buNone/>
            </a:pPr>
            <a:r>
              <a:rPr lang="en-US" sz="2700" dirty="0">
                <a:solidFill>
                  <a:srgbClr val="0D1F2D"/>
                </a:solidFill>
                <a:latin typeface="Arial" pitchFamily="34" charset="0"/>
                <a:ea typeface="Arial" pitchFamily="34" charset="-122"/>
                <a:cs typeface="Arial" pitchFamily="34" charset="-120"/>
              </a:rPr>
              <a:t>.</a:t>
            </a:r>
            <a:endParaRPr lang="en-US" sz="2700" dirty="0"/>
          </a:p>
        </p:txBody>
      </p:sp>
      <p:sp>
        <p:nvSpPr>
          <p:cNvPr id="8" name="Shape 6"/>
          <p:cNvSpPr/>
          <p:nvPr/>
        </p:nvSpPr>
        <p:spPr>
          <a:xfrm>
            <a:off x="1695450" y="7985820"/>
            <a:ext cx="15011400" cy="1005780"/>
          </a:xfrm>
          <a:prstGeom prst="roundRect">
            <a:avLst>
              <a:gd name="adj" fmla="val 11364"/>
            </a:avLst>
          </a:prstGeom>
          <a:solidFill>
            <a:srgbClr val="FFF8E1"/>
          </a:solidFill>
          <a:ln w="9525">
            <a:solidFill>
              <a:srgbClr val="FFC107"/>
            </a:solidFill>
            <a:prstDash val="solid"/>
          </a:ln>
        </p:spPr>
        <p:txBody>
          <a:bodyPr/>
          <a:p/>
        </p:txBody>
      </p:sp>
      <p:sp>
        <p:nvSpPr>
          <p:cNvPr id="9" name="Text 7"/>
          <p:cNvSpPr/>
          <p:nvPr/>
        </p:nvSpPr>
        <p:spPr>
          <a:xfrm>
            <a:off x="1933575" y="8166795"/>
            <a:ext cx="14985492" cy="681930"/>
          </a:xfrm>
          <a:prstGeom prst="rect">
            <a:avLst/>
          </a:prstGeom>
          <a:noFill/>
          <a:ln/>
        </p:spPr>
        <p:txBody>
          <a:bodyPr wrap="square" lIns="25400" tIns="25400" rIns="25400" bIns="25400" rtlCol="0" anchor="t">
            <a:normAutofit/>
          </a:bodyPr>
          <a:lstStyle/>
          <a:p>
            <a:pPr algn="l" indent="0" marL="0">
              <a:lnSpc>
                <a:spcPct val="130000"/>
              </a:lnSpc>
              <a:buNone/>
            </a:pPr>
            <a:r>
              <a:rPr lang="en-US" sz="1950" b="1" dirty="0">
                <a:solidFill>
                  <a:srgbClr val="0D1F2D"/>
                </a:solidFill>
                <a:highlight>
                  <a:srgbClr val="FFF8E1"/>
                </a:highlight>
                <a:latin typeface="Arial" pitchFamily="34" charset="0"/>
                <a:ea typeface="Arial" pitchFamily="34" charset="-122"/>
                <a:cs typeface="Arial" pitchFamily="34" charset="-120"/>
              </a:rPr>
              <a:t>In pairs · 6 minutes: </a:t>
            </a:r>
            <a:pPr algn="l" indent="0" marL="0">
              <a:lnSpc>
                <a:spcPct val="130000"/>
              </a:lnSpc>
              <a:buNone/>
            </a:pPr>
            <a:r>
              <a:rPr lang="en-US" sz="1950" b="1" dirty="0">
                <a:solidFill>
                  <a:srgbClr val="0D1F2D"/>
                </a:solidFill>
                <a:latin typeface="Arial" pitchFamily="34" charset="0"/>
                <a:ea typeface="Arial" pitchFamily="34" charset="-122"/>
                <a:cs typeface="Arial" pitchFamily="34" charset="-120"/>
              </a:rPr>
              <a:t>(1) </a:t>
            </a:r>
            <a:pPr algn="l" indent="0" marL="0">
              <a:lnSpc>
                <a:spcPct val="130000"/>
              </a:lnSpc>
              <a:buNone/>
            </a:pPr>
            <a:r>
              <a:rPr lang="en-US" sz="1950" b="1" dirty="0">
                <a:solidFill>
                  <a:srgbClr val="0D1F2D"/>
                </a:solidFill>
                <a:highlight>
                  <a:srgbClr val="FFF8E1"/>
                </a:highlight>
                <a:latin typeface="Arial" pitchFamily="34" charset="0"/>
                <a:ea typeface="Arial" pitchFamily="34" charset="-122"/>
                <a:cs typeface="Arial" pitchFamily="34" charset="-120"/>
              </a:rPr>
              <a:t>What is your FIRST action and why? </a:t>
            </a:r>
            <a:pPr algn="l" indent="0" marL="0">
              <a:lnSpc>
                <a:spcPct val="130000"/>
              </a:lnSpc>
              <a:buNone/>
            </a:pPr>
            <a:r>
              <a:rPr lang="en-US" sz="1950" b="1" dirty="0">
                <a:solidFill>
                  <a:srgbClr val="0D1F2D"/>
                </a:solidFill>
                <a:latin typeface="Arial" pitchFamily="34" charset="0"/>
                <a:ea typeface="Arial" pitchFamily="34" charset="-122"/>
                <a:cs typeface="Arial" pitchFamily="34" charset="-120"/>
              </a:rPr>
              <a:t>(2) </a:t>
            </a:r>
            <a:pPr algn="l" indent="0" marL="0">
              <a:lnSpc>
                <a:spcPct val="130000"/>
              </a:lnSpc>
              <a:buNone/>
            </a:pPr>
            <a:r>
              <a:rPr lang="en-US" sz="1950" b="1" dirty="0">
                <a:solidFill>
                  <a:srgbClr val="0D1F2D"/>
                </a:solidFill>
                <a:highlight>
                  <a:srgbClr val="FFF8E1"/>
                </a:highlight>
                <a:latin typeface="Arial" pitchFamily="34" charset="0"/>
                <a:ea typeface="Arial" pitchFamily="34" charset="-122"/>
                <a:cs typeface="Arial" pitchFamily="34" charset="-120"/>
              </a:rPr>
              <a:t>Why is the friend jumping in a problem? </a:t>
            </a:r>
            <a:pPr algn="l" indent="0" marL="0">
              <a:lnSpc>
                <a:spcPct val="130000"/>
              </a:lnSpc>
              <a:buNone/>
            </a:pPr>
            <a:r>
              <a:rPr lang="en-US" sz="1950" b="1" dirty="0">
                <a:solidFill>
                  <a:srgbClr val="0D1F2D"/>
                </a:solidFill>
                <a:latin typeface="Arial" pitchFamily="34" charset="0"/>
                <a:ea typeface="Arial" pitchFamily="34" charset="-122"/>
                <a:cs typeface="Arial" pitchFamily="34" charset="-120"/>
              </a:rPr>
              <a:t>(3) </a:t>
            </a:r>
            <a:pPr algn="l" indent="0" marL="0">
              <a:lnSpc>
                <a:spcPct val="130000"/>
              </a:lnSpc>
              <a:buNone/>
            </a:pPr>
            <a:r>
              <a:rPr lang="en-US" sz="1950" b="1" dirty="0">
                <a:solidFill>
                  <a:srgbClr val="0D1F2D"/>
                </a:solidFill>
                <a:highlight>
                  <a:srgbClr val="FFF8E1"/>
                </a:highlight>
                <a:latin typeface="Arial" pitchFamily="34" charset="0"/>
                <a:ea typeface="Arial" pitchFamily="34" charset="-122"/>
                <a:cs typeface="Arial" pitchFamily="34" charset="-120"/>
              </a:rPr>
              <a:t>If you pull him to the bank not breathing, list the DRS ABCD steps in order.</a:t>
            </a:r>
            <a:endParaRPr lang="en-US" sz="19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0D1F2D"/>
        </a:solidFill>
      </p:bgPr>
    </p:bg>
    <p:spTree>
      <p:nvGrpSpPr>
        <p:cNvPr id="1" name=""/>
        <p:cNvGrpSpPr/>
        <p:nvPr/>
      </p:nvGrpSpPr>
      <p:grpSpPr>
        <a:xfrm>
          <a:off x="0" y="0"/>
          <a:ext cx="0" cy="0"/>
          <a:chOff x="0" y="0"/>
          <a:chExt cx="0" cy="0"/>
        </a:xfrm>
      </p:grpSpPr>
      <p:sp>
        <p:nvSpPr>
          <p:cNvPr id="2" name="Text 0"/>
          <p:cNvSpPr/>
          <p:nvPr/>
        </p:nvSpPr>
        <p:spPr>
          <a:xfrm>
            <a:off x="1047750" y="3474393"/>
            <a:ext cx="16678275" cy="384721"/>
          </a:xfrm>
          <a:prstGeom prst="rect">
            <a:avLst/>
          </a:prstGeom>
          <a:noFill/>
          <a:ln/>
        </p:spPr>
        <p:txBody>
          <a:bodyPr wrap="square" lIns="25400" tIns="25400" rIns="25400" bIns="25400" rtlCol="0" anchor="t">
            <a:normAutofit/>
          </a:bodyPr>
          <a:lstStyle/>
          <a:p>
            <a:pPr algn="l" indent="0" marL="0">
              <a:lnSpc>
                <a:spcPct val="140000"/>
              </a:lnSpc>
              <a:buNone/>
            </a:pPr>
            <a:r>
              <a:rPr lang="en-US" sz="1950" spc="450" kern="0" dirty="0">
                <a:solidFill>
                  <a:srgbClr val="FFD166"/>
                </a:solidFill>
                <a:latin typeface="Courier New" pitchFamily="34" charset="0"/>
                <a:ea typeface="Courier New" pitchFamily="34" charset="-122"/>
                <a:cs typeface="Courier New" pitchFamily="34" charset="-120"/>
              </a:rPr>
              <a:t>LESSON 3 · EXIT TICKET · 5 MIN</a:t>
            </a:r>
            <a:endParaRPr lang="en-US" sz="1950" dirty="0"/>
          </a:p>
        </p:txBody>
      </p:sp>
      <p:sp>
        <p:nvSpPr>
          <p:cNvPr id="3" name="Text 1"/>
          <p:cNvSpPr/>
          <p:nvPr/>
        </p:nvSpPr>
        <p:spPr>
          <a:xfrm>
            <a:off x="1047750" y="4163913"/>
            <a:ext cx="15697200" cy="1798141"/>
          </a:xfrm>
          <a:prstGeom prst="rect">
            <a:avLst/>
          </a:prstGeom>
          <a:noFill/>
          <a:ln/>
        </p:spPr>
        <p:txBody>
          <a:bodyPr wrap="square" lIns="25400" tIns="25400" rIns="25400" bIns="25400" rtlCol="0" anchor="t">
            <a:normAutofit/>
          </a:bodyPr>
          <a:lstStyle/>
          <a:p>
            <a:pPr algn="l" indent="0" marL="0">
              <a:lnSpc>
                <a:spcPct val="105000"/>
              </a:lnSpc>
              <a:buNone/>
            </a:pPr>
            <a:r>
              <a:rPr lang="en-US" sz="6600" b="1" spc="-75" kern="0" dirty="0">
                <a:solidFill>
                  <a:srgbClr val="FFFFFF"/>
                </a:solidFill>
                <a:latin typeface="Arial" pitchFamily="34" charset="0"/>
                <a:ea typeface="Arial" pitchFamily="34" charset="-122"/>
                <a:cs typeface="Arial" pitchFamily="34" charset="-120"/>
              </a:rPr>
              <a:t>Write DRS ABCD from memory — and one action for each letter.</a:t>
            </a:r>
            <a:endParaRPr lang="en-US" sz="6600" dirty="0"/>
          </a:p>
        </p:txBody>
      </p:sp>
      <p:sp>
        <p:nvSpPr>
          <p:cNvPr id="4" name="Text 2"/>
          <p:cNvSpPr/>
          <p:nvPr/>
        </p:nvSpPr>
        <p:spPr>
          <a:xfrm>
            <a:off x="1047750" y="6400205"/>
            <a:ext cx="15697200" cy="526703"/>
          </a:xfrm>
          <a:prstGeom prst="rect">
            <a:avLst/>
          </a:prstGeom>
          <a:noFill/>
          <a:ln/>
        </p:spPr>
        <p:txBody>
          <a:bodyPr wrap="square" lIns="25400" tIns="25400" rIns="25400" bIns="25400" rtlCol="0" anchor="t">
            <a:normAutofit/>
          </a:bodyPr>
          <a:lstStyle/>
          <a:p>
            <a:pPr algn="l" indent="0" marL="0">
              <a:lnSpc>
                <a:spcPct val="135000"/>
              </a:lnSpc>
              <a:buNone/>
            </a:pPr>
            <a:r>
              <a:rPr lang="en-US" sz="2850" dirty="0">
                <a:solidFill>
                  <a:srgbClr val="FFFFFF">
                    <a:alpha val="80000"/>
                  </a:srgbClr>
                </a:solidFill>
                <a:latin typeface="Arial" pitchFamily="34" charset="0"/>
                <a:ea typeface="Arial" pitchFamily="34" charset="-122"/>
                <a:cs typeface="Arial" pitchFamily="34" charset="-120"/>
              </a:rPr>
              <a:t>Notes closed. Seven letters, seven actions. If you've got them all, </a:t>
            </a:r>
            <a:pPr algn="l" indent="0" marL="0">
              <a:lnSpc>
                <a:spcPct val="135000"/>
              </a:lnSpc>
              <a:buNone/>
            </a:pPr>
            <a:r>
              <a:rPr lang="en-US" sz="2850" dirty="0">
                <a:solidFill>
                  <a:srgbClr val="FFD166"/>
                </a:solidFill>
                <a:latin typeface="Arial" pitchFamily="34" charset="0"/>
                <a:ea typeface="Arial" pitchFamily="34" charset="-122"/>
                <a:cs typeface="Arial" pitchFamily="34" charset="-120"/>
              </a:rPr>
              <a:t>teach the person next to you</a:t>
            </a:r>
            <a:pPr algn="l" indent="0" marL="0">
              <a:lnSpc>
                <a:spcPct val="135000"/>
              </a:lnSpc>
              <a:buNone/>
            </a:pPr>
            <a:r>
              <a:rPr lang="en-US" sz="2850" dirty="0">
                <a:solidFill>
                  <a:srgbClr val="FFFFFF">
                    <a:alpha val="80000"/>
                  </a:srgbClr>
                </a:solidFill>
                <a:latin typeface="Arial" pitchFamily="34" charset="0"/>
                <a:ea typeface="Arial" pitchFamily="34" charset="-122"/>
                <a:cs typeface="Arial" pitchFamily="34" charset="-120"/>
              </a:rPr>
              <a:t>.</a:t>
            </a:r>
            <a:endParaRPr lang="en-US" sz="28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6A1B9A"/>
        </a:solidFill>
      </p:bgPr>
    </p:bg>
    <p:spTree>
      <p:nvGrpSpPr>
        <p:cNvPr id="1" name=""/>
        <p:cNvGrpSpPr/>
        <p:nvPr/>
      </p:nvGrpSpPr>
      <p:grpSpPr>
        <a:xfrm>
          <a:off x="0" y="0"/>
          <a:ext cx="0" cy="0"/>
          <a:chOff x="0" y="0"/>
          <a:chExt cx="0" cy="0"/>
        </a:xfrm>
      </p:grpSpPr>
      <p:sp>
        <p:nvSpPr>
          <p:cNvPr id="2" name="Text 0"/>
          <p:cNvSpPr/>
          <p:nvPr/>
        </p:nvSpPr>
        <p:spPr>
          <a:xfrm>
            <a:off x="1047750" y="2385120"/>
            <a:ext cx="8206692" cy="358080"/>
          </a:xfrm>
          <a:prstGeom prst="rect">
            <a:avLst/>
          </a:prstGeom>
          <a:noFill/>
          <a:ln/>
        </p:spPr>
        <p:txBody>
          <a:bodyPr wrap="square" lIns="25400" tIns="25400" rIns="25400" bIns="25400" rtlCol="0" anchor="t">
            <a:normAutofit/>
          </a:bodyPr>
          <a:lstStyle/>
          <a:p>
            <a:pPr algn="l" indent="0" marL="0">
              <a:lnSpc>
                <a:spcPct val="140000"/>
              </a:lnSpc>
              <a:buNone/>
            </a:pPr>
            <a:r>
              <a:rPr lang="en-US" sz="1800" spc="450" kern="0" dirty="0">
                <a:solidFill>
                  <a:srgbClr val="FFFFFF">
                    <a:alpha val="70000"/>
                  </a:srgbClr>
                </a:solidFill>
                <a:latin typeface="Courier New" pitchFamily="34" charset="0"/>
                <a:ea typeface="Courier New" pitchFamily="34" charset="-122"/>
                <a:cs typeface="Courier New" pitchFamily="34" charset="-120"/>
              </a:rPr>
              <a:t>LESSON 4 · 50 MIN · WORKBOOK SECTIONS 4–5</a:t>
            </a:r>
            <a:endParaRPr lang="en-US" sz="1800" dirty="0"/>
          </a:p>
        </p:txBody>
      </p:sp>
      <p:sp>
        <p:nvSpPr>
          <p:cNvPr id="3" name="Text 1"/>
          <p:cNvSpPr/>
          <p:nvPr/>
        </p:nvSpPr>
        <p:spPr>
          <a:xfrm>
            <a:off x="1047750" y="3048000"/>
            <a:ext cx="2529929" cy="1657350"/>
          </a:xfrm>
          <a:prstGeom prst="rect">
            <a:avLst/>
          </a:prstGeom>
          <a:noFill/>
          <a:ln/>
        </p:spPr>
        <p:txBody>
          <a:bodyPr wrap="square" lIns="25400" tIns="25400" rIns="25400" bIns="25400" rtlCol="0" anchor="t">
            <a:normAutofit/>
          </a:bodyPr>
          <a:lstStyle/>
          <a:p>
            <a:pPr algn="l" indent="0" marL="0">
              <a:lnSpc>
                <a:spcPct val="85000"/>
              </a:lnSpc>
              <a:buNone/>
            </a:pPr>
            <a:r>
              <a:rPr lang="en-US" sz="15000" b="1" spc="-450" kern="0" dirty="0">
                <a:solidFill>
                  <a:srgbClr val="FFFFFF">
                    <a:alpha val="25000"/>
                  </a:srgbClr>
                </a:solidFill>
                <a:latin typeface="Arial" pitchFamily="34" charset="0"/>
                <a:ea typeface="Arial" pitchFamily="34" charset="-122"/>
                <a:cs typeface="Arial" pitchFamily="34" charset="-120"/>
              </a:rPr>
              <a:t>04</a:t>
            </a:r>
            <a:endParaRPr lang="en-US" sz="15000" dirty="0"/>
          </a:p>
        </p:txBody>
      </p:sp>
      <p:sp>
        <p:nvSpPr>
          <p:cNvPr id="4" name="Text 2"/>
          <p:cNvSpPr/>
          <p:nvPr/>
        </p:nvSpPr>
        <p:spPr>
          <a:xfrm>
            <a:off x="1047750" y="4895850"/>
            <a:ext cx="14716125" cy="1943100"/>
          </a:xfrm>
          <a:prstGeom prst="rect">
            <a:avLst/>
          </a:prstGeom>
          <a:noFill/>
          <a:ln/>
        </p:spPr>
        <p:txBody>
          <a:bodyPr wrap="square" lIns="25400" tIns="25400" rIns="25400" bIns="25400" rtlCol="0" anchor="t">
            <a:normAutofit/>
          </a:bodyPr>
          <a:lstStyle/>
          <a:p>
            <a:pPr algn="l" indent="0" marL="0">
              <a:lnSpc>
                <a:spcPct val="100000"/>
              </a:lnSpc>
              <a:buNone/>
            </a:pPr>
            <a:r>
              <a:rPr lang="en-US" sz="7500" b="1" spc="-150" kern="0" dirty="0">
                <a:solidFill>
                  <a:srgbClr val="FFFFFF"/>
                </a:solidFill>
                <a:latin typeface="Arial" pitchFamily="34" charset="0"/>
                <a:ea typeface="Arial" pitchFamily="34" charset="-122"/>
                <a:cs typeface="Arial" pitchFamily="34" charset="-120"/>
              </a:rPr>
              <a:t>Hazards, decisions, inland waterways &amp; alcohol</a:t>
            </a:r>
            <a:endParaRPr lang="en-US" sz="7500" dirty="0"/>
          </a:p>
        </p:txBody>
      </p:sp>
      <p:sp>
        <p:nvSpPr>
          <p:cNvPr id="5" name="Shape 3"/>
          <p:cNvSpPr/>
          <p:nvPr/>
        </p:nvSpPr>
        <p:spPr>
          <a:xfrm>
            <a:off x="1047750" y="7372350"/>
            <a:ext cx="1844278" cy="529530"/>
          </a:xfrm>
          <a:prstGeom prst="roundRect">
            <a:avLst>
              <a:gd name="adj" fmla="val 50000"/>
            </a:avLst>
          </a:prstGeom>
          <a:solidFill>
            <a:srgbClr val="FFFFFF">
              <a:alpha val="12000"/>
            </a:srgbClr>
          </a:solidFill>
          <a:ln w="9525">
            <a:solidFill>
              <a:srgbClr val="FFFFFF">
                <a:alpha val="25000"/>
              </a:srgbClr>
            </a:solidFill>
            <a:prstDash val="solid"/>
          </a:ln>
        </p:spPr>
        <p:txBody>
          <a:bodyPr/>
          <a:p/>
        </p:txBody>
      </p:sp>
      <p:sp>
        <p:nvSpPr>
          <p:cNvPr id="6" name="Text 4"/>
          <p:cNvSpPr/>
          <p:nvPr/>
        </p:nvSpPr>
        <p:spPr>
          <a:xfrm>
            <a:off x="1266825" y="7477125"/>
            <a:ext cx="1482328" cy="358080"/>
          </a:xfrm>
          <a:prstGeom prst="rect">
            <a:avLst/>
          </a:prstGeom>
          <a:noFill/>
          <a:ln/>
        </p:spPr>
        <p:txBody>
          <a:bodyPr wrap="square" lIns="25400" tIns="25400" rIns="25400" bIns="25400" rtlCol="0" anchor="t">
            <a:normAutofit/>
          </a:bodyPr>
          <a:lstStyle/>
          <a:p>
            <a:pPr algn="l" indent="0" marL="0">
              <a:lnSpc>
                <a:spcPct val="140000"/>
              </a:lnSpc>
              <a:buNone/>
            </a:pPr>
            <a:r>
              <a:rPr lang="en-US" sz="1800" spc="150" kern="0" dirty="0">
                <a:solidFill>
                  <a:srgbClr val="FFFFFF">
                    <a:alpha val="75000"/>
                  </a:srgbClr>
                </a:solidFill>
                <a:latin typeface="Courier New" pitchFamily="34" charset="0"/>
                <a:ea typeface="Courier New" pitchFamily="34" charset="-122"/>
                <a:cs typeface="Courier New" pitchFamily="34" charset="-120"/>
              </a:rPr>
              <a:t>VCHPEP125</a:t>
            </a:r>
            <a:endParaRPr lang="en-US" sz="1800" dirty="0"/>
          </a:p>
        </p:txBody>
      </p:sp>
      <p:sp>
        <p:nvSpPr>
          <p:cNvPr id="7" name="Shape 5"/>
          <p:cNvSpPr/>
          <p:nvPr/>
        </p:nvSpPr>
        <p:spPr>
          <a:xfrm>
            <a:off x="3120628" y="7372350"/>
            <a:ext cx="1844278" cy="529530"/>
          </a:xfrm>
          <a:prstGeom prst="roundRect">
            <a:avLst>
              <a:gd name="adj" fmla="val 50000"/>
            </a:avLst>
          </a:prstGeom>
          <a:solidFill>
            <a:srgbClr val="FFFFFF">
              <a:alpha val="12000"/>
            </a:srgbClr>
          </a:solidFill>
          <a:ln w="9525">
            <a:solidFill>
              <a:srgbClr val="FFFFFF">
                <a:alpha val="25000"/>
              </a:srgbClr>
            </a:solidFill>
            <a:prstDash val="solid"/>
          </a:ln>
        </p:spPr>
        <p:txBody>
          <a:bodyPr/>
          <a:p/>
        </p:txBody>
      </p:sp>
      <p:sp>
        <p:nvSpPr>
          <p:cNvPr id="8" name="Text 6"/>
          <p:cNvSpPr/>
          <p:nvPr/>
        </p:nvSpPr>
        <p:spPr>
          <a:xfrm>
            <a:off x="3339703" y="7477125"/>
            <a:ext cx="1482328" cy="358080"/>
          </a:xfrm>
          <a:prstGeom prst="rect">
            <a:avLst/>
          </a:prstGeom>
          <a:noFill/>
          <a:ln/>
        </p:spPr>
        <p:txBody>
          <a:bodyPr wrap="square" lIns="25400" tIns="25400" rIns="25400" bIns="25400" rtlCol="0" anchor="t">
            <a:normAutofit/>
          </a:bodyPr>
          <a:lstStyle/>
          <a:p>
            <a:pPr algn="l" indent="0" marL="0">
              <a:lnSpc>
                <a:spcPct val="140000"/>
              </a:lnSpc>
              <a:buNone/>
            </a:pPr>
            <a:r>
              <a:rPr lang="en-US" sz="1800" spc="150" kern="0" dirty="0">
                <a:solidFill>
                  <a:srgbClr val="FFFFFF">
                    <a:alpha val="75000"/>
                  </a:srgbClr>
                </a:solidFill>
                <a:latin typeface="Courier New" pitchFamily="34" charset="0"/>
                <a:ea typeface="Courier New" pitchFamily="34" charset="-122"/>
                <a:cs typeface="Courier New" pitchFamily="34" charset="-120"/>
              </a:rPr>
              <a:t>VCHPEP126</a:t>
            </a:r>
            <a:endParaRPr lang="en-US" sz="18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4F7F9"/>
        </a:solidFill>
      </p:bgPr>
    </p:bg>
    <p:spTree>
      <p:nvGrpSpPr>
        <p:cNvPr id="1" name=""/>
        <p:cNvGrpSpPr/>
        <p:nvPr/>
      </p:nvGrpSpPr>
      <p:grpSpPr>
        <a:xfrm>
          <a:off x="0" y="0"/>
          <a:ext cx="0" cy="0"/>
          <a:chOff x="0" y="0"/>
          <a:chExt cx="0" cy="0"/>
        </a:xfrm>
      </p:grpSpPr>
      <p:sp>
        <p:nvSpPr>
          <p:cNvPr id="2" name="Text 0"/>
          <p:cNvSpPr/>
          <p:nvPr/>
        </p:nvSpPr>
        <p:spPr>
          <a:xfrm>
            <a:off x="1047750" y="914400"/>
            <a:ext cx="16678275" cy="358080"/>
          </a:xfrm>
          <a:prstGeom prst="rect">
            <a:avLst/>
          </a:prstGeom>
          <a:noFill/>
          <a:ln/>
        </p:spPr>
        <p:txBody>
          <a:bodyPr wrap="square" lIns="25400" tIns="25400" rIns="25400" bIns="25400" rtlCol="0" anchor="t">
            <a:normAutofit/>
          </a:bodyPr>
          <a:lstStyle/>
          <a:p>
            <a:pPr algn="l" indent="0" marL="0">
              <a:lnSpc>
                <a:spcPct val="140000"/>
              </a:lnSpc>
              <a:buNone/>
            </a:pPr>
            <a:r>
              <a:rPr lang="en-US" sz="1800" spc="300" kern="0" dirty="0">
                <a:solidFill>
                  <a:srgbClr val="5A7A8A"/>
                </a:solidFill>
                <a:latin typeface="Courier New" pitchFamily="34" charset="0"/>
                <a:ea typeface="Courier New" pitchFamily="34" charset="-122"/>
                <a:cs typeface="Courier New" pitchFamily="34" charset="-120"/>
              </a:rPr>
              <a:t>HAZARD MAPPING · WORKBOOK ACTIVITY 4.0</a:t>
            </a:r>
            <a:endParaRPr lang="en-US" sz="1800" dirty="0"/>
          </a:p>
        </p:txBody>
      </p:sp>
      <p:sp>
        <p:nvSpPr>
          <p:cNvPr id="3" name="Text 1"/>
          <p:cNvSpPr/>
          <p:nvPr/>
        </p:nvSpPr>
        <p:spPr>
          <a:xfrm>
            <a:off x="1047750" y="1405830"/>
            <a:ext cx="16678275" cy="1558230"/>
          </a:xfrm>
          <a:prstGeom prst="rect">
            <a:avLst/>
          </a:prstGeom>
          <a:noFill/>
          <a:ln/>
        </p:spPr>
        <p:txBody>
          <a:bodyPr wrap="square" lIns="25400" tIns="25400" rIns="25400" bIns="25400" rtlCol="0" anchor="t">
            <a:normAutofit/>
          </a:bodyPr>
          <a:lstStyle/>
          <a:p>
            <a:pPr algn="l" indent="0" marL="0">
              <a:lnSpc>
                <a:spcPct val="105000"/>
              </a:lnSpc>
              <a:buNone/>
            </a:pPr>
            <a:r>
              <a:rPr lang="en-US" sz="5700" b="1" spc="-75" kern="0" dirty="0">
                <a:solidFill>
                  <a:srgbClr val="0D1F2D"/>
                </a:solidFill>
                <a:latin typeface="Arial" pitchFamily="34" charset="0"/>
                <a:ea typeface="Arial" pitchFamily="34" charset="-122"/>
                <a:cs typeface="Arial" pitchFamily="34" charset="-120"/>
              </a:rPr>
              <a:t>Three Victorian environments, three risk profiles</a:t>
            </a:r>
            <a:endParaRPr lang="en-US" sz="5700" dirty="0"/>
          </a:p>
        </p:txBody>
      </p:sp>
      <p:sp>
        <p:nvSpPr>
          <p:cNvPr id="4" name="Shape 2"/>
          <p:cNvSpPr/>
          <p:nvPr/>
        </p:nvSpPr>
        <p:spPr>
          <a:xfrm>
            <a:off x="1047750" y="3383161"/>
            <a:ext cx="5168801" cy="6065639"/>
          </a:xfrm>
          <a:prstGeom prst="roundRect">
            <a:avLst>
              <a:gd name="adj" fmla="val 4054"/>
            </a:avLst>
          </a:prstGeom>
          <a:solidFill>
            <a:srgbClr val="FFFFFF"/>
          </a:solidFill>
          <a:ln/>
        </p:spPr>
        <p:txBody>
          <a:bodyPr/>
          <a:p/>
        </p:txBody>
      </p:sp>
      <p:sp>
        <p:nvSpPr>
          <p:cNvPr id="5" name="Shape 3"/>
          <p:cNvSpPr/>
          <p:nvPr/>
        </p:nvSpPr>
        <p:spPr>
          <a:xfrm>
            <a:off x="1047750" y="9439275"/>
            <a:ext cx="5168801" cy="9525"/>
          </a:xfrm>
          <a:prstGeom prst="rect">
            <a:avLst/>
          </a:prstGeom>
          <a:solidFill>
            <a:srgbClr val="CDD9E0"/>
          </a:solidFill>
          <a:ln/>
        </p:spPr>
        <p:txBody>
          <a:bodyPr/>
          <a:p/>
        </p:txBody>
      </p:sp>
      <p:sp>
        <p:nvSpPr>
          <p:cNvPr id="6" name="Shape 4"/>
          <p:cNvSpPr/>
          <p:nvPr/>
        </p:nvSpPr>
        <p:spPr>
          <a:xfrm>
            <a:off x="1047750" y="3383161"/>
            <a:ext cx="5168801" cy="133350"/>
          </a:xfrm>
          <a:prstGeom prst="rect">
            <a:avLst/>
          </a:prstGeom>
          <a:solidFill>
            <a:srgbClr val="00695C"/>
          </a:solidFill>
          <a:ln/>
        </p:spPr>
        <p:txBody>
          <a:bodyPr/>
          <a:p/>
        </p:txBody>
      </p:sp>
      <p:sp>
        <p:nvSpPr>
          <p:cNvPr id="7" name="Shape 5"/>
          <p:cNvSpPr/>
          <p:nvPr/>
        </p:nvSpPr>
        <p:spPr>
          <a:xfrm>
            <a:off x="1047750" y="3383161"/>
            <a:ext cx="9525" cy="6065639"/>
          </a:xfrm>
          <a:prstGeom prst="rect">
            <a:avLst/>
          </a:prstGeom>
          <a:solidFill>
            <a:srgbClr val="CDD9E0"/>
          </a:solidFill>
          <a:ln/>
        </p:spPr>
        <p:txBody>
          <a:bodyPr/>
          <a:p/>
        </p:txBody>
      </p:sp>
      <p:sp>
        <p:nvSpPr>
          <p:cNvPr id="8" name="Shape 6"/>
          <p:cNvSpPr/>
          <p:nvPr/>
        </p:nvSpPr>
        <p:spPr>
          <a:xfrm>
            <a:off x="6207026" y="3383161"/>
            <a:ext cx="9525" cy="6065639"/>
          </a:xfrm>
          <a:prstGeom prst="rect">
            <a:avLst/>
          </a:prstGeom>
          <a:solidFill>
            <a:srgbClr val="CDD9E0"/>
          </a:solidFill>
          <a:ln/>
        </p:spPr>
        <p:txBody>
          <a:bodyPr/>
          <a:p/>
        </p:txBody>
      </p:sp>
      <p:sp>
        <p:nvSpPr>
          <p:cNvPr id="9" name="Text 7"/>
          <p:cNvSpPr/>
          <p:nvPr/>
        </p:nvSpPr>
        <p:spPr>
          <a:xfrm>
            <a:off x="1362075" y="3859411"/>
            <a:ext cx="4676355" cy="544711"/>
          </a:xfrm>
          <a:prstGeom prst="rect">
            <a:avLst/>
          </a:prstGeom>
          <a:noFill/>
          <a:ln/>
        </p:spPr>
        <p:txBody>
          <a:bodyPr wrap="square" lIns="25400" tIns="25400" rIns="25400" bIns="25400" rtlCol="0" anchor="t">
            <a:normAutofit/>
          </a:bodyPr>
          <a:lstStyle/>
          <a:p>
            <a:pPr algn="l" indent="0" marL="0">
              <a:lnSpc>
                <a:spcPct val="140000"/>
              </a:lnSpc>
              <a:buNone/>
            </a:pPr>
            <a:r>
              <a:rPr lang="en-US" sz="2850" b="1" dirty="0">
                <a:solidFill>
                  <a:srgbClr val="0D1F2D"/>
                </a:solidFill>
                <a:latin typeface="Arial" pitchFamily="34" charset="0"/>
                <a:ea typeface="Arial" pitchFamily="34" charset="-122"/>
                <a:cs typeface="Arial" pitchFamily="34" charset="-120"/>
              </a:rPr>
              <a:t>Patrolled Beach</a:t>
            </a:r>
            <a:endParaRPr lang="en-US" sz="2850" dirty="0"/>
          </a:p>
        </p:txBody>
      </p:sp>
      <p:sp>
        <p:nvSpPr>
          <p:cNvPr id="10" name="Text 8"/>
          <p:cNvSpPr/>
          <p:nvPr/>
        </p:nvSpPr>
        <p:spPr>
          <a:xfrm>
            <a:off x="1362075" y="4442222"/>
            <a:ext cx="4676355" cy="304800"/>
          </a:xfrm>
          <a:prstGeom prst="rect">
            <a:avLst/>
          </a:prstGeom>
          <a:noFill/>
          <a:ln/>
        </p:spPr>
        <p:txBody>
          <a:bodyPr wrap="square" lIns="25400" tIns="25400" rIns="25400" bIns="25400" rtlCol="0" anchor="t">
            <a:normAutofit/>
          </a:bodyPr>
          <a:lstStyle/>
          <a:p>
            <a:pPr algn="l" indent="0" marL="0">
              <a:lnSpc>
                <a:spcPct val="140000"/>
              </a:lnSpc>
              <a:buNone/>
            </a:pPr>
            <a:r>
              <a:rPr lang="en-US" sz="1500" spc="150" kern="0" dirty="0">
                <a:solidFill>
                  <a:srgbClr val="5A7A8A"/>
                </a:solidFill>
                <a:latin typeface="Courier New" pitchFamily="34" charset="0"/>
                <a:ea typeface="Courier New" pitchFamily="34" charset="-122"/>
                <a:cs typeface="Courier New" pitchFamily="34" charset="-120"/>
              </a:rPr>
              <a:t>E.G. TORQUAY · MORNINGTON · LORNE</a:t>
            </a:r>
            <a:endParaRPr lang="en-US" sz="1500" dirty="0"/>
          </a:p>
        </p:txBody>
      </p:sp>
      <p:sp>
        <p:nvSpPr>
          <p:cNvPr id="11" name="Text 9"/>
          <p:cNvSpPr/>
          <p:nvPr/>
        </p:nvSpPr>
        <p:spPr>
          <a:xfrm>
            <a:off x="1202055" y="4975622"/>
            <a:ext cx="4776371" cy="1615083"/>
          </a:xfrm>
          <a:prstGeom prst="rect">
            <a:avLst/>
          </a:prstGeom>
          <a:noFill/>
          <a:ln/>
        </p:spPr>
        <p:txBody>
          <a:bodyPr wrap="square" lIns="25400" tIns="25400" rIns="25400" bIns="25400" rtlCol="0" anchor="t">
            <a:normAutofit/>
          </a:bodyPr>
          <a:lstStyle/>
          <a:p>
            <a:pPr algn="l" indent="0" marL="0">
              <a:lnSpc>
                <a:spcPct val="135000"/>
              </a:lnSpc>
              <a:buNone/>
            </a:pPr>
            <a:r>
              <a:rPr lang="en-US" sz="1800" dirty="0">
                <a:solidFill>
                  <a:srgbClr val="0D1F2D"/>
                </a:solidFill>
                <a:latin typeface="Arial" pitchFamily="34" charset="0"/>
                <a:ea typeface="Arial" pitchFamily="34" charset="-122"/>
                <a:cs typeface="Arial" pitchFamily="34" charset="-120"/>
              </a:rPr>
              <a:t>Rip currents away from the flags</a:t>
            </a:r>
            <a:endParaRPr lang="en-US" sz="1800" dirty="0"/>
          </a:p>
          <a:p>
            <a:pPr algn="l" indent="0" marL="0">
              <a:lnSpc>
                <a:spcPct val="135000"/>
              </a:lnSpc>
              <a:buNone/>
            </a:pPr>
            <a:r>
              <a:rPr lang="en-US" sz="1800" dirty="0">
                <a:solidFill>
                  <a:srgbClr val="0D1F2D"/>
                </a:solidFill>
                <a:latin typeface="Arial" pitchFamily="34" charset="0"/>
                <a:ea typeface="Arial" pitchFamily="34" charset="-122"/>
                <a:cs typeface="Arial" pitchFamily="34" charset="-120"/>
              </a:rPr>
              <a:t>Offshore winds &amp; inflatables</a:t>
            </a:r>
            <a:endParaRPr lang="en-US" sz="1800" dirty="0"/>
          </a:p>
          <a:p>
            <a:pPr algn="l" indent="0" marL="0">
              <a:lnSpc>
                <a:spcPct val="135000"/>
              </a:lnSpc>
              <a:buNone/>
            </a:pPr>
            <a:r>
              <a:rPr lang="en-US" sz="1800" dirty="0">
                <a:solidFill>
                  <a:srgbClr val="0D1F2D"/>
                </a:solidFill>
                <a:latin typeface="Arial" pitchFamily="34" charset="0"/>
                <a:ea typeface="Arial" pitchFamily="34" charset="-122"/>
                <a:cs typeface="Arial" pitchFamily="34" charset="-120"/>
              </a:rPr>
              <a:t>Sunburn, dehydration, fatigue</a:t>
            </a:r>
            <a:endParaRPr lang="en-US" sz="1800" dirty="0"/>
          </a:p>
          <a:p>
            <a:pPr algn="l" indent="0" marL="0">
              <a:lnSpc>
                <a:spcPct val="135000"/>
              </a:lnSpc>
              <a:buNone/>
            </a:pPr>
            <a:r>
              <a:rPr lang="en-US" sz="1800" dirty="0">
                <a:solidFill>
                  <a:srgbClr val="0D1F2D"/>
                </a:solidFill>
                <a:latin typeface="Arial" pitchFamily="34" charset="0"/>
                <a:ea typeface="Arial" pitchFamily="34" charset="-122"/>
                <a:cs typeface="Arial" pitchFamily="34" charset="-120"/>
              </a:rPr>
              <a:t>Marine stingers (uncommon in Vic)</a:t>
            </a:r>
            <a:endParaRPr lang="en-US" sz="1800" dirty="0"/>
          </a:p>
        </p:txBody>
      </p:sp>
      <p:sp>
        <p:nvSpPr>
          <p:cNvPr id="12" name="Shape 10"/>
          <p:cNvSpPr/>
          <p:nvPr/>
        </p:nvSpPr>
        <p:spPr>
          <a:xfrm>
            <a:off x="1362075" y="8580239"/>
            <a:ext cx="4540151" cy="9525"/>
          </a:xfrm>
          <a:prstGeom prst="rect">
            <a:avLst/>
          </a:prstGeom>
          <a:solidFill>
            <a:srgbClr val="CDD9E0"/>
          </a:solidFill>
          <a:ln/>
        </p:spPr>
        <p:txBody>
          <a:bodyPr/>
          <a:p/>
        </p:txBody>
      </p:sp>
      <p:sp>
        <p:nvSpPr>
          <p:cNvPr id="13" name="Text 11"/>
          <p:cNvSpPr/>
          <p:nvPr/>
        </p:nvSpPr>
        <p:spPr>
          <a:xfrm>
            <a:off x="1362075" y="8827889"/>
            <a:ext cx="1539478" cy="278011"/>
          </a:xfrm>
          <a:prstGeom prst="rect">
            <a:avLst/>
          </a:prstGeom>
          <a:noFill/>
          <a:ln/>
        </p:spPr>
        <p:txBody>
          <a:bodyPr wrap="square" lIns="25400" tIns="25400" rIns="25400" bIns="25400" rtlCol="0" anchor="t">
            <a:normAutofit/>
          </a:bodyPr>
          <a:lstStyle/>
          <a:p>
            <a:pPr algn="l" indent="0" marL="0">
              <a:lnSpc>
                <a:spcPct val="140000"/>
              </a:lnSpc>
              <a:buNone/>
            </a:pPr>
            <a:r>
              <a:rPr lang="en-US" sz="1350" spc="150" kern="0" dirty="0">
                <a:solidFill>
                  <a:srgbClr val="5A7A8A"/>
                </a:solidFill>
                <a:latin typeface="Courier New" pitchFamily="34" charset="0"/>
                <a:ea typeface="Courier New" pitchFamily="34" charset="-122"/>
                <a:cs typeface="Courier New" pitchFamily="34" charset="-120"/>
              </a:rPr>
              <a:t>OVERALL RISK</a:t>
            </a:r>
            <a:endParaRPr lang="en-US" sz="1350" dirty="0"/>
          </a:p>
        </p:txBody>
      </p:sp>
      <p:sp>
        <p:nvSpPr>
          <p:cNvPr id="14" name="Text 12"/>
          <p:cNvSpPr/>
          <p:nvPr/>
        </p:nvSpPr>
        <p:spPr>
          <a:xfrm>
            <a:off x="4789140" y="8761214"/>
            <a:ext cx="1189286" cy="411361"/>
          </a:xfrm>
          <a:prstGeom prst="rect">
            <a:avLst/>
          </a:prstGeom>
          <a:noFill/>
          <a:ln/>
        </p:spPr>
        <p:txBody>
          <a:bodyPr wrap="square" lIns="25400" tIns="25400" rIns="25400" bIns="25400" rtlCol="0" anchor="t">
            <a:normAutofit/>
          </a:bodyPr>
          <a:lstStyle/>
          <a:p>
            <a:pPr algn="l" indent="0" marL="0">
              <a:lnSpc>
                <a:spcPct val="140000"/>
              </a:lnSpc>
              <a:buNone/>
            </a:pPr>
            <a:r>
              <a:rPr lang="en-US" sz="2100" b="1" dirty="0">
                <a:solidFill>
                  <a:srgbClr val="B7770D"/>
                </a:solidFill>
                <a:latin typeface="Arial" pitchFamily="34" charset="0"/>
                <a:ea typeface="Arial" pitchFamily="34" charset="-122"/>
                <a:cs typeface="Arial" pitchFamily="34" charset="-120"/>
              </a:rPr>
              <a:t>MEDIUM</a:t>
            </a:r>
            <a:endParaRPr lang="en-US" sz="2100" dirty="0"/>
          </a:p>
        </p:txBody>
      </p:sp>
      <p:sp>
        <p:nvSpPr>
          <p:cNvPr id="15" name="Shape 13"/>
          <p:cNvSpPr/>
          <p:nvPr/>
        </p:nvSpPr>
        <p:spPr>
          <a:xfrm>
            <a:off x="6559451" y="3383161"/>
            <a:ext cx="5168950" cy="6065639"/>
          </a:xfrm>
          <a:prstGeom prst="roundRect">
            <a:avLst>
              <a:gd name="adj" fmla="val 4054"/>
            </a:avLst>
          </a:prstGeom>
          <a:solidFill>
            <a:srgbClr val="FFFFFF"/>
          </a:solidFill>
          <a:ln/>
        </p:spPr>
        <p:txBody>
          <a:bodyPr/>
          <a:p/>
        </p:txBody>
      </p:sp>
      <p:sp>
        <p:nvSpPr>
          <p:cNvPr id="16" name="Shape 14"/>
          <p:cNvSpPr/>
          <p:nvPr/>
        </p:nvSpPr>
        <p:spPr>
          <a:xfrm>
            <a:off x="6559451" y="9439275"/>
            <a:ext cx="5168950" cy="9525"/>
          </a:xfrm>
          <a:prstGeom prst="rect">
            <a:avLst/>
          </a:prstGeom>
          <a:solidFill>
            <a:srgbClr val="CDD9E0"/>
          </a:solidFill>
          <a:ln/>
        </p:spPr>
        <p:txBody>
          <a:bodyPr/>
          <a:p/>
        </p:txBody>
      </p:sp>
      <p:sp>
        <p:nvSpPr>
          <p:cNvPr id="17" name="Shape 15"/>
          <p:cNvSpPr/>
          <p:nvPr/>
        </p:nvSpPr>
        <p:spPr>
          <a:xfrm>
            <a:off x="6559451" y="3383161"/>
            <a:ext cx="5168950" cy="133350"/>
          </a:xfrm>
          <a:prstGeom prst="rect">
            <a:avLst/>
          </a:prstGeom>
          <a:solidFill>
            <a:srgbClr val="B71C1C"/>
          </a:solidFill>
          <a:ln/>
        </p:spPr>
        <p:txBody>
          <a:bodyPr/>
          <a:p/>
        </p:txBody>
      </p:sp>
      <p:sp>
        <p:nvSpPr>
          <p:cNvPr id="18" name="Shape 16"/>
          <p:cNvSpPr/>
          <p:nvPr/>
        </p:nvSpPr>
        <p:spPr>
          <a:xfrm>
            <a:off x="6559451" y="3383161"/>
            <a:ext cx="9525" cy="6065639"/>
          </a:xfrm>
          <a:prstGeom prst="rect">
            <a:avLst/>
          </a:prstGeom>
          <a:solidFill>
            <a:srgbClr val="CDD9E0"/>
          </a:solidFill>
          <a:ln/>
        </p:spPr>
        <p:txBody>
          <a:bodyPr/>
          <a:p/>
        </p:txBody>
      </p:sp>
      <p:sp>
        <p:nvSpPr>
          <p:cNvPr id="19" name="Shape 17"/>
          <p:cNvSpPr/>
          <p:nvPr/>
        </p:nvSpPr>
        <p:spPr>
          <a:xfrm>
            <a:off x="11718875" y="3383161"/>
            <a:ext cx="9525" cy="6065639"/>
          </a:xfrm>
          <a:prstGeom prst="rect">
            <a:avLst/>
          </a:prstGeom>
          <a:solidFill>
            <a:srgbClr val="CDD9E0"/>
          </a:solidFill>
          <a:ln/>
        </p:spPr>
        <p:txBody>
          <a:bodyPr/>
          <a:p/>
        </p:txBody>
      </p:sp>
      <p:sp>
        <p:nvSpPr>
          <p:cNvPr id="20" name="Text 18"/>
          <p:cNvSpPr/>
          <p:nvPr/>
        </p:nvSpPr>
        <p:spPr>
          <a:xfrm>
            <a:off x="6873776" y="3859411"/>
            <a:ext cx="4676509" cy="544711"/>
          </a:xfrm>
          <a:prstGeom prst="rect">
            <a:avLst/>
          </a:prstGeom>
          <a:noFill/>
          <a:ln/>
        </p:spPr>
        <p:txBody>
          <a:bodyPr wrap="square" lIns="25400" tIns="25400" rIns="25400" bIns="25400" rtlCol="0" anchor="t">
            <a:normAutofit/>
          </a:bodyPr>
          <a:lstStyle/>
          <a:p>
            <a:pPr algn="l" indent="0" marL="0">
              <a:lnSpc>
                <a:spcPct val="140000"/>
              </a:lnSpc>
              <a:buNone/>
            </a:pPr>
            <a:r>
              <a:rPr lang="en-US" sz="2850" b="1" dirty="0">
                <a:solidFill>
                  <a:srgbClr val="0D1F2D"/>
                </a:solidFill>
                <a:latin typeface="Arial" pitchFamily="34" charset="0"/>
                <a:ea typeface="Arial" pitchFamily="34" charset="-122"/>
                <a:cs typeface="Arial" pitchFamily="34" charset="-120"/>
              </a:rPr>
              <a:t>River, Dam or Lake</a:t>
            </a:r>
            <a:endParaRPr lang="en-US" sz="2850" dirty="0"/>
          </a:p>
        </p:txBody>
      </p:sp>
      <p:sp>
        <p:nvSpPr>
          <p:cNvPr id="21" name="Text 19"/>
          <p:cNvSpPr/>
          <p:nvPr/>
        </p:nvSpPr>
        <p:spPr>
          <a:xfrm>
            <a:off x="6873776" y="4442222"/>
            <a:ext cx="4676509" cy="304800"/>
          </a:xfrm>
          <a:prstGeom prst="rect">
            <a:avLst/>
          </a:prstGeom>
          <a:noFill/>
          <a:ln/>
        </p:spPr>
        <p:txBody>
          <a:bodyPr wrap="square" lIns="25400" tIns="25400" rIns="25400" bIns="25400" rtlCol="0" anchor="t">
            <a:normAutofit/>
          </a:bodyPr>
          <a:lstStyle/>
          <a:p>
            <a:pPr algn="l" indent="0" marL="0">
              <a:lnSpc>
                <a:spcPct val="140000"/>
              </a:lnSpc>
              <a:buNone/>
            </a:pPr>
            <a:r>
              <a:rPr lang="en-US" sz="1500" spc="150" kern="0" dirty="0">
                <a:solidFill>
                  <a:srgbClr val="5A7A8A"/>
                </a:solidFill>
                <a:latin typeface="Courier New" pitchFamily="34" charset="0"/>
                <a:ea typeface="Courier New" pitchFamily="34" charset="-122"/>
                <a:cs typeface="Courier New" pitchFamily="34" charset="-120"/>
              </a:rPr>
              <a:t>E.G. YARRA · LAKE EILDON · MURRAY</a:t>
            </a:r>
            <a:endParaRPr lang="en-US" sz="1500" dirty="0"/>
          </a:p>
        </p:txBody>
      </p:sp>
      <p:sp>
        <p:nvSpPr>
          <p:cNvPr id="22" name="Text 20"/>
          <p:cNvSpPr/>
          <p:nvPr/>
        </p:nvSpPr>
        <p:spPr>
          <a:xfrm>
            <a:off x="6713756" y="4975622"/>
            <a:ext cx="4776520" cy="1615083"/>
          </a:xfrm>
          <a:prstGeom prst="rect">
            <a:avLst/>
          </a:prstGeom>
          <a:noFill/>
          <a:ln/>
        </p:spPr>
        <p:txBody>
          <a:bodyPr wrap="square" lIns="25400" tIns="25400" rIns="25400" bIns="25400" rtlCol="0" anchor="t">
            <a:normAutofit/>
          </a:bodyPr>
          <a:lstStyle/>
          <a:p>
            <a:pPr algn="l" indent="0" marL="0">
              <a:lnSpc>
                <a:spcPct val="135000"/>
              </a:lnSpc>
              <a:buNone/>
            </a:pPr>
            <a:r>
              <a:rPr lang="en-US" sz="1800" dirty="0">
                <a:solidFill>
                  <a:srgbClr val="0D1F2D"/>
                </a:solidFill>
                <a:latin typeface="Arial" pitchFamily="34" charset="0"/>
                <a:ea typeface="Arial" pitchFamily="34" charset="-122"/>
                <a:cs typeface="Arial" pitchFamily="34" charset="-120"/>
              </a:rPr>
              <a:t>Cold water shock — even in summer</a:t>
            </a:r>
            <a:endParaRPr lang="en-US" sz="1800" dirty="0"/>
          </a:p>
          <a:p>
            <a:pPr algn="l" indent="0" marL="0">
              <a:lnSpc>
                <a:spcPct val="135000"/>
              </a:lnSpc>
              <a:buNone/>
            </a:pPr>
            <a:r>
              <a:rPr lang="en-US" sz="1800" dirty="0">
                <a:solidFill>
                  <a:srgbClr val="0D1F2D"/>
                </a:solidFill>
                <a:latin typeface="Arial" pitchFamily="34" charset="0"/>
                <a:ea typeface="Arial" pitchFamily="34" charset="-122"/>
                <a:cs typeface="Arial" pitchFamily="34" charset="-120"/>
              </a:rPr>
              <a:t>Hidden currents &amp; submerged logs</a:t>
            </a:r>
            <a:endParaRPr lang="en-US" sz="1800" dirty="0"/>
          </a:p>
          <a:p>
            <a:pPr algn="l" indent="0" marL="0">
              <a:lnSpc>
                <a:spcPct val="135000"/>
              </a:lnSpc>
              <a:buNone/>
            </a:pPr>
            <a:r>
              <a:rPr lang="en-US" sz="1800" dirty="0">
                <a:solidFill>
                  <a:srgbClr val="0D1F2D"/>
                </a:solidFill>
                <a:latin typeface="Arial" pitchFamily="34" charset="0"/>
                <a:ea typeface="Arial" pitchFamily="34" charset="-122"/>
                <a:cs typeface="Arial" pitchFamily="34" charset="-120"/>
              </a:rPr>
              <a:t>Murky water — can't see depth</a:t>
            </a:r>
            <a:endParaRPr lang="en-US" sz="1800" dirty="0"/>
          </a:p>
          <a:p>
            <a:pPr algn="l" indent="0" marL="0">
              <a:lnSpc>
                <a:spcPct val="135000"/>
              </a:lnSpc>
              <a:buNone/>
            </a:pPr>
            <a:r>
              <a:rPr lang="en-US" sz="1800" dirty="0">
                <a:solidFill>
                  <a:srgbClr val="0D1F2D"/>
                </a:solidFill>
                <a:latin typeface="Arial" pitchFamily="34" charset="0"/>
                <a:ea typeface="Arial" pitchFamily="34" charset="-122"/>
                <a:cs typeface="Arial" pitchFamily="34" charset="-120"/>
              </a:rPr>
              <a:t>No lifeguards, no equipment</a:t>
            </a:r>
            <a:endParaRPr lang="en-US" sz="1800" dirty="0"/>
          </a:p>
        </p:txBody>
      </p:sp>
      <p:sp>
        <p:nvSpPr>
          <p:cNvPr id="23" name="Shape 21"/>
          <p:cNvSpPr/>
          <p:nvPr/>
        </p:nvSpPr>
        <p:spPr>
          <a:xfrm>
            <a:off x="6873776" y="8580239"/>
            <a:ext cx="4540300" cy="9525"/>
          </a:xfrm>
          <a:prstGeom prst="rect">
            <a:avLst/>
          </a:prstGeom>
          <a:solidFill>
            <a:srgbClr val="CDD9E0"/>
          </a:solidFill>
          <a:ln/>
        </p:spPr>
        <p:txBody>
          <a:bodyPr/>
          <a:p/>
        </p:txBody>
      </p:sp>
      <p:sp>
        <p:nvSpPr>
          <p:cNvPr id="24" name="Text 22"/>
          <p:cNvSpPr/>
          <p:nvPr/>
        </p:nvSpPr>
        <p:spPr>
          <a:xfrm>
            <a:off x="6873776" y="8827889"/>
            <a:ext cx="1539478" cy="278011"/>
          </a:xfrm>
          <a:prstGeom prst="rect">
            <a:avLst/>
          </a:prstGeom>
          <a:noFill/>
          <a:ln/>
        </p:spPr>
        <p:txBody>
          <a:bodyPr wrap="square" lIns="25400" tIns="25400" rIns="25400" bIns="25400" rtlCol="0" anchor="t">
            <a:normAutofit/>
          </a:bodyPr>
          <a:lstStyle/>
          <a:p>
            <a:pPr algn="l" indent="0" marL="0">
              <a:lnSpc>
                <a:spcPct val="140000"/>
              </a:lnSpc>
              <a:buNone/>
            </a:pPr>
            <a:r>
              <a:rPr lang="en-US" sz="1350" spc="150" kern="0" dirty="0">
                <a:solidFill>
                  <a:srgbClr val="5A7A8A"/>
                </a:solidFill>
                <a:latin typeface="Courier New" pitchFamily="34" charset="0"/>
                <a:ea typeface="Courier New" pitchFamily="34" charset="-122"/>
                <a:cs typeface="Courier New" pitchFamily="34" charset="-120"/>
              </a:rPr>
              <a:t>OVERALL RISK</a:t>
            </a:r>
            <a:endParaRPr lang="en-US" sz="1350" dirty="0"/>
          </a:p>
        </p:txBody>
      </p:sp>
      <p:sp>
        <p:nvSpPr>
          <p:cNvPr id="25" name="Text 23"/>
          <p:cNvSpPr/>
          <p:nvPr/>
        </p:nvSpPr>
        <p:spPr>
          <a:xfrm>
            <a:off x="10733633" y="8761214"/>
            <a:ext cx="756642" cy="411361"/>
          </a:xfrm>
          <a:prstGeom prst="rect">
            <a:avLst/>
          </a:prstGeom>
          <a:noFill/>
          <a:ln/>
        </p:spPr>
        <p:txBody>
          <a:bodyPr wrap="square" lIns="25400" tIns="25400" rIns="25400" bIns="25400" rtlCol="0" anchor="t">
            <a:normAutofit/>
          </a:bodyPr>
          <a:lstStyle/>
          <a:p>
            <a:pPr algn="l" indent="0" marL="0">
              <a:lnSpc>
                <a:spcPct val="140000"/>
              </a:lnSpc>
              <a:buNone/>
            </a:pPr>
            <a:r>
              <a:rPr lang="en-US" sz="2100" b="1" dirty="0">
                <a:solidFill>
                  <a:srgbClr val="C0392B"/>
                </a:solidFill>
                <a:latin typeface="Arial" pitchFamily="34" charset="0"/>
                <a:ea typeface="Arial" pitchFamily="34" charset="-122"/>
                <a:cs typeface="Arial" pitchFamily="34" charset="-120"/>
              </a:rPr>
              <a:t>HIGH</a:t>
            </a:r>
            <a:endParaRPr lang="en-US" sz="2100" dirty="0"/>
          </a:p>
        </p:txBody>
      </p:sp>
      <p:sp>
        <p:nvSpPr>
          <p:cNvPr id="26" name="Shape 24"/>
          <p:cNvSpPr/>
          <p:nvPr/>
        </p:nvSpPr>
        <p:spPr>
          <a:xfrm>
            <a:off x="12071300" y="3383161"/>
            <a:ext cx="5168950" cy="6065639"/>
          </a:xfrm>
          <a:prstGeom prst="roundRect">
            <a:avLst>
              <a:gd name="adj" fmla="val 4054"/>
            </a:avLst>
          </a:prstGeom>
          <a:solidFill>
            <a:srgbClr val="FFFFFF"/>
          </a:solidFill>
          <a:ln/>
        </p:spPr>
        <p:txBody>
          <a:bodyPr/>
          <a:p/>
        </p:txBody>
      </p:sp>
      <p:sp>
        <p:nvSpPr>
          <p:cNvPr id="27" name="Shape 25"/>
          <p:cNvSpPr/>
          <p:nvPr/>
        </p:nvSpPr>
        <p:spPr>
          <a:xfrm>
            <a:off x="12071300" y="9439275"/>
            <a:ext cx="5168950" cy="9525"/>
          </a:xfrm>
          <a:prstGeom prst="rect">
            <a:avLst/>
          </a:prstGeom>
          <a:solidFill>
            <a:srgbClr val="CDD9E0"/>
          </a:solidFill>
          <a:ln/>
        </p:spPr>
        <p:txBody>
          <a:bodyPr/>
          <a:p/>
        </p:txBody>
      </p:sp>
      <p:sp>
        <p:nvSpPr>
          <p:cNvPr id="28" name="Shape 26"/>
          <p:cNvSpPr/>
          <p:nvPr/>
        </p:nvSpPr>
        <p:spPr>
          <a:xfrm>
            <a:off x="12071300" y="3383161"/>
            <a:ext cx="5168950" cy="133350"/>
          </a:xfrm>
          <a:prstGeom prst="rect">
            <a:avLst/>
          </a:prstGeom>
          <a:solidFill>
            <a:srgbClr val="1565C0"/>
          </a:solidFill>
          <a:ln/>
        </p:spPr>
        <p:txBody>
          <a:bodyPr/>
          <a:p/>
        </p:txBody>
      </p:sp>
      <p:sp>
        <p:nvSpPr>
          <p:cNvPr id="29" name="Shape 27"/>
          <p:cNvSpPr/>
          <p:nvPr/>
        </p:nvSpPr>
        <p:spPr>
          <a:xfrm>
            <a:off x="12071300" y="3383161"/>
            <a:ext cx="9525" cy="6065639"/>
          </a:xfrm>
          <a:prstGeom prst="rect">
            <a:avLst/>
          </a:prstGeom>
          <a:solidFill>
            <a:srgbClr val="CDD9E0"/>
          </a:solidFill>
          <a:ln/>
        </p:spPr>
        <p:txBody>
          <a:bodyPr/>
          <a:p/>
        </p:txBody>
      </p:sp>
      <p:sp>
        <p:nvSpPr>
          <p:cNvPr id="30" name="Shape 28"/>
          <p:cNvSpPr/>
          <p:nvPr/>
        </p:nvSpPr>
        <p:spPr>
          <a:xfrm>
            <a:off x="17230725" y="3383161"/>
            <a:ext cx="9525" cy="6065639"/>
          </a:xfrm>
          <a:prstGeom prst="rect">
            <a:avLst/>
          </a:prstGeom>
          <a:solidFill>
            <a:srgbClr val="CDD9E0"/>
          </a:solidFill>
          <a:ln/>
        </p:spPr>
        <p:txBody>
          <a:bodyPr/>
          <a:p/>
        </p:txBody>
      </p:sp>
      <p:sp>
        <p:nvSpPr>
          <p:cNvPr id="31" name="Text 29"/>
          <p:cNvSpPr/>
          <p:nvPr/>
        </p:nvSpPr>
        <p:spPr>
          <a:xfrm>
            <a:off x="12385625" y="3859411"/>
            <a:ext cx="4676509" cy="1051322"/>
          </a:xfrm>
          <a:prstGeom prst="rect">
            <a:avLst/>
          </a:prstGeom>
          <a:noFill/>
          <a:ln/>
        </p:spPr>
        <p:txBody>
          <a:bodyPr wrap="square" lIns="25400" tIns="25400" rIns="25400" bIns="25400" rtlCol="0" anchor="t">
            <a:normAutofit/>
          </a:bodyPr>
          <a:lstStyle/>
          <a:p>
            <a:pPr algn="l" indent="0" marL="0">
              <a:lnSpc>
                <a:spcPct val="140000"/>
              </a:lnSpc>
              <a:buNone/>
            </a:pPr>
            <a:r>
              <a:rPr lang="en-US" sz="2850" b="1" dirty="0">
                <a:solidFill>
                  <a:srgbClr val="0D1F2D"/>
                </a:solidFill>
                <a:latin typeface="Arial" pitchFamily="34" charset="0"/>
                <a:ea typeface="Arial" pitchFamily="34" charset="-122"/>
                <a:cs typeface="Arial" pitchFamily="34" charset="-120"/>
              </a:rPr>
              <a:t>Pool — backyard or public</a:t>
            </a:r>
            <a:endParaRPr lang="en-US" sz="2850" dirty="0"/>
          </a:p>
        </p:txBody>
      </p:sp>
      <p:sp>
        <p:nvSpPr>
          <p:cNvPr id="32" name="Text 30"/>
          <p:cNvSpPr/>
          <p:nvPr/>
        </p:nvSpPr>
        <p:spPr>
          <a:xfrm>
            <a:off x="12385625" y="4948833"/>
            <a:ext cx="4676509" cy="571500"/>
          </a:xfrm>
          <a:prstGeom prst="rect">
            <a:avLst/>
          </a:prstGeom>
          <a:noFill/>
          <a:ln/>
        </p:spPr>
        <p:txBody>
          <a:bodyPr wrap="square" lIns="25400" tIns="25400" rIns="25400" bIns="25400" rtlCol="0" anchor="t">
            <a:normAutofit/>
          </a:bodyPr>
          <a:lstStyle/>
          <a:p>
            <a:pPr algn="l" indent="0" marL="0">
              <a:lnSpc>
                <a:spcPct val="140000"/>
              </a:lnSpc>
              <a:buNone/>
            </a:pPr>
            <a:r>
              <a:rPr lang="en-US" sz="1500" spc="150" kern="0" dirty="0">
                <a:solidFill>
                  <a:srgbClr val="5A7A8A"/>
                </a:solidFill>
                <a:latin typeface="Courier New" pitchFamily="34" charset="0"/>
                <a:ea typeface="Courier New" pitchFamily="34" charset="-122"/>
                <a:cs typeface="Courier New" pitchFamily="34" charset="-120"/>
              </a:rPr>
              <a:t>BACKYARD · SCHOOL · PUBLIC AQUATIC CENTRE</a:t>
            </a:r>
            <a:endParaRPr lang="en-US" sz="1500" dirty="0"/>
          </a:p>
        </p:txBody>
      </p:sp>
      <p:sp>
        <p:nvSpPr>
          <p:cNvPr id="33" name="Text 31"/>
          <p:cNvSpPr/>
          <p:nvPr/>
        </p:nvSpPr>
        <p:spPr>
          <a:xfrm>
            <a:off x="12225605" y="5748933"/>
            <a:ext cx="4776520" cy="1615083"/>
          </a:xfrm>
          <a:prstGeom prst="rect">
            <a:avLst/>
          </a:prstGeom>
          <a:noFill/>
          <a:ln/>
        </p:spPr>
        <p:txBody>
          <a:bodyPr wrap="square" lIns="25400" tIns="25400" rIns="25400" bIns="25400" rtlCol="0" anchor="t">
            <a:normAutofit/>
          </a:bodyPr>
          <a:lstStyle/>
          <a:p>
            <a:pPr algn="l" indent="0" marL="0">
              <a:lnSpc>
                <a:spcPct val="135000"/>
              </a:lnSpc>
              <a:buNone/>
            </a:pPr>
            <a:r>
              <a:rPr lang="en-US" sz="1800" dirty="0">
                <a:solidFill>
                  <a:srgbClr val="0D1F2D"/>
                </a:solidFill>
                <a:latin typeface="Arial" pitchFamily="34" charset="0"/>
                <a:ea typeface="Arial" pitchFamily="34" charset="-122"/>
                <a:cs typeface="Arial" pitchFamily="34" charset="-120"/>
              </a:rPr>
              <a:t>Slip hazards on wet surfaces</a:t>
            </a:r>
            <a:endParaRPr lang="en-US" sz="1800" dirty="0"/>
          </a:p>
          <a:p>
            <a:pPr algn="l" indent="0" marL="0">
              <a:lnSpc>
                <a:spcPct val="135000"/>
              </a:lnSpc>
              <a:buNone/>
            </a:pPr>
            <a:r>
              <a:rPr lang="en-US" sz="1800" dirty="0">
                <a:solidFill>
                  <a:srgbClr val="0D1F2D"/>
                </a:solidFill>
                <a:latin typeface="Arial" pitchFamily="34" charset="0"/>
                <a:ea typeface="Arial" pitchFamily="34" charset="-122"/>
                <a:cs typeface="Arial" pitchFamily="34" charset="-120"/>
              </a:rPr>
              <a:t>Diving into shallow water</a:t>
            </a:r>
            <a:endParaRPr lang="en-US" sz="1800" dirty="0"/>
          </a:p>
          <a:p>
            <a:pPr algn="l" indent="0" marL="0">
              <a:lnSpc>
                <a:spcPct val="135000"/>
              </a:lnSpc>
              <a:buNone/>
            </a:pPr>
            <a:r>
              <a:rPr lang="en-US" sz="1800" dirty="0">
                <a:solidFill>
                  <a:srgbClr val="0D1F2D"/>
                </a:solidFill>
                <a:latin typeface="Arial" pitchFamily="34" charset="0"/>
                <a:ea typeface="Arial" pitchFamily="34" charset="-122"/>
                <a:cs typeface="Arial" pitchFamily="34" charset="-120"/>
              </a:rPr>
              <a:t>Unsupervised toddlers (backyards)</a:t>
            </a:r>
            <a:endParaRPr lang="en-US" sz="1800" dirty="0"/>
          </a:p>
          <a:p>
            <a:pPr algn="l" indent="0" marL="0">
              <a:lnSpc>
                <a:spcPct val="135000"/>
              </a:lnSpc>
              <a:buNone/>
            </a:pPr>
            <a:r>
              <a:rPr lang="en-US" sz="1800" dirty="0">
                <a:solidFill>
                  <a:srgbClr val="0D1F2D"/>
                </a:solidFill>
                <a:latin typeface="Arial" pitchFamily="34" charset="0"/>
                <a:ea typeface="Arial" pitchFamily="34" charset="-122"/>
                <a:cs typeface="Arial" pitchFamily="34" charset="-120"/>
              </a:rPr>
              <a:t>Faulty pool fencing</a:t>
            </a:r>
            <a:endParaRPr lang="en-US" sz="1800" dirty="0"/>
          </a:p>
        </p:txBody>
      </p:sp>
      <p:sp>
        <p:nvSpPr>
          <p:cNvPr id="34" name="Shape 32"/>
          <p:cNvSpPr/>
          <p:nvPr/>
        </p:nvSpPr>
        <p:spPr>
          <a:xfrm>
            <a:off x="12385625" y="8580239"/>
            <a:ext cx="4540300" cy="9525"/>
          </a:xfrm>
          <a:prstGeom prst="rect">
            <a:avLst/>
          </a:prstGeom>
          <a:solidFill>
            <a:srgbClr val="CDD9E0"/>
          </a:solidFill>
          <a:ln/>
        </p:spPr>
        <p:txBody>
          <a:bodyPr/>
          <a:p/>
        </p:txBody>
      </p:sp>
      <p:sp>
        <p:nvSpPr>
          <p:cNvPr id="35" name="Text 33"/>
          <p:cNvSpPr/>
          <p:nvPr/>
        </p:nvSpPr>
        <p:spPr>
          <a:xfrm>
            <a:off x="12385625" y="8827889"/>
            <a:ext cx="1539478" cy="278011"/>
          </a:xfrm>
          <a:prstGeom prst="rect">
            <a:avLst/>
          </a:prstGeom>
          <a:noFill/>
          <a:ln/>
        </p:spPr>
        <p:txBody>
          <a:bodyPr wrap="square" lIns="25400" tIns="25400" rIns="25400" bIns="25400" rtlCol="0" anchor="t">
            <a:normAutofit/>
          </a:bodyPr>
          <a:lstStyle/>
          <a:p>
            <a:pPr algn="l" indent="0" marL="0">
              <a:lnSpc>
                <a:spcPct val="140000"/>
              </a:lnSpc>
              <a:buNone/>
            </a:pPr>
            <a:r>
              <a:rPr lang="en-US" sz="1350" spc="150" kern="0" dirty="0">
                <a:solidFill>
                  <a:srgbClr val="5A7A8A"/>
                </a:solidFill>
                <a:latin typeface="Courier New" pitchFamily="34" charset="0"/>
                <a:ea typeface="Courier New" pitchFamily="34" charset="-122"/>
                <a:cs typeface="Courier New" pitchFamily="34" charset="-120"/>
              </a:rPr>
              <a:t>OVERALL RISK</a:t>
            </a:r>
            <a:endParaRPr lang="en-US" sz="1350" dirty="0"/>
          </a:p>
        </p:txBody>
      </p:sp>
      <p:sp>
        <p:nvSpPr>
          <p:cNvPr id="36" name="Text 34"/>
          <p:cNvSpPr/>
          <p:nvPr/>
        </p:nvSpPr>
        <p:spPr>
          <a:xfrm>
            <a:off x="15812839" y="8761214"/>
            <a:ext cx="1189286" cy="411361"/>
          </a:xfrm>
          <a:prstGeom prst="rect">
            <a:avLst/>
          </a:prstGeom>
          <a:noFill/>
          <a:ln/>
        </p:spPr>
        <p:txBody>
          <a:bodyPr wrap="square" lIns="25400" tIns="25400" rIns="25400" bIns="25400" rtlCol="0" anchor="t">
            <a:normAutofit/>
          </a:bodyPr>
          <a:lstStyle/>
          <a:p>
            <a:pPr algn="l" indent="0" marL="0">
              <a:lnSpc>
                <a:spcPct val="140000"/>
              </a:lnSpc>
              <a:buNone/>
            </a:pPr>
            <a:r>
              <a:rPr lang="en-US" sz="2100" b="1" dirty="0">
                <a:solidFill>
                  <a:srgbClr val="B7770D"/>
                </a:solidFill>
                <a:latin typeface="Arial" pitchFamily="34" charset="0"/>
                <a:ea typeface="Arial" pitchFamily="34" charset="-122"/>
                <a:cs typeface="Arial" pitchFamily="34" charset="-120"/>
              </a:rPr>
              <a:t>MEDIUM</a:t>
            </a:r>
            <a:endParaRPr lang="en-US" sz="21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4F7F9"/>
        </a:solidFill>
      </p:bgPr>
    </p:bg>
    <p:spTree>
      <p:nvGrpSpPr>
        <p:cNvPr id="1" name=""/>
        <p:cNvGrpSpPr/>
        <p:nvPr/>
      </p:nvGrpSpPr>
      <p:grpSpPr>
        <a:xfrm>
          <a:off x="0" y="0"/>
          <a:ext cx="0" cy="0"/>
          <a:chOff x="0" y="0"/>
          <a:chExt cx="0" cy="0"/>
        </a:xfrm>
      </p:grpSpPr>
      <p:sp>
        <p:nvSpPr>
          <p:cNvPr id="2" name="Text 0"/>
          <p:cNvSpPr/>
          <p:nvPr/>
        </p:nvSpPr>
        <p:spPr>
          <a:xfrm>
            <a:off x="1047750" y="914400"/>
            <a:ext cx="16678275" cy="358080"/>
          </a:xfrm>
          <a:prstGeom prst="rect">
            <a:avLst/>
          </a:prstGeom>
          <a:noFill/>
          <a:ln/>
        </p:spPr>
        <p:txBody>
          <a:bodyPr wrap="square" lIns="25400" tIns="25400" rIns="25400" bIns="25400" rtlCol="0" anchor="t">
            <a:normAutofit/>
          </a:bodyPr>
          <a:lstStyle/>
          <a:p>
            <a:pPr algn="l" indent="0" marL="0">
              <a:lnSpc>
                <a:spcPct val="140000"/>
              </a:lnSpc>
              <a:buNone/>
            </a:pPr>
            <a:r>
              <a:rPr lang="en-US" sz="1800" spc="300" kern="0" dirty="0">
                <a:solidFill>
                  <a:srgbClr val="5A7A8A"/>
                </a:solidFill>
                <a:latin typeface="Courier New" pitchFamily="34" charset="0"/>
                <a:ea typeface="Courier New" pitchFamily="34" charset="-122"/>
                <a:cs typeface="Courier New" pitchFamily="34" charset="-120"/>
              </a:rPr>
              <a:t>LSV SWIMSAFE PROGRAM</a:t>
            </a:r>
            <a:endParaRPr lang="en-US" sz="1800" dirty="0"/>
          </a:p>
        </p:txBody>
      </p:sp>
      <p:sp>
        <p:nvSpPr>
          <p:cNvPr id="3" name="Text 1"/>
          <p:cNvSpPr/>
          <p:nvPr/>
        </p:nvSpPr>
        <p:spPr>
          <a:xfrm>
            <a:off x="1047750" y="1405830"/>
            <a:ext cx="16678275" cy="798165"/>
          </a:xfrm>
          <a:prstGeom prst="rect">
            <a:avLst/>
          </a:prstGeom>
          <a:noFill/>
          <a:ln/>
        </p:spPr>
        <p:txBody>
          <a:bodyPr wrap="square" lIns="25400" tIns="25400" rIns="25400" bIns="25400" rtlCol="0" anchor="t">
            <a:normAutofit/>
          </a:bodyPr>
          <a:lstStyle/>
          <a:p>
            <a:pPr algn="l" indent="0" marL="0">
              <a:lnSpc>
                <a:spcPct val="105000"/>
              </a:lnSpc>
              <a:buNone/>
            </a:pPr>
            <a:r>
              <a:rPr lang="en-US" sz="5700" b="1" spc="-75" kern="0" dirty="0">
                <a:solidFill>
                  <a:srgbClr val="0D1F2D"/>
                </a:solidFill>
                <a:latin typeface="Arial" pitchFamily="34" charset="0"/>
                <a:ea typeface="Arial" pitchFamily="34" charset="-122"/>
                <a:cs typeface="Arial" pitchFamily="34" charset="-120"/>
              </a:rPr>
              <a:t>Five rules. Before you enter </a:t>
            </a:r>
            <a:pPr algn="l" indent="0" marL="0">
              <a:lnSpc>
                <a:spcPct val="105000"/>
              </a:lnSpc>
              <a:buNone/>
            </a:pPr>
            <a:r>
              <a:rPr lang="en-US" sz="5700" b="1" spc="-75" kern="0" dirty="0">
                <a:solidFill>
                  <a:srgbClr val="006494"/>
                </a:solidFill>
                <a:latin typeface="Arial" pitchFamily="34" charset="0"/>
                <a:ea typeface="Arial" pitchFamily="34" charset="-122"/>
                <a:cs typeface="Arial" pitchFamily="34" charset="-120"/>
              </a:rPr>
              <a:t>any </a:t>
            </a:r>
            <a:pPr algn="l" indent="0" marL="0">
              <a:lnSpc>
                <a:spcPct val="105000"/>
              </a:lnSpc>
              <a:buNone/>
            </a:pPr>
            <a:r>
              <a:rPr lang="en-US" sz="5700" b="1" spc="-75" kern="0" dirty="0">
                <a:solidFill>
                  <a:srgbClr val="0D1F2D"/>
                </a:solidFill>
                <a:latin typeface="Arial" pitchFamily="34" charset="0"/>
                <a:ea typeface="Arial" pitchFamily="34" charset="-122"/>
                <a:cs typeface="Arial" pitchFamily="34" charset="-120"/>
              </a:rPr>
              <a:t>water.</a:t>
            </a:r>
            <a:endParaRPr lang="en-US" sz="5700" dirty="0"/>
          </a:p>
        </p:txBody>
      </p:sp>
      <p:sp>
        <p:nvSpPr>
          <p:cNvPr id="4" name="Shape 2"/>
          <p:cNvSpPr/>
          <p:nvPr/>
        </p:nvSpPr>
        <p:spPr>
          <a:xfrm>
            <a:off x="1047750" y="2623096"/>
            <a:ext cx="3055590" cy="6825704"/>
          </a:xfrm>
          <a:prstGeom prst="roundRect">
            <a:avLst>
              <a:gd name="adj" fmla="val 4988"/>
            </a:avLst>
          </a:prstGeom>
          <a:solidFill>
            <a:srgbClr val="FFFFFF"/>
          </a:solidFill>
          <a:ln/>
        </p:spPr>
        <p:txBody>
          <a:bodyPr/>
          <a:p/>
        </p:txBody>
      </p:sp>
      <p:sp>
        <p:nvSpPr>
          <p:cNvPr id="5" name="Shape 3"/>
          <p:cNvSpPr/>
          <p:nvPr/>
        </p:nvSpPr>
        <p:spPr>
          <a:xfrm>
            <a:off x="1047750" y="9439275"/>
            <a:ext cx="3055590" cy="9525"/>
          </a:xfrm>
          <a:prstGeom prst="rect">
            <a:avLst/>
          </a:prstGeom>
          <a:solidFill>
            <a:srgbClr val="CDD9E0"/>
          </a:solidFill>
          <a:ln/>
        </p:spPr>
        <p:txBody>
          <a:bodyPr/>
          <a:p/>
        </p:txBody>
      </p:sp>
      <p:sp>
        <p:nvSpPr>
          <p:cNvPr id="6" name="Shape 4"/>
          <p:cNvSpPr/>
          <p:nvPr/>
        </p:nvSpPr>
        <p:spPr>
          <a:xfrm>
            <a:off x="1047750" y="2623096"/>
            <a:ext cx="3055590" cy="114300"/>
          </a:xfrm>
          <a:prstGeom prst="rect">
            <a:avLst/>
          </a:prstGeom>
          <a:solidFill>
            <a:srgbClr val="1E8449"/>
          </a:solidFill>
          <a:ln/>
        </p:spPr>
        <p:txBody>
          <a:bodyPr/>
          <a:p/>
        </p:txBody>
      </p:sp>
      <p:sp>
        <p:nvSpPr>
          <p:cNvPr id="7" name="Shape 5"/>
          <p:cNvSpPr/>
          <p:nvPr/>
        </p:nvSpPr>
        <p:spPr>
          <a:xfrm>
            <a:off x="1047750" y="2623096"/>
            <a:ext cx="9525" cy="6825704"/>
          </a:xfrm>
          <a:prstGeom prst="rect">
            <a:avLst/>
          </a:prstGeom>
          <a:solidFill>
            <a:srgbClr val="CDD9E0"/>
          </a:solidFill>
          <a:ln/>
        </p:spPr>
        <p:txBody>
          <a:bodyPr/>
          <a:p/>
        </p:txBody>
      </p:sp>
      <p:sp>
        <p:nvSpPr>
          <p:cNvPr id="8" name="Shape 6"/>
          <p:cNvSpPr/>
          <p:nvPr/>
        </p:nvSpPr>
        <p:spPr>
          <a:xfrm>
            <a:off x="4093815" y="2623096"/>
            <a:ext cx="9525" cy="6825704"/>
          </a:xfrm>
          <a:prstGeom prst="rect">
            <a:avLst/>
          </a:prstGeom>
          <a:solidFill>
            <a:srgbClr val="CDD9E0"/>
          </a:solidFill>
          <a:ln/>
        </p:spPr>
        <p:txBody>
          <a:bodyPr/>
          <a:p/>
        </p:txBody>
      </p:sp>
      <p:sp>
        <p:nvSpPr>
          <p:cNvPr id="9" name="Text 7"/>
          <p:cNvSpPr/>
          <p:nvPr/>
        </p:nvSpPr>
        <p:spPr>
          <a:xfrm>
            <a:off x="1304925" y="3042196"/>
            <a:ext cx="2617477" cy="304800"/>
          </a:xfrm>
          <a:prstGeom prst="rect">
            <a:avLst/>
          </a:prstGeom>
          <a:noFill/>
          <a:ln/>
        </p:spPr>
        <p:txBody>
          <a:bodyPr wrap="square" lIns="25400" tIns="25400" rIns="25400" bIns="25400" rtlCol="0" anchor="t">
            <a:normAutofit/>
          </a:bodyPr>
          <a:lstStyle/>
          <a:p>
            <a:pPr algn="l" indent="0" marL="0">
              <a:lnSpc>
                <a:spcPct val="140000"/>
              </a:lnSpc>
              <a:buNone/>
            </a:pPr>
            <a:r>
              <a:rPr lang="en-US" sz="1500" b="1" spc="150" kern="0" dirty="0">
                <a:solidFill>
                  <a:srgbClr val="1E8449"/>
                </a:solidFill>
                <a:latin typeface="Courier New" pitchFamily="34" charset="0"/>
                <a:ea typeface="Courier New" pitchFamily="34" charset="-122"/>
                <a:cs typeface="Courier New" pitchFamily="34" charset="-120"/>
              </a:rPr>
              <a:t>Rule 01</a:t>
            </a:r>
            <a:endParaRPr lang="en-US" sz="1500" dirty="0"/>
          </a:p>
        </p:txBody>
      </p:sp>
      <p:sp>
        <p:nvSpPr>
          <p:cNvPr id="10" name="Text 8"/>
          <p:cNvSpPr/>
          <p:nvPr/>
        </p:nvSpPr>
        <p:spPr>
          <a:xfrm>
            <a:off x="1304925" y="3461296"/>
            <a:ext cx="2617477" cy="366713"/>
          </a:xfrm>
          <a:prstGeom prst="rect">
            <a:avLst/>
          </a:prstGeom>
          <a:noFill/>
          <a:ln/>
        </p:spPr>
        <p:txBody>
          <a:bodyPr wrap="square" lIns="25400" tIns="25400" rIns="25400" bIns="25400" rtlCol="0" anchor="t">
            <a:normAutofit/>
          </a:bodyPr>
          <a:lstStyle/>
          <a:p>
            <a:pPr algn="l" indent="0" marL="0">
              <a:lnSpc>
                <a:spcPct val="115000"/>
              </a:lnSpc>
              <a:buNone/>
            </a:pPr>
            <a:r>
              <a:rPr lang="en-US" sz="2250" b="1" dirty="0">
                <a:solidFill>
                  <a:srgbClr val="0D1F2D"/>
                </a:solidFill>
                <a:latin typeface="Arial" pitchFamily="34" charset="0"/>
                <a:ea typeface="Arial" pitchFamily="34" charset="-122"/>
                <a:cs typeface="Arial" pitchFamily="34" charset="-120"/>
              </a:rPr>
              <a:t>Read signs</a:t>
            </a:r>
            <a:endParaRPr lang="en-US" sz="2250" dirty="0"/>
          </a:p>
        </p:txBody>
      </p:sp>
      <p:sp>
        <p:nvSpPr>
          <p:cNvPr id="11" name="Text 9"/>
          <p:cNvSpPr/>
          <p:nvPr/>
        </p:nvSpPr>
        <p:spPr>
          <a:xfrm>
            <a:off x="1304925" y="8254454"/>
            <a:ext cx="2617477" cy="918121"/>
          </a:xfrm>
          <a:prstGeom prst="rect">
            <a:avLst/>
          </a:prstGeom>
          <a:noFill/>
          <a:ln/>
        </p:spPr>
        <p:txBody>
          <a:bodyPr wrap="square" lIns="25400" tIns="25400" rIns="25400" bIns="25400" rtlCol="0" anchor="t">
            <a:normAutofit/>
          </a:bodyPr>
          <a:lstStyle/>
          <a:p>
            <a:pPr algn="l" indent="0" marL="0">
              <a:lnSpc>
                <a:spcPct val="140000"/>
              </a:lnSpc>
              <a:buNone/>
            </a:pPr>
            <a:r>
              <a:rPr lang="en-US" sz="1650" dirty="0">
                <a:solidFill>
                  <a:srgbClr val="5A7A8A"/>
                </a:solidFill>
                <a:latin typeface="Arial" pitchFamily="34" charset="0"/>
                <a:ea typeface="Arial" pitchFamily="34" charset="-122"/>
                <a:cs typeface="Arial" pitchFamily="34" charset="-120"/>
              </a:rPr>
              <a:t>Check warnings, flags and notices before you go anywhere near the water.</a:t>
            </a:r>
            <a:endParaRPr lang="en-US" sz="1650" dirty="0"/>
          </a:p>
        </p:txBody>
      </p:sp>
      <p:sp>
        <p:nvSpPr>
          <p:cNvPr id="12" name="Shape 10"/>
          <p:cNvSpPr/>
          <p:nvPr/>
        </p:nvSpPr>
        <p:spPr>
          <a:xfrm>
            <a:off x="4331940" y="2623096"/>
            <a:ext cx="3055590" cy="6825704"/>
          </a:xfrm>
          <a:prstGeom prst="roundRect">
            <a:avLst>
              <a:gd name="adj" fmla="val 4988"/>
            </a:avLst>
          </a:prstGeom>
          <a:solidFill>
            <a:srgbClr val="FFFFFF"/>
          </a:solidFill>
          <a:ln/>
        </p:spPr>
        <p:txBody>
          <a:bodyPr/>
          <a:p/>
        </p:txBody>
      </p:sp>
      <p:sp>
        <p:nvSpPr>
          <p:cNvPr id="13" name="Shape 11"/>
          <p:cNvSpPr/>
          <p:nvPr/>
        </p:nvSpPr>
        <p:spPr>
          <a:xfrm>
            <a:off x="4331940" y="9439275"/>
            <a:ext cx="3055590" cy="9525"/>
          </a:xfrm>
          <a:prstGeom prst="rect">
            <a:avLst/>
          </a:prstGeom>
          <a:solidFill>
            <a:srgbClr val="CDD9E0"/>
          </a:solidFill>
          <a:ln/>
        </p:spPr>
        <p:txBody>
          <a:bodyPr/>
          <a:p/>
        </p:txBody>
      </p:sp>
      <p:sp>
        <p:nvSpPr>
          <p:cNvPr id="14" name="Shape 12"/>
          <p:cNvSpPr/>
          <p:nvPr/>
        </p:nvSpPr>
        <p:spPr>
          <a:xfrm>
            <a:off x="4331940" y="2623096"/>
            <a:ext cx="3055590" cy="114300"/>
          </a:xfrm>
          <a:prstGeom prst="rect">
            <a:avLst/>
          </a:prstGeom>
          <a:solidFill>
            <a:srgbClr val="1E8449"/>
          </a:solidFill>
          <a:ln/>
        </p:spPr>
        <p:txBody>
          <a:bodyPr/>
          <a:p/>
        </p:txBody>
      </p:sp>
      <p:sp>
        <p:nvSpPr>
          <p:cNvPr id="15" name="Shape 13"/>
          <p:cNvSpPr/>
          <p:nvPr/>
        </p:nvSpPr>
        <p:spPr>
          <a:xfrm>
            <a:off x="4331940" y="2623096"/>
            <a:ext cx="9525" cy="6825704"/>
          </a:xfrm>
          <a:prstGeom prst="rect">
            <a:avLst/>
          </a:prstGeom>
          <a:solidFill>
            <a:srgbClr val="CDD9E0"/>
          </a:solidFill>
          <a:ln/>
        </p:spPr>
        <p:txBody>
          <a:bodyPr/>
          <a:p/>
        </p:txBody>
      </p:sp>
      <p:sp>
        <p:nvSpPr>
          <p:cNvPr id="16" name="Shape 14"/>
          <p:cNvSpPr/>
          <p:nvPr/>
        </p:nvSpPr>
        <p:spPr>
          <a:xfrm>
            <a:off x="7378005" y="2623096"/>
            <a:ext cx="9525" cy="6825704"/>
          </a:xfrm>
          <a:prstGeom prst="rect">
            <a:avLst/>
          </a:prstGeom>
          <a:solidFill>
            <a:srgbClr val="CDD9E0"/>
          </a:solidFill>
          <a:ln/>
        </p:spPr>
        <p:txBody>
          <a:bodyPr/>
          <a:p/>
        </p:txBody>
      </p:sp>
      <p:sp>
        <p:nvSpPr>
          <p:cNvPr id="17" name="Text 15"/>
          <p:cNvSpPr/>
          <p:nvPr/>
        </p:nvSpPr>
        <p:spPr>
          <a:xfrm>
            <a:off x="4589115" y="3042196"/>
            <a:ext cx="2617477" cy="304800"/>
          </a:xfrm>
          <a:prstGeom prst="rect">
            <a:avLst/>
          </a:prstGeom>
          <a:noFill/>
          <a:ln/>
        </p:spPr>
        <p:txBody>
          <a:bodyPr wrap="square" lIns="25400" tIns="25400" rIns="25400" bIns="25400" rtlCol="0" anchor="t">
            <a:normAutofit/>
          </a:bodyPr>
          <a:lstStyle/>
          <a:p>
            <a:pPr algn="l" indent="0" marL="0">
              <a:lnSpc>
                <a:spcPct val="140000"/>
              </a:lnSpc>
              <a:buNone/>
            </a:pPr>
            <a:r>
              <a:rPr lang="en-US" sz="1500" b="1" spc="150" kern="0" dirty="0">
                <a:solidFill>
                  <a:srgbClr val="1E8449"/>
                </a:solidFill>
                <a:latin typeface="Courier New" pitchFamily="34" charset="0"/>
                <a:ea typeface="Courier New" pitchFamily="34" charset="-122"/>
                <a:cs typeface="Courier New" pitchFamily="34" charset="-120"/>
              </a:rPr>
              <a:t>Rule 02</a:t>
            </a:r>
            <a:endParaRPr lang="en-US" sz="1500" dirty="0"/>
          </a:p>
        </p:txBody>
      </p:sp>
      <p:sp>
        <p:nvSpPr>
          <p:cNvPr id="18" name="Text 16"/>
          <p:cNvSpPr/>
          <p:nvPr/>
        </p:nvSpPr>
        <p:spPr>
          <a:xfrm>
            <a:off x="4589115" y="3461296"/>
            <a:ext cx="2617477" cy="366713"/>
          </a:xfrm>
          <a:prstGeom prst="rect">
            <a:avLst/>
          </a:prstGeom>
          <a:noFill/>
          <a:ln/>
        </p:spPr>
        <p:txBody>
          <a:bodyPr wrap="square" lIns="25400" tIns="25400" rIns="25400" bIns="25400" rtlCol="0" anchor="t">
            <a:normAutofit/>
          </a:bodyPr>
          <a:lstStyle/>
          <a:p>
            <a:pPr algn="l" indent="0" marL="0">
              <a:lnSpc>
                <a:spcPct val="115000"/>
              </a:lnSpc>
              <a:buNone/>
            </a:pPr>
            <a:r>
              <a:rPr lang="en-US" sz="2250" b="1" dirty="0">
                <a:solidFill>
                  <a:srgbClr val="0D1F2D"/>
                </a:solidFill>
                <a:latin typeface="Arial" pitchFamily="34" charset="0"/>
                <a:ea typeface="Arial" pitchFamily="34" charset="-122"/>
                <a:cs typeface="Arial" pitchFamily="34" charset="-120"/>
              </a:rPr>
              <a:t>Enter feet first</a:t>
            </a:r>
            <a:endParaRPr lang="en-US" sz="2250" dirty="0"/>
          </a:p>
        </p:txBody>
      </p:sp>
      <p:sp>
        <p:nvSpPr>
          <p:cNvPr id="19" name="Text 17"/>
          <p:cNvSpPr/>
          <p:nvPr/>
        </p:nvSpPr>
        <p:spPr>
          <a:xfrm>
            <a:off x="4589115" y="7961114"/>
            <a:ext cx="2617477" cy="1211461"/>
          </a:xfrm>
          <a:prstGeom prst="rect">
            <a:avLst/>
          </a:prstGeom>
          <a:noFill/>
          <a:ln/>
        </p:spPr>
        <p:txBody>
          <a:bodyPr wrap="square" lIns="25400" tIns="25400" rIns="25400" bIns="25400" rtlCol="0" anchor="t">
            <a:normAutofit/>
          </a:bodyPr>
          <a:lstStyle/>
          <a:p>
            <a:pPr algn="l" indent="0" marL="0">
              <a:lnSpc>
                <a:spcPct val="140000"/>
              </a:lnSpc>
              <a:buNone/>
            </a:pPr>
            <a:r>
              <a:rPr lang="en-US" sz="1650" dirty="0">
                <a:solidFill>
                  <a:srgbClr val="5A7A8A"/>
                </a:solidFill>
                <a:latin typeface="Arial" pitchFamily="34" charset="0"/>
                <a:ea typeface="Arial" pitchFamily="34" charset="-122"/>
                <a:cs typeface="Arial" pitchFamily="34" charset="-120"/>
              </a:rPr>
              <a:t>Never dive into unknown water. Hidden rocks and shallow edges cause spinal injuries.</a:t>
            </a:r>
            <a:endParaRPr lang="en-US" sz="1650" dirty="0"/>
          </a:p>
        </p:txBody>
      </p:sp>
      <p:sp>
        <p:nvSpPr>
          <p:cNvPr id="20" name="Shape 18"/>
          <p:cNvSpPr/>
          <p:nvPr/>
        </p:nvSpPr>
        <p:spPr>
          <a:xfrm>
            <a:off x="7616130" y="2623096"/>
            <a:ext cx="3055590" cy="6825704"/>
          </a:xfrm>
          <a:prstGeom prst="roundRect">
            <a:avLst>
              <a:gd name="adj" fmla="val 4988"/>
            </a:avLst>
          </a:prstGeom>
          <a:solidFill>
            <a:srgbClr val="FFFFFF"/>
          </a:solidFill>
          <a:ln/>
        </p:spPr>
        <p:txBody>
          <a:bodyPr/>
          <a:p/>
        </p:txBody>
      </p:sp>
      <p:sp>
        <p:nvSpPr>
          <p:cNvPr id="21" name="Shape 19"/>
          <p:cNvSpPr/>
          <p:nvPr/>
        </p:nvSpPr>
        <p:spPr>
          <a:xfrm>
            <a:off x="7616130" y="9439275"/>
            <a:ext cx="3055590" cy="9525"/>
          </a:xfrm>
          <a:prstGeom prst="rect">
            <a:avLst/>
          </a:prstGeom>
          <a:solidFill>
            <a:srgbClr val="CDD9E0"/>
          </a:solidFill>
          <a:ln/>
        </p:spPr>
        <p:txBody>
          <a:bodyPr/>
          <a:p/>
        </p:txBody>
      </p:sp>
      <p:sp>
        <p:nvSpPr>
          <p:cNvPr id="22" name="Shape 20"/>
          <p:cNvSpPr/>
          <p:nvPr/>
        </p:nvSpPr>
        <p:spPr>
          <a:xfrm>
            <a:off x="7616130" y="2623096"/>
            <a:ext cx="3055590" cy="114300"/>
          </a:xfrm>
          <a:prstGeom prst="rect">
            <a:avLst/>
          </a:prstGeom>
          <a:solidFill>
            <a:srgbClr val="1E8449"/>
          </a:solidFill>
          <a:ln/>
        </p:spPr>
        <p:txBody>
          <a:bodyPr/>
          <a:p/>
        </p:txBody>
      </p:sp>
      <p:sp>
        <p:nvSpPr>
          <p:cNvPr id="23" name="Shape 21"/>
          <p:cNvSpPr/>
          <p:nvPr/>
        </p:nvSpPr>
        <p:spPr>
          <a:xfrm>
            <a:off x="7616130" y="2623096"/>
            <a:ext cx="9525" cy="6825704"/>
          </a:xfrm>
          <a:prstGeom prst="rect">
            <a:avLst/>
          </a:prstGeom>
          <a:solidFill>
            <a:srgbClr val="CDD9E0"/>
          </a:solidFill>
          <a:ln/>
        </p:spPr>
        <p:txBody>
          <a:bodyPr/>
          <a:p/>
        </p:txBody>
      </p:sp>
      <p:sp>
        <p:nvSpPr>
          <p:cNvPr id="24" name="Shape 22"/>
          <p:cNvSpPr/>
          <p:nvPr/>
        </p:nvSpPr>
        <p:spPr>
          <a:xfrm>
            <a:off x="10662196" y="2623096"/>
            <a:ext cx="9525" cy="6825704"/>
          </a:xfrm>
          <a:prstGeom prst="rect">
            <a:avLst/>
          </a:prstGeom>
          <a:solidFill>
            <a:srgbClr val="CDD9E0"/>
          </a:solidFill>
          <a:ln/>
        </p:spPr>
        <p:txBody>
          <a:bodyPr/>
          <a:p/>
        </p:txBody>
      </p:sp>
      <p:sp>
        <p:nvSpPr>
          <p:cNvPr id="25" name="Text 23"/>
          <p:cNvSpPr/>
          <p:nvPr/>
        </p:nvSpPr>
        <p:spPr>
          <a:xfrm>
            <a:off x="7873305" y="3042196"/>
            <a:ext cx="2617477" cy="304800"/>
          </a:xfrm>
          <a:prstGeom prst="rect">
            <a:avLst/>
          </a:prstGeom>
          <a:noFill/>
          <a:ln/>
        </p:spPr>
        <p:txBody>
          <a:bodyPr wrap="square" lIns="25400" tIns="25400" rIns="25400" bIns="25400" rtlCol="0" anchor="t">
            <a:normAutofit/>
          </a:bodyPr>
          <a:lstStyle/>
          <a:p>
            <a:pPr algn="l" indent="0" marL="0">
              <a:lnSpc>
                <a:spcPct val="140000"/>
              </a:lnSpc>
              <a:buNone/>
            </a:pPr>
            <a:r>
              <a:rPr lang="en-US" sz="1500" b="1" spc="150" kern="0" dirty="0">
                <a:solidFill>
                  <a:srgbClr val="1E8449"/>
                </a:solidFill>
                <a:latin typeface="Courier New" pitchFamily="34" charset="0"/>
                <a:ea typeface="Courier New" pitchFamily="34" charset="-122"/>
                <a:cs typeface="Courier New" pitchFamily="34" charset="-120"/>
              </a:rPr>
              <a:t>Rule 03</a:t>
            </a:r>
            <a:endParaRPr lang="en-US" sz="1500" dirty="0"/>
          </a:p>
        </p:txBody>
      </p:sp>
      <p:sp>
        <p:nvSpPr>
          <p:cNvPr id="26" name="Text 24"/>
          <p:cNvSpPr/>
          <p:nvPr/>
        </p:nvSpPr>
        <p:spPr>
          <a:xfrm>
            <a:off x="7873305" y="3461296"/>
            <a:ext cx="2617477" cy="366713"/>
          </a:xfrm>
          <a:prstGeom prst="rect">
            <a:avLst/>
          </a:prstGeom>
          <a:noFill/>
          <a:ln/>
        </p:spPr>
        <p:txBody>
          <a:bodyPr wrap="square" lIns="25400" tIns="25400" rIns="25400" bIns="25400" rtlCol="0" anchor="t">
            <a:normAutofit/>
          </a:bodyPr>
          <a:lstStyle/>
          <a:p>
            <a:pPr algn="l" indent="0" marL="0">
              <a:lnSpc>
                <a:spcPct val="115000"/>
              </a:lnSpc>
              <a:buNone/>
            </a:pPr>
            <a:r>
              <a:rPr lang="en-US" sz="2250" b="1" dirty="0">
                <a:solidFill>
                  <a:srgbClr val="0D1F2D"/>
                </a:solidFill>
                <a:latin typeface="Arial" pitchFamily="34" charset="0"/>
                <a:ea typeface="Arial" pitchFamily="34" charset="-122"/>
                <a:cs typeface="Arial" pitchFamily="34" charset="-120"/>
              </a:rPr>
              <a:t>Stay in depth</a:t>
            </a:r>
            <a:endParaRPr lang="en-US" sz="2250" dirty="0"/>
          </a:p>
        </p:txBody>
      </p:sp>
      <p:sp>
        <p:nvSpPr>
          <p:cNvPr id="27" name="Text 25"/>
          <p:cNvSpPr/>
          <p:nvPr/>
        </p:nvSpPr>
        <p:spPr>
          <a:xfrm>
            <a:off x="7873305" y="7961114"/>
            <a:ext cx="2617477" cy="1211461"/>
          </a:xfrm>
          <a:prstGeom prst="rect">
            <a:avLst/>
          </a:prstGeom>
          <a:noFill/>
          <a:ln/>
        </p:spPr>
        <p:txBody>
          <a:bodyPr wrap="square" lIns="25400" tIns="25400" rIns="25400" bIns="25400" rtlCol="0" anchor="t">
            <a:normAutofit/>
          </a:bodyPr>
          <a:lstStyle/>
          <a:p>
            <a:pPr algn="l" indent="0" marL="0">
              <a:lnSpc>
                <a:spcPct val="140000"/>
              </a:lnSpc>
              <a:buNone/>
            </a:pPr>
            <a:r>
              <a:rPr lang="en-US" sz="1650" dirty="0">
                <a:solidFill>
                  <a:srgbClr val="5A7A8A"/>
                </a:solidFill>
                <a:latin typeface="Arial" pitchFamily="34" charset="0"/>
                <a:ea typeface="Arial" pitchFamily="34" charset="-122"/>
                <a:cs typeface="Arial" pitchFamily="34" charset="-120"/>
              </a:rPr>
              <a:t>Only swim where you can stand comfortably — unless you're a confident, experienced swimmer.</a:t>
            </a:r>
            <a:endParaRPr lang="en-US" sz="1650" dirty="0"/>
          </a:p>
        </p:txBody>
      </p:sp>
      <p:sp>
        <p:nvSpPr>
          <p:cNvPr id="28" name="Shape 26"/>
          <p:cNvSpPr/>
          <p:nvPr/>
        </p:nvSpPr>
        <p:spPr>
          <a:xfrm>
            <a:off x="10900321" y="2623096"/>
            <a:ext cx="3055590" cy="6825704"/>
          </a:xfrm>
          <a:prstGeom prst="roundRect">
            <a:avLst>
              <a:gd name="adj" fmla="val 4988"/>
            </a:avLst>
          </a:prstGeom>
          <a:solidFill>
            <a:srgbClr val="FFFFFF"/>
          </a:solidFill>
          <a:ln/>
        </p:spPr>
        <p:txBody>
          <a:bodyPr/>
          <a:p/>
        </p:txBody>
      </p:sp>
      <p:sp>
        <p:nvSpPr>
          <p:cNvPr id="29" name="Shape 27"/>
          <p:cNvSpPr/>
          <p:nvPr/>
        </p:nvSpPr>
        <p:spPr>
          <a:xfrm>
            <a:off x="10900321" y="9439275"/>
            <a:ext cx="3055590" cy="9525"/>
          </a:xfrm>
          <a:prstGeom prst="rect">
            <a:avLst/>
          </a:prstGeom>
          <a:solidFill>
            <a:srgbClr val="CDD9E0"/>
          </a:solidFill>
          <a:ln/>
        </p:spPr>
        <p:txBody>
          <a:bodyPr/>
          <a:p/>
        </p:txBody>
      </p:sp>
      <p:sp>
        <p:nvSpPr>
          <p:cNvPr id="30" name="Shape 28"/>
          <p:cNvSpPr/>
          <p:nvPr/>
        </p:nvSpPr>
        <p:spPr>
          <a:xfrm>
            <a:off x="10900321" y="2623096"/>
            <a:ext cx="3055590" cy="114300"/>
          </a:xfrm>
          <a:prstGeom prst="rect">
            <a:avLst/>
          </a:prstGeom>
          <a:solidFill>
            <a:srgbClr val="1E8449"/>
          </a:solidFill>
          <a:ln/>
        </p:spPr>
        <p:txBody>
          <a:bodyPr/>
          <a:p/>
        </p:txBody>
      </p:sp>
      <p:sp>
        <p:nvSpPr>
          <p:cNvPr id="31" name="Shape 29"/>
          <p:cNvSpPr/>
          <p:nvPr/>
        </p:nvSpPr>
        <p:spPr>
          <a:xfrm>
            <a:off x="10900321" y="2623096"/>
            <a:ext cx="9525" cy="6825704"/>
          </a:xfrm>
          <a:prstGeom prst="rect">
            <a:avLst/>
          </a:prstGeom>
          <a:solidFill>
            <a:srgbClr val="CDD9E0"/>
          </a:solidFill>
          <a:ln/>
        </p:spPr>
        <p:txBody>
          <a:bodyPr/>
          <a:p/>
        </p:txBody>
      </p:sp>
      <p:sp>
        <p:nvSpPr>
          <p:cNvPr id="32" name="Shape 30"/>
          <p:cNvSpPr/>
          <p:nvPr/>
        </p:nvSpPr>
        <p:spPr>
          <a:xfrm>
            <a:off x="13946386" y="2623096"/>
            <a:ext cx="9525" cy="6825704"/>
          </a:xfrm>
          <a:prstGeom prst="rect">
            <a:avLst/>
          </a:prstGeom>
          <a:solidFill>
            <a:srgbClr val="CDD9E0"/>
          </a:solidFill>
          <a:ln/>
        </p:spPr>
        <p:txBody>
          <a:bodyPr/>
          <a:p/>
        </p:txBody>
      </p:sp>
      <p:sp>
        <p:nvSpPr>
          <p:cNvPr id="33" name="Text 31"/>
          <p:cNvSpPr/>
          <p:nvPr/>
        </p:nvSpPr>
        <p:spPr>
          <a:xfrm>
            <a:off x="11157496" y="3042196"/>
            <a:ext cx="2617477" cy="304800"/>
          </a:xfrm>
          <a:prstGeom prst="rect">
            <a:avLst/>
          </a:prstGeom>
          <a:noFill/>
          <a:ln/>
        </p:spPr>
        <p:txBody>
          <a:bodyPr wrap="square" lIns="25400" tIns="25400" rIns="25400" bIns="25400" rtlCol="0" anchor="t">
            <a:normAutofit/>
          </a:bodyPr>
          <a:lstStyle/>
          <a:p>
            <a:pPr algn="l" indent="0" marL="0">
              <a:lnSpc>
                <a:spcPct val="140000"/>
              </a:lnSpc>
              <a:buNone/>
            </a:pPr>
            <a:r>
              <a:rPr lang="en-US" sz="1500" b="1" spc="150" kern="0" dirty="0">
                <a:solidFill>
                  <a:srgbClr val="1E8449"/>
                </a:solidFill>
                <a:latin typeface="Courier New" pitchFamily="34" charset="0"/>
                <a:ea typeface="Courier New" pitchFamily="34" charset="-122"/>
                <a:cs typeface="Courier New" pitchFamily="34" charset="-120"/>
              </a:rPr>
              <a:t>Rule 04</a:t>
            </a:r>
            <a:endParaRPr lang="en-US" sz="1500" dirty="0"/>
          </a:p>
        </p:txBody>
      </p:sp>
      <p:sp>
        <p:nvSpPr>
          <p:cNvPr id="34" name="Text 32"/>
          <p:cNvSpPr/>
          <p:nvPr/>
        </p:nvSpPr>
        <p:spPr>
          <a:xfrm>
            <a:off x="11157496" y="3461296"/>
            <a:ext cx="2617477" cy="695325"/>
          </a:xfrm>
          <a:prstGeom prst="rect">
            <a:avLst/>
          </a:prstGeom>
          <a:noFill/>
          <a:ln/>
        </p:spPr>
        <p:txBody>
          <a:bodyPr wrap="square" lIns="25400" tIns="25400" rIns="25400" bIns="25400" rtlCol="0" anchor="t">
            <a:normAutofit/>
          </a:bodyPr>
          <a:lstStyle/>
          <a:p>
            <a:pPr algn="l" indent="0" marL="0">
              <a:lnSpc>
                <a:spcPct val="115000"/>
              </a:lnSpc>
              <a:buNone/>
            </a:pPr>
            <a:r>
              <a:rPr lang="en-US" sz="2250" b="1" dirty="0">
                <a:solidFill>
                  <a:srgbClr val="0D1F2D"/>
                </a:solidFill>
                <a:latin typeface="Arial" pitchFamily="34" charset="0"/>
                <a:ea typeface="Arial" pitchFamily="34" charset="-122"/>
                <a:cs typeface="Arial" pitchFamily="34" charset="-120"/>
              </a:rPr>
              <a:t>Swim with a friend</a:t>
            </a:r>
            <a:endParaRPr lang="en-US" sz="2250" dirty="0"/>
          </a:p>
        </p:txBody>
      </p:sp>
      <p:sp>
        <p:nvSpPr>
          <p:cNvPr id="35" name="Text 33"/>
          <p:cNvSpPr/>
          <p:nvPr/>
        </p:nvSpPr>
        <p:spPr>
          <a:xfrm>
            <a:off x="11157496" y="8254454"/>
            <a:ext cx="2617477" cy="918121"/>
          </a:xfrm>
          <a:prstGeom prst="rect">
            <a:avLst/>
          </a:prstGeom>
          <a:noFill/>
          <a:ln/>
        </p:spPr>
        <p:txBody>
          <a:bodyPr wrap="square" lIns="25400" tIns="25400" rIns="25400" bIns="25400" rtlCol="0" anchor="t">
            <a:normAutofit/>
          </a:bodyPr>
          <a:lstStyle/>
          <a:p>
            <a:pPr algn="l" indent="0" marL="0">
              <a:lnSpc>
                <a:spcPct val="140000"/>
              </a:lnSpc>
              <a:buNone/>
            </a:pPr>
            <a:r>
              <a:rPr lang="en-US" sz="1650" dirty="0">
                <a:solidFill>
                  <a:srgbClr val="5A7A8A"/>
                </a:solidFill>
                <a:latin typeface="Arial" pitchFamily="34" charset="0"/>
                <a:ea typeface="Arial" pitchFamily="34" charset="-122"/>
                <a:cs typeface="Arial" pitchFamily="34" charset="-120"/>
              </a:rPr>
              <a:t>Drowning is silent. Someone watching means someone can call for help.</a:t>
            </a:r>
            <a:endParaRPr lang="en-US" sz="1650" dirty="0"/>
          </a:p>
        </p:txBody>
      </p:sp>
      <p:sp>
        <p:nvSpPr>
          <p:cNvPr id="36" name="Shape 34"/>
          <p:cNvSpPr/>
          <p:nvPr/>
        </p:nvSpPr>
        <p:spPr>
          <a:xfrm>
            <a:off x="14184511" y="2623096"/>
            <a:ext cx="3055590" cy="6825704"/>
          </a:xfrm>
          <a:prstGeom prst="roundRect">
            <a:avLst>
              <a:gd name="adj" fmla="val 4988"/>
            </a:avLst>
          </a:prstGeom>
          <a:solidFill>
            <a:srgbClr val="FFFFFF"/>
          </a:solidFill>
          <a:ln/>
        </p:spPr>
        <p:txBody>
          <a:bodyPr/>
          <a:p/>
        </p:txBody>
      </p:sp>
      <p:sp>
        <p:nvSpPr>
          <p:cNvPr id="37" name="Shape 35"/>
          <p:cNvSpPr/>
          <p:nvPr/>
        </p:nvSpPr>
        <p:spPr>
          <a:xfrm>
            <a:off x="14184511" y="9439275"/>
            <a:ext cx="3055590" cy="9525"/>
          </a:xfrm>
          <a:prstGeom prst="rect">
            <a:avLst/>
          </a:prstGeom>
          <a:solidFill>
            <a:srgbClr val="CDD9E0"/>
          </a:solidFill>
          <a:ln/>
        </p:spPr>
        <p:txBody>
          <a:bodyPr/>
          <a:p/>
        </p:txBody>
      </p:sp>
      <p:sp>
        <p:nvSpPr>
          <p:cNvPr id="38" name="Shape 36"/>
          <p:cNvSpPr/>
          <p:nvPr/>
        </p:nvSpPr>
        <p:spPr>
          <a:xfrm>
            <a:off x="14184511" y="2623096"/>
            <a:ext cx="3055590" cy="114300"/>
          </a:xfrm>
          <a:prstGeom prst="rect">
            <a:avLst/>
          </a:prstGeom>
          <a:solidFill>
            <a:srgbClr val="1E8449"/>
          </a:solidFill>
          <a:ln/>
        </p:spPr>
        <p:txBody>
          <a:bodyPr/>
          <a:p/>
        </p:txBody>
      </p:sp>
      <p:sp>
        <p:nvSpPr>
          <p:cNvPr id="39" name="Shape 37"/>
          <p:cNvSpPr/>
          <p:nvPr/>
        </p:nvSpPr>
        <p:spPr>
          <a:xfrm>
            <a:off x="14184511" y="2623096"/>
            <a:ext cx="9525" cy="6825704"/>
          </a:xfrm>
          <a:prstGeom prst="rect">
            <a:avLst/>
          </a:prstGeom>
          <a:solidFill>
            <a:srgbClr val="CDD9E0"/>
          </a:solidFill>
          <a:ln/>
        </p:spPr>
        <p:txBody>
          <a:bodyPr/>
          <a:p/>
        </p:txBody>
      </p:sp>
      <p:sp>
        <p:nvSpPr>
          <p:cNvPr id="40" name="Shape 38"/>
          <p:cNvSpPr/>
          <p:nvPr/>
        </p:nvSpPr>
        <p:spPr>
          <a:xfrm>
            <a:off x="17230576" y="2623096"/>
            <a:ext cx="9525" cy="6825704"/>
          </a:xfrm>
          <a:prstGeom prst="rect">
            <a:avLst/>
          </a:prstGeom>
          <a:solidFill>
            <a:srgbClr val="CDD9E0"/>
          </a:solidFill>
          <a:ln/>
        </p:spPr>
        <p:txBody>
          <a:bodyPr/>
          <a:p/>
        </p:txBody>
      </p:sp>
      <p:sp>
        <p:nvSpPr>
          <p:cNvPr id="41" name="Text 39"/>
          <p:cNvSpPr/>
          <p:nvPr/>
        </p:nvSpPr>
        <p:spPr>
          <a:xfrm>
            <a:off x="14441686" y="3042196"/>
            <a:ext cx="2617477" cy="304800"/>
          </a:xfrm>
          <a:prstGeom prst="rect">
            <a:avLst/>
          </a:prstGeom>
          <a:noFill/>
          <a:ln/>
        </p:spPr>
        <p:txBody>
          <a:bodyPr wrap="square" lIns="25400" tIns="25400" rIns="25400" bIns="25400" rtlCol="0" anchor="t">
            <a:normAutofit/>
          </a:bodyPr>
          <a:lstStyle/>
          <a:p>
            <a:pPr algn="l" indent="0" marL="0">
              <a:lnSpc>
                <a:spcPct val="140000"/>
              </a:lnSpc>
              <a:buNone/>
            </a:pPr>
            <a:r>
              <a:rPr lang="en-US" sz="1500" b="1" spc="150" kern="0" dirty="0">
                <a:solidFill>
                  <a:srgbClr val="1E8449"/>
                </a:solidFill>
                <a:latin typeface="Courier New" pitchFamily="34" charset="0"/>
                <a:ea typeface="Courier New" pitchFamily="34" charset="-122"/>
                <a:cs typeface="Courier New" pitchFamily="34" charset="-120"/>
              </a:rPr>
              <a:t>Rule 05</a:t>
            </a:r>
            <a:endParaRPr lang="en-US" sz="1500" dirty="0"/>
          </a:p>
        </p:txBody>
      </p:sp>
      <p:sp>
        <p:nvSpPr>
          <p:cNvPr id="42" name="Text 40"/>
          <p:cNvSpPr/>
          <p:nvPr/>
        </p:nvSpPr>
        <p:spPr>
          <a:xfrm>
            <a:off x="14441686" y="3461296"/>
            <a:ext cx="2617477" cy="366713"/>
          </a:xfrm>
          <a:prstGeom prst="rect">
            <a:avLst/>
          </a:prstGeom>
          <a:noFill/>
          <a:ln/>
        </p:spPr>
        <p:txBody>
          <a:bodyPr wrap="square" lIns="25400" tIns="25400" rIns="25400" bIns="25400" rtlCol="0" anchor="t">
            <a:normAutofit/>
          </a:bodyPr>
          <a:lstStyle/>
          <a:p>
            <a:pPr algn="l" indent="0" marL="0">
              <a:lnSpc>
                <a:spcPct val="115000"/>
              </a:lnSpc>
              <a:buNone/>
            </a:pPr>
            <a:r>
              <a:rPr lang="en-US" sz="2250" b="1" dirty="0">
                <a:solidFill>
                  <a:srgbClr val="0D1F2D"/>
                </a:solidFill>
                <a:latin typeface="Arial" pitchFamily="34" charset="0"/>
                <a:ea typeface="Arial" pitchFamily="34" charset="-122"/>
                <a:cs typeface="Arial" pitchFamily="34" charset="-120"/>
              </a:rPr>
              <a:t>Signal for help</a:t>
            </a:r>
            <a:endParaRPr lang="en-US" sz="2250" dirty="0"/>
          </a:p>
        </p:txBody>
      </p:sp>
      <p:sp>
        <p:nvSpPr>
          <p:cNvPr id="43" name="Text 41"/>
          <p:cNvSpPr/>
          <p:nvPr/>
        </p:nvSpPr>
        <p:spPr>
          <a:xfrm>
            <a:off x="14441686" y="8254454"/>
            <a:ext cx="2617477" cy="918121"/>
          </a:xfrm>
          <a:prstGeom prst="rect">
            <a:avLst/>
          </a:prstGeom>
          <a:noFill/>
          <a:ln/>
        </p:spPr>
        <p:txBody>
          <a:bodyPr wrap="square" lIns="25400" tIns="25400" rIns="25400" bIns="25400" rtlCol="0" anchor="t">
            <a:normAutofit/>
          </a:bodyPr>
          <a:lstStyle/>
          <a:p>
            <a:pPr algn="l" indent="0" marL="0">
              <a:lnSpc>
                <a:spcPct val="140000"/>
              </a:lnSpc>
              <a:buNone/>
            </a:pPr>
            <a:r>
              <a:rPr lang="en-US" sz="1650" dirty="0">
                <a:solidFill>
                  <a:srgbClr val="5A7A8A"/>
                </a:solidFill>
                <a:latin typeface="Arial" pitchFamily="34" charset="0"/>
                <a:ea typeface="Arial" pitchFamily="34" charset="-122"/>
                <a:cs typeface="Arial" pitchFamily="34" charset="-120"/>
              </a:rPr>
              <a:t>One arm raised. Float. Conserve energy. Keep signalling until help arrives.</a:t>
            </a:r>
            <a:endParaRPr lang="en-US" sz="1650" dirty="0"/>
          </a:p>
        </p:txBody>
      </p:sp>
      <p:sp>
        <p:nvSpPr>
          <p:cNvPr id="44" name="Text 42"/>
          <p:cNvSpPr/>
          <p:nvPr/>
        </p:nvSpPr>
        <p:spPr>
          <a:xfrm>
            <a:off x="1047750" y="9605070"/>
            <a:ext cx="8205773" cy="358080"/>
          </a:xfrm>
          <a:prstGeom prst="rect">
            <a:avLst/>
          </a:prstGeom>
          <a:noFill/>
          <a:ln/>
        </p:spPr>
        <p:txBody>
          <a:bodyPr wrap="square" lIns="25400" tIns="25400" rIns="25400" bIns="25400" rtlCol="0" anchor="t">
            <a:normAutofit/>
          </a:bodyPr>
          <a:lstStyle/>
          <a:p>
            <a:pPr algn="l" indent="0" marL="0">
              <a:lnSpc>
                <a:spcPct val="140000"/>
              </a:lnSpc>
              <a:buNone/>
            </a:pPr>
            <a:r>
              <a:rPr lang="en-US" sz="1800" spc="150" kern="0" dirty="0">
                <a:solidFill>
                  <a:srgbClr val="5A7A8A"/>
                </a:solidFill>
                <a:latin typeface="Courier New" pitchFamily="34" charset="0"/>
                <a:ea typeface="Courier New" pitchFamily="34" charset="-122"/>
                <a:cs typeface="Courier New" pitchFamily="34" charset="-120"/>
              </a:rPr>
              <a:t>Source · Life Saving Victoria SwimSafe · lsv.com.au</a:t>
            </a:r>
            <a:endParaRPr lang="en-US" sz="1800" dirty="0"/>
          </a:p>
        </p:txBody>
      </p:sp>
      <p:sp>
        <p:nvSpPr>
          <p:cNvPr id="45" name="Text 43"/>
          <p:cNvSpPr/>
          <p:nvPr/>
        </p:nvSpPr>
        <p:spPr>
          <a:xfrm>
            <a:off x="15582602" y="9605070"/>
            <a:ext cx="1733848" cy="358080"/>
          </a:xfrm>
          <a:prstGeom prst="rect">
            <a:avLst/>
          </a:prstGeom>
          <a:noFill/>
          <a:ln/>
        </p:spPr>
        <p:txBody>
          <a:bodyPr wrap="square" lIns="25400" tIns="25400" rIns="25400" bIns="25400" rtlCol="0" anchor="t">
            <a:normAutofit/>
          </a:bodyPr>
          <a:lstStyle/>
          <a:p>
            <a:pPr algn="l" indent="0" marL="0">
              <a:lnSpc>
                <a:spcPct val="140000"/>
              </a:lnSpc>
              <a:buNone/>
            </a:pPr>
            <a:r>
              <a:rPr lang="en-US" sz="1800" spc="225" kern="0" dirty="0">
                <a:solidFill>
                  <a:srgbClr val="5A7A8A"/>
                </a:solidFill>
                <a:latin typeface="Courier New" pitchFamily="34" charset="0"/>
                <a:ea typeface="Courier New" pitchFamily="34" charset="-122"/>
                <a:cs typeface="Courier New" pitchFamily="34" charset="-120"/>
              </a:rPr>
              <a:t>L4 · RULES</a:t>
            </a:r>
            <a:endParaRPr lang="en-US" sz="18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4F7F9"/>
        </a:solidFill>
      </p:bgPr>
    </p:bg>
    <p:spTree>
      <p:nvGrpSpPr>
        <p:cNvPr id="1" name=""/>
        <p:cNvGrpSpPr/>
        <p:nvPr/>
      </p:nvGrpSpPr>
      <p:grpSpPr>
        <a:xfrm>
          <a:off x="0" y="0"/>
          <a:ext cx="0" cy="0"/>
          <a:chOff x="0" y="0"/>
          <a:chExt cx="0" cy="0"/>
        </a:xfrm>
      </p:grpSpPr>
      <p:sp>
        <p:nvSpPr>
          <p:cNvPr id="2" name="Text 0"/>
          <p:cNvSpPr/>
          <p:nvPr/>
        </p:nvSpPr>
        <p:spPr>
          <a:xfrm>
            <a:off x="1047750" y="914400"/>
            <a:ext cx="16678275" cy="358080"/>
          </a:xfrm>
          <a:prstGeom prst="rect">
            <a:avLst/>
          </a:prstGeom>
          <a:noFill/>
          <a:ln/>
        </p:spPr>
        <p:txBody>
          <a:bodyPr wrap="square" lIns="25400" tIns="25400" rIns="25400" bIns="25400" rtlCol="0" anchor="t">
            <a:normAutofit/>
          </a:bodyPr>
          <a:lstStyle/>
          <a:p>
            <a:pPr algn="l" indent="0" marL="0">
              <a:lnSpc>
                <a:spcPct val="140000"/>
              </a:lnSpc>
              <a:buNone/>
            </a:pPr>
            <a:r>
              <a:rPr lang="en-US" sz="1800" spc="300" kern="0" dirty="0">
                <a:solidFill>
                  <a:srgbClr val="5A7A8A"/>
                </a:solidFill>
                <a:latin typeface="Courier New" pitchFamily="34" charset="0"/>
                <a:ea typeface="Courier New" pitchFamily="34" charset="-122"/>
                <a:cs typeface="Courier New" pitchFamily="34" charset="-120"/>
              </a:rPr>
              <a:t>COLD WATER SHOCK · VICTORIAN RIVERS, ALPINE LAKES</a:t>
            </a:r>
            <a:endParaRPr lang="en-US" sz="1800" dirty="0"/>
          </a:p>
        </p:txBody>
      </p:sp>
      <p:sp>
        <p:nvSpPr>
          <p:cNvPr id="3" name="Text 1"/>
          <p:cNvSpPr/>
          <p:nvPr/>
        </p:nvSpPr>
        <p:spPr>
          <a:xfrm>
            <a:off x="1047750" y="1405830"/>
            <a:ext cx="16678275" cy="798165"/>
          </a:xfrm>
          <a:prstGeom prst="rect">
            <a:avLst/>
          </a:prstGeom>
          <a:noFill/>
          <a:ln/>
        </p:spPr>
        <p:txBody>
          <a:bodyPr wrap="square" lIns="25400" tIns="25400" rIns="25400" bIns="25400" rtlCol="0" anchor="t">
            <a:normAutofit/>
          </a:bodyPr>
          <a:lstStyle/>
          <a:p>
            <a:pPr algn="l" indent="0" marL="0">
              <a:lnSpc>
                <a:spcPct val="105000"/>
              </a:lnSpc>
              <a:buNone/>
            </a:pPr>
            <a:r>
              <a:rPr lang="en-US" sz="5700" b="1" spc="-75" kern="0" dirty="0">
                <a:solidFill>
                  <a:srgbClr val="0D1F2D"/>
                </a:solidFill>
                <a:latin typeface="Arial" pitchFamily="34" charset="0"/>
                <a:ea typeface="Arial" pitchFamily="34" charset="-122"/>
                <a:cs typeface="Arial" pitchFamily="34" charset="-120"/>
              </a:rPr>
              <a:t>The 1 · 10 · 1 rule</a:t>
            </a:r>
            <a:endParaRPr lang="en-US" sz="5700" dirty="0"/>
          </a:p>
        </p:txBody>
      </p:sp>
      <p:sp>
        <p:nvSpPr>
          <p:cNvPr id="4" name="Shape 2"/>
          <p:cNvSpPr/>
          <p:nvPr/>
        </p:nvSpPr>
        <p:spPr>
          <a:xfrm>
            <a:off x="1047750" y="2623096"/>
            <a:ext cx="5194250" cy="6825704"/>
          </a:xfrm>
          <a:prstGeom prst="roundRect">
            <a:avLst>
              <a:gd name="adj" fmla="val 4401"/>
            </a:avLst>
          </a:prstGeom>
          <a:solidFill>
            <a:srgbClr val="FFFFFF"/>
          </a:solidFill>
          <a:ln w="9525">
            <a:solidFill>
              <a:srgbClr val="CDD9E0"/>
            </a:solidFill>
            <a:prstDash val="solid"/>
          </a:ln>
        </p:spPr>
        <p:txBody>
          <a:bodyPr/>
          <a:p/>
        </p:txBody>
      </p:sp>
      <p:sp>
        <p:nvSpPr>
          <p:cNvPr id="5" name="Text 3"/>
          <p:cNvSpPr/>
          <p:nvPr/>
        </p:nvSpPr>
        <p:spPr>
          <a:xfrm>
            <a:off x="1400175" y="3013621"/>
            <a:ext cx="4624082" cy="1581150"/>
          </a:xfrm>
          <a:prstGeom prst="rect">
            <a:avLst/>
          </a:prstGeom>
          <a:noFill/>
          <a:ln/>
        </p:spPr>
        <p:txBody>
          <a:bodyPr wrap="square" lIns="25400" tIns="25400" rIns="25400" bIns="25400" rtlCol="0" anchor="t">
            <a:normAutofit/>
          </a:bodyPr>
          <a:lstStyle/>
          <a:p>
            <a:pPr algn="l" indent="0" marL="0">
              <a:lnSpc>
                <a:spcPct val="90000"/>
              </a:lnSpc>
              <a:buNone/>
            </a:pPr>
            <a:r>
              <a:rPr lang="en-US" sz="13500" b="1" spc="-300" kern="0" dirty="0">
                <a:solidFill>
                  <a:srgbClr val="6A1B9A"/>
                </a:solidFill>
                <a:latin typeface="Arial" pitchFamily="34" charset="0"/>
                <a:ea typeface="Arial" pitchFamily="34" charset="-122"/>
                <a:cs typeface="Arial" pitchFamily="34" charset="-120"/>
              </a:rPr>
              <a:t>1</a:t>
            </a:r>
            <a:endParaRPr lang="en-US" sz="13500" dirty="0"/>
          </a:p>
        </p:txBody>
      </p:sp>
      <p:sp>
        <p:nvSpPr>
          <p:cNvPr id="6" name="Text 4"/>
          <p:cNvSpPr/>
          <p:nvPr/>
        </p:nvSpPr>
        <p:spPr>
          <a:xfrm>
            <a:off x="1400175" y="4613821"/>
            <a:ext cx="4624082" cy="358080"/>
          </a:xfrm>
          <a:prstGeom prst="rect">
            <a:avLst/>
          </a:prstGeom>
          <a:noFill/>
          <a:ln/>
        </p:spPr>
        <p:txBody>
          <a:bodyPr wrap="square" lIns="25400" tIns="25400" rIns="25400" bIns="25400" rtlCol="0" anchor="t">
            <a:normAutofit/>
          </a:bodyPr>
          <a:lstStyle/>
          <a:p>
            <a:pPr algn="l" indent="0" marL="0">
              <a:lnSpc>
                <a:spcPct val="140000"/>
              </a:lnSpc>
              <a:buNone/>
            </a:pPr>
            <a:r>
              <a:rPr lang="en-US" sz="1800" spc="225" kern="0" dirty="0">
                <a:solidFill>
                  <a:srgbClr val="5A7A8A"/>
                </a:solidFill>
                <a:latin typeface="Courier New" pitchFamily="34" charset="0"/>
                <a:ea typeface="Courier New" pitchFamily="34" charset="-122"/>
                <a:cs typeface="Courier New" pitchFamily="34" charset="-120"/>
              </a:rPr>
              <a:t>MINUTE</a:t>
            </a:r>
            <a:endParaRPr lang="en-US" sz="1800" dirty="0"/>
          </a:p>
        </p:txBody>
      </p:sp>
      <p:sp>
        <p:nvSpPr>
          <p:cNvPr id="7" name="Text 5"/>
          <p:cNvSpPr/>
          <p:nvPr/>
        </p:nvSpPr>
        <p:spPr>
          <a:xfrm>
            <a:off x="1400175" y="5200501"/>
            <a:ext cx="4624082" cy="518071"/>
          </a:xfrm>
          <a:prstGeom prst="rect">
            <a:avLst/>
          </a:prstGeom>
          <a:noFill/>
          <a:ln/>
        </p:spPr>
        <p:txBody>
          <a:bodyPr wrap="square" lIns="25400" tIns="25400" rIns="25400" bIns="25400" rtlCol="0" anchor="t">
            <a:normAutofit/>
          </a:bodyPr>
          <a:lstStyle/>
          <a:p>
            <a:pPr algn="l" indent="0" marL="0">
              <a:lnSpc>
                <a:spcPct val="140000"/>
              </a:lnSpc>
              <a:buNone/>
            </a:pPr>
            <a:r>
              <a:rPr lang="en-US" sz="2700" b="1" dirty="0">
                <a:solidFill>
                  <a:srgbClr val="0D1F2D"/>
                </a:solidFill>
                <a:latin typeface="Arial" pitchFamily="34" charset="0"/>
                <a:ea typeface="Arial" pitchFamily="34" charset="-122"/>
                <a:cs typeface="Arial" pitchFamily="34" charset="-120"/>
              </a:rPr>
              <a:t>Cold shock</a:t>
            </a:r>
            <a:endParaRPr lang="en-US" sz="2700" dirty="0"/>
          </a:p>
        </p:txBody>
      </p:sp>
      <p:sp>
        <p:nvSpPr>
          <p:cNvPr id="8" name="Text 6"/>
          <p:cNvSpPr/>
          <p:nvPr/>
        </p:nvSpPr>
        <p:spPr>
          <a:xfrm>
            <a:off x="1400175" y="5794772"/>
            <a:ext cx="4624082" cy="998041"/>
          </a:xfrm>
          <a:prstGeom prst="rect">
            <a:avLst/>
          </a:prstGeom>
          <a:noFill/>
          <a:ln/>
        </p:spPr>
        <p:txBody>
          <a:bodyPr wrap="square" lIns="25400" tIns="25400" rIns="25400" bIns="25400" rtlCol="0" anchor="t">
            <a:normAutofit/>
          </a:bodyPr>
          <a:lstStyle/>
          <a:p>
            <a:pPr algn="l" indent="0" marL="0">
              <a:lnSpc>
                <a:spcPct val="140000"/>
              </a:lnSpc>
              <a:buNone/>
            </a:pPr>
            <a:r>
              <a:rPr lang="en-US" sz="1800" dirty="0">
                <a:solidFill>
                  <a:srgbClr val="5A7A8A"/>
                </a:solidFill>
                <a:latin typeface="Arial" pitchFamily="34" charset="0"/>
                <a:ea typeface="Arial" pitchFamily="34" charset="-122"/>
                <a:cs typeface="Arial" pitchFamily="34" charset="-120"/>
              </a:rPr>
              <a:t>Involuntary gasp reflex. If your head is under, you breathe in water. This is when most cold-water drownings happen.</a:t>
            </a:r>
            <a:endParaRPr lang="en-US" sz="1800" dirty="0"/>
          </a:p>
        </p:txBody>
      </p:sp>
      <p:sp>
        <p:nvSpPr>
          <p:cNvPr id="9" name="Shape 7"/>
          <p:cNvSpPr/>
          <p:nvPr/>
        </p:nvSpPr>
        <p:spPr>
          <a:xfrm>
            <a:off x="6546800" y="2623096"/>
            <a:ext cx="5194250" cy="6825704"/>
          </a:xfrm>
          <a:prstGeom prst="roundRect">
            <a:avLst>
              <a:gd name="adj" fmla="val 4401"/>
            </a:avLst>
          </a:prstGeom>
          <a:solidFill>
            <a:srgbClr val="FFFFFF"/>
          </a:solidFill>
          <a:ln w="9525">
            <a:solidFill>
              <a:srgbClr val="CDD9E0"/>
            </a:solidFill>
            <a:prstDash val="solid"/>
          </a:ln>
        </p:spPr>
        <p:txBody>
          <a:bodyPr/>
          <a:p/>
        </p:txBody>
      </p:sp>
      <p:sp>
        <p:nvSpPr>
          <p:cNvPr id="10" name="Text 8"/>
          <p:cNvSpPr/>
          <p:nvPr/>
        </p:nvSpPr>
        <p:spPr>
          <a:xfrm>
            <a:off x="6899225" y="3013621"/>
            <a:ext cx="4624082" cy="1581150"/>
          </a:xfrm>
          <a:prstGeom prst="rect">
            <a:avLst/>
          </a:prstGeom>
          <a:noFill/>
          <a:ln/>
        </p:spPr>
        <p:txBody>
          <a:bodyPr wrap="square" lIns="25400" tIns="25400" rIns="25400" bIns="25400" rtlCol="0" anchor="t">
            <a:normAutofit/>
          </a:bodyPr>
          <a:lstStyle/>
          <a:p>
            <a:pPr algn="l" indent="0" marL="0">
              <a:lnSpc>
                <a:spcPct val="90000"/>
              </a:lnSpc>
              <a:buNone/>
            </a:pPr>
            <a:r>
              <a:rPr lang="en-US" sz="13500" b="1" spc="-300" kern="0" dirty="0">
                <a:solidFill>
                  <a:srgbClr val="6A1B9A"/>
                </a:solidFill>
                <a:latin typeface="Arial" pitchFamily="34" charset="0"/>
                <a:ea typeface="Arial" pitchFamily="34" charset="-122"/>
                <a:cs typeface="Arial" pitchFamily="34" charset="-120"/>
              </a:rPr>
              <a:t>10</a:t>
            </a:r>
            <a:endParaRPr lang="en-US" sz="13500" dirty="0"/>
          </a:p>
        </p:txBody>
      </p:sp>
      <p:sp>
        <p:nvSpPr>
          <p:cNvPr id="11" name="Text 9"/>
          <p:cNvSpPr/>
          <p:nvPr/>
        </p:nvSpPr>
        <p:spPr>
          <a:xfrm>
            <a:off x="6899225" y="4613821"/>
            <a:ext cx="4624082" cy="358080"/>
          </a:xfrm>
          <a:prstGeom prst="rect">
            <a:avLst/>
          </a:prstGeom>
          <a:noFill/>
          <a:ln/>
        </p:spPr>
        <p:txBody>
          <a:bodyPr wrap="square" lIns="25400" tIns="25400" rIns="25400" bIns="25400" rtlCol="0" anchor="t">
            <a:normAutofit/>
          </a:bodyPr>
          <a:lstStyle/>
          <a:p>
            <a:pPr algn="l" indent="0" marL="0">
              <a:lnSpc>
                <a:spcPct val="140000"/>
              </a:lnSpc>
              <a:buNone/>
            </a:pPr>
            <a:r>
              <a:rPr lang="en-US" sz="1800" spc="225" kern="0" dirty="0">
                <a:solidFill>
                  <a:srgbClr val="5A7A8A"/>
                </a:solidFill>
                <a:latin typeface="Courier New" pitchFamily="34" charset="0"/>
                <a:ea typeface="Courier New" pitchFamily="34" charset="-122"/>
                <a:cs typeface="Courier New" pitchFamily="34" charset="-120"/>
              </a:rPr>
              <a:t>MINUTES</a:t>
            </a:r>
            <a:endParaRPr lang="en-US" sz="1800" dirty="0"/>
          </a:p>
        </p:txBody>
      </p:sp>
      <p:sp>
        <p:nvSpPr>
          <p:cNvPr id="12" name="Text 10"/>
          <p:cNvSpPr/>
          <p:nvPr/>
        </p:nvSpPr>
        <p:spPr>
          <a:xfrm>
            <a:off x="6899225" y="5200501"/>
            <a:ext cx="4624082" cy="518071"/>
          </a:xfrm>
          <a:prstGeom prst="rect">
            <a:avLst/>
          </a:prstGeom>
          <a:noFill/>
          <a:ln/>
        </p:spPr>
        <p:txBody>
          <a:bodyPr wrap="square" lIns="25400" tIns="25400" rIns="25400" bIns="25400" rtlCol="0" anchor="t">
            <a:normAutofit/>
          </a:bodyPr>
          <a:lstStyle/>
          <a:p>
            <a:pPr algn="l" indent="0" marL="0">
              <a:lnSpc>
                <a:spcPct val="140000"/>
              </a:lnSpc>
              <a:buNone/>
            </a:pPr>
            <a:r>
              <a:rPr lang="en-US" sz="2700" b="1" dirty="0">
                <a:solidFill>
                  <a:srgbClr val="0D1F2D"/>
                </a:solidFill>
                <a:latin typeface="Arial" pitchFamily="34" charset="0"/>
                <a:ea typeface="Arial" pitchFamily="34" charset="-122"/>
                <a:cs typeface="Arial" pitchFamily="34" charset="-120"/>
              </a:rPr>
              <a:t>Useful movement</a:t>
            </a:r>
            <a:endParaRPr lang="en-US" sz="2700" dirty="0"/>
          </a:p>
        </p:txBody>
      </p:sp>
      <p:sp>
        <p:nvSpPr>
          <p:cNvPr id="13" name="Text 11"/>
          <p:cNvSpPr/>
          <p:nvPr/>
        </p:nvSpPr>
        <p:spPr>
          <a:xfrm>
            <a:off x="6899225" y="5794772"/>
            <a:ext cx="4624082" cy="998041"/>
          </a:xfrm>
          <a:prstGeom prst="rect">
            <a:avLst/>
          </a:prstGeom>
          <a:noFill/>
          <a:ln/>
        </p:spPr>
        <p:txBody>
          <a:bodyPr wrap="square" lIns="25400" tIns="25400" rIns="25400" bIns="25400" rtlCol="0" anchor="t">
            <a:normAutofit/>
          </a:bodyPr>
          <a:lstStyle/>
          <a:p>
            <a:pPr algn="l" indent="0" marL="0">
              <a:lnSpc>
                <a:spcPct val="140000"/>
              </a:lnSpc>
              <a:buNone/>
            </a:pPr>
            <a:r>
              <a:rPr lang="en-US" sz="1800" dirty="0">
                <a:solidFill>
                  <a:srgbClr val="5A7A8A"/>
                </a:solidFill>
                <a:latin typeface="Arial" pitchFamily="34" charset="0"/>
                <a:ea typeface="Arial" pitchFamily="34" charset="-122"/>
                <a:cs typeface="Arial" pitchFamily="34" charset="-120"/>
              </a:rPr>
              <a:t>Your arms and legs progressively lose strength and coordination. Use this window to self-rescue or signal.</a:t>
            </a:r>
            <a:endParaRPr lang="en-US" sz="1800" dirty="0"/>
          </a:p>
        </p:txBody>
      </p:sp>
      <p:sp>
        <p:nvSpPr>
          <p:cNvPr id="14" name="Shape 12"/>
          <p:cNvSpPr/>
          <p:nvPr/>
        </p:nvSpPr>
        <p:spPr>
          <a:xfrm>
            <a:off x="12045851" y="2623096"/>
            <a:ext cx="5194250" cy="6825704"/>
          </a:xfrm>
          <a:prstGeom prst="roundRect">
            <a:avLst>
              <a:gd name="adj" fmla="val 4401"/>
            </a:avLst>
          </a:prstGeom>
          <a:solidFill>
            <a:srgbClr val="FFFFFF"/>
          </a:solidFill>
          <a:ln w="9525">
            <a:solidFill>
              <a:srgbClr val="CDD9E0"/>
            </a:solidFill>
            <a:prstDash val="solid"/>
          </a:ln>
        </p:spPr>
        <p:txBody>
          <a:bodyPr/>
          <a:p/>
        </p:txBody>
      </p:sp>
      <p:sp>
        <p:nvSpPr>
          <p:cNvPr id="15" name="Text 13"/>
          <p:cNvSpPr/>
          <p:nvPr/>
        </p:nvSpPr>
        <p:spPr>
          <a:xfrm>
            <a:off x="12398276" y="3013621"/>
            <a:ext cx="4624082" cy="1581150"/>
          </a:xfrm>
          <a:prstGeom prst="rect">
            <a:avLst/>
          </a:prstGeom>
          <a:noFill/>
          <a:ln/>
        </p:spPr>
        <p:txBody>
          <a:bodyPr wrap="square" lIns="25400" tIns="25400" rIns="25400" bIns="25400" rtlCol="0" anchor="t">
            <a:normAutofit/>
          </a:bodyPr>
          <a:lstStyle/>
          <a:p>
            <a:pPr algn="l" indent="0" marL="0">
              <a:lnSpc>
                <a:spcPct val="90000"/>
              </a:lnSpc>
              <a:buNone/>
            </a:pPr>
            <a:r>
              <a:rPr lang="en-US" sz="13500" b="1" spc="-300" kern="0" dirty="0">
                <a:solidFill>
                  <a:srgbClr val="6A1B9A"/>
                </a:solidFill>
                <a:latin typeface="Arial" pitchFamily="34" charset="0"/>
                <a:ea typeface="Arial" pitchFamily="34" charset="-122"/>
                <a:cs typeface="Arial" pitchFamily="34" charset="-120"/>
              </a:rPr>
              <a:t>1</a:t>
            </a:r>
            <a:endParaRPr lang="en-US" sz="13500" dirty="0"/>
          </a:p>
        </p:txBody>
      </p:sp>
      <p:sp>
        <p:nvSpPr>
          <p:cNvPr id="16" name="Text 14"/>
          <p:cNvSpPr/>
          <p:nvPr/>
        </p:nvSpPr>
        <p:spPr>
          <a:xfrm>
            <a:off x="12398276" y="4613821"/>
            <a:ext cx="4624082" cy="358080"/>
          </a:xfrm>
          <a:prstGeom prst="rect">
            <a:avLst/>
          </a:prstGeom>
          <a:noFill/>
          <a:ln/>
        </p:spPr>
        <p:txBody>
          <a:bodyPr wrap="square" lIns="25400" tIns="25400" rIns="25400" bIns="25400" rtlCol="0" anchor="t">
            <a:normAutofit/>
          </a:bodyPr>
          <a:lstStyle/>
          <a:p>
            <a:pPr algn="l" indent="0" marL="0">
              <a:lnSpc>
                <a:spcPct val="140000"/>
              </a:lnSpc>
              <a:buNone/>
            </a:pPr>
            <a:r>
              <a:rPr lang="en-US" sz="1800" spc="225" kern="0" dirty="0">
                <a:solidFill>
                  <a:srgbClr val="5A7A8A"/>
                </a:solidFill>
                <a:latin typeface="Courier New" pitchFamily="34" charset="0"/>
                <a:ea typeface="Courier New" pitchFamily="34" charset="-122"/>
                <a:cs typeface="Courier New" pitchFamily="34" charset="-120"/>
              </a:rPr>
              <a:t>HOUR</a:t>
            </a:r>
            <a:endParaRPr lang="en-US" sz="1800" dirty="0"/>
          </a:p>
        </p:txBody>
      </p:sp>
      <p:sp>
        <p:nvSpPr>
          <p:cNvPr id="17" name="Text 15"/>
          <p:cNvSpPr/>
          <p:nvPr/>
        </p:nvSpPr>
        <p:spPr>
          <a:xfrm>
            <a:off x="12398276" y="5200501"/>
            <a:ext cx="4624082" cy="518071"/>
          </a:xfrm>
          <a:prstGeom prst="rect">
            <a:avLst/>
          </a:prstGeom>
          <a:noFill/>
          <a:ln/>
        </p:spPr>
        <p:txBody>
          <a:bodyPr wrap="square" lIns="25400" tIns="25400" rIns="25400" bIns="25400" rtlCol="0" anchor="t">
            <a:normAutofit/>
          </a:bodyPr>
          <a:lstStyle/>
          <a:p>
            <a:pPr algn="l" indent="0" marL="0">
              <a:lnSpc>
                <a:spcPct val="140000"/>
              </a:lnSpc>
              <a:buNone/>
            </a:pPr>
            <a:r>
              <a:rPr lang="en-US" sz="2700" b="1" dirty="0">
                <a:solidFill>
                  <a:srgbClr val="0D1F2D"/>
                </a:solidFill>
                <a:latin typeface="Arial" pitchFamily="34" charset="0"/>
                <a:ea typeface="Arial" pitchFamily="34" charset="-122"/>
                <a:cs typeface="Arial" pitchFamily="34" charset="-120"/>
              </a:rPr>
              <a:t>Hypothermia</a:t>
            </a:r>
            <a:endParaRPr lang="en-US" sz="2700" dirty="0"/>
          </a:p>
        </p:txBody>
      </p:sp>
      <p:sp>
        <p:nvSpPr>
          <p:cNvPr id="18" name="Text 16"/>
          <p:cNvSpPr/>
          <p:nvPr/>
        </p:nvSpPr>
        <p:spPr>
          <a:xfrm>
            <a:off x="12398276" y="5794772"/>
            <a:ext cx="4624082" cy="1318022"/>
          </a:xfrm>
          <a:prstGeom prst="rect">
            <a:avLst/>
          </a:prstGeom>
          <a:noFill/>
          <a:ln/>
        </p:spPr>
        <p:txBody>
          <a:bodyPr wrap="square" lIns="25400" tIns="25400" rIns="25400" bIns="25400" rtlCol="0" anchor="t">
            <a:normAutofit/>
          </a:bodyPr>
          <a:lstStyle/>
          <a:p>
            <a:pPr algn="l" indent="0" marL="0">
              <a:lnSpc>
                <a:spcPct val="140000"/>
              </a:lnSpc>
              <a:buNone/>
            </a:pPr>
            <a:r>
              <a:rPr lang="en-US" sz="1800" dirty="0">
                <a:solidFill>
                  <a:srgbClr val="5A7A8A"/>
                </a:solidFill>
                <a:latin typeface="Arial" pitchFamily="34" charset="0"/>
                <a:ea typeface="Arial" pitchFamily="34" charset="-122"/>
                <a:cs typeface="Arial" pitchFamily="34" charset="-120"/>
              </a:rPr>
              <a:t>Core body temperature drops dangerously. Unconsciousness follows. Even strong swimmers don't survive past this point without rescue.</a:t>
            </a:r>
            <a:endParaRPr lang="en-US" sz="1800" dirty="0"/>
          </a:p>
        </p:txBody>
      </p:sp>
      <p:sp>
        <p:nvSpPr>
          <p:cNvPr id="19" name="Text 17"/>
          <p:cNvSpPr/>
          <p:nvPr/>
        </p:nvSpPr>
        <p:spPr>
          <a:xfrm>
            <a:off x="1047750" y="9605070"/>
            <a:ext cx="10136498" cy="358080"/>
          </a:xfrm>
          <a:prstGeom prst="rect">
            <a:avLst/>
          </a:prstGeom>
          <a:noFill/>
          <a:ln/>
        </p:spPr>
        <p:txBody>
          <a:bodyPr wrap="square" lIns="25400" tIns="25400" rIns="25400" bIns="25400" rtlCol="0" anchor="t">
            <a:normAutofit/>
          </a:bodyPr>
          <a:lstStyle/>
          <a:p>
            <a:pPr algn="l" indent="0" marL="0">
              <a:lnSpc>
                <a:spcPct val="140000"/>
              </a:lnSpc>
              <a:buNone/>
            </a:pPr>
            <a:r>
              <a:rPr lang="en-US" sz="1800" spc="150" kern="0" dirty="0">
                <a:solidFill>
                  <a:srgbClr val="5A7A8A"/>
                </a:solidFill>
                <a:latin typeface="Courier New" pitchFamily="34" charset="0"/>
                <a:ea typeface="Courier New" pitchFamily="34" charset="-122"/>
                <a:cs typeface="Courier New" pitchFamily="34" charset="-120"/>
              </a:rPr>
              <a:t>Source · Royal Life Saving Australia · National Drowning Report</a:t>
            </a:r>
            <a:endParaRPr lang="en-US" sz="1800" dirty="0"/>
          </a:p>
        </p:txBody>
      </p:sp>
      <p:sp>
        <p:nvSpPr>
          <p:cNvPr id="20" name="Text 18"/>
          <p:cNvSpPr/>
          <p:nvPr/>
        </p:nvSpPr>
        <p:spPr>
          <a:xfrm>
            <a:off x="14753779" y="9605070"/>
            <a:ext cx="2562671" cy="358080"/>
          </a:xfrm>
          <a:prstGeom prst="rect">
            <a:avLst/>
          </a:prstGeom>
          <a:noFill/>
          <a:ln/>
        </p:spPr>
        <p:txBody>
          <a:bodyPr wrap="square" lIns="25400" tIns="25400" rIns="25400" bIns="25400" rtlCol="0" anchor="t">
            <a:normAutofit/>
          </a:bodyPr>
          <a:lstStyle/>
          <a:p>
            <a:pPr algn="l" indent="0" marL="0">
              <a:lnSpc>
                <a:spcPct val="140000"/>
              </a:lnSpc>
              <a:buNone/>
            </a:pPr>
            <a:r>
              <a:rPr lang="en-US" sz="1800" spc="225" kern="0" dirty="0">
                <a:solidFill>
                  <a:srgbClr val="5A7A8A"/>
                </a:solidFill>
                <a:latin typeface="Courier New" pitchFamily="34" charset="0"/>
                <a:ea typeface="Courier New" pitchFamily="34" charset="-122"/>
                <a:cs typeface="Courier New" pitchFamily="34" charset="-120"/>
              </a:rPr>
              <a:t>L4 · COLD WATER</a:t>
            </a:r>
            <a:endParaRPr lang="en-US" sz="18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4F7F9"/>
        </a:solidFill>
      </p:bgPr>
    </p:bg>
    <p:spTree>
      <p:nvGrpSpPr>
        <p:cNvPr id="1" name=""/>
        <p:cNvGrpSpPr/>
        <p:nvPr/>
      </p:nvGrpSpPr>
      <p:grpSpPr>
        <a:xfrm>
          <a:off x="0" y="0"/>
          <a:ext cx="0" cy="0"/>
          <a:chOff x="0" y="0"/>
          <a:chExt cx="0" cy="0"/>
        </a:xfrm>
      </p:grpSpPr>
      <p:sp>
        <p:nvSpPr>
          <p:cNvPr id="2" name="Text 0"/>
          <p:cNvSpPr/>
          <p:nvPr/>
        </p:nvSpPr>
        <p:spPr>
          <a:xfrm>
            <a:off x="1047750" y="914400"/>
            <a:ext cx="16678275" cy="358080"/>
          </a:xfrm>
          <a:prstGeom prst="rect">
            <a:avLst/>
          </a:prstGeom>
          <a:noFill/>
          <a:ln/>
        </p:spPr>
        <p:txBody>
          <a:bodyPr wrap="square" lIns="25400" tIns="25400" rIns="25400" bIns="25400" rtlCol="0" anchor="t">
            <a:normAutofit/>
          </a:bodyPr>
          <a:lstStyle/>
          <a:p>
            <a:pPr algn="l" indent="0" marL="0">
              <a:lnSpc>
                <a:spcPct val="140000"/>
              </a:lnSpc>
              <a:buNone/>
            </a:pPr>
            <a:r>
              <a:rPr lang="en-US" sz="1800" spc="300" kern="0" dirty="0">
                <a:solidFill>
                  <a:srgbClr val="5A7A8A"/>
                </a:solidFill>
                <a:latin typeface="Courier New" pitchFamily="34" charset="0"/>
                <a:ea typeface="Courier New" pitchFamily="34" charset="-122"/>
                <a:cs typeface="Courier New" pitchFamily="34" charset="-120"/>
              </a:rPr>
              <a:t>RESISTING PEER PRESSURE · WORKBOOK ACTIVITY 4.1A</a:t>
            </a:r>
            <a:endParaRPr lang="en-US" sz="1800" dirty="0"/>
          </a:p>
        </p:txBody>
      </p:sp>
      <p:sp>
        <p:nvSpPr>
          <p:cNvPr id="3" name="Text 1"/>
          <p:cNvSpPr/>
          <p:nvPr/>
        </p:nvSpPr>
        <p:spPr>
          <a:xfrm>
            <a:off x="1047750" y="1405830"/>
            <a:ext cx="16678275" cy="1558230"/>
          </a:xfrm>
          <a:prstGeom prst="rect">
            <a:avLst/>
          </a:prstGeom>
          <a:noFill/>
          <a:ln/>
        </p:spPr>
        <p:txBody>
          <a:bodyPr wrap="square" lIns="25400" tIns="25400" rIns="25400" bIns="25400" rtlCol="0" anchor="t">
            <a:normAutofit/>
          </a:bodyPr>
          <a:lstStyle/>
          <a:p>
            <a:pPr algn="l" indent="0" marL="0">
              <a:lnSpc>
                <a:spcPct val="105000"/>
              </a:lnSpc>
              <a:buNone/>
            </a:pPr>
            <a:r>
              <a:rPr lang="en-US" sz="5700" b="1" spc="-75" kern="0" dirty="0">
                <a:solidFill>
                  <a:srgbClr val="0D1F2D"/>
                </a:solidFill>
                <a:latin typeface="Arial" pitchFamily="34" charset="0"/>
                <a:ea typeface="Arial" pitchFamily="34" charset="-122"/>
                <a:cs typeface="Arial" pitchFamily="34" charset="-120"/>
              </a:rPr>
              <a:t>Three lines that work when friends push you in</a:t>
            </a:r>
            <a:endParaRPr lang="en-US" sz="5700" dirty="0"/>
          </a:p>
        </p:txBody>
      </p:sp>
      <p:sp>
        <p:nvSpPr>
          <p:cNvPr id="4" name="Shape 2"/>
          <p:cNvSpPr/>
          <p:nvPr/>
        </p:nvSpPr>
        <p:spPr>
          <a:xfrm>
            <a:off x="1047750" y="5329982"/>
            <a:ext cx="16192500" cy="9525"/>
          </a:xfrm>
          <a:prstGeom prst="rect">
            <a:avLst/>
          </a:prstGeom>
          <a:solidFill>
            <a:srgbClr val="CDD9E0"/>
          </a:solidFill>
          <a:ln/>
        </p:spPr>
        <p:txBody>
          <a:bodyPr/>
          <a:p/>
        </p:txBody>
      </p:sp>
      <p:sp>
        <p:nvSpPr>
          <p:cNvPr id="5" name="Text 3"/>
          <p:cNvSpPr/>
          <p:nvPr/>
        </p:nvSpPr>
        <p:spPr>
          <a:xfrm>
            <a:off x="1047750" y="3649861"/>
            <a:ext cx="8142923" cy="260896"/>
          </a:xfrm>
          <a:prstGeom prst="rect">
            <a:avLst/>
          </a:prstGeom>
          <a:noFill/>
          <a:ln/>
        </p:spPr>
        <p:txBody>
          <a:bodyPr wrap="square" lIns="25400" tIns="25400" rIns="25400" bIns="25400" rtlCol="0" anchor="t">
            <a:normAutofit/>
          </a:bodyPr>
          <a:lstStyle/>
          <a:p>
            <a:pPr algn="l" indent="0" marL="0">
              <a:lnSpc>
                <a:spcPct val="130000"/>
              </a:lnSpc>
              <a:buNone/>
            </a:pPr>
            <a:r>
              <a:rPr lang="en-US" sz="1350" spc="150" kern="0" dirty="0">
                <a:solidFill>
                  <a:srgbClr val="5A7A8A"/>
                </a:solidFill>
                <a:latin typeface="Courier New" pitchFamily="34" charset="0"/>
                <a:ea typeface="Courier New" pitchFamily="34" charset="-122"/>
                <a:cs typeface="Courier New" pitchFamily="34" charset="-120"/>
              </a:rPr>
              <a:t>WHAT THEY SAY</a:t>
            </a:r>
            <a:endParaRPr lang="en-US" sz="1350" dirty="0"/>
          </a:p>
        </p:txBody>
      </p:sp>
      <p:sp>
        <p:nvSpPr>
          <p:cNvPr id="6" name="Text 4"/>
          <p:cNvSpPr/>
          <p:nvPr/>
        </p:nvSpPr>
        <p:spPr>
          <a:xfrm>
            <a:off x="1047750" y="3977432"/>
            <a:ext cx="7052243" cy="352425"/>
          </a:xfrm>
          <a:prstGeom prst="rect">
            <a:avLst/>
          </a:prstGeom>
          <a:noFill/>
          <a:ln/>
        </p:spPr>
        <p:txBody>
          <a:bodyPr wrap="square" lIns="0" tIns="0" rIns="0" bIns="0" rtlCol="0" anchor="t">
            <a:normAutofit/>
          </a:bodyPr>
          <a:lstStyle/>
          <a:p>
            <a:pPr algn="l" indent="0" marL="0">
              <a:lnSpc>
                <a:spcPct val="130000"/>
              </a:lnSpc>
              <a:buNone/>
            </a:pPr>
            <a:r>
              <a:rPr lang="en-US" sz="2250" i="1" dirty="0">
                <a:solidFill>
                  <a:srgbClr val="C0392B"/>
                </a:solidFill>
                <a:latin typeface="Arial" pitchFamily="34" charset="0"/>
                <a:ea typeface="Arial" pitchFamily="34" charset="-122"/>
                <a:cs typeface="Arial" pitchFamily="34" charset="-120"/>
              </a:rPr>
              <a:t>"Come on, it's fine, everyone's jumping. Don't be soft."</a:t>
            </a:r>
            <a:endParaRPr lang="en-US" sz="2250" dirty="0"/>
          </a:p>
        </p:txBody>
      </p:sp>
      <p:sp>
        <p:nvSpPr>
          <p:cNvPr id="7" name="Text 5"/>
          <p:cNvSpPr/>
          <p:nvPr/>
        </p:nvSpPr>
        <p:spPr>
          <a:xfrm>
            <a:off x="9334500" y="3649861"/>
            <a:ext cx="8142923" cy="260896"/>
          </a:xfrm>
          <a:prstGeom prst="rect">
            <a:avLst/>
          </a:prstGeom>
          <a:noFill/>
          <a:ln/>
        </p:spPr>
        <p:txBody>
          <a:bodyPr wrap="square" lIns="25400" tIns="25400" rIns="25400" bIns="25400" rtlCol="0" anchor="t">
            <a:normAutofit/>
          </a:bodyPr>
          <a:lstStyle/>
          <a:p>
            <a:pPr algn="l" indent="0" marL="0">
              <a:lnSpc>
                <a:spcPct val="130000"/>
              </a:lnSpc>
              <a:buNone/>
            </a:pPr>
            <a:r>
              <a:rPr lang="en-US" sz="1350" spc="150" kern="0" dirty="0">
                <a:solidFill>
                  <a:srgbClr val="5A7A8A"/>
                </a:solidFill>
                <a:latin typeface="Courier New" pitchFamily="34" charset="0"/>
                <a:ea typeface="Courier New" pitchFamily="34" charset="-122"/>
                <a:cs typeface="Courier New" pitchFamily="34" charset="-120"/>
              </a:rPr>
              <a:t>WHAT YOU SAY · STRATEGY: NAME THE RISK</a:t>
            </a:r>
            <a:endParaRPr lang="en-US" sz="1350" dirty="0"/>
          </a:p>
        </p:txBody>
      </p:sp>
      <p:sp>
        <p:nvSpPr>
          <p:cNvPr id="8" name="Text 6"/>
          <p:cNvSpPr/>
          <p:nvPr/>
        </p:nvSpPr>
        <p:spPr>
          <a:xfrm>
            <a:off x="9334500" y="3929807"/>
            <a:ext cx="7527605" cy="1190625"/>
          </a:xfrm>
          <a:prstGeom prst="rect">
            <a:avLst/>
          </a:prstGeom>
          <a:noFill/>
          <a:ln/>
        </p:spPr>
        <p:txBody>
          <a:bodyPr wrap="square" lIns="0" tIns="0" rIns="0" bIns="0" rtlCol="0" anchor="t">
            <a:normAutofit/>
          </a:bodyPr>
          <a:lstStyle/>
          <a:p>
            <a:pPr algn="l" indent="0" marL="0">
              <a:lnSpc>
                <a:spcPct val="130000"/>
              </a:lnSpc>
              <a:buNone/>
            </a:pPr>
            <a:r>
              <a:rPr lang="en-US" sz="2250" b="1" dirty="0">
                <a:solidFill>
                  <a:srgbClr val="6A1B9A"/>
                </a:solidFill>
                <a:latin typeface="Arial" pitchFamily="34" charset="0"/>
                <a:ea typeface="Arial" pitchFamily="34" charset="-122"/>
                <a:cs typeface="Arial" pitchFamily="34" charset="-120"/>
              </a:rPr>
              <a:t>"Nah, I'm not jumping into water I haven't seen the bottom of. Last summer a kid broke his neck doing that."</a:t>
            </a:r>
            <a:endParaRPr lang="en-US" sz="2250" dirty="0"/>
          </a:p>
        </p:txBody>
      </p:sp>
      <p:sp>
        <p:nvSpPr>
          <p:cNvPr id="9" name="Shape 7"/>
          <p:cNvSpPr/>
          <p:nvPr/>
        </p:nvSpPr>
        <p:spPr>
          <a:xfrm>
            <a:off x="1047750" y="7124402"/>
            <a:ext cx="16192500" cy="9525"/>
          </a:xfrm>
          <a:prstGeom prst="rect">
            <a:avLst/>
          </a:prstGeom>
          <a:solidFill>
            <a:srgbClr val="CDD9E0"/>
          </a:solidFill>
          <a:ln/>
        </p:spPr>
        <p:txBody>
          <a:bodyPr/>
          <a:p/>
        </p:txBody>
      </p:sp>
      <p:sp>
        <p:nvSpPr>
          <p:cNvPr id="10" name="Text 8"/>
          <p:cNvSpPr/>
          <p:nvPr/>
        </p:nvSpPr>
        <p:spPr>
          <a:xfrm>
            <a:off x="1047750" y="5815757"/>
            <a:ext cx="8142923" cy="260896"/>
          </a:xfrm>
          <a:prstGeom prst="rect">
            <a:avLst/>
          </a:prstGeom>
          <a:noFill/>
          <a:ln/>
        </p:spPr>
        <p:txBody>
          <a:bodyPr wrap="square" lIns="25400" tIns="25400" rIns="25400" bIns="25400" rtlCol="0" anchor="t">
            <a:normAutofit/>
          </a:bodyPr>
          <a:lstStyle/>
          <a:p>
            <a:pPr algn="l" indent="0" marL="0">
              <a:lnSpc>
                <a:spcPct val="130000"/>
              </a:lnSpc>
              <a:buNone/>
            </a:pPr>
            <a:r>
              <a:rPr lang="en-US" sz="1350" spc="150" kern="0" dirty="0">
                <a:solidFill>
                  <a:srgbClr val="5A7A8A"/>
                </a:solidFill>
                <a:latin typeface="Courier New" pitchFamily="34" charset="0"/>
                <a:ea typeface="Courier New" pitchFamily="34" charset="-122"/>
                <a:cs typeface="Courier New" pitchFamily="34" charset="-120"/>
              </a:rPr>
              <a:t>WHAT THEY SAY</a:t>
            </a:r>
            <a:endParaRPr lang="en-US" sz="1350" dirty="0"/>
          </a:p>
        </p:txBody>
      </p:sp>
      <p:sp>
        <p:nvSpPr>
          <p:cNvPr id="11" name="Text 9"/>
          <p:cNvSpPr/>
          <p:nvPr/>
        </p:nvSpPr>
        <p:spPr>
          <a:xfrm>
            <a:off x="1047750" y="6143327"/>
            <a:ext cx="7322958" cy="352425"/>
          </a:xfrm>
          <a:prstGeom prst="rect">
            <a:avLst/>
          </a:prstGeom>
          <a:noFill/>
          <a:ln/>
        </p:spPr>
        <p:txBody>
          <a:bodyPr wrap="square" lIns="0" tIns="0" rIns="0" bIns="0" rtlCol="0" anchor="t">
            <a:normAutofit/>
          </a:bodyPr>
          <a:lstStyle/>
          <a:p>
            <a:pPr algn="l" indent="0" marL="0">
              <a:lnSpc>
                <a:spcPct val="130000"/>
              </a:lnSpc>
              <a:buNone/>
            </a:pPr>
            <a:r>
              <a:rPr lang="en-US" sz="2250" i="1" dirty="0">
                <a:solidFill>
                  <a:srgbClr val="C0392B"/>
                </a:solidFill>
                <a:latin typeface="Arial" pitchFamily="34" charset="0"/>
                <a:ea typeface="Arial" pitchFamily="34" charset="-122"/>
                <a:cs typeface="Arial" pitchFamily="34" charset="-120"/>
              </a:rPr>
              <a:t>"There's no flags but the surf looks fine. Let's just swim."</a:t>
            </a:r>
            <a:endParaRPr lang="en-US" sz="2250" dirty="0"/>
          </a:p>
        </p:txBody>
      </p:sp>
      <p:sp>
        <p:nvSpPr>
          <p:cNvPr id="12" name="Text 10"/>
          <p:cNvSpPr/>
          <p:nvPr/>
        </p:nvSpPr>
        <p:spPr>
          <a:xfrm>
            <a:off x="9334500" y="5815757"/>
            <a:ext cx="8142923" cy="260896"/>
          </a:xfrm>
          <a:prstGeom prst="rect">
            <a:avLst/>
          </a:prstGeom>
          <a:noFill/>
          <a:ln/>
        </p:spPr>
        <p:txBody>
          <a:bodyPr wrap="square" lIns="25400" tIns="25400" rIns="25400" bIns="25400" rtlCol="0" anchor="t">
            <a:normAutofit/>
          </a:bodyPr>
          <a:lstStyle/>
          <a:p>
            <a:pPr algn="l" indent="0" marL="0">
              <a:lnSpc>
                <a:spcPct val="130000"/>
              </a:lnSpc>
              <a:buNone/>
            </a:pPr>
            <a:r>
              <a:rPr lang="en-US" sz="1350" spc="150" kern="0" dirty="0">
                <a:solidFill>
                  <a:srgbClr val="5A7A8A"/>
                </a:solidFill>
                <a:latin typeface="Courier New" pitchFamily="34" charset="0"/>
                <a:ea typeface="Courier New" pitchFamily="34" charset="-122"/>
                <a:cs typeface="Courier New" pitchFamily="34" charset="-120"/>
              </a:rPr>
              <a:t>WHAT YOU SAY · STRATEGY: OFFER AN ALTERNATIVE</a:t>
            </a:r>
            <a:endParaRPr lang="en-US" sz="1350" dirty="0"/>
          </a:p>
        </p:txBody>
      </p:sp>
      <p:sp>
        <p:nvSpPr>
          <p:cNvPr id="13" name="Text 11"/>
          <p:cNvSpPr/>
          <p:nvPr/>
        </p:nvSpPr>
        <p:spPr>
          <a:xfrm>
            <a:off x="9334500" y="6095702"/>
            <a:ext cx="7974454" cy="819150"/>
          </a:xfrm>
          <a:prstGeom prst="rect">
            <a:avLst/>
          </a:prstGeom>
          <a:noFill/>
          <a:ln/>
        </p:spPr>
        <p:txBody>
          <a:bodyPr wrap="square" lIns="0" tIns="0" rIns="0" bIns="0" rtlCol="0" anchor="t">
            <a:normAutofit/>
          </a:bodyPr>
          <a:lstStyle/>
          <a:p>
            <a:pPr algn="l" indent="0" marL="0">
              <a:lnSpc>
                <a:spcPct val="130000"/>
              </a:lnSpc>
              <a:buNone/>
            </a:pPr>
            <a:r>
              <a:rPr lang="en-US" sz="2250" b="1" dirty="0">
                <a:solidFill>
                  <a:srgbClr val="6A1B9A"/>
                </a:solidFill>
                <a:latin typeface="Arial" pitchFamily="34" charset="0"/>
                <a:ea typeface="Arial" pitchFamily="34" charset="-122"/>
                <a:cs typeface="Arial" pitchFamily="34" charset="-120"/>
              </a:rPr>
              <a:t>"The patrolled beach is 10 minutes that way. I'll drive / walk. Anyone keen?"</a:t>
            </a:r>
            <a:endParaRPr lang="en-US" sz="2250" dirty="0"/>
          </a:p>
        </p:txBody>
      </p:sp>
      <p:sp>
        <p:nvSpPr>
          <p:cNvPr id="14" name="Text 12"/>
          <p:cNvSpPr/>
          <p:nvPr/>
        </p:nvSpPr>
        <p:spPr>
          <a:xfrm>
            <a:off x="1047750" y="7610177"/>
            <a:ext cx="8142923" cy="260896"/>
          </a:xfrm>
          <a:prstGeom prst="rect">
            <a:avLst/>
          </a:prstGeom>
          <a:noFill/>
          <a:ln/>
        </p:spPr>
        <p:txBody>
          <a:bodyPr wrap="square" lIns="25400" tIns="25400" rIns="25400" bIns="25400" rtlCol="0" anchor="t">
            <a:normAutofit/>
          </a:bodyPr>
          <a:lstStyle/>
          <a:p>
            <a:pPr algn="l" indent="0" marL="0">
              <a:lnSpc>
                <a:spcPct val="130000"/>
              </a:lnSpc>
              <a:buNone/>
            </a:pPr>
            <a:r>
              <a:rPr lang="en-US" sz="1350" spc="150" kern="0" dirty="0">
                <a:solidFill>
                  <a:srgbClr val="5A7A8A"/>
                </a:solidFill>
                <a:latin typeface="Courier New" pitchFamily="34" charset="0"/>
                <a:ea typeface="Courier New" pitchFamily="34" charset="-122"/>
                <a:cs typeface="Courier New" pitchFamily="34" charset="-120"/>
              </a:rPr>
              <a:t>WHAT THEY SAY</a:t>
            </a:r>
            <a:endParaRPr lang="en-US" sz="1350" dirty="0"/>
          </a:p>
        </p:txBody>
      </p:sp>
      <p:sp>
        <p:nvSpPr>
          <p:cNvPr id="15" name="Text 13"/>
          <p:cNvSpPr/>
          <p:nvPr/>
        </p:nvSpPr>
        <p:spPr>
          <a:xfrm>
            <a:off x="1047750" y="7937748"/>
            <a:ext cx="8091876" cy="352425"/>
          </a:xfrm>
          <a:prstGeom prst="rect">
            <a:avLst/>
          </a:prstGeom>
          <a:noFill/>
          <a:ln/>
        </p:spPr>
        <p:txBody>
          <a:bodyPr wrap="square" lIns="0" tIns="0" rIns="0" bIns="0" rtlCol="0" anchor="t">
            <a:normAutofit/>
          </a:bodyPr>
          <a:lstStyle/>
          <a:p>
            <a:pPr algn="l" indent="0" marL="0">
              <a:lnSpc>
                <a:spcPct val="130000"/>
              </a:lnSpc>
              <a:buNone/>
            </a:pPr>
            <a:r>
              <a:rPr lang="en-US" sz="2250" i="1" dirty="0">
                <a:solidFill>
                  <a:srgbClr val="C0392B"/>
                </a:solidFill>
                <a:latin typeface="Arial" pitchFamily="34" charset="0"/>
                <a:ea typeface="Arial" pitchFamily="34" charset="-122"/>
                <a:cs typeface="Arial" pitchFamily="34" charset="-120"/>
              </a:rPr>
              <a:t>"He's been drinking but he's fine. He always swims at parties."</a:t>
            </a:r>
            <a:endParaRPr lang="en-US" sz="2250" dirty="0"/>
          </a:p>
        </p:txBody>
      </p:sp>
      <p:sp>
        <p:nvSpPr>
          <p:cNvPr id="16" name="Text 14"/>
          <p:cNvSpPr/>
          <p:nvPr/>
        </p:nvSpPr>
        <p:spPr>
          <a:xfrm>
            <a:off x="9334500" y="7610177"/>
            <a:ext cx="8142923" cy="260896"/>
          </a:xfrm>
          <a:prstGeom prst="rect">
            <a:avLst/>
          </a:prstGeom>
          <a:noFill/>
          <a:ln/>
        </p:spPr>
        <p:txBody>
          <a:bodyPr wrap="square" lIns="25400" tIns="25400" rIns="25400" bIns="25400" rtlCol="0" anchor="t">
            <a:normAutofit/>
          </a:bodyPr>
          <a:lstStyle/>
          <a:p>
            <a:pPr algn="l" indent="0" marL="0">
              <a:lnSpc>
                <a:spcPct val="130000"/>
              </a:lnSpc>
              <a:buNone/>
            </a:pPr>
            <a:r>
              <a:rPr lang="en-US" sz="1350" spc="150" kern="0" dirty="0">
                <a:solidFill>
                  <a:srgbClr val="5A7A8A"/>
                </a:solidFill>
                <a:latin typeface="Courier New" pitchFamily="34" charset="0"/>
                <a:ea typeface="Courier New" pitchFamily="34" charset="-122"/>
                <a:cs typeface="Courier New" pitchFamily="34" charset="-120"/>
              </a:rPr>
              <a:t>WHAT YOU SAY · STRATEGY: PUT YOURSELF IN THE WAY</a:t>
            </a:r>
            <a:endParaRPr lang="en-US" sz="1350" dirty="0"/>
          </a:p>
        </p:txBody>
      </p:sp>
      <p:sp>
        <p:nvSpPr>
          <p:cNvPr id="17" name="Text 15"/>
          <p:cNvSpPr/>
          <p:nvPr/>
        </p:nvSpPr>
        <p:spPr>
          <a:xfrm>
            <a:off x="9334500" y="7890123"/>
            <a:ext cx="7220405" cy="819150"/>
          </a:xfrm>
          <a:prstGeom prst="rect">
            <a:avLst/>
          </a:prstGeom>
          <a:noFill/>
          <a:ln/>
        </p:spPr>
        <p:txBody>
          <a:bodyPr wrap="square" lIns="0" tIns="0" rIns="0" bIns="0" rtlCol="0" anchor="t">
            <a:normAutofit/>
          </a:bodyPr>
          <a:lstStyle/>
          <a:p>
            <a:pPr algn="l" indent="0" marL="0">
              <a:lnSpc>
                <a:spcPct val="130000"/>
              </a:lnSpc>
              <a:buNone/>
            </a:pPr>
            <a:r>
              <a:rPr lang="en-US" sz="2250" b="1" dirty="0">
                <a:solidFill>
                  <a:srgbClr val="6A1B9A"/>
                </a:solidFill>
                <a:latin typeface="Arial" pitchFamily="34" charset="0"/>
                <a:ea typeface="Arial" pitchFamily="34" charset="-122"/>
                <a:cs typeface="Arial" pitchFamily="34" charset="-120"/>
              </a:rPr>
              <a:t>"Mate, give me five minutes before you go in. Eat something. I'll come down with you after."</a:t>
            </a:r>
            <a:endParaRPr lang="en-US" sz="225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4F7F9"/>
        </a:solidFill>
      </p:bgPr>
    </p:bg>
    <p:spTree>
      <p:nvGrpSpPr>
        <p:cNvPr id="1" name=""/>
        <p:cNvGrpSpPr/>
        <p:nvPr/>
      </p:nvGrpSpPr>
      <p:grpSpPr>
        <a:xfrm>
          <a:off x="0" y="0"/>
          <a:ext cx="0" cy="0"/>
          <a:chOff x="0" y="0"/>
          <a:chExt cx="0" cy="0"/>
        </a:xfrm>
      </p:grpSpPr>
      <p:sp>
        <p:nvSpPr>
          <p:cNvPr id="2" name="Text 0"/>
          <p:cNvSpPr/>
          <p:nvPr/>
        </p:nvSpPr>
        <p:spPr>
          <a:xfrm>
            <a:off x="1047750" y="914400"/>
            <a:ext cx="16678275" cy="358080"/>
          </a:xfrm>
          <a:prstGeom prst="rect">
            <a:avLst/>
          </a:prstGeom>
          <a:noFill/>
          <a:ln/>
        </p:spPr>
        <p:txBody>
          <a:bodyPr wrap="square" lIns="25400" tIns="25400" rIns="25400" bIns="25400" rtlCol="0" anchor="t">
            <a:normAutofit/>
          </a:bodyPr>
          <a:lstStyle/>
          <a:p>
            <a:pPr algn="l" indent="0" marL="0">
              <a:lnSpc>
                <a:spcPct val="140000"/>
              </a:lnSpc>
              <a:buNone/>
            </a:pPr>
            <a:r>
              <a:rPr lang="en-US" sz="1800" spc="300" kern="0" dirty="0">
                <a:solidFill>
                  <a:srgbClr val="5A7A8A"/>
                </a:solidFill>
                <a:latin typeface="Courier New" pitchFamily="34" charset="0"/>
                <a:ea typeface="Courier New" pitchFamily="34" charset="-122"/>
                <a:cs typeface="Courier New" pitchFamily="34" charset="-120"/>
              </a:rPr>
              <a:t>WORKBOOK ACTIVITY 5.3</a:t>
            </a:r>
            <a:endParaRPr lang="en-US" sz="1800" dirty="0"/>
          </a:p>
        </p:txBody>
      </p:sp>
      <p:sp>
        <p:nvSpPr>
          <p:cNvPr id="3" name="Text 1"/>
          <p:cNvSpPr/>
          <p:nvPr/>
        </p:nvSpPr>
        <p:spPr>
          <a:xfrm>
            <a:off x="1047750" y="1405830"/>
            <a:ext cx="16678275" cy="798165"/>
          </a:xfrm>
          <a:prstGeom prst="rect">
            <a:avLst/>
          </a:prstGeom>
          <a:noFill/>
          <a:ln/>
        </p:spPr>
        <p:txBody>
          <a:bodyPr wrap="square" lIns="25400" tIns="25400" rIns="25400" bIns="25400" rtlCol="0" anchor="t">
            <a:normAutofit/>
          </a:bodyPr>
          <a:lstStyle/>
          <a:p>
            <a:pPr algn="l" indent="0" marL="0">
              <a:lnSpc>
                <a:spcPct val="105000"/>
              </a:lnSpc>
              <a:buNone/>
            </a:pPr>
            <a:r>
              <a:rPr lang="en-US" sz="5700" b="1" spc="-75" kern="0" dirty="0">
                <a:solidFill>
                  <a:srgbClr val="0D1F2D"/>
                </a:solidFill>
                <a:latin typeface="Arial" pitchFamily="34" charset="0"/>
                <a:ea typeface="Arial" pitchFamily="34" charset="-122"/>
                <a:cs typeface="Arial" pitchFamily="34" charset="-120"/>
              </a:rPr>
              <a:t>Why alcohol and water don't mix</a:t>
            </a:r>
            <a:endParaRPr lang="en-US" sz="5700" dirty="0"/>
          </a:p>
        </p:txBody>
      </p:sp>
      <p:sp>
        <p:nvSpPr>
          <p:cNvPr id="4" name="Shape 2"/>
          <p:cNvSpPr/>
          <p:nvPr/>
        </p:nvSpPr>
        <p:spPr>
          <a:xfrm>
            <a:off x="1047750" y="2623096"/>
            <a:ext cx="16192500" cy="19050"/>
          </a:xfrm>
          <a:prstGeom prst="rect">
            <a:avLst/>
          </a:prstGeom>
          <a:solidFill>
            <a:srgbClr val="0D1F2D"/>
          </a:solidFill>
          <a:ln/>
        </p:spPr>
        <p:txBody>
          <a:bodyPr/>
          <a:p/>
        </p:txBody>
      </p:sp>
      <p:sp>
        <p:nvSpPr>
          <p:cNvPr id="5" name="Text 3"/>
          <p:cNvSpPr/>
          <p:nvPr/>
        </p:nvSpPr>
        <p:spPr>
          <a:xfrm>
            <a:off x="1047750" y="2851696"/>
            <a:ext cx="1123950" cy="571500"/>
          </a:xfrm>
          <a:prstGeom prst="rect">
            <a:avLst/>
          </a:prstGeom>
          <a:noFill/>
          <a:ln/>
        </p:spPr>
        <p:txBody>
          <a:bodyPr wrap="square" lIns="25400" tIns="25400" rIns="25400" bIns="25400" rtlCol="0" anchor="t">
            <a:normAutofit/>
          </a:bodyPr>
          <a:lstStyle/>
          <a:p>
            <a:pPr algn="l" indent="0" marL="0">
              <a:lnSpc>
                <a:spcPct val="100000"/>
              </a:lnSpc>
              <a:buNone/>
            </a:pPr>
            <a:r>
              <a:rPr lang="en-US" sz="4200" b="1" dirty="0">
                <a:solidFill>
                  <a:srgbClr val="6A1B9A"/>
                </a:solidFill>
                <a:latin typeface="Arial" pitchFamily="34" charset="0"/>
                <a:ea typeface="Arial" pitchFamily="34" charset="-122"/>
                <a:cs typeface="Arial" pitchFamily="34" charset="-120"/>
              </a:rPr>
              <a:t>01</a:t>
            </a:r>
            <a:endParaRPr lang="en-US" sz="4200" dirty="0"/>
          </a:p>
        </p:txBody>
      </p:sp>
      <p:sp>
        <p:nvSpPr>
          <p:cNvPr id="6" name="Text 4"/>
          <p:cNvSpPr/>
          <p:nvPr/>
        </p:nvSpPr>
        <p:spPr>
          <a:xfrm>
            <a:off x="2438400" y="2851696"/>
            <a:ext cx="15245905" cy="388590"/>
          </a:xfrm>
          <a:prstGeom prst="rect">
            <a:avLst/>
          </a:prstGeom>
          <a:noFill/>
          <a:ln/>
        </p:spPr>
        <p:txBody>
          <a:bodyPr wrap="square" lIns="25400" tIns="25400" rIns="25400" bIns="25400" rtlCol="0" anchor="t">
            <a:normAutofit/>
          </a:bodyPr>
          <a:lstStyle/>
          <a:p>
            <a:pPr algn="l" indent="0" marL="0">
              <a:lnSpc>
                <a:spcPct val="115000"/>
              </a:lnSpc>
              <a:buNone/>
            </a:pPr>
            <a:r>
              <a:rPr lang="en-US" sz="2400" b="1" dirty="0">
                <a:solidFill>
                  <a:srgbClr val="0D1F2D"/>
                </a:solidFill>
                <a:latin typeface="Arial" pitchFamily="34" charset="0"/>
                <a:ea typeface="Arial" pitchFamily="34" charset="-122"/>
                <a:cs typeface="Arial" pitchFamily="34" charset="-120"/>
              </a:rPr>
              <a:t>Impaired judgement</a:t>
            </a:r>
            <a:endParaRPr lang="en-US" sz="2400" dirty="0"/>
          </a:p>
        </p:txBody>
      </p:sp>
      <p:sp>
        <p:nvSpPr>
          <p:cNvPr id="7" name="Text 5"/>
          <p:cNvSpPr/>
          <p:nvPr/>
        </p:nvSpPr>
        <p:spPr>
          <a:xfrm>
            <a:off x="2438400" y="3259336"/>
            <a:ext cx="15245905" cy="358080"/>
          </a:xfrm>
          <a:prstGeom prst="rect">
            <a:avLst/>
          </a:prstGeom>
          <a:noFill/>
          <a:ln/>
        </p:spPr>
        <p:txBody>
          <a:bodyPr wrap="square" lIns="25400" tIns="25400" rIns="25400" bIns="25400" rtlCol="0" anchor="t">
            <a:normAutofit/>
          </a:bodyPr>
          <a:lstStyle/>
          <a:p>
            <a:pPr algn="l" indent="0" marL="0">
              <a:lnSpc>
                <a:spcPct val="140000"/>
              </a:lnSpc>
              <a:buNone/>
            </a:pPr>
            <a:r>
              <a:rPr lang="en-US" sz="1800" dirty="0">
                <a:solidFill>
                  <a:srgbClr val="5A7A8A"/>
                </a:solidFill>
                <a:latin typeface="Arial" pitchFamily="34" charset="0"/>
                <a:ea typeface="Arial" pitchFamily="34" charset="-122"/>
                <a:cs typeface="Arial" pitchFamily="34" charset="-120"/>
              </a:rPr>
              <a:t>Alcohol convinces drinkers they're stronger swimmers than they are. Distances look shorter. Currents feel slower. Decisions get worse.</a:t>
            </a:r>
            <a:endParaRPr lang="en-US" sz="1800" dirty="0"/>
          </a:p>
        </p:txBody>
      </p:sp>
      <p:sp>
        <p:nvSpPr>
          <p:cNvPr id="8" name="Shape 6"/>
          <p:cNvSpPr/>
          <p:nvPr/>
        </p:nvSpPr>
        <p:spPr>
          <a:xfrm>
            <a:off x="1047750" y="4017466"/>
            <a:ext cx="16192500" cy="9525"/>
          </a:xfrm>
          <a:prstGeom prst="rect">
            <a:avLst/>
          </a:prstGeom>
          <a:solidFill>
            <a:srgbClr val="CDD9E0"/>
          </a:solidFill>
          <a:ln/>
        </p:spPr>
        <p:txBody>
          <a:bodyPr/>
          <a:p/>
        </p:txBody>
      </p:sp>
      <p:sp>
        <p:nvSpPr>
          <p:cNvPr id="9" name="Text 7"/>
          <p:cNvSpPr/>
          <p:nvPr/>
        </p:nvSpPr>
        <p:spPr>
          <a:xfrm>
            <a:off x="1047750" y="4198441"/>
            <a:ext cx="1123950" cy="571500"/>
          </a:xfrm>
          <a:prstGeom prst="rect">
            <a:avLst/>
          </a:prstGeom>
          <a:noFill/>
          <a:ln/>
        </p:spPr>
        <p:txBody>
          <a:bodyPr wrap="square" lIns="25400" tIns="25400" rIns="25400" bIns="25400" rtlCol="0" anchor="t">
            <a:normAutofit/>
          </a:bodyPr>
          <a:lstStyle/>
          <a:p>
            <a:pPr algn="l" indent="0" marL="0">
              <a:lnSpc>
                <a:spcPct val="100000"/>
              </a:lnSpc>
              <a:buNone/>
            </a:pPr>
            <a:r>
              <a:rPr lang="en-US" sz="4200" b="1" dirty="0">
                <a:solidFill>
                  <a:srgbClr val="6A1B9A"/>
                </a:solidFill>
                <a:latin typeface="Arial" pitchFamily="34" charset="0"/>
                <a:ea typeface="Arial" pitchFamily="34" charset="-122"/>
                <a:cs typeface="Arial" pitchFamily="34" charset="-120"/>
              </a:rPr>
              <a:t>02</a:t>
            </a:r>
            <a:endParaRPr lang="en-US" sz="4200" dirty="0"/>
          </a:p>
        </p:txBody>
      </p:sp>
      <p:sp>
        <p:nvSpPr>
          <p:cNvPr id="10" name="Text 8"/>
          <p:cNvSpPr/>
          <p:nvPr/>
        </p:nvSpPr>
        <p:spPr>
          <a:xfrm>
            <a:off x="2438400" y="4198441"/>
            <a:ext cx="15245905" cy="388590"/>
          </a:xfrm>
          <a:prstGeom prst="rect">
            <a:avLst/>
          </a:prstGeom>
          <a:noFill/>
          <a:ln/>
        </p:spPr>
        <p:txBody>
          <a:bodyPr wrap="square" lIns="25400" tIns="25400" rIns="25400" bIns="25400" rtlCol="0" anchor="t">
            <a:normAutofit/>
          </a:bodyPr>
          <a:lstStyle/>
          <a:p>
            <a:pPr algn="l" indent="0" marL="0">
              <a:lnSpc>
                <a:spcPct val="115000"/>
              </a:lnSpc>
              <a:buNone/>
            </a:pPr>
            <a:r>
              <a:rPr lang="en-US" sz="2400" b="1" dirty="0">
                <a:solidFill>
                  <a:srgbClr val="0D1F2D"/>
                </a:solidFill>
                <a:latin typeface="Arial" pitchFamily="34" charset="0"/>
                <a:ea typeface="Arial" pitchFamily="34" charset="-122"/>
                <a:cs typeface="Arial" pitchFamily="34" charset="-120"/>
              </a:rPr>
              <a:t>Slowed reactions, weakened muscles</a:t>
            </a:r>
            <a:endParaRPr lang="en-US" sz="2400" dirty="0"/>
          </a:p>
        </p:txBody>
      </p:sp>
      <p:sp>
        <p:nvSpPr>
          <p:cNvPr id="11" name="Text 9"/>
          <p:cNvSpPr/>
          <p:nvPr/>
        </p:nvSpPr>
        <p:spPr>
          <a:xfrm>
            <a:off x="2438400" y="4606082"/>
            <a:ext cx="15245905" cy="678061"/>
          </a:xfrm>
          <a:prstGeom prst="rect">
            <a:avLst/>
          </a:prstGeom>
          <a:noFill/>
          <a:ln/>
        </p:spPr>
        <p:txBody>
          <a:bodyPr wrap="square" lIns="25400" tIns="25400" rIns="25400" bIns="25400" rtlCol="0" anchor="t">
            <a:normAutofit/>
          </a:bodyPr>
          <a:lstStyle/>
          <a:p>
            <a:pPr algn="l" indent="0" marL="0">
              <a:lnSpc>
                <a:spcPct val="140000"/>
              </a:lnSpc>
              <a:buNone/>
            </a:pPr>
            <a:r>
              <a:rPr lang="en-US" sz="1800" dirty="0">
                <a:solidFill>
                  <a:srgbClr val="5A7A8A"/>
                </a:solidFill>
                <a:latin typeface="Arial" pitchFamily="34" charset="0"/>
                <a:ea typeface="Arial" pitchFamily="34" charset="-122"/>
                <a:cs typeface="Arial" pitchFamily="34" charset="-120"/>
              </a:rPr>
              <a:t>When something goes wrong — a wave knocks you, a foot slips — alcohol makes you slower to react and physically weaker. You lose the seconds you need.</a:t>
            </a:r>
            <a:endParaRPr lang="en-US" sz="1800" dirty="0"/>
          </a:p>
        </p:txBody>
      </p:sp>
      <p:sp>
        <p:nvSpPr>
          <p:cNvPr id="12" name="Shape 10"/>
          <p:cNvSpPr/>
          <p:nvPr/>
        </p:nvSpPr>
        <p:spPr>
          <a:xfrm>
            <a:off x="1047750" y="5684193"/>
            <a:ext cx="16192500" cy="9525"/>
          </a:xfrm>
          <a:prstGeom prst="rect">
            <a:avLst/>
          </a:prstGeom>
          <a:solidFill>
            <a:srgbClr val="CDD9E0"/>
          </a:solidFill>
          <a:ln/>
        </p:spPr>
        <p:txBody>
          <a:bodyPr/>
          <a:p/>
        </p:txBody>
      </p:sp>
      <p:sp>
        <p:nvSpPr>
          <p:cNvPr id="13" name="Text 11"/>
          <p:cNvSpPr/>
          <p:nvPr/>
        </p:nvSpPr>
        <p:spPr>
          <a:xfrm>
            <a:off x="1047750" y="5865168"/>
            <a:ext cx="1123950" cy="571500"/>
          </a:xfrm>
          <a:prstGeom prst="rect">
            <a:avLst/>
          </a:prstGeom>
          <a:noFill/>
          <a:ln/>
        </p:spPr>
        <p:txBody>
          <a:bodyPr wrap="square" lIns="25400" tIns="25400" rIns="25400" bIns="25400" rtlCol="0" anchor="t">
            <a:normAutofit/>
          </a:bodyPr>
          <a:lstStyle/>
          <a:p>
            <a:pPr algn="l" indent="0" marL="0">
              <a:lnSpc>
                <a:spcPct val="100000"/>
              </a:lnSpc>
              <a:buNone/>
            </a:pPr>
            <a:r>
              <a:rPr lang="en-US" sz="4200" b="1" dirty="0">
                <a:solidFill>
                  <a:srgbClr val="6A1B9A"/>
                </a:solidFill>
                <a:latin typeface="Arial" pitchFamily="34" charset="0"/>
                <a:ea typeface="Arial" pitchFamily="34" charset="-122"/>
                <a:cs typeface="Arial" pitchFamily="34" charset="-120"/>
              </a:rPr>
              <a:t>03</a:t>
            </a:r>
            <a:endParaRPr lang="en-US" sz="4200" dirty="0"/>
          </a:p>
        </p:txBody>
      </p:sp>
      <p:sp>
        <p:nvSpPr>
          <p:cNvPr id="14" name="Text 12"/>
          <p:cNvSpPr/>
          <p:nvPr/>
        </p:nvSpPr>
        <p:spPr>
          <a:xfrm>
            <a:off x="2438400" y="5865168"/>
            <a:ext cx="15245905" cy="388590"/>
          </a:xfrm>
          <a:prstGeom prst="rect">
            <a:avLst/>
          </a:prstGeom>
          <a:noFill/>
          <a:ln/>
        </p:spPr>
        <p:txBody>
          <a:bodyPr wrap="square" lIns="25400" tIns="25400" rIns="25400" bIns="25400" rtlCol="0" anchor="t">
            <a:normAutofit/>
          </a:bodyPr>
          <a:lstStyle/>
          <a:p>
            <a:pPr algn="l" indent="0" marL="0">
              <a:lnSpc>
                <a:spcPct val="115000"/>
              </a:lnSpc>
              <a:buNone/>
            </a:pPr>
            <a:r>
              <a:rPr lang="en-US" sz="2400" b="1" dirty="0">
                <a:solidFill>
                  <a:srgbClr val="0D1F2D"/>
                </a:solidFill>
                <a:latin typeface="Arial" pitchFamily="34" charset="0"/>
                <a:ea typeface="Arial" pitchFamily="34" charset="-122"/>
                <a:cs typeface="Arial" pitchFamily="34" charset="-120"/>
              </a:rPr>
              <a:t>Faster heat loss</a:t>
            </a:r>
            <a:endParaRPr lang="en-US" sz="2400" dirty="0"/>
          </a:p>
        </p:txBody>
      </p:sp>
      <p:sp>
        <p:nvSpPr>
          <p:cNvPr id="15" name="Text 13"/>
          <p:cNvSpPr/>
          <p:nvPr/>
        </p:nvSpPr>
        <p:spPr>
          <a:xfrm>
            <a:off x="2438400" y="6272808"/>
            <a:ext cx="15245905" cy="358080"/>
          </a:xfrm>
          <a:prstGeom prst="rect">
            <a:avLst/>
          </a:prstGeom>
          <a:noFill/>
          <a:ln/>
        </p:spPr>
        <p:txBody>
          <a:bodyPr wrap="square" lIns="25400" tIns="25400" rIns="25400" bIns="25400" rtlCol="0" anchor="t">
            <a:normAutofit/>
          </a:bodyPr>
          <a:lstStyle/>
          <a:p>
            <a:pPr algn="l" indent="0" marL="0">
              <a:lnSpc>
                <a:spcPct val="140000"/>
              </a:lnSpc>
              <a:buNone/>
            </a:pPr>
            <a:r>
              <a:rPr lang="en-US" sz="1800" dirty="0">
                <a:solidFill>
                  <a:srgbClr val="5A7A8A"/>
                </a:solidFill>
                <a:latin typeface="Arial" pitchFamily="34" charset="0"/>
                <a:ea typeface="Arial" pitchFamily="34" charset="-122"/>
                <a:cs typeface="Arial" pitchFamily="34" charset="-120"/>
              </a:rPr>
              <a:t>Alcohol dilates blood vessels at the skin. You lose body heat faster, and cold-water shock and hypothermia set in sooner.</a:t>
            </a:r>
            <a:endParaRPr lang="en-US" sz="1800" dirty="0"/>
          </a:p>
        </p:txBody>
      </p:sp>
      <p:sp>
        <p:nvSpPr>
          <p:cNvPr id="16" name="Shape 14"/>
          <p:cNvSpPr/>
          <p:nvPr/>
        </p:nvSpPr>
        <p:spPr>
          <a:xfrm>
            <a:off x="1047750" y="7030938"/>
            <a:ext cx="16192500" cy="9525"/>
          </a:xfrm>
          <a:prstGeom prst="rect">
            <a:avLst/>
          </a:prstGeom>
          <a:solidFill>
            <a:srgbClr val="CDD9E0"/>
          </a:solidFill>
          <a:ln/>
        </p:spPr>
        <p:txBody>
          <a:bodyPr/>
          <a:p/>
        </p:txBody>
      </p:sp>
      <p:sp>
        <p:nvSpPr>
          <p:cNvPr id="17" name="Text 15"/>
          <p:cNvSpPr/>
          <p:nvPr/>
        </p:nvSpPr>
        <p:spPr>
          <a:xfrm>
            <a:off x="1047750" y="7211913"/>
            <a:ext cx="1123950" cy="571500"/>
          </a:xfrm>
          <a:prstGeom prst="rect">
            <a:avLst/>
          </a:prstGeom>
          <a:noFill/>
          <a:ln/>
        </p:spPr>
        <p:txBody>
          <a:bodyPr wrap="square" lIns="25400" tIns="25400" rIns="25400" bIns="25400" rtlCol="0" anchor="t">
            <a:normAutofit/>
          </a:bodyPr>
          <a:lstStyle/>
          <a:p>
            <a:pPr algn="l" indent="0" marL="0">
              <a:lnSpc>
                <a:spcPct val="100000"/>
              </a:lnSpc>
              <a:buNone/>
            </a:pPr>
            <a:r>
              <a:rPr lang="en-US" sz="4200" b="1" dirty="0">
                <a:solidFill>
                  <a:srgbClr val="6A1B9A"/>
                </a:solidFill>
                <a:latin typeface="Arial" pitchFamily="34" charset="0"/>
                <a:ea typeface="Arial" pitchFamily="34" charset="-122"/>
                <a:cs typeface="Arial" pitchFamily="34" charset="-120"/>
              </a:rPr>
              <a:t>04</a:t>
            </a:r>
            <a:endParaRPr lang="en-US" sz="4200" dirty="0"/>
          </a:p>
        </p:txBody>
      </p:sp>
      <p:sp>
        <p:nvSpPr>
          <p:cNvPr id="18" name="Text 16"/>
          <p:cNvSpPr/>
          <p:nvPr/>
        </p:nvSpPr>
        <p:spPr>
          <a:xfrm>
            <a:off x="2438400" y="7211913"/>
            <a:ext cx="15245905" cy="388590"/>
          </a:xfrm>
          <a:prstGeom prst="rect">
            <a:avLst/>
          </a:prstGeom>
          <a:noFill/>
          <a:ln/>
        </p:spPr>
        <p:txBody>
          <a:bodyPr wrap="square" lIns="25400" tIns="25400" rIns="25400" bIns="25400" rtlCol="0" anchor="t">
            <a:normAutofit/>
          </a:bodyPr>
          <a:lstStyle/>
          <a:p>
            <a:pPr algn="l" indent="0" marL="0">
              <a:lnSpc>
                <a:spcPct val="115000"/>
              </a:lnSpc>
              <a:buNone/>
            </a:pPr>
            <a:r>
              <a:rPr lang="en-US" sz="2400" b="1" dirty="0">
                <a:solidFill>
                  <a:srgbClr val="0D1F2D"/>
                </a:solidFill>
                <a:latin typeface="Arial" pitchFamily="34" charset="0"/>
                <a:ea typeface="Arial" pitchFamily="34" charset="-122"/>
                <a:cs typeface="Arial" pitchFamily="34" charset="-120"/>
              </a:rPr>
              <a:t>Riskier behaviour all round</a:t>
            </a:r>
            <a:endParaRPr lang="en-US" sz="2400" dirty="0"/>
          </a:p>
        </p:txBody>
      </p:sp>
      <p:sp>
        <p:nvSpPr>
          <p:cNvPr id="19" name="Text 17"/>
          <p:cNvSpPr/>
          <p:nvPr/>
        </p:nvSpPr>
        <p:spPr>
          <a:xfrm>
            <a:off x="2438400" y="7619554"/>
            <a:ext cx="15245905" cy="358080"/>
          </a:xfrm>
          <a:prstGeom prst="rect">
            <a:avLst/>
          </a:prstGeom>
          <a:noFill/>
          <a:ln/>
        </p:spPr>
        <p:txBody>
          <a:bodyPr wrap="square" lIns="25400" tIns="25400" rIns="25400" bIns="25400" rtlCol="0" anchor="t">
            <a:normAutofit/>
          </a:bodyPr>
          <a:lstStyle/>
          <a:p>
            <a:pPr algn="l" indent="0" marL="0">
              <a:lnSpc>
                <a:spcPct val="140000"/>
              </a:lnSpc>
              <a:buNone/>
            </a:pPr>
            <a:r>
              <a:rPr lang="en-US" sz="1800" dirty="0">
                <a:solidFill>
                  <a:srgbClr val="5A7A8A"/>
                </a:solidFill>
                <a:latin typeface="Arial" pitchFamily="34" charset="0"/>
                <a:ea typeface="Arial" pitchFamily="34" charset="-122"/>
                <a:cs typeface="Arial" pitchFamily="34" charset="-120"/>
              </a:rPr>
              <a:t>More likely to jump, more likely to swim alone, more likely to ignore signs. Alcohol is a factor in around 1 in 3 adult Victorian drownings.</a:t>
            </a:r>
            <a:endParaRPr lang="en-US" sz="18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4F7F9"/>
        </a:solidFill>
      </p:bgPr>
    </p:bg>
    <p:spTree>
      <p:nvGrpSpPr>
        <p:cNvPr id="1" name=""/>
        <p:cNvGrpSpPr/>
        <p:nvPr/>
      </p:nvGrpSpPr>
      <p:grpSpPr>
        <a:xfrm>
          <a:off x="0" y="0"/>
          <a:ext cx="0" cy="0"/>
          <a:chOff x="0" y="0"/>
          <a:chExt cx="0" cy="0"/>
        </a:xfrm>
      </p:grpSpPr>
      <p:sp>
        <p:nvSpPr>
          <p:cNvPr id="2" name="Text 0"/>
          <p:cNvSpPr/>
          <p:nvPr/>
        </p:nvSpPr>
        <p:spPr>
          <a:xfrm>
            <a:off x="1047750" y="914400"/>
            <a:ext cx="16678275" cy="358080"/>
          </a:xfrm>
          <a:prstGeom prst="rect">
            <a:avLst/>
          </a:prstGeom>
          <a:noFill/>
          <a:ln/>
        </p:spPr>
        <p:txBody>
          <a:bodyPr wrap="square" lIns="25400" tIns="25400" rIns="25400" bIns="25400" rtlCol="0" anchor="t">
            <a:normAutofit/>
          </a:bodyPr>
          <a:lstStyle/>
          <a:p>
            <a:pPr algn="l" indent="0" marL="0">
              <a:lnSpc>
                <a:spcPct val="140000"/>
              </a:lnSpc>
              <a:buNone/>
            </a:pPr>
            <a:r>
              <a:rPr lang="en-US" sz="1800" spc="300" kern="0" dirty="0">
                <a:solidFill>
                  <a:srgbClr val="5A7A8A"/>
                </a:solidFill>
                <a:latin typeface="Courier New" pitchFamily="34" charset="0"/>
                <a:ea typeface="Courier New" pitchFamily="34" charset="-122"/>
                <a:cs typeface="Courier New" pitchFamily="34" charset="-120"/>
              </a:rPr>
              <a:t>DIVING IN SHALLOW WATER · THE LEADING CAUSE OF SPINAL INJURY IN YOUNG AUSTRALIANS</a:t>
            </a:r>
            <a:endParaRPr lang="en-US" sz="1800" dirty="0"/>
          </a:p>
        </p:txBody>
      </p:sp>
      <p:sp>
        <p:nvSpPr>
          <p:cNvPr id="3" name="Text 1"/>
          <p:cNvSpPr/>
          <p:nvPr/>
        </p:nvSpPr>
        <p:spPr>
          <a:xfrm>
            <a:off x="1047750" y="1405830"/>
            <a:ext cx="16678275" cy="798165"/>
          </a:xfrm>
          <a:prstGeom prst="rect">
            <a:avLst/>
          </a:prstGeom>
          <a:noFill/>
          <a:ln/>
        </p:spPr>
        <p:txBody>
          <a:bodyPr wrap="square" lIns="25400" tIns="25400" rIns="25400" bIns="25400" rtlCol="0" anchor="t">
            <a:normAutofit/>
          </a:bodyPr>
          <a:lstStyle/>
          <a:p>
            <a:pPr algn="l" indent="0" marL="0">
              <a:lnSpc>
                <a:spcPct val="105000"/>
              </a:lnSpc>
              <a:buNone/>
            </a:pPr>
            <a:r>
              <a:rPr lang="en-US" sz="5700" b="1" spc="-75" kern="0" dirty="0">
                <a:solidFill>
                  <a:srgbClr val="0D1F2D"/>
                </a:solidFill>
                <a:latin typeface="Arial" pitchFamily="34" charset="0"/>
                <a:ea typeface="Arial" pitchFamily="34" charset="-122"/>
                <a:cs typeface="Arial" pitchFamily="34" charset="-120"/>
              </a:rPr>
              <a:t>What you think you know could kill you</a:t>
            </a:r>
            <a:endParaRPr lang="en-US" sz="5700" dirty="0"/>
          </a:p>
        </p:txBody>
      </p:sp>
      <p:sp>
        <p:nvSpPr>
          <p:cNvPr id="4" name="Shape 2"/>
          <p:cNvSpPr/>
          <p:nvPr/>
        </p:nvSpPr>
        <p:spPr>
          <a:xfrm>
            <a:off x="1047750" y="2623096"/>
            <a:ext cx="7981950" cy="3298478"/>
          </a:xfrm>
          <a:prstGeom prst="roundRect">
            <a:avLst>
              <a:gd name="adj" fmla="val 5198"/>
            </a:avLst>
          </a:prstGeom>
          <a:solidFill>
            <a:srgbClr val="FFFFFF"/>
          </a:solidFill>
          <a:ln w="9525">
            <a:solidFill>
              <a:srgbClr val="CDD9E0"/>
            </a:solidFill>
            <a:prstDash val="solid"/>
          </a:ln>
        </p:spPr>
        <p:txBody>
          <a:bodyPr/>
          <a:p/>
        </p:txBody>
      </p:sp>
      <p:sp>
        <p:nvSpPr>
          <p:cNvPr id="5" name="Shape 3"/>
          <p:cNvSpPr/>
          <p:nvPr/>
        </p:nvSpPr>
        <p:spPr>
          <a:xfrm>
            <a:off x="1057275" y="2632621"/>
            <a:ext cx="7962900" cy="756196"/>
          </a:xfrm>
          <a:prstGeom prst="rect">
            <a:avLst/>
          </a:prstGeom>
          <a:solidFill>
            <a:srgbClr val="FBE9E9"/>
          </a:solidFill>
          <a:ln/>
        </p:spPr>
        <p:txBody>
          <a:bodyPr/>
          <a:p/>
        </p:txBody>
      </p:sp>
      <p:sp>
        <p:nvSpPr>
          <p:cNvPr id="6" name="Shape 4"/>
          <p:cNvSpPr/>
          <p:nvPr/>
        </p:nvSpPr>
        <p:spPr>
          <a:xfrm>
            <a:off x="1057275" y="3379291"/>
            <a:ext cx="7962900" cy="9525"/>
          </a:xfrm>
          <a:prstGeom prst="rect">
            <a:avLst/>
          </a:prstGeom>
          <a:solidFill>
            <a:srgbClr val="F1C5C5"/>
          </a:solidFill>
          <a:ln/>
        </p:spPr>
        <p:txBody>
          <a:bodyPr/>
          <a:p/>
        </p:txBody>
      </p:sp>
      <p:sp>
        <p:nvSpPr>
          <p:cNvPr id="7" name="Shape 5"/>
          <p:cNvSpPr/>
          <p:nvPr/>
        </p:nvSpPr>
        <p:spPr>
          <a:xfrm>
            <a:off x="1323975" y="2880271"/>
            <a:ext cx="670620" cy="289471"/>
          </a:xfrm>
          <a:prstGeom prst="roundRect">
            <a:avLst>
              <a:gd name="adj" fmla="val 26324"/>
            </a:avLst>
          </a:prstGeom>
          <a:solidFill>
            <a:srgbClr val="C0392B"/>
          </a:solidFill>
          <a:ln/>
        </p:spPr>
        <p:txBody>
          <a:bodyPr/>
          <a:p/>
        </p:txBody>
      </p:sp>
      <p:sp>
        <p:nvSpPr>
          <p:cNvPr id="8" name="Text 6"/>
          <p:cNvSpPr/>
          <p:nvPr/>
        </p:nvSpPr>
        <p:spPr>
          <a:xfrm>
            <a:off x="1438275" y="2918371"/>
            <a:ext cx="518220" cy="251371"/>
          </a:xfrm>
          <a:prstGeom prst="rect">
            <a:avLst/>
          </a:prstGeom>
          <a:noFill/>
          <a:ln/>
        </p:spPr>
        <p:txBody>
          <a:bodyPr wrap="square" lIns="25400" tIns="25400" rIns="25400" bIns="25400" rtlCol="0" anchor="t">
            <a:normAutofit/>
          </a:bodyPr>
          <a:lstStyle/>
          <a:p>
            <a:pPr algn="l" indent="0" marL="0">
              <a:lnSpc>
                <a:spcPct val="140000"/>
              </a:lnSpc>
              <a:buNone/>
            </a:pPr>
            <a:r>
              <a:rPr lang="en-US" sz="1200" spc="150" kern="0" dirty="0">
                <a:solidFill>
                  <a:srgbClr val="FFFFFF"/>
                </a:solidFill>
                <a:latin typeface="Courier New" pitchFamily="34" charset="0"/>
                <a:ea typeface="Courier New" pitchFamily="34" charset="-122"/>
                <a:cs typeface="Courier New" pitchFamily="34" charset="-120"/>
              </a:rPr>
              <a:t>MYTH</a:t>
            </a:r>
            <a:endParaRPr lang="en-US" sz="1200" dirty="0"/>
          </a:p>
        </p:txBody>
      </p:sp>
      <p:sp>
        <p:nvSpPr>
          <p:cNvPr id="9" name="Text 7"/>
          <p:cNvSpPr/>
          <p:nvPr/>
        </p:nvSpPr>
        <p:spPr>
          <a:xfrm>
            <a:off x="2146995" y="2842171"/>
            <a:ext cx="5731471" cy="335161"/>
          </a:xfrm>
          <a:prstGeom prst="rect">
            <a:avLst/>
          </a:prstGeom>
          <a:noFill/>
          <a:ln/>
        </p:spPr>
        <p:txBody>
          <a:bodyPr wrap="square" lIns="25400" tIns="25400" rIns="25400" bIns="25400" rtlCol="0" anchor="t">
            <a:normAutofit/>
          </a:bodyPr>
          <a:lstStyle/>
          <a:p>
            <a:pPr algn="l" indent="0" marL="0">
              <a:lnSpc>
                <a:spcPct val="130000"/>
              </a:lnSpc>
              <a:buNone/>
            </a:pPr>
            <a:r>
              <a:rPr lang="en-US" sz="1800" b="1" i="1" dirty="0">
                <a:solidFill>
                  <a:srgbClr val="5A1010"/>
                </a:solidFill>
                <a:latin typeface="Arial" pitchFamily="34" charset="0"/>
                <a:ea typeface="Arial" pitchFamily="34" charset="-122"/>
                <a:cs typeface="Arial" pitchFamily="34" charset="-120"/>
              </a:rPr>
              <a:t>"If other people are jumping there, it must be safe."</a:t>
            </a:r>
            <a:endParaRPr lang="en-US" sz="1800" dirty="0"/>
          </a:p>
        </p:txBody>
      </p:sp>
      <p:sp>
        <p:nvSpPr>
          <p:cNvPr id="10" name="Shape 8"/>
          <p:cNvSpPr/>
          <p:nvPr/>
        </p:nvSpPr>
        <p:spPr>
          <a:xfrm>
            <a:off x="1057275" y="3388816"/>
            <a:ext cx="7962900" cy="2523232"/>
          </a:xfrm>
          <a:prstGeom prst="rect">
            <a:avLst/>
          </a:prstGeom>
          <a:solidFill>
            <a:srgbClr val="EAF6EE"/>
          </a:solidFill>
          <a:ln/>
        </p:spPr>
        <p:txBody>
          <a:bodyPr/>
          <a:p/>
        </p:txBody>
      </p:sp>
      <p:sp>
        <p:nvSpPr>
          <p:cNvPr id="11" name="Shape 9"/>
          <p:cNvSpPr/>
          <p:nvPr/>
        </p:nvSpPr>
        <p:spPr>
          <a:xfrm>
            <a:off x="1323975" y="3636466"/>
            <a:ext cx="670620" cy="289471"/>
          </a:xfrm>
          <a:prstGeom prst="roundRect">
            <a:avLst>
              <a:gd name="adj" fmla="val 26324"/>
            </a:avLst>
          </a:prstGeom>
          <a:solidFill>
            <a:srgbClr val="1E8449"/>
          </a:solidFill>
          <a:ln/>
        </p:spPr>
        <p:txBody>
          <a:bodyPr/>
          <a:p/>
        </p:txBody>
      </p:sp>
      <p:sp>
        <p:nvSpPr>
          <p:cNvPr id="12" name="Text 10"/>
          <p:cNvSpPr/>
          <p:nvPr/>
        </p:nvSpPr>
        <p:spPr>
          <a:xfrm>
            <a:off x="1438275" y="3674566"/>
            <a:ext cx="518220" cy="251371"/>
          </a:xfrm>
          <a:prstGeom prst="rect">
            <a:avLst/>
          </a:prstGeom>
          <a:noFill/>
          <a:ln/>
        </p:spPr>
        <p:txBody>
          <a:bodyPr wrap="square" lIns="25400" tIns="25400" rIns="25400" bIns="25400" rtlCol="0" anchor="t">
            <a:normAutofit/>
          </a:bodyPr>
          <a:lstStyle/>
          <a:p>
            <a:pPr algn="l" indent="0" marL="0">
              <a:lnSpc>
                <a:spcPct val="140000"/>
              </a:lnSpc>
              <a:buNone/>
            </a:pPr>
            <a:r>
              <a:rPr lang="en-US" sz="1200" spc="150" kern="0" dirty="0">
                <a:solidFill>
                  <a:srgbClr val="FFFFFF"/>
                </a:solidFill>
                <a:latin typeface="Courier New" pitchFamily="34" charset="0"/>
                <a:ea typeface="Courier New" pitchFamily="34" charset="-122"/>
                <a:cs typeface="Courier New" pitchFamily="34" charset="-120"/>
              </a:rPr>
              <a:t>FACT</a:t>
            </a:r>
            <a:endParaRPr lang="en-US" sz="1200" dirty="0"/>
          </a:p>
        </p:txBody>
      </p:sp>
      <p:sp>
        <p:nvSpPr>
          <p:cNvPr id="13" name="Text 11"/>
          <p:cNvSpPr/>
          <p:nvPr/>
        </p:nvSpPr>
        <p:spPr>
          <a:xfrm>
            <a:off x="2146995" y="3598366"/>
            <a:ext cx="6804675" cy="963662"/>
          </a:xfrm>
          <a:prstGeom prst="rect">
            <a:avLst/>
          </a:prstGeom>
          <a:noFill/>
          <a:ln/>
        </p:spPr>
        <p:txBody>
          <a:bodyPr wrap="square" lIns="25400" tIns="25400" rIns="25400" bIns="25400" rtlCol="0" anchor="t">
            <a:normAutofit/>
          </a:bodyPr>
          <a:lstStyle/>
          <a:p>
            <a:pPr algn="l" indent="0" marL="0">
              <a:lnSpc>
                <a:spcPct val="135000"/>
              </a:lnSpc>
              <a:buNone/>
            </a:pPr>
            <a:r>
              <a:rPr lang="en-US" sz="1800" dirty="0">
                <a:solidFill>
                  <a:srgbClr val="0E3A1E"/>
                </a:solidFill>
                <a:latin typeface="Arial" pitchFamily="34" charset="0"/>
                <a:ea typeface="Arial" pitchFamily="34" charset="-122"/>
                <a:cs typeface="Arial" pitchFamily="34" charset="-120"/>
              </a:rPr>
              <a:t>Water depth changes </a:t>
            </a:r>
            <a:pPr algn="l" indent="0" marL="0">
              <a:lnSpc>
                <a:spcPct val="135000"/>
              </a:lnSpc>
              <a:buNone/>
            </a:pPr>
            <a:r>
              <a:rPr lang="en-US" sz="1800" b="1" dirty="0">
                <a:solidFill>
                  <a:srgbClr val="1E8449"/>
                </a:solidFill>
                <a:latin typeface="Arial" pitchFamily="34" charset="0"/>
                <a:ea typeface="Arial" pitchFamily="34" charset="-122"/>
                <a:cs typeface="Arial" pitchFamily="34" charset="-120"/>
              </a:rPr>
              <a:t>daily </a:t>
            </a:r>
            <a:pPr algn="l" indent="0" marL="0">
              <a:lnSpc>
                <a:spcPct val="135000"/>
              </a:lnSpc>
              <a:buNone/>
            </a:pPr>
            <a:r>
              <a:rPr lang="en-US" sz="1800" dirty="0">
                <a:solidFill>
                  <a:srgbClr val="0E3A1E"/>
                </a:solidFill>
                <a:latin typeface="Arial" pitchFamily="34" charset="0"/>
                <a:ea typeface="Arial" pitchFamily="34" charset="-122"/>
                <a:cs typeface="Arial" pitchFamily="34" charset="-120"/>
              </a:rPr>
              <a:t>— tides, drought, sandbank movement. Someone who jumped safely yesterday could hit the bottom today.</a:t>
            </a:r>
            <a:endParaRPr lang="en-US" sz="1800" dirty="0"/>
          </a:p>
        </p:txBody>
      </p:sp>
      <p:sp>
        <p:nvSpPr>
          <p:cNvPr id="14" name="Shape 12"/>
          <p:cNvSpPr/>
          <p:nvPr/>
        </p:nvSpPr>
        <p:spPr>
          <a:xfrm>
            <a:off x="9258300" y="2623096"/>
            <a:ext cx="7981950" cy="3298478"/>
          </a:xfrm>
          <a:prstGeom prst="roundRect">
            <a:avLst>
              <a:gd name="adj" fmla="val 5198"/>
            </a:avLst>
          </a:prstGeom>
          <a:solidFill>
            <a:srgbClr val="FFFFFF"/>
          </a:solidFill>
          <a:ln w="9525">
            <a:solidFill>
              <a:srgbClr val="CDD9E0"/>
            </a:solidFill>
            <a:prstDash val="solid"/>
          </a:ln>
        </p:spPr>
        <p:txBody>
          <a:bodyPr/>
          <a:p/>
        </p:txBody>
      </p:sp>
      <p:sp>
        <p:nvSpPr>
          <p:cNvPr id="15" name="Shape 13"/>
          <p:cNvSpPr/>
          <p:nvPr/>
        </p:nvSpPr>
        <p:spPr>
          <a:xfrm>
            <a:off x="9267825" y="2632621"/>
            <a:ext cx="7962900" cy="756196"/>
          </a:xfrm>
          <a:prstGeom prst="rect">
            <a:avLst/>
          </a:prstGeom>
          <a:solidFill>
            <a:srgbClr val="FBE9E9"/>
          </a:solidFill>
          <a:ln/>
        </p:spPr>
        <p:txBody>
          <a:bodyPr/>
          <a:p/>
        </p:txBody>
      </p:sp>
      <p:sp>
        <p:nvSpPr>
          <p:cNvPr id="16" name="Shape 14"/>
          <p:cNvSpPr/>
          <p:nvPr/>
        </p:nvSpPr>
        <p:spPr>
          <a:xfrm>
            <a:off x="9267825" y="3379291"/>
            <a:ext cx="7962900" cy="9525"/>
          </a:xfrm>
          <a:prstGeom prst="rect">
            <a:avLst/>
          </a:prstGeom>
          <a:solidFill>
            <a:srgbClr val="F1C5C5"/>
          </a:solidFill>
          <a:ln/>
        </p:spPr>
        <p:txBody>
          <a:bodyPr/>
          <a:p/>
        </p:txBody>
      </p:sp>
      <p:sp>
        <p:nvSpPr>
          <p:cNvPr id="17" name="Shape 15"/>
          <p:cNvSpPr/>
          <p:nvPr/>
        </p:nvSpPr>
        <p:spPr>
          <a:xfrm>
            <a:off x="9534525" y="2880271"/>
            <a:ext cx="670620" cy="289471"/>
          </a:xfrm>
          <a:prstGeom prst="roundRect">
            <a:avLst>
              <a:gd name="adj" fmla="val 26324"/>
            </a:avLst>
          </a:prstGeom>
          <a:solidFill>
            <a:srgbClr val="C0392B"/>
          </a:solidFill>
          <a:ln/>
        </p:spPr>
        <p:txBody>
          <a:bodyPr/>
          <a:p/>
        </p:txBody>
      </p:sp>
      <p:sp>
        <p:nvSpPr>
          <p:cNvPr id="18" name="Text 16"/>
          <p:cNvSpPr/>
          <p:nvPr/>
        </p:nvSpPr>
        <p:spPr>
          <a:xfrm>
            <a:off x="9648825" y="2918371"/>
            <a:ext cx="518220" cy="251371"/>
          </a:xfrm>
          <a:prstGeom prst="rect">
            <a:avLst/>
          </a:prstGeom>
          <a:noFill/>
          <a:ln/>
        </p:spPr>
        <p:txBody>
          <a:bodyPr wrap="square" lIns="25400" tIns="25400" rIns="25400" bIns="25400" rtlCol="0" anchor="t">
            <a:normAutofit/>
          </a:bodyPr>
          <a:lstStyle/>
          <a:p>
            <a:pPr algn="l" indent="0" marL="0">
              <a:lnSpc>
                <a:spcPct val="140000"/>
              </a:lnSpc>
              <a:buNone/>
            </a:pPr>
            <a:r>
              <a:rPr lang="en-US" sz="1200" spc="150" kern="0" dirty="0">
                <a:solidFill>
                  <a:srgbClr val="FFFFFF"/>
                </a:solidFill>
                <a:latin typeface="Courier New" pitchFamily="34" charset="0"/>
                <a:ea typeface="Courier New" pitchFamily="34" charset="-122"/>
                <a:cs typeface="Courier New" pitchFamily="34" charset="-120"/>
              </a:rPr>
              <a:t>MYTH</a:t>
            </a:r>
            <a:endParaRPr lang="en-US" sz="1200" dirty="0"/>
          </a:p>
        </p:txBody>
      </p:sp>
      <p:sp>
        <p:nvSpPr>
          <p:cNvPr id="19" name="Text 17"/>
          <p:cNvSpPr/>
          <p:nvPr/>
        </p:nvSpPr>
        <p:spPr>
          <a:xfrm>
            <a:off x="10357545" y="2842171"/>
            <a:ext cx="3652205" cy="335161"/>
          </a:xfrm>
          <a:prstGeom prst="rect">
            <a:avLst/>
          </a:prstGeom>
          <a:noFill/>
          <a:ln/>
        </p:spPr>
        <p:txBody>
          <a:bodyPr wrap="square" lIns="25400" tIns="25400" rIns="25400" bIns="25400" rtlCol="0" anchor="t">
            <a:normAutofit/>
          </a:bodyPr>
          <a:lstStyle/>
          <a:p>
            <a:pPr algn="l" indent="0" marL="0">
              <a:lnSpc>
                <a:spcPct val="130000"/>
              </a:lnSpc>
              <a:buNone/>
            </a:pPr>
            <a:r>
              <a:rPr lang="en-US" sz="1800" b="1" i="1" dirty="0">
                <a:solidFill>
                  <a:srgbClr val="5A1010"/>
                </a:solidFill>
                <a:latin typeface="Arial" pitchFamily="34" charset="0"/>
                <a:ea typeface="Arial" pitchFamily="34" charset="-122"/>
                <a:cs typeface="Arial" pitchFamily="34" charset="-120"/>
              </a:rPr>
              <a:t>"Clear water means deep water."</a:t>
            </a:r>
            <a:endParaRPr lang="en-US" sz="1800" dirty="0"/>
          </a:p>
        </p:txBody>
      </p:sp>
      <p:sp>
        <p:nvSpPr>
          <p:cNvPr id="20" name="Shape 18"/>
          <p:cNvSpPr/>
          <p:nvPr/>
        </p:nvSpPr>
        <p:spPr>
          <a:xfrm>
            <a:off x="9267825" y="3388816"/>
            <a:ext cx="7962900" cy="2523232"/>
          </a:xfrm>
          <a:prstGeom prst="rect">
            <a:avLst/>
          </a:prstGeom>
          <a:solidFill>
            <a:srgbClr val="EAF6EE"/>
          </a:solidFill>
          <a:ln/>
        </p:spPr>
        <p:txBody>
          <a:bodyPr/>
          <a:p/>
        </p:txBody>
      </p:sp>
      <p:sp>
        <p:nvSpPr>
          <p:cNvPr id="21" name="Shape 19"/>
          <p:cNvSpPr/>
          <p:nvPr/>
        </p:nvSpPr>
        <p:spPr>
          <a:xfrm>
            <a:off x="9534525" y="3636466"/>
            <a:ext cx="670620" cy="289471"/>
          </a:xfrm>
          <a:prstGeom prst="roundRect">
            <a:avLst>
              <a:gd name="adj" fmla="val 26324"/>
            </a:avLst>
          </a:prstGeom>
          <a:solidFill>
            <a:srgbClr val="1E8449"/>
          </a:solidFill>
          <a:ln/>
        </p:spPr>
        <p:txBody>
          <a:bodyPr/>
          <a:p/>
        </p:txBody>
      </p:sp>
      <p:sp>
        <p:nvSpPr>
          <p:cNvPr id="22" name="Text 20"/>
          <p:cNvSpPr/>
          <p:nvPr/>
        </p:nvSpPr>
        <p:spPr>
          <a:xfrm>
            <a:off x="9648825" y="3674566"/>
            <a:ext cx="518220" cy="251371"/>
          </a:xfrm>
          <a:prstGeom prst="rect">
            <a:avLst/>
          </a:prstGeom>
          <a:noFill/>
          <a:ln/>
        </p:spPr>
        <p:txBody>
          <a:bodyPr wrap="square" lIns="25400" tIns="25400" rIns="25400" bIns="25400" rtlCol="0" anchor="t">
            <a:normAutofit/>
          </a:bodyPr>
          <a:lstStyle/>
          <a:p>
            <a:pPr algn="l" indent="0" marL="0">
              <a:lnSpc>
                <a:spcPct val="140000"/>
              </a:lnSpc>
              <a:buNone/>
            </a:pPr>
            <a:r>
              <a:rPr lang="en-US" sz="1200" spc="150" kern="0" dirty="0">
                <a:solidFill>
                  <a:srgbClr val="FFFFFF"/>
                </a:solidFill>
                <a:latin typeface="Courier New" pitchFamily="34" charset="0"/>
                <a:ea typeface="Courier New" pitchFamily="34" charset="-122"/>
                <a:cs typeface="Courier New" pitchFamily="34" charset="-120"/>
              </a:rPr>
              <a:t>FACT</a:t>
            </a:r>
            <a:endParaRPr lang="en-US" sz="1200" dirty="0"/>
          </a:p>
        </p:txBody>
      </p:sp>
      <p:sp>
        <p:nvSpPr>
          <p:cNvPr id="23" name="Text 21"/>
          <p:cNvSpPr/>
          <p:nvPr/>
        </p:nvSpPr>
        <p:spPr>
          <a:xfrm>
            <a:off x="10357545" y="3598366"/>
            <a:ext cx="6804675" cy="963662"/>
          </a:xfrm>
          <a:prstGeom prst="rect">
            <a:avLst/>
          </a:prstGeom>
          <a:noFill/>
          <a:ln/>
        </p:spPr>
        <p:txBody>
          <a:bodyPr wrap="square" lIns="25400" tIns="25400" rIns="25400" bIns="25400" rtlCol="0" anchor="t">
            <a:normAutofit/>
          </a:bodyPr>
          <a:lstStyle/>
          <a:p>
            <a:pPr algn="l" indent="0" marL="0">
              <a:lnSpc>
                <a:spcPct val="135000"/>
              </a:lnSpc>
              <a:buNone/>
            </a:pPr>
            <a:r>
              <a:rPr lang="en-US" sz="1800" dirty="0">
                <a:solidFill>
                  <a:srgbClr val="0E3A1E"/>
                </a:solidFill>
                <a:latin typeface="Arial" pitchFamily="34" charset="0"/>
                <a:ea typeface="Arial" pitchFamily="34" charset="-122"/>
                <a:cs typeface="Arial" pitchFamily="34" charset="-120"/>
              </a:rPr>
              <a:t>Clarity tells you nothing about depth. </a:t>
            </a:r>
            <a:pPr algn="l" indent="0" marL="0">
              <a:lnSpc>
                <a:spcPct val="135000"/>
              </a:lnSpc>
              <a:buNone/>
            </a:pPr>
            <a:r>
              <a:rPr lang="en-US" sz="1800" b="1" dirty="0">
                <a:solidFill>
                  <a:srgbClr val="1E8449"/>
                </a:solidFill>
                <a:latin typeface="Arial" pitchFamily="34" charset="0"/>
                <a:ea typeface="Arial" pitchFamily="34" charset="-122"/>
                <a:cs typeface="Arial" pitchFamily="34" charset="-120"/>
              </a:rPr>
              <a:t>Dangerously shallow water can be crystal clear </a:t>
            </a:r>
            <a:pPr algn="l" indent="0" marL="0">
              <a:lnSpc>
                <a:spcPct val="135000"/>
              </a:lnSpc>
              <a:buNone/>
            </a:pPr>
            <a:r>
              <a:rPr lang="en-US" sz="1800" dirty="0">
                <a:solidFill>
                  <a:srgbClr val="0E3A1E"/>
                </a:solidFill>
                <a:latin typeface="Arial" pitchFamily="34" charset="0"/>
                <a:ea typeface="Arial" pitchFamily="34" charset="-122"/>
                <a:cs typeface="Arial" pitchFamily="34" charset="-120"/>
              </a:rPr>
              <a:t>— especially in rivers and beach channels.</a:t>
            </a:r>
            <a:endParaRPr lang="en-US" sz="1800" dirty="0"/>
          </a:p>
        </p:txBody>
      </p:sp>
      <p:sp>
        <p:nvSpPr>
          <p:cNvPr id="24" name="Shape 22"/>
          <p:cNvSpPr/>
          <p:nvPr/>
        </p:nvSpPr>
        <p:spPr>
          <a:xfrm>
            <a:off x="1047750" y="6150173"/>
            <a:ext cx="7981950" cy="3298627"/>
          </a:xfrm>
          <a:prstGeom prst="roundRect">
            <a:avLst>
              <a:gd name="adj" fmla="val 5198"/>
            </a:avLst>
          </a:prstGeom>
          <a:solidFill>
            <a:srgbClr val="FFFFFF"/>
          </a:solidFill>
          <a:ln w="9525">
            <a:solidFill>
              <a:srgbClr val="CDD9E0"/>
            </a:solidFill>
            <a:prstDash val="solid"/>
          </a:ln>
        </p:spPr>
        <p:txBody>
          <a:bodyPr/>
          <a:p/>
        </p:txBody>
      </p:sp>
      <p:sp>
        <p:nvSpPr>
          <p:cNvPr id="25" name="Shape 23"/>
          <p:cNvSpPr/>
          <p:nvPr/>
        </p:nvSpPr>
        <p:spPr>
          <a:xfrm>
            <a:off x="1057275" y="6159698"/>
            <a:ext cx="7962900" cy="756196"/>
          </a:xfrm>
          <a:prstGeom prst="rect">
            <a:avLst/>
          </a:prstGeom>
          <a:solidFill>
            <a:srgbClr val="FBE9E9"/>
          </a:solidFill>
          <a:ln/>
        </p:spPr>
        <p:txBody>
          <a:bodyPr/>
          <a:p/>
        </p:txBody>
      </p:sp>
      <p:sp>
        <p:nvSpPr>
          <p:cNvPr id="26" name="Shape 24"/>
          <p:cNvSpPr/>
          <p:nvPr/>
        </p:nvSpPr>
        <p:spPr>
          <a:xfrm>
            <a:off x="1057275" y="6906369"/>
            <a:ext cx="7962900" cy="9525"/>
          </a:xfrm>
          <a:prstGeom prst="rect">
            <a:avLst/>
          </a:prstGeom>
          <a:solidFill>
            <a:srgbClr val="F1C5C5"/>
          </a:solidFill>
          <a:ln/>
        </p:spPr>
        <p:txBody>
          <a:bodyPr/>
          <a:p/>
        </p:txBody>
      </p:sp>
      <p:sp>
        <p:nvSpPr>
          <p:cNvPr id="27" name="Shape 25"/>
          <p:cNvSpPr/>
          <p:nvPr/>
        </p:nvSpPr>
        <p:spPr>
          <a:xfrm>
            <a:off x="1323975" y="6407348"/>
            <a:ext cx="670620" cy="289471"/>
          </a:xfrm>
          <a:prstGeom prst="roundRect">
            <a:avLst>
              <a:gd name="adj" fmla="val 26324"/>
            </a:avLst>
          </a:prstGeom>
          <a:solidFill>
            <a:srgbClr val="C0392B"/>
          </a:solidFill>
          <a:ln/>
        </p:spPr>
        <p:txBody>
          <a:bodyPr/>
          <a:p/>
        </p:txBody>
      </p:sp>
      <p:sp>
        <p:nvSpPr>
          <p:cNvPr id="28" name="Text 26"/>
          <p:cNvSpPr/>
          <p:nvPr/>
        </p:nvSpPr>
        <p:spPr>
          <a:xfrm>
            <a:off x="1438275" y="6445448"/>
            <a:ext cx="518220" cy="251371"/>
          </a:xfrm>
          <a:prstGeom prst="rect">
            <a:avLst/>
          </a:prstGeom>
          <a:noFill/>
          <a:ln/>
        </p:spPr>
        <p:txBody>
          <a:bodyPr wrap="square" lIns="25400" tIns="25400" rIns="25400" bIns="25400" rtlCol="0" anchor="t">
            <a:normAutofit/>
          </a:bodyPr>
          <a:lstStyle/>
          <a:p>
            <a:pPr algn="l" indent="0" marL="0">
              <a:lnSpc>
                <a:spcPct val="140000"/>
              </a:lnSpc>
              <a:buNone/>
            </a:pPr>
            <a:r>
              <a:rPr lang="en-US" sz="1200" spc="150" kern="0" dirty="0">
                <a:solidFill>
                  <a:srgbClr val="FFFFFF"/>
                </a:solidFill>
                <a:latin typeface="Courier New" pitchFamily="34" charset="0"/>
                <a:ea typeface="Courier New" pitchFamily="34" charset="-122"/>
                <a:cs typeface="Courier New" pitchFamily="34" charset="-120"/>
              </a:rPr>
              <a:t>MYTH</a:t>
            </a:r>
            <a:endParaRPr lang="en-US" sz="1200" dirty="0"/>
          </a:p>
        </p:txBody>
      </p:sp>
      <p:sp>
        <p:nvSpPr>
          <p:cNvPr id="29" name="Text 27"/>
          <p:cNvSpPr/>
          <p:nvPr/>
        </p:nvSpPr>
        <p:spPr>
          <a:xfrm>
            <a:off x="2146995" y="6369248"/>
            <a:ext cx="4213717" cy="335161"/>
          </a:xfrm>
          <a:prstGeom prst="rect">
            <a:avLst/>
          </a:prstGeom>
          <a:noFill/>
          <a:ln/>
        </p:spPr>
        <p:txBody>
          <a:bodyPr wrap="square" lIns="25400" tIns="25400" rIns="25400" bIns="25400" rtlCol="0" anchor="t">
            <a:normAutofit/>
          </a:bodyPr>
          <a:lstStyle/>
          <a:p>
            <a:pPr algn="l" indent="0" marL="0">
              <a:lnSpc>
                <a:spcPct val="130000"/>
              </a:lnSpc>
              <a:buNone/>
            </a:pPr>
            <a:r>
              <a:rPr lang="en-US" sz="1800" b="1" i="1" dirty="0">
                <a:solidFill>
                  <a:srgbClr val="5A1010"/>
                </a:solidFill>
                <a:latin typeface="Arial" pitchFamily="34" charset="0"/>
                <a:ea typeface="Arial" pitchFamily="34" charset="-122"/>
                <a:cs typeface="Arial" pitchFamily="34" charset="-120"/>
              </a:rPr>
              <a:t>"Only bad swimmers get hurt diving."</a:t>
            </a:r>
            <a:endParaRPr lang="en-US" sz="1800" dirty="0"/>
          </a:p>
        </p:txBody>
      </p:sp>
      <p:sp>
        <p:nvSpPr>
          <p:cNvPr id="30" name="Shape 28"/>
          <p:cNvSpPr/>
          <p:nvPr/>
        </p:nvSpPr>
        <p:spPr>
          <a:xfrm>
            <a:off x="1057275" y="6915894"/>
            <a:ext cx="7962900" cy="2523381"/>
          </a:xfrm>
          <a:prstGeom prst="rect">
            <a:avLst/>
          </a:prstGeom>
          <a:solidFill>
            <a:srgbClr val="EAF6EE"/>
          </a:solidFill>
          <a:ln/>
        </p:spPr>
        <p:txBody>
          <a:bodyPr/>
          <a:p/>
        </p:txBody>
      </p:sp>
      <p:sp>
        <p:nvSpPr>
          <p:cNvPr id="31" name="Shape 29"/>
          <p:cNvSpPr/>
          <p:nvPr/>
        </p:nvSpPr>
        <p:spPr>
          <a:xfrm>
            <a:off x="1323975" y="7163544"/>
            <a:ext cx="670620" cy="289471"/>
          </a:xfrm>
          <a:prstGeom prst="roundRect">
            <a:avLst>
              <a:gd name="adj" fmla="val 26324"/>
            </a:avLst>
          </a:prstGeom>
          <a:solidFill>
            <a:srgbClr val="1E8449"/>
          </a:solidFill>
          <a:ln/>
        </p:spPr>
        <p:txBody>
          <a:bodyPr/>
          <a:p/>
        </p:txBody>
      </p:sp>
      <p:sp>
        <p:nvSpPr>
          <p:cNvPr id="32" name="Text 30"/>
          <p:cNvSpPr/>
          <p:nvPr/>
        </p:nvSpPr>
        <p:spPr>
          <a:xfrm>
            <a:off x="1438275" y="7201644"/>
            <a:ext cx="518220" cy="251371"/>
          </a:xfrm>
          <a:prstGeom prst="rect">
            <a:avLst/>
          </a:prstGeom>
          <a:noFill/>
          <a:ln/>
        </p:spPr>
        <p:txBody>
          <a:bodyPr wrap="square" lIns="25400" tIns="25400" rIns="25400" bIns="25400" rtlCol="0" anchor="t">
            <a:normAutofit/>
          </a:bodyPr>
          <a:lstStyle/>
          <a:p>
            <a:pPr algn="l" indent="0" marL="0">
              <a:lnSpc>
                <a:spcPct val="140000"/>
              </a:lnSpc>
              <a:buNone/>
            </a:pPr>
            <a:r>
              <a:rPr lang="en-US" sz="1200" spc="150" kern="0" dirty="0">
                <a:solidFill>
                  <a:srgbClr val="FFFFFF"/>
                </a:solidFill>
                <a:latin typeface="Courier New" pitchFamily="34" charset="0"/>
                <a:ea typeface="Courier New" pitchFamily="34" charset="-122"/>
                <a:cs typeface="Courier New" pitchFamily="34" charset="-120"/>
              </a:rPr>
              <a:t>FACT</a:t>
            </a:r>
            <a:endParaRPr lang="en-US" sz="1200" dirty="0"/>
          </a:p>
        </p:txBody>
      </p:sp>
      <p:sp>
        <p:nvSpPr>
          <p:cNvPr id="33" name="Text 31"/>
          <p:cNvSpPr/>
          <p:nvPr/>
        </p:nvSpPr>
        <p:spPr>
          <a:xfrm>
            <a:off x="2146995" y="7125444"/>
            <a:ext cx="6804675" cy="655141"/>
          </a:xfrm>
          <a:prstGeom prst="rect">
            <a:avLst/>
          </a:prstGeom>
          <a:noFill/>
          <a:ln/>
        </p:spPr>
        <p:txBody>
          <a:bodyPr wrap="square" lIns="25400" tIns="25400" rIns="25400" bIns="25400" rtlCol="0" anchor="t">
            <a:normAutofit/>
          </a:bodyPr>
          <a:lstStyle/>
          <a:p>
            <a:pPr algn="l" indent="0" marL="0">
              <a:lnSpc>
                <a:spcPct val="135000"/>
              </a:lnSpc>
              <a:buNone/>
            </a:pPr>
            <a:r>
              <a:rPr lang="en-US" sz="1800" dirty="0">
                <a:solidFill>
                  <a:srgbClr val="0E3A1E"/>
                </a:solidFill>
                <a:latin typeface="Arial" pitchFamily="34" charset="0"/>
                <a:ea typeface="Arial" pitchFamily="34" charset="-122"/>
                <a:cs typeface="Arial" pitchFamily="34" charset="-120"/>
              </a:rPr>
              <a:t>A cervical spine fracture happens </a:t>
            </a:r>
            <a:pPr algn="l" indent="0" marL="0">
              <a:lnSpc>
                <a:spcPct val="135000"/>
              </a:lnSpc>
              <a:buNone/>
            </a:pPr>
            <a:r>
              <a:rPr lang="en-US" sz="1800" b="1" dirty="0">
                <a:solidFill>
                  <a:srgbClr val="1E8449"/>
                </a:solidFill>
                <a:latin typeface="Arial" pitchFamily="34" charset="0"/>
                <a:ea typeface="Arial" pitchFamily="34" charset="-122"/>
                <a:cs typeface="Arial" pitchFamily="34" charset="-120"/>
              </a:rPr>
              <a:t>on impact </a:t>
            </a:r>
            <a:pPr algn="l" indent="0" marL="0">
              <a:lnSpc>
                <a:spcPct val="135000"/>
              </a:lnSpc>
              <a:buNone/>
            </a:pPr>
            <a:r>
              <a:rPr lang="en-US" sz="1800" dirty="0">
                <a:solidFill>
                  <a:srgbClr val="0E3A1E"/>
                </a:solidFill>
                <a:latin typeface="Arial" pitchFamily="34" charset="0"/>
                <a:ea typeface="Arial" pitchFamily="34" charset="-122"/>
                <a:cs typeface="Arial" pitchFamily="34" charset="-120"/>
              </a:rPr>
              <a:t>— before swimming ability is relevant. Strong swimmers suffer the same injuries.</a:t>
            </a:r>
            <a:endParaRPr lang="en-US" sz="1800" dirty="0"/>
          </a:p>
        </p:txBody>
      </p:sp>
      <p:sp>
        <p:nvSpPr>
          <p:cNvPr id="34" name="Shape 32"/>
          <p:cNvSpPr/>
          <p:nvPr/>
        </p:nvSpPr>
        <p:spPr>
          <a:xfrm>
            <a:off x="9258300" y="6150173"/>
            <a:ext cx="7981950" cy="3298627"/>
          </a:xfrm>
          <a:prstGeom prst="roundRect">
            <a:avLst>
              <a:gd name="adj" fmla="val 5198"/>
            </a:avLst>
          </a:prstGeom>
          <a:solidFill>
            <a:srgbClr val="FFFFFF"/>
          </a:solidFill>
          <a:ln w="9525">
            <a:solidFill>
              <a:srgbClr val="CDD9E0"/>
            </a:solidFill>
            <a:prstDash val="solid"/>
          </a:ln>
        </p:spPr>
        <p:txBody>
          <a:bodyPr/>
          <a:p/>
        </p:txBody>
      </p:sp>
      <p:sp>
        <p:nvSpPr>
          <p:cNvPr id="35" name="Shape 33"/>
          <p:cNvSpPr/>
          <p:nvPr/>
        </p:nvSpPr>
        <p:spPr>
          <a:xfrm>
            <a:off x="9267825" y="6159698"/>
            <a:ext cx="7962900" cy="756196"/>
          </a:xfrm>
          <a:prstGeom prst="rect">
            <a:avLst/>
          </a:prstGeom>
          <a:solidFill>
            <a:srgbClr val="FBE9E9"/>
          </a:solidFill>
          <a:ln/>
        </p:spPr>
        <p:txBody>
          <a:bodyPr/>
          <a:p/>
        </p:txBody>
      </p:sp>
      <p:sp>
        <p:nvSpPr>
          <p:cNvPr id="36" name="Shape 34"/>
          <p:cNvSpPr/>
          <p:nvPr/>
        </p:nvSpPr>
        <p:spPr>
          <a:xfrm>
            <a:off x="9267825" y="6906369"/>
            <a:ext cx="7962900" cy="9525"/>
          </a:xfrm>
          <a:prstGeom prst="rect">
            <a:avLst/>
          </a:prstGeom>
          <a:solidFill>
            <a:srgbClr val="F1C5C5"/>
          </a:solidFill>
          <a:ln/>
        </p:spPr>
        <p:txBody>
          <a:bodyPr/>
          <a:p/>
        </p:txBody>
      </p:sp>
      <p:sp>
        <p:nvSpPr>
          <p:cNvPr id="37" name="Shape 35"/>
          <p:cNvSpPr/>
          <p:nvPr/>
        </p:nvSpPr>
        <p:spPr>
          <a:xfrm>
            <a:off x="9534525" y="6407348"/>
            <a:ext cx="670620" cy="289471"/>
          </a:xfrm>
          <a:prstGeom prst="roundRect">
            <a:avLst>
              <a:gd name="adj" fmla="val 26324"/>
            </a:avLst>
          </a:prstGeom>
          <a:solidFill>
            <a:srgbClr val="C0392B"/>
          </a:solidFill>
          <a:ln/>
        </p:spPr>
        <p:txBody>
          <a:bodyPr/>
          <a:p/>
        </p:txBody>
      </p:sp>
      <p:sp>
        <p:nvSpPr>
          <p:cNvPr id="38" name="Text 36"/>
          <p:cNvSpPr/>
          <p:nvPr/>
        </p:nvSpPr>
        <p:spPr>
          <a:xfrm>
            <a:off x="9648825" y="6445448"/>
            <a:ext cx="518220" cy="251371"/>
          </a:xfrm>
          <a:prstGeom prst="rect">
            <a:avLst/>
          </a:prstGeom>
          <a:noFill/>
          <a:ln/>
        </p:spPr>
        <p:txBody>
          <a:bodyPr wrap="square" lIns="25400" tIns="25400" rIns="25400" bIns="25400" rtlCol="0" anchor="t">
            <a:normAutofit/>
          </a:bodyPr>
          <a:lstStyle/>
          <a:p>
            <a:pPr algn="l" indent="0" marL="0">
              <a:lnSpc>
                <a:spcPct val="140000"/>
              </a:lnSpc>
              <a:buNone/>
            </a:pPr>
            <a:r>
              <a:rPr lang="en-US" sz="1200" spc="150" kern="0" dirty="0">
                <a:solidFill>
                  <a:srgbClr val="FFFFFF"/>
                </a:solidFill>
                <a:latin typeface="Courier New" pitchFamily="34" charset="0"/>
                <a:ea typeface="Courier New" pitchFamily="34" charset="-122"/>
                <a:cs typeface="Courier New" pitchFamily="34" charset="-120"/>
              </a:rPr>
              <a:t>MYTH</a:t>
            </a:r>
            <a:endParaRPr lang="en-US" sz="1200" dirty="0"/>
          </a:p>
        </p:txBody>
      </p:sp>
      <p:sp>
        <p:nvSpPr>
          <p:cNvPr id="39" name="Text 37"/>
          <p:cNvSpPr/>
          <p:nvPr/>
        </p:nvSpPr>
        <p:spPr>
          <a:xfrm>
            <a:off x="10357545" y="6369248"/>
            <a:ext cx="5617421" cy="335161"/>
          </a:xfrm>
          <a:prstGeom prst="rect">
            <a:avLst/>
          </a:prstGeom>
          <a:noFill/>
          <a:ln/>
        </p:spPr>
        <p:txBody>
          <a:bodyPr wrap="square" lIns="25400" tIns="25400" rIns="25400" bIns="25400" rtlCol="0" anchor="t">
            <a:normAutofit/>
          </a:bodyPr>
          <a:lstStyle/>
          <a:p>
            <a:pPr algn="l" indent="0" marL="0">
              <a:lnSpc>
                <a:spcPct val="130000"/>
              </a:lnSpc>
              <a:buNone/>
            </a:pPr>
            <a:r>
              <a:rPr lang="en-US" sz="1800" b="1" i="1" dirty="0">
                <a:solidFill>
                  <a:srgbClr val="5A1010"/>
                </a:solidFill>
                <a:latin typeface="Arial" pitchFamily="34" charset="0"/>
                <a:ea typeface="Arial" pitchFamily="34" charset="-122"/>
                <a:cs typeface="Arial" pitchFamily="34" charset="-120"/>
              </a:rPr>
              <a:t>"Diving injuries are rare — it won't happen to me."</a:t>
            </a:r>
            <a:endParaRPr lang="en-US" sz="1800" dirty="0"/>
          </a:p>
        </p:txBody>
      </p:sp>
      <p:sp>
        <p:nvSpPr>
          <p:cNvPr id="40" name="Shape 38"/>
          <p:cNvSpPr/>
          <p:nvPr/>
        </p:nvSpPr>
        <p:spPr>
          <a:xfrm>
            <a:off x="9267825" y="6915894"/>
            <a:ext cx="7962900" cy="2523381"/>
          </a:xfrm>
          <a:prstGeom prst="rect">
            <a:avLst/>
          </a:prstGeom>
          <a:solidFill>
            <a:srgbClr val="EAF6EE"/>
          </a:solidFill>
          <a:ln/>
        </p:spPr>
        <p:txBody>
          <a:bodyPr/>
          <a:p/>
        </p:txBody>
      </p:sp>
      <p:sp>
        <p:nvSpPr>
          <p:cNvPr id="41" name="Shape 39"/>
          <p:cNvSpPr/>
          <p:nvPr/>
        </p:nvSpPr>
        <p:spPr>
          <a:xfrm>
            <a:off x="9534525" y="7163544"/>
            <a:ext cx="670620" cy="289471"/>
          </a:xfrm>
          <a:prstGeom prst="roundRect">
            <a:avLst>
              <a:gd name="adj" fmla="val 26324"/>
            </a:avLst>
          </a:prstGeom>
          <a:solidFill>
            <a:srgbClr val="1E8449"/>
          </a:solidFill>
          <a:ln/>
        </p:spPr>
        <p:txBody>
          <a:bodyPr/>
          <a:p/>
        </p:txBody>
      </p:sp>
      <p:sp>
        <p:nvSpPr>
          <p:cNvPr id="42" name="Text 40"/>
          <p:cNvSpPr/>
          <p:nvPr/>
        </p:nvSpPr>
        <p:spPr>
          <a:xfrm>
            <a:off x="9648825" y="7201644"/>
            <a:ext cx="518220" cy="251371"/>
          </a:xfrm>
          <a:prstGeom prst="rect">
            <a:avLst/>
          </a:prstGeom>
          <a:noFill/>
          <a:ln/>
        </p:spPr>
        <p:txBody>
          <a:bodyPr wrap="square" lIns="25400" tIns="25400" rIns="25400" bIns="25400" rtlCol="0" anchor="t">
            <a:normAutofit/>
          </a:bodyPr>
          <a:lstStyle/>
          <a:p>
            <a:pPr algn="l" indent="0" marL="0">
              <a:lnSpc>
                <a:spcPct val="140000"/>
              </a:lnSpc>
              <a:buNone/>
            </a:pPr>
            <a:r>
              <a:rPr lang="en-US" sz="1200" spc="150" kern="0" dirty="0">
                <a:solidFill>
                  <a:srgbClr val="FFFFFF"/>
                </a:solidFill>
                <a:latin typeface="Courier New" pitchFamily="34" charset="0"/>
                <a:ea typeface="Courier New" pitchFamily="34" charset="-122"/>
                <a:cs typeface="Courier New" pitchFamily="34" charset="-120"/>
              </a:rPr>
              <a:t>FACT</a:t>
            </a:r>
            <a:endParaRPr lang="en-US" sz="1200" dirty="0"/>
          </a:p>
        </p:txBody>
      </p:sp>
      <p:sp>
        <p:nvSpPr>
          <p:cNvPr id="43" name="Text 41"/>
          <p:cNvSpPr/>
          <p:nvPr/>
        </p:nvSpPr>
        <p:spPr>
          <a:xfrm>
            <a:off x="10357545" y="7125444"/>
            <a:ext cx="6804675" cy="963662"/>
          </a:xfrm>
          <a:prstGeom prst="rect">
            <a:avLst/>
          </a:prstGeom>
          <a:noFill/>
          <a:ln/>
        </p:spPr>
        <p:txBody>
          <a:bodyPr wrap="square" lIns="25400" tIns="25400" rIns="25400" bIns="25400" rtlCol="0" anchor="t">
            <a:normAutofit/>
          </a:bodyPr>
          <a:lstStyle/>
          <a:p>
            <a:pPr algn="l" indent="0" marL="0">
              <a:lnSpc>
                <a:spcPct val="135000"/>
              </a:lnSpc>
              <a:buNone/>
            </a:pPr>
            <a:r>
              <a:rPr lang="en-US" sz="1800" dirty="0">
                <a:solidFill>
                  <a:srgbClr val="0E3A1E"/>
                </a:solidFill>
                <a:latin typeface="Arial" pitchFamily="34" charset="0"/>
                <a:ea typeface="Arial" pitchFamily="34" charset="-122"/>
                <a:cs typeface="Arial" pitchFamily="34" charset="-120"/>
              </a:rPr>
              <a:t>Unsafe diving accounts for around </a:t>
            </a:r>
            <a:pPr algn="l" indent="0" marL="0">
              <a:lnSpc>
                <a:spcPct val="135000"/>
              </a:lnSpc>
              <a:buNone/>
            </a:pPr>
            <a:r>
              <a:rPr lang="en-US" sz="1800" b="1" dirty="0">
                <a:solidFill>
                  <a:srgbClr val="1E8449"/>
                </a:solidFill>
                <a:latin typeface="Arial" pitchFamily="34" charset="0"/>
                <a:ea typeface="Arial" pitchFamily="34" charset="-122"/>
                <a:cs typeface="Arial" pitchFamily="34" charset="-120"/>
              </a:rPr>
              <a:t>10% of spinal cord injuries and 20% of quadriplegia cases </a:t>
            </a:r>
            <a:pPr algn="l" indent="0" marL="0">
              <a:lnSpc>
                <a:spcPct val="135000"/>
              </a:lnSpc>
              <a:buNone/>
            </a:pPr>
            <a:r>
              <a:rPr lang="en-US" sz="1800" dirty="0">
                <a:solidFill>
                  <a:srgbClr val="0E3A1E"/>
                </a:solidFill>
                <a:latin typeface="Arial" pitchFamily="34" charset="0"/>
                <a:ea typeface="Arial" pitchFamily="34" charset="-122"/>
                <a:cs typeface="Arial" pitchFamily="34" charset="-120"/>
              </a:rPr>
              <a:t>in Australia. Highest incidence: ages 10–14.</a:t>
            </a:r>
            <a:endParaRPr lang="en-US" sz="1800" dirty="0"/>
          </a:p>
        </p:txBody>
      </p:sp>
      <p:sp>
        <p:nvSpPr>
          <p:cNvPr id="44" name="Text 42"/>
          <p:cNvSpPr/>
          <p:nvPr/>
        </p:nvSpPr>
        <p:spPr>
          <a:xfrm>
            <a:off x="1047750" y="9605070"/>
            <a:ext cx="13998101" cy="358080"/>
          </a:xfrm>
          <a:prstGeom prst="rect">
            <a:avLst/>
          </a:prstGeom>
          <a:noFill/>
          <a:ln/>
        </p:spPr>
        <p:txBody>
          <a:bodyPr wrap="square" lIns="25400" tIns="25400" rIns="25400" bIns="25400" rtlCol="0" anchor="t">
            <a:normAutofit/>
          </a:bodyPr>
          <a:lstStyle/>
          <a:p>
            <a:pPr algn="l" indent="0" marL="0">
              <a:lnSpc>
                <a:spcPct val="140000"/>
              </a:lnSpc>
              <a:buNone/>
            </a:pPr>
            <a:r>
              <a:rPr lang="en-US" sz="1800" spc="150" kern="0" dirty="0">
                <a:solidFill>
                  <a:srgbClr val="5A7A8A"/>
                </a:solidFill>
                <a:latin typeface="Courier New" pitchFamily="34" charset="0"/>
                <a:ea typeface="Courier New" pitchFamily="34" charset="-122"/>
                <a:cs typeface="Courier New" pitchFamily="34" charset="-120"/>
              </a:rPr>
              <a:t>Sources · Royal Life Saving Australia · AIHW · Royal Perth Hospital spinal injury study</a:t>
            </a:r>
            <a:endParaRPr lang="en-US" sz="1800" dirty="0"/>
          </a:p>
        </p:txBody>
      </p:sp>
      <p:sp>
        <p:nvSpPr>
          <p:cNvPr id="45" name="Text 43"/>
          <p:cNvSpPr/>
          <p:nvPr/>
        </p:nvSpPr>
        <p:spPr>
          <a:xfrm>
            <a:off x="15582602" y="9605070"/>
            <a:ext cx="1733848" cy="358080"/>
          </a:xfrm>
          <a:prstGeom prst="rect">
            <a:avLst/>
          </a:prstGeom>
          <a:noFill/>
          <a:ln/>
        </p:spPr>
        <p:txBody>
          <a:bodyPr wrap="square" lIns="25400" tIns="25400" rIns="25400" bIns="25400" rtlCol="0" anchor="t">
            <a:normAutofit/>
          </a:bodyPr>
          <a:lstStyle/>
          <a:p>
            <a:pPr algn="l" indent="0" marL="0">
              <a:lnSpc>
                <a:spcPct val="140000"/>
              </a:lnSpc>
              <a:buNone/>
            </a:pPr>
            <a:r>
              <a:rPr lang="en-US" sz="1800" spc="225" kern="0" dirty="0">
                <a:solidFill>
                  <a:srgbClr val="5A7A8A"/>
                </a:solidFill>
                <a:latin typeface="Courier New" pitchFamily="34" charset="0"/>
                <a:ea typeface="Courier New" pitchFamily="34" charset="-122"/>
                <a:cs typeface="Courier New" pitchFamily="34" charset="-120"/>
              </a:rPr>
              <a:t>L4 · MYTHS</a:t>
            </a:r>
            <a:endParaRPr lang="en-US" sz="18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0D1F2D"/>
        </a:solidFill>
      </p:bgPr>
    </p:bg>
    <p:spTree>
      <p:nvGrpSpPr>
        <p:cNvPr id="1" name=""/>
        <p:cNvGrpSpPr/>
        <p:nvPr/>
      </p:nvGrpSpPr>
      <p:grpSpPr>
        <a:xfrm>
          <a:off x="0" y="0"/>
          <a:ext cx="0" cy="0"/>
          <a:chOff x="0" y="0"/>
          <a:chExt cx="0" cy="0"/>
        </a:xfrm>
      </p:grpSpPr>
      <p:sp>
        <p:nvSpPr>
          <p:cNvPr id="2" name="Text 0"/>
          <p:cNvSpPr/>
          <p:nvPr/>
        </p:nvSpPr>
        <p:spPr>
          <a:xfrm>
            <a:off x="1047750" y="3474393"/>
            <a:ext cx="16678275" cy="384721"/>
          </a:xfrm>
          <a:prstGeom prst="rect">
            <a:avLst/>
          </a:prstGeom>
          <a:noFill/>
          <a:ln/>
        </p:spPr>
        <p:txBody>
          <a:bodyPr wrap="square" lIns="25400" tIns="25400" rIns="25400" bIns="25400" rtlCol="0" anchor="t">
            <a:normAutofit/>
          </a:bodyPr>
          <a:lstStyle/>
          <a:p>
            <a:pPr algn="l" indent="0" marL="0">
              <a:lnSpc>
                <a:spcPct val="140000"/>
              </a:lnSpc>
              <a:buNone/>
            </a:pPr>
            <a:r>
              <a:rPr lang="en-US" sz="1950" spc="450" kern="0" dirty="0">
                <a:solidFill>
                  <a:srgbClr val="FFD166"/>
                </a:solidFill>
                <a:latin typeface="Courier New" pitchFamily="34" charset="0"/>
                <a:ea typeface="Courier New" pitchFamily="34" charset="-122"/>
                <a:cs typeface="Courier New" pitchFamily="34" charset="-120"/>
              </a:rPr>
              <a:t>LESSON 4 · EXIT TICKET · 5 MIN</a:t>
            </a:r>
            <a:endParaRPr lang="en-US" sz="1950" dirty="0"/>
          </a:p>
        </p:txBody>
      </p:sp>
      <p:sp>
        <p:nvSpPr>
          <p:cNvPr id="3" name="Text 1"/>
          <p:cNvSpPr/>
          <p:nvPr/>
        </p:nvSpPr>
        <p:spPr>
          <a:xfrm>
            <a:off x="1047750" y="4163913"/>
            <a:ext cx="15697200" cy="1798141"/>
          </a:xfrm>
          <a:prstGeom prst="rect">
            <a:avLst/>
          </a:prstGeom>
          <a:noFill/>
          <a:ln/>
        </p:spPr>
        <p:txBody>
          <a:bodyPr wrap="square" lIns="25400" tIns="25400" rIns="25400" bIns="25400" rtlCol="0" anchor="t">
            <a:normAutofit/>
          </a:bodyPr>
          <a:lstStyle/>
          <a:p>
            <a:pPr algn="l" indent="0" marL="0">
              <a:lnSpc>
                <a:spcPct val="105000"/>
              </a:lnSpc>
              <a:buNone/>
            </a:pPr>
            <a:r>
              <a:rPr lang="en-US" sz="6600" b="1" spc="-75" kern="0" dirty="0">
                <a:solidFill>
                  <a:srgbClr val="FFFFFF"/>
                </a:solidFill>
                <a:latin typeface="Arial" pitchFamily="34" charset="0"/>
                <a:ea typeface="Arial" pitchFamily="34" charset="-122"/>
                <a:cs typeface="Arial" pitchFamily="34" charset="-120"/>
              </a:rPr>
              <a:t>Recite the five SwimSafe rules from memory.</a:t>
            </a:r>
            <a:endParaRPr lang="en-US" sz="6600" dirty="0"/>
          </a:p>
        </p:txBody>
      </p:sp>
      <p:sp>
        <p:nvSpPr>
          <p:cNvPr id="4" name="Text 2"/>
          <p:cNvSpPr/>
          <p:nvPr/>
        </p:nvSpPr>
        <p:spPr>
          <a:xfrm>
            <a:off x="1047750" y="6400205"/>
            <a:ext cx="15697200" cy="526703"/>
          </a:xfrm>
          <a:prstGeom prst="rect">
            <a:avLst/>
          </a:prstGeom>
          <a:noFill/>
          <a:ln/>
        </p:spPr>
        <p:txBody>
          <a:bodyPr wrap="square" lIns="25400" tIns="25400" rIns="25400" bIns="25400" rtlCol="0" anchor="t">
            <a:normAutofit/>
          </a:bodyPr>
          <a:lstStyle/>
          <a:p>
            <a:pPr algn="l" indent="0" marL="0">
              <a:lnSpc>
                <a:spcPct val="135000"/>
              </a:lnSpc>
              <a:buNone/>
            </a:pPr>
            <a:r>
              <a:rPr lang="en-US" sz="2850" dirty="0">
                <a:solidFill>
                  <a:srgbClr val="FFFFFF">
                    <a:alpha val="80000"/>
                  </a:srgbClr>
                </a:solidFill>
                <a:latin typeface="Arial" pitchFamily="34" charset="0"/>
                <a:ea typeface="Arial" pitchFamily="34" charset="-122"/>
                <a:cs typeface="Arial" pitchFamily="34" charset="-120"/>
              </a:rPr>
              <a:t>Then write down </a:t>
            </a:r>
            <a:pPr algn="l" indent="0" marL="0">
              <a:lnSpc>
                <a:spcPct val="135000"/>
              </a:lnSpc>
              <a:buNone/>
            </a:pPr>
            <a:r>
              <a:rPr lang="en-US" sz="2850" dirty="0">
                <a:solidFill>
                  <a:srgbClr val="FFD166"/>
                </a:solidFill>
                <a:latin typeface="Arial" pitchFamily="34" charset="0"/>
                <a:ea typeface="Arial" pitchFamily="34" charset="-122"/>
                <a:cs typeface="Arial" pitchFamily="34" charset="-120"/>
              </a:rPr>
              <a:t>the one </a:t>
            </a:r>
            <a:pPr algn="l" indent="0" marL="0">
              <a:lnSpc>
                <a:spcPct val="135000"/>
              </a:lnSpc>
              <a:buNone/>
            </a:pPr>
            <a:r>
              <a:rPr lang="en-US" sz="2850" dirty="0">
                <a:solidFill>
                  <a:srgbClr val="FFFFFF">
                    <a:alpha val="80000"/>
                  </a:srgbClr>
                </a:solidFill>
                <a:latin typeface="Arial" pitchFamily="34" charset="0"/>
                <a:ea typeface="Arial" pitchFamily="34" charset="-122"/>
                <a:cs typeface="Arial" pitchFamily="34" charset="-120"/>
              </a:rPr>
              <a:t>that's most important for you personally — and why.</a:t>
            </a:r>
            <a:endParaRPr lang="en-US" sz="285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E65100"/>
        </a:solidFill>
      </p:bgPr>
    </p:bg>
    <p:spTree>
      <p:nvGrpSpPr>
        <p:cNvPr id="1" name=""/>
        <p:cNvGrpSpPr/>
        <p:nvPr/>
      </p:nvGrpSpPr>
      <p:grpSpPr>
        <a:xfrm>
          <a:off x="0" y="0"/>
          <a:ext cx="0" cy="0"/>
          <a:chOff x="0" y="0"/>
          <a:chExt cx="0" cy="0"/>
        </a:xfrm>
      </p:grpSpPr>
      <p:sp>
        <p:nvSpPr>
          <p:cNvPr id="2" name="Text 0"/>
          <p:cNvSpPr/>
          <p:nvPr/>
        </p:nvSpPr>
        <p:spPr>
          <a:xfrm>
            <a:off x="1047750" y="2385120"/>
            <a:ext cx="10208392" cy="358080"/>
          </a:xfrm>
          <a:prstGeom prst="rect">
            <a:avLst/>
          </a:prstGeom>
          <a:noFill/>
          <a:ln/>
        </p:spPr>
        <p:txBody>
          <a:bodyPr wrap="square" lIns="25400" tIns="25400" rIns="25400" bIns="25400" rtlCol="0" anchor="t">
            <a:normAutofit/>
          </a:bodyPr>
          <a:lstStyle/>
          <a:p>
            <a:pPr algn="l" indent="0" marL="0">
              <a:lnSpc>
                <a:spcPct val="140000"/>
              </a:lnSpc>
              <a:buNone/>
            </a:pPr>
            <a:r>
              <a:rPr lang="en-US" sz="1800" spc="450" kern="0" dirty="0">
                <a:solidFill>
                  <a:srgbClr val="FFFFFF">
                    <a:alpha val="70000"/>
                  </a:srgbClr>
                </a:solidFill>
                <a:latin typeface="Courier New" pitchFamily="34" charset="0"/>
                <a:ea typeface="Courier New" pitchFamily="34" charset="-122"/>
                <a:cs typeface="Courier New" pitchFamily="34" charset="-120"/>
              </a:rPr>
              <a:t>LESSON 5 · 50 MIN · WORKBOOK SECTION 6 · ASSESSMENT</a:t>
            </a:r>
            <a:endParaRPr lang="en-US" sz="1800" dirty="0"/>
          </a:p>
        </p:txBody>
      </p:sp>
      <p:sp>
        <p:nvSpPr>
          <p:cNvPr id="3" name="Text 1"/>
          <p:cNvSpPr/>
          <p:nvPr/>
        </p:nvSpPr>
        <p:spPr>
          <a:xfrm>
            <a:off x="1047750" y="3048000"/>
            <a:ext cx="2461320" cy="1657350"/>
          </a:xfrm>
          <a:prstGeom prst="rect">
            <a:avLst/>
          </a:prstGeom>
          <a:noFill/>
          <a:ln/>
        </p:spPr>
        <p:txBody>
          <a:bodyPr wrap="square" lIns="25400" tIns="25400" rIns="25400" bIns="25400" rtlCol="0" anchor="t">
            <a:normAutofit/>
          </a:bodyPr>
          <a:lstStyle/>
          <a:p>
            <a:pPr algn="l" indent="0" marL="0">
              <a:lnSpc>
                <a:spcPct val="85000"/>
              </a:lnSpc>
              <a:buNone/>
            </a:pPr>
            <a:r>
              <a:rPr lang="en-US" sz="15000" b="1" spc="-450" kern="0" dirty="0">
                <a:solidFill>
                  <a:srgbClr val="FFFFFF">
                    <a:alpha val="25000"/>
                  </a:srgbClr>
                </a:solidFill>
                <a:latin typeface="Arial" pitchFamily="34" charset="0"/>
                <a:ea typeface="Arial" pitchFamily="34" charset="-122"/>
                <a:cs typeface="Arial" pitchFamily="34" charset="-120"/>
              </a:rPr>
              <a:t>05</a:t>
            </a:r>
            <a:endParaRPr lang="en-US" sz="15000" dirty="0"/>
          </a:p>
        </p:txBody>
      </p:sp>
      <p:sp>
        <p:nvSpPr>
          <p:cNvPr id="4" name="Text 2"/>
          <p:cNvSpPr/>
          <p:nvPr/>
        </p:nvSpPr>
        <p:spPr>
          <a:xfrm>
            <a:off x="1047750" y="4895850"/>
            <a:ext cx="14716125" cy="1943100"/>
          </a:xfrm>
          <a:prstGeom prst="rect">
            <a:avLst/>
          </a:prstGeom>
          <a:noFill/>
          <a:ln/>
        </p:spPr>
        <p:txBody>
          <a:bodyPr wrap="square" lIns="25400" tIns="25400" rIns="25400" bIns="25400" rtlCol="0" anchor="t">
            <a:normAutofit/>
          </a:bodyPr>
          <a:lstStyle/>
          <a:p>
            <a:pPr algn="l" indent="0" marL="0">
              <a:lnSpc>
                <a:spcPct val="100000"/>
              </a:lnSpc>
              <a:buNone/>
            </a:pPr>
            <a:r>
              <a:rPr lang="en-US" sz="7500" b="1" spc="-150" kern="0" dirty="0">
                <a:solidFill>
                  <a:srgbClr val="FFFFFF"/>
                </a:solidFill>
                <a:latin typeface="Arial" pitchFamily="34" charset="0"/>
                <a:ea typeface="Arial" pitchFamily="34" charset="-122"/>
                <a:cs typeface="Arial" pitchFamily="34" charset="-120"/>
              </a:rPr>
              <a:t>Personal action plan &amp; communication campaign</a:t>
            </a:r>
            <a:endParaRPr lang="en-US" sz="7500" dirty="0"/>
          </a:p>
        </p:txBody>
      </p:sp>
      <p:sp>
        <p:nvSpPr>
          <p:cNvPr id="5" name="Shape 3"/>
          <p:cNvSpPr/>
          <p:nvPr/>
        </p:nvSpPr>
        <p:spPr>
          <a:xfrm>
            <a:off x="1047750" y="7372350"/>
            <a:ext cx="1844278" cy="529530"/>
          </a:xfrm>
          <a:prstGeom prst="roundRect">
            <a:avLst>
              <a:gd name="adj" fmla="val 50000"/>
            </a:avLst>
          </a:prstGeom>
          <a:solidFill>
            <a:srgbClr val="FFFFFF">
              <a:alpha val="12000"/>
            </a:srgbClr>
          </a:solidFill>
          <a:ln w="9525">
            <a:solidFill>
              <a:srgbClr val="FFFFFF">
                <a:alpha val="25000"/>
              </a:srgbClr>
            </a:solidFill>
            <a:prstDash val="solid"/>
          </a:ln>
        </p:spPr>
        <p:txBody>
          <a:bodyPr/>
          <a:p/>
        </p:txBody>
      </p:sp>
      <p:sp>
        <p:nvSpPr>
          <p:cNvPr id="6" name="Text 4"/>
          <p:cNvSpPr/>
          <p:nvPr/>
        </p:nvSpPr>
        <p:spPr>
          <a:xfrm>
            <a:off x="1266825" y="7477125"/>
            <a:ext cx="1482328" cy="358080"/>
          </a:xfrm>
          <a:prstGeom prst="rect">
            <a:avLst/>
          </a:prstGeom>
          <a:noFill/>
          <a:ln/>
        </p:spPr>
        <p:txBody>
          <a:bodyPr wrap="square" lIns="25400" tIns="25400" rIns="25400" bIns="25400" rtlCol="0" anchor="t">
            <a:normAutofit/>
          </a:bodyPr>
          <a:lstStyle/>
          <a:p>
            <a:pPr algn="l" indent="0" marL="0">
              <a:lnSpc>
                <a:spcPct val="140000"/>
              </a:lnSpc>
              <a:buNone/>
            </a:pPr>
            <a:r>
              <a:rPr lang="en-US" sz="1800" spc="150" kern="0" dirty="0">
                <a:solidFill>
                  <a:srgbClr val="FFFFFF">
                    <a:alpha val="75000"/>
                  </a:srgbClr>
                </a:solidFill>
                <a:latin typeface="Courier New" pitchFamily="34" charset="0"/>
                <a:ea typeface="Courier New" pitchFamily="34" charset="-122"/>
                <a:cs typeface="Courier New" pitchFamily="34" charset="-120"/>
              </a:rPr>
              <a:t>VCHPEP129</a:t>
            </a:r>
            <a:endParaRPr lang="en-US" sz="1800" dirty="0"/>
          </a:p>
        </p:txBody>
      </p:sp>
      <p:sp>
        <p:nvSpPr>
          <p:cNvPr id="7" name="Shape 5"/>
          <p:cNvSpPr/>
          <p:nvPr/>
        </p:nvSpPr>
        <p:spPr>
          <a:xfrm>
            <a:off x="3120628" y="7372350"/>
            <a:ext cx="1844278" cy="529530"/>
          </a:xfrm>
          <a:prstGeom prst="roundRect">
            <a:avLst>
              <a:gd name="adj" fmla="val 50000"/>
            </a:avLst>
          </a:prstGeom>
          <a:solidFill>
            <a:srgbClr val="FFFFFF">
              <a:alpha val="12000"/>
            </a:srgbClr>
          </a:solidFill>
          <a:ln w="9525">
            <a:solidFill>
              <a:srgbClr val="FFFFFF">
                <a:alpha val="25000"/>
              </a:srgbClr>
            </a:solidFill>
            <a:prstDash val="solid"/>
          </a:ln>
        </p:spPr>
        <p:txBody>
          <a:bodyPr/>
          <a:p/>
        </p:txBody>
      </p:sp>
      <p:sp>
        <p:nvSpPr>
          <p:cNvPr id="8" name="Text 6"/>
          <p:cNvSpPr/>
          <p:nvPr/>
        </p:nvSpPr>
        <p:spPr>
          <a:xfrm>
            <a:off x="3339703" y="7477125"/>
            <a:ext cx="1482328" cy="358080"/>
          </a:xfrm>
          <a:prstGeom prst="rect">
            <a:avLst/>
          </a:prstGeom>
          <a:noFill/>
          <a:ln/>
        </p:spPr>
        <p:txBody>
          <a:bodyPr wrap="square" lIns="25400" tIns="25400" rIns="25400" bIns="25400" rtlCol="0" anchor="t">
            <a:normAutofit/>
          </a:bodyPr>
          <a:lstStyle/>
          <a:p>
            <a:pPr algn="l" indent="0" marL="0">
              <a:lnSpc>
                <a:spcPct val="140000"/>
              </a:lnSpc>
              <a:buNone/>
            </a:pPr>
            <a:r>
              <a:rPr lang="en-US" sz="1800" spc="150" kern="0" dirty="0">
                <a:solidFill>
                  <a:srgbClr val="FFFFFF">
                    <a:alpha val="75000"/>
                  </a:srgbClr>
                </a:solidFill>
                <a:latin typeface="Courier New" pitchFamily="34" charset="0"/>
                <a:ea typeface="Courier New" pitchFamily="34" charset="-122"/>
                <a:cs typeface="Courier New" pitchFamily="34" charset="-120"/>
              </a:rPr>
              <a:t>VCHPEP130</a:t>
            </a:r>
            <a:endParaRPr lang="en-US" sz="1800" dirty="0"/>
          </a:p>
        </p:txBody>
      </p:sp>
      <p:sp>
        <p:nvSpPr>
          <p:cNvPr id="9" name="Shape 7"/>
          <p:cNvSpPr/>
          <p:nvPr/>
        </p:nvSpPr>
        <p:spPr>
          <a:xfrm>
            <a:off x="5193506" y="7372350"/>
            <a:ext cx="1688009" cy="529530"/>
          </a:xfrm>
          <a:prstGeom prst="roundRect">
            <a:avLst>
              <a:gd name="adj" fmla="val 50000"/>
            </a:avLst>
          </a:prstGeom>
          <a:solidFill>
            <a:srgbClr val="FFFFFF">
              <a:alpha val="12000"/>
            </a:srgbClr>
          </a:solidFill>
          <a:ln w="9525">
            <a:solidFill>
              <a:srgbClr val="FFFFFF">
                <a:alpha val="25000"/>
              </a:srgbClr>
            </a:solidFill>
            <a:prstDash val="solid"/>
          </a:ln>
        </p:spPr>
        <p:txBody>
          <a:bodyPr/>
          <a:p/>
        </p:txBody>
      </p:sp>
      <p:sp>
        <p:nvSpPr>
          <p:cNvPr id="10" name="Text 8"/>
          <p:cNvSpPr/>
          <p:nvPr/>
        </p:nvSpPr>
        <p:spPr>
          <a:xfrm>
            <a:off x="5412581" y="7477125"/>
            <a:ext cx="1326059" cy="358080"/>
          </a:xfrm>
          <a:prstGeom prst="rect">
            <a:avLst/>
          </a:prstGeom>
          <a:noFill/>
          <a:ln/>
        </p:spPr>
        <p:txBody>
          <a:bodyPr wrap="square" lIns="25400" tIns="25400" rIns="25400" bIns="25400" rtlCol="0" anchor="t">
            <a:normAutofit/>
          </a:bodyPr>
          <a:lstStyle/>
          <a:p>
            <a:pPr algn="l" indent="0" marL="0">
              <a:lnSpc>
                <a:spcPct val="140000"/>
              </a:lnSpc>
              <a:buNone/>
            </a:pPr>
            <a:r>
              <a:rPr lang="en-US" sz="1800" spc="150" kern="0" dirty="0">
                <a:solidFill>
                  <a:srgbClr val="FFFFFF">
                    <a:alpha val="75000"/>
                  </a:srgbClr>
                </a:solidFill>
                <a:latin typeface="Courier New" pitchFamily="34" charset="0"/>
                <a:ea typeface="Courier New" pitchFamily="34" charset="-122"/>
                <a:cs typeface="Courier New" pitchFamily="34" charset="-120"/>
              </a:rPr>
              <a:t>Assessed</a:t>
            </a:r>
            <a:endParaRPr lang="en-US" sz="18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4F7F9"/>
        </a:solidFill>
      </p:bgPr>
    </p:bg>
    <p:spTree>
      <p:nvGrpSpPr>
        <p:cNvPr id="1" name=""/>
        <p:cNvGrpSpPr/>
        <p:nvPr/>
      </p:nvGrpSpPr>
      <p:grpSpPr>
        <a:xfrm>
          <a:off x="0" y="0"/>
          <a:ext cx="0" cy="0"/>
          <a:chOff x="0" y="0"/>
          <a:chExt cx="0" cy="0"/>
        </a:xfrm>
      </p:grpSpPr>
      <p:sp>
        <p:nvSpPr>
          <p:cNvPr id="2" name="Text 0"/>
          <p:cNvSpPr/>
          <p:nvPr/>
        </p:nvSpPr>
        <p:spPr>
          <a:xfrm>
            <a:off x="1047750" y="914400"/>
            <a:ext cx="16678275" cy="358080"/>
          </a:xfrm>
          <a:prstGeom prst="rect">
            <a:avLst/>
          </a:prstGeom>
          <a:noFill/>
          <a:ln/>
        </p:spPr>
        <p:txBody>
          <a:bodyPr wrap="square" lIns="25400" tIns="25400" rIns="25400" bIns="25400" rtlCol="0" anchor="t">
            <a:normAutofit/>
          </a:bodyPr>
          <a:lstStyle/>
          <a:p>
            <a:pPr algn="l" indent="0" marL="0">
              <a:lnSpc>
                <a:spcPct val="140000"/>
              </a:lnSpc>
              <a:buNone/>
            </a:pPr>
            <a:r>
              <a:rPr lang="en-US" sz="1800" spc="300" kern="0" dirty="0">
                <a:solidFill>
                  <a:srgbClr val="5A7A8A"/>
                </a:solidFill>
                <a:latin typeface="Courier New" pitchFamily="34" charset="0"/>
                <a:ea typeface="Courier New" pitchFamily="34" charset="-122"/>
                <a:cs typeface="Courier New" pitchFamily="34" charset="-120"/>
              </a:rPr>
              <a:t>ACTIVITY 6.1 · PERSONAL ACTION PLAN</a:t>
            </a:r>
            <a:endParaRPr lang="en-US" sz="1800" dirty="0"/>
          </a:p>
        </p:txBody>
      </p:sp>
      <p:sp>
        <p:nvSpPr>
          <p:cNvPr id="3" name="Text 1"/>
          <p:cNvSpPr/>
          <p:nvPr/>
        </p:nvSpPr>
        <p:spPr>
          <a:xfrm>
            <a:off x="1047750" y="1405830"/>
            <a:ext cx="16678275" cy="1558230"/>
          </a:xfrm>
          <a:prstGeom prst="rect">
            <a:avLst/>
          </a:prstGeom>
          <a:noFill/>
          <a:ln/>
        </p:spPr>
        <p:txBody>
          <a:bodyPr wrap="square" lIns="25400" tIns="25400" rIns="25400" bIns="25400" rtlCol="0" anchor="t">
            <a:normAutofit/>
          </a:bodyPr>
          <a:lstStyle/>
          <a:p>
            <a:pPr algn="l" indent="0" marL="0">
              <a:lnSpc>
                <a:spcPct val="105000"/>
              </a:lnSpc>
              <a:buNone/>
            </a:pPr>
            <a:r>
              <a:rPr lang="en-US" sz="5700" b="1" spc="-75" kern="0" dirty="0">
                <a:solidFill>
                  <a:srgbClr val="0D1F2D"/>
                </a:solidFill>
                <a:latin typeface="Arial" pitchFamily="34" charset="0"/>
                <a:ea typeface="Arial" pitchFamily="34" charset="-122"/>
                <a:cs typeface="Arial" pitchFamily="34" charset="-120"/>
              </a:rPr>
              <a:t>Plan a real Victorian water activity — for your summer</a:t>
            </a:r>
            <a:endParaRPr lang="en-US" sz="5700" dirty="0"/>
          </a:p>
        </p:txBody>
      </p:sp>
      <p:sp>
        <p:nvSpPr>
          <p:cNvPr id="4" name="Shape 2"/>
          <p:cNvSpPr/>
          <p:nvPr/>
        </p:nvSpPr>
        <p:spPr>
          <a:xfrm>
            <a:off x="1047750" y="3230761"/>
            <a:ext cx="5245001" cy="2840385"/>
          </a:xfrm>
          <a:prstGeom prst="roundRect">
            <a:avLst>
              <a:gd name="adj" fmla="val 6036"/>
            </a:avLst>
          </a:prstGeom>
          <a:solidFill>
            <a:srgbClr val="FFFFFF"/>
          </a:solidFill>
          <a:ln w="9525">
            <a:solidFill>
              <a:srgbClr val="CDD9E0"/>
            </a:solidFill>
            <a:prstDash val="solid"/>
          </a:ln>
        </p:spPr>
        <p:txBody>
          <a:bodyPr/>
          <a:p/>
        </p:txBody>
      </p:sp>
      <p:sp>
        <p:nvSpPr>
          <p:cNvPr id="5" name="Text 3"/>
          <p:cNvSpPr/>
          <p:nvPr/>
        </p:nvSpPr>
        <p:spPr>
          <a:xfrm>
            <a:off x="1343025" y="3506986"/>
            <a:ext cx="4794084" cy="304800"/>
          </a:xfrm>
          <a:prstGeom prst="rect">
            <a:avLst/>
          </a:prstGeom>
          <a:noFill/>
          <a:ln/>
        </p:spPr>
        <p:txBody>
          <a:bodyPr wrap="square" lIns="25400" tIns="25400" rIns="25400" bIns="25400" rtlCol="0" anchor="t">
            <a:normAutofit/>
          </a:bodyPr>
          <a:lstStyle/>
          <a:p>
            <a:pPr algn="l" indent="0" marL="0">
              <a:lnSpc>
                <a:spcPct val="140000"/>
              </a:lnSpc>
              <a:buNone/>
            </a:pPr>
            <a:r>
              <a:rPr lang="en-US" sz="1500" b="1" spc="225" kern="0" dirty="0">
                <a:solidFill>
                  <a:srgbClr val="E65100"/>
                </a:solidFill>
                <a:latin typeface="Courier New" pitchFamily="34" charset="0"/>
                <a:ea typeface="Courier New" pitchFamily="34" charset="-122"/>
                <a:cs typeface="Courier New" pitchFamily="34" charset="-120"/>
              </a:rPr>
              <a:t>01 · Where</a:t>
            </a:r>
            <a:endParaRPr lang="en-US" sz="1500" dirty="0"/>
          </a:p>
        </p:txBody>
      </p:sp>
      <p:sp>
        <p:nvSpPr>
          <p:cNvPr id="6" name="Text 4"/>
          <p:cNvSpPr/>
          <p:nvPr/>
        </p:nvSpPr>
        <p:spPr>
          <a:xfrm>
            <a:off x="1343025" y="3887986"/>
            <a:ext cx="4794084" cy="678061"/>
          </a:xfrm>
          <a:prstGeom prst="rect">
            <a:avLst/>
          </a:prstGeom>
          <a:noFill/>
          <a:ln/>
        </p:spPr>
        <p:txBody>
          <a:bodyPr wrap="square" lIns="25400" tIns="25400" rIns="25400" bIns="25400" rtlCol="0" anchor="t">
            <a:normAutofit/>
          </a:bodyPr>
          <a:lstStyle/>
          <a:p>
            <a:pPr algn="l" indent="0" marL="0">
              <a:lnSpc>
                <a:spcPct val="120000"/>
              </a:lnSpc>
              <a:buNone/>
            </a:pPr>
            <a:r>
              <a:rPr lang="en-US" sz="2100" b="1" dirty="0">
                <a:solidFill>
                  <a:srgbClr val="0D1F2D"/>
                </a:solidFill>
                <a:latin typeface="Arial" pitchFamily="34" charset="0"/>
                <a:ea typeface="Arial" pitchFamily="34" charset="-122"/>
                <a:cs typeface="Arial" pitchFamily="34" charset="-120"/>
              </a:rPr>
              <a:t>Which Victorian water environment will you be in?</a:t>
            </a:r>
            <a:endParaRPr lang="en-US" sz="2100" dirty="0"/>
          </a:p>
        </p:txBody>
      </p:sp>
      <p:sp>
        <p:nvSpPr>
          <p:cNvPr id="7" name="Text 5"/>
          <p:cNvSpPr/>
          <p:nvPr/>
        </p:nvSpPr>
        <p:spPr>
          <a:xfrm>
            <a:off x="1343025" y="4642247"/>
            <a:ext cx="4794084" cy="655141"/>
          </a:xfrm>
          <a:prstGeom prst="rect">
            <a:avLst/>
          </a:prstGeom>
          <a:noFill/>
          <a:ln/>
        </p:spPr>
        <p:txBody>
          <a:bodyPr wrap="square" lIns="25400" tIns="25400" rIns="25400" bIns="25400" rtlCol="0" anchor="t">
            <a:normAutofit/>
          </a:bodyPr>
          <a:lstStyle/>
          <a:p>
            <a:pPr algn="l" indent="0" marL="0">
              <a:lnSpc>
                <a:spcPct val="135000"/>
              </a:lnSpc>
              <a:buNone/>
            </a:pPr>
            <a:r>
              <a:rPr lang="en-US" sz="1800" dirty="0">
                <a:solidFill>
                  <a:srgbClr val="5A7A8A"/>
                </a:solidFill>
                <a:latin typeface="Arial" pitchFamily="34" charset="0"/>
                <a:ea typeface="Arial" pitchFamily="34" charset="-122"/>
                <a:cs typeface="Arial" pitchFamily="34" charset="-120"/>
              </a:rPr>
              <a:t>Be specific: a named beach, river, dam, pool, or paddle location. Not "the coast".</a:t>
            </a:r>
            <a:endParaRPr lang="en-US" sz="1800" dirty="0"/>
          </a:p>
        </p:txBody>
      </p:sp>
      <p:sp>
        <p:nvSpPr>
          <p:cNvPr id="8" name="Shape 6"/>
          <p:cNvSpPr/>
          <p:nvPr/>
        </p:nvSpPr>
        <p:spPr>
          <a:xfrm>
            <a:off x="6521351" y="3230761"/>
            <a:ext cx="5245150" cy="2840385"/>
          </a:xfrm>
          <a:prstGeom prst="roundRect">
            <a:avLst>
              <a:gd name="adj" fmla="val 6036"/>
            </a:avLst>
          </a:prstGeom>
          <a:solidFill>
            <a:srgbClr val="FFFFFF"/>
          </a:solidFill>
          <a:ln w="9525">
            <a:solidFill>
              <a:srgbClr val="CDD9E0"/>
            </a:solidFill>
            <a:prstDash val="solid"/>
          </a:ln>
        </p:spPr>
        <p:txBody>
          <a:bodyPr/>
          <a:p/>
        </p:txBody>
      </p:sp>
      <p:sp>
        <p:nvSpPr>
          <p:cNvPr id="9" name="Text 7"/>
          <p:cNvSpPr/>
          <p:nvPr/>
        </p:nvSpPr>
        <p:spPr>
          <a:xfrm>
            <a:off x="6816626" y="3506986"/>
            <a:ext cx="4794238" cy="304800"/>
          </a:xfrm>
          <a:prstGeom prst="rect">
            <a:avLst/>
          </a:prstGeom>
          <a:noFill/>
          <a:ln/>
        </p:spPr>
        <p:txBody>
          <a:bodyPr wrap="square" lIns="25400" tIns="25400" rIns="25400" bIns="25400" rtlCol="0" anchor="t">
            <a:normAutofit/>
          </a:bodyPr>
          <a:lstStyle/>
          <a:p>
            <a:pPr algn="l" indent="0" marL="0">
              <a:lnSpc>
                <a:spcPct val="140000"/>
              </a:lnSpc>
              <a:buNone/>
            </a:pPr>
            <a:r>
              <a:rPr lang="en-US" sz="1500" b="1" spc="225" kern="0" dirty="0">
                <a:solidFill>
                  <a:srgbClr val="E65100"/>
                </a:solidFill>
                <a:latin typeface="Courier New" pitchFamily="34" charset="0"/>
                <a:ea typeface="Courier New" pitchFamily="34" charset="-122"/>
                <a:cs typeface="Courier New" pitchFamily="34" charset="-120"/>
              </a:rPr>
              <a:t>02 · What</a:t>
            </a:r>
            <a:endParaRPr lang="en-US" sz="1500" dirty="0"/>
          </a:p>
        </p:txBody>
      </p:sp>
      <p:sp>
        <p:nvSpPr>
          <p:cNvPr id="10" name="Text 8"/>
          <p:cNvSpPr/>
          <p:nvPr/>
        </p:nvSpPr>
        <p:spPr>
          <a:xfrm>
            <a:off x="6816626" y="3887986"/>
            <a:ext cx="4794238" cy="678061"/>
          </a:xfrm>
          <a:prstGeom prst="rect">
            <a:avLst/>
          </a:prstGeom>
          <a:noFill/>
          <a:ln/>
        </p:spPr>
        <p:txBody>
          <a:bodyPr wrap="square" lIns="25400" tIns="25400" rIns="25400" bIns="25400" rtlCol="0" anchor="t">
            <a:normAutofit/>
          </a:bodyPr>
          <a:lstStyle/>
          <a:p>
            <a:pPr algn="l" indent="0" marL="0">
              <a:lnSpc>
                <a:spcPct val="120000"/>
              </a:lnSpc>
              <a:buNone/>
            </a:pPr>
            <a:r>
              <a:rPr lang="en-US" sz="2100" b="1" dirty="0">
                <a:solidFill>
                  <a:srgbClr val="0D1F2D"/>
                </a:solidFill>
                <a:latin typeface="Arial" pitchFamily="34" charset="0"/>
                <a:ea typeface="Arial" pitchFamily="34" charset="-122"/>
                <a:cs typeface="Arial" pitchFamily="34" charset="-120"/>
              </a:rPr>
              <a:t>What are you actually going to do there?</a:t>
            </a:r>
            <a:endParaRPr lang="en-US" sz="2100" dirty="0"/>
          </a:p>
        </p:txBody>
      </p:sp>
      <p:sp>
        <p:nvSpPr>
          <p:cNvPr id="11" name="Text 9"/>
          <p:cNvSpPr/>
          <p:nvPr/>
        </p:nvSpPr>
        <p:spPr>
          <a:xfrm>
            <a:off x="6816626" y="4642247"/>
            <a:ext cx="4794238" cy="655141"/>
          </a:xfrm>
          <a:prstGeom prst="rect">
            <a:avLst/>
          </a:prstGeom>
          <a:noFill/>
          <a:ln/>
        </p:spPr>
        <p:txBody>
          <a:bodyPr wrap="square" lIns="25400" tIns="25400" rIns="25400" bIns="25400" rtlCol="0" anchor="t">
            <a:normAutofit/>
          </a:bodyPr>
          <a:lstStyle/>
          <a:p>
            <a:pPr algn="l" indent="0" marL="0">
              <a:lnSpc>
                <a:spcPct val="135000"/>
              </a:lnSpc>
              <a:buNone/>
            </a:pPr>
            <a:r>
              <a:rPr lang="en-US" sz="1800" dirty="0">
                <a:solidFill>
                  <a:srgbClr val="5A7A8A"/>
                </a:solidFill>
                <a:latin typeface="Arial" pitchFamily="34" charset="0"/>
                <a:ea typeface="Arial" pitchFamily="34" charset="-122"/>
                <a:cs typeface="Arial" pitchFamily="34" charset="-120"/>
              </a:rPr>
              <a:t>Swim, paddle, surf, supervise siblings, jetty fishing — each has different hazards.</a:t>
            </a:r>
            <a:endParaRPr lang="en-US" sz="1800" dirty="0"/>
          </a:p>
        </p:txBody>
      </p:sp>
      <p:sp>
        <p:nvSpPr>
          <p:cNvPr id="12" name="Shape 10"/>
          <p:cNvSpPr/>
          <p:nvPr/>
        </p:nvSpPr>
        <p:spPr>
          <a:xfrm>
            <a:off x="11995100" y="3230761"/>
            <a:ext cx="5245150" cy="2840385"/>
          </a:xfrm>
          <a:prstGeom prst="roundRect">
            <a:avLst>
              <a:gd name="adj" fmla="val 6036"/>
            </a:avLst>
          </a:prstGeom>
          <a:solidFill>
            <a:srgbClr val="FFFFFF"/>
          </a:solidFill>
          <a:ln w="9525">
            <a:solidFill>
              <a:srgbClr val="CDD9E0"/>
            </a:solidFill>
            <a:prstDash val="solid"/>
          </a:ln>
        </p:spPr>
        <p:txBody>
          <a:bodyPr/>
          <a:p/>
        </p:txBody>
      </p:sp>
      <p:sp>
        <p:nvSpPr>
          <p:cNvPr id="13" name="Text 11"/>
          <p:cNvSpPr/>
          <p:nvPr/>
        </p:nvSpPr>
        <p:spPr>
          <a:xfrm>
            <a:off x="12290375" y="3506986"/>
            <a:ext cx="4794238" cy="304800"/>
          </a:xfrm>
          <a:prstGeom prst="rect">
            <a:avLst/>
          </a:prstGeom>
          <a:noFill/>
          <a:ln/>
        </p:spPr>
        <p:txBody>
          <a:bodyPr wrap="square" lIns="25400" tIns="25400" rIns="25400" bIns="25400" rtlCol="0" anchor="t">
            <a:normAutofit/>
          </a:bodyPr>
          <a:lstStyle/>
          <a:p>
            <a:pPr algn="l" indent="0" marL="0">
              <a:lnSpc>
                <a:spcPct val="140000"/>
              </a:lnSpc>
              <a:buNone/>
            </a:pPr>
            <a:r>
              <a:rPr lang="en-US" sz="1500" b="1" spc="225" kern="0" dirty="0">
                <a:solidFill>
                  <a:srgbClr val="E65100"/>
                </a:solidFill>
                <a:latin typeface="Courier New" pitchFamily="34" charset="0"/>
                <a:ea typeface="Courier New" pitchFamily="34" charset="-122"/>
                <a:cs typeface="Courier New" pitchFamily="34" charset="-120"/>
              </a:rPr>
              <a:t>03 · Hazards</a:t>
            </a:r>
            <a:endParaRPr lang="en-US" sz="1500" dirty="0"/>
          </a:p>
        </p:txBody>
      </p:sp>
      <p:sp>
        <p:nvSpPr>
          <p:cNvPr id="14" name="Text 12"/>
          <p:cNvSpPr/>
          <p:nvPr/>
        </p:nvSpPr>
        <p:spPr>
          <a:xfrm>
            <a:off x="12290375" y="3887986"/>
            <a:ext cx="4794238" cy="678061"/>
          </a:xfrm>
          <a:prstGeom prst="rect">
            <a:avLst/>
          </a:prstGeom>
          <a:noFill/>
          <a:ln/>
        </p:spPr>
        <p:txBody>
          <a:bodyPr wrap="square" lIns="25400" tIns="25400" rIns="25400" bIns="25400" rtlCol="0" anchor="t">
            <a:normAutofit/>
          </a:bodyPr>
          <a:lstStyle/>
          <a:p>
            <a:pPr algn="l" indent="0" marL="0">
              <a:lnSpc>
                <a:spcPct val="120000"/>
              </a:lnSpc>
              <a:buNone/>
            </a:pPr>
            <a:r>
              <a:rPr lang="en-US" sz="2100" b="1" dirty="0">
                <a:solidFill>
                  <a:srgbClr val="0D1F2D"/>
                </a:solidFill>
                <a:latin typeface="Arial" pitchFamily="34" charset="0"/>
                <a:ea typeface="Arial" pitchFamily="34" charset="-122"/>
                <a:cs typeface="Arial" pitchFamily="34" charset="-120"/>
              </a:rPr>
              <a:t>List three specific hazards for that location.</a:t>
            </a:r>
            <a:endParaRPr lang="en-US" sz="2100" dirty="0"/>
          </a:p>
        </p:txBody>
      </p:sp>
      <p:sp>
        <p:nvSpPr>
          <p:cNvPr id="15" name="Text 13"/>
          <p:cNvSpPr/>
          <p:nvPr/>
        </p:nvSpPr>
        <p:spPr>
          <a:xfrm>
            <a:off x="12290375" y="4642247"/>
            <a:ext cx="4794238" cy="655141"/>
          </a:xfrm>
          <a:prstGeom prst="rect">
            <a:avLst/>
          </a:prstGeom>
          <a:noFill/>
          <a:ln/>
        </p:spPr>
        <p:txBody>
          <a:bodyPr wrap="square" lIns="25400" tIns="25400" rIns="25400" bIns="25400" rtlCol="0" anchor="t">
            <a:normAutofit/>
          </a:bodyPr>
          <a:lstStyle/>
          <a:p>
            <a:pPr algn="l" indent="0" marL="0">
              <a:lnSpc>
                <a:spcPct val="135000"/>
              </a:lnSpc>
              <a:buNone/>
            </a:pPr>
            <a:r>
              <a:rPr lang="en-US" sz="1800" dirty="0">
                <a:solidFill>
                  <a:srgbClr val="5A7A8A"/>
                </a:solidFill>
                <a:latin typeface="Arial" pitchFamily="34" charset="0"/>
                <a:ea typeface="Arial" pitchFamily="34" charset="-122"/>
                <a:cs typeface="Arial" pitchFamily="34" charset="-120"/>
              </a:rPr>
              <a:t>Use Lesson 4's hazard map. Cold water? Rips? Murky water? Submerged objects?</a:t>
            </a:r>
            <a:endParaRPr lang="en-US" sz="1800" dirty="0"/>
          </a:p>
        </p:txBody>
      </p:sp>
      <p:sp>
        <p:nvSpPr>
          <p:cNvPr id="16" name="Shape 14"/>
          <p:cNvSpPr/>
          <p:nvPr/>
        </p:nvSpPr>
        <p:spPr>
          <a:xfrm>
            <a:off x="1047750" y="6299746"/>
            <a:ext cx="5245001" cy="3149054"/>
          </a:xfrm>
          <a:prstGeom prst="roundRect">
            <a:avLst>
              <a:gd name="adj" fmla="val 5444"/>
            </a:avLst>
          </a:prstGeom>
          <a:solidFill>
            <a:srgbClr val="FFFFFF"/>
          </a:solidFill>
          <a:ln w="9525">
            <a:solidFill>
              <a:srgbClr val="CDD9E0"/>
            </a:solidFill>
            <a:prstDash val="solid"/>
          </a:ln>
        </p:spPr>
        <p:txBody>
          <a:bodyPr/>
          <a:p/>
        </p:txBody>
      </p:sp>
      <p:sp>
        <p:nvSpPr>
          <p:cNvPr id="17" name="Text 15"/>
          <p:cNvSpPr/>
          <p:nvPr/>
        </p:nvSpPr>
        <p:spPr>
          <a:xfrm>
            <a:off x="1343025" y="6575971"/>
            <a:ext cx="4794084" cy="304800"/>
          </a:xfrm>
          <a:prstGeom prst="rect">
            <a:avLst/>
          </a:prstGeom>
          <a:noFill/>
          <a:ln/>
        </p:spPr>
        <p:txBody>
          <a:bodyPr wrap="square" lIns="25400" tIns="25400" rIns="25400" bIns="25400" rtlCol="0" anchor="t">
            <a:normAutofit/>
          </a:bodyPr>
          <a:lstStyle/>
          <a:p>
            <a:pPr algn="l" indent="0" marL="0">
              <a:lnSpc>
                <a:spcPct val="140000"/>
              </a:lnSpc>
              <a:buNone/>
            </a:pPr>
            <a:r>
              <a:rPr lang="en-US" sz="1500" b="1" spc="225" kern="0" dirty="0">
                <a:solidFill>
                  <a:srgbClr val="E65100"/>
                </a:solidFill>
                <a:latin typeface="Courier New" pitchFamily="34" charset="0"/>
                <a:ea typeface="Courier New" pitchFamily="34" charset="-122"/>
                <a:cs typeface="Courier New" pitchFamily="34" charset="-120"/>
              </a:rPr>
              <a:t>04 · Strategies</a:t>
            </a:r>
            <a:endParaRPr lang="en-US" sz="1500" dirty="0"/>
          </a:p>
        </p:txBody>
      </p:sp>
      <p:sp>
        <p:nvSpPr>
          <p:cNvPr id="18" name="Text 16"/>
          <p:cNvSpPr/>
          <p:nvPr/>
        </p:nvSpPr>
        <p:spPr>
          <a:xfrm>
            <a:off x="1343025" y="6956971"/>
            <a:ext cx="4794084" cy="678061"/>
          </a:xfrm>
          <a:prstGeom prst="rect">
            <a:avLst/>
          </a:prstGeom>
          <a:noFill/>
          <a:ln/>
        </p:spPr>
        <p:txBody>
          <a:bodyPr wrap="square" lIns="25400" tIns="25400" rIns="25400" bIns="25400" rtlCol="0" anchor="t">
            <a:normAutofit/>
          </a:bodyPr>
          <a:lstStyle/>
          <a:p>
            <a:pPr algn="l" indent="0" marL="0">
              <a:lnSpc>
                <a:spcPct val="120000"/>
              </a:lnSpc>
              <a:buNone/>
            </a:pPr>
            <a:r>
              <a:rPr lang="en-US" sz="2100" b="1" dirty="0">
                <a:solidFill>
                  <a:srgbClr val="0D1F2D"/>
                </a:solidFill>
                <a:latin typeface="Arial" pitchFamily="34" charset="0"/>
                <a:ea typeface="Arial" pitchFamily="34" charset="-122"/>
                <a:cs typeface="Arial" pitchFamily="34" charset="-120"/>
              </a:rPr>
              <a:t>Which SwimSafe rules apply, and how?</a:t>
            </a:r>
            <a:endParaRPr lang="en-US" sz="2100" dirty="0"/>
          </a:p>
        </p:txBody>
      </p:sp>
      <p:sp>
        <p:nvSpPr>
          <p:cNvPr id="19" name="Text 17"/>
          <p:cNvSpPr/>
          <p:nvPr/>
        </p:nvSpPr>
        <p:spPr>
          <a:xfrm>
            <a:off x="1343025" y="7711232"/>
            <a:ext cx="4794084" cy="655141"/>
          </a:xfrm>
          <a:prstGeom prst="rect">
            <a:avLst/>
          </a:prstGeom>
          <a:noFill/>
          <a:ln/>
        </p:spPr>
        <p:txBody>
          <a:bodyPr wrap="square" lIns="25400" tIns="25400" rIns="25400" bIns="25400" rtlCol="0" anchor="t">
            <a:normAutofit/>
          </a:bodyPr>
          <a:lstStyle/>
          <a:p>
            <a:pPr algn="l" indent="0" marL="0">
              <a:lnSpc>
                <a:spcPct val="135000"/>
              </a:lnSpc>
              <a:buNone/>
            </a:pPr>
            <a:r>
              <a:rPr lang="en-US" sz="1800" dirty="0">
                <a:solidFill>
                  <a:srgbClr val="5A7A8A"/>
                </a:solidFill>
                <a:latin typeface="Arial" pitchFamily="34" charset="0"/>
                <a:ea typeface="Arial" pitchFamily="34" charset="-122"/>
                <a:cs typeface="Arial" pitchFamily="34" charset="-120"/>
              </a:rPr>
              <a:t>Pick three of the five rules and write what you'll actually do — not just the rule name.</a:t>
            </a:r>
            <a:endParaRPr lang="en-US" sz="1800" dirty="0"/>
          </a:p>
        </p:txBody>
      </p:sp>
      <p:sp>
        <p:nvSpPr>
          <p:cNvPr id="20" name="Shape 18"/>
          <p:cNvSpPr/>
          <p:nvPr/>
        </p:nvSpPr>
        <p:spPr>
          <a:xfrm>
            <a:off x="6521351" y="6299746"/>
            <a:ext cx="5245150" cy="3149054"/>
          </a:xfrm>
          <a:prstGeom prst="roundRect">
            <a:avLst>
              <a:gd name="adj" fmla="val 5444"/>
            </a:avLst>
          </a:prstGeom>
          <a:solidFill>
            <a:srgbClr val="FFFFFF"/>
          </a:solidFill>
          <a:ln w="9525">
            <a:solidFill>
              <a:srgbClr val="CDD9E0"/>
            </a:solidFill>
            <a:prstDash val="solid"/>
          </a:ln>
        </p:spPr>
        <p:txBody>
          <a:bodyPr/>
          <a:p/>
        </p:txBody>
      </p:sp>
      <p:sp>
        <p:nvSpPr>
          <p:cNvPr id="21" name="Text 19"/>
          <p:cNvSpPr/>
          <p:nvPr/>
        </p:nvSpPr>
        <p:spPr>
          <a:xfrm>
            <a:off x="6816626" y="6575971"/>
            <a:ext cx="4794238" cy="304800"/>
          </a:xfrm>
          <a:prstGeom prst="rect">
            <a:avLst/>
          </a:prstGeom>
          <a:noFill/>
          <a:ln/>
        </p:spPr>
        <p:txBody>
          <a:bodyPr wrap="square" lIns="25400" tIns="25400" rIns="25400" bIns="25400" rtlCol="0" anchor="t">
            <a:normAutofit/>
          </a:bodyPr>
          <a:lstStyle/>
          <a:p>
            <a:pPr algn="l" indent="0" marL="0">
              <a:lnSpc>
                <a:spcPct val="140000"/>
              </a:lnSpc>
              <a:buNone/>
            </a:pPr>
            <a:r>
              <a:rPr lang="en-US" sz="1500" b="1" spc="225" kern="0" dirty="0">
                <a:solidFill>
                  <a:srgbClr val="E65100"/>
                </a:solidFill>
                <a:latin typeface="Courier New" pitchFamily="34" charset="0"/>
                <a:ea typeface="Courier New" pitchFamily="34" charset="-122"/>
                <a:cs typeface="Courier New" pitchFamily="34" charset="-120"/>
              </a:rPr>
              <a:t>05 · Emergency</a:t>
            </a:r>
            <a:endParaRPr lang="en-US" sz="1500" dirty="0"/>
          </a:p>
        </p:txBody>
      </p:sp>
      <p:sp>
        <p:nvSpPr>
          <p:cNvPr id="22" name="Text 20"/>
          <p:cNvSpPr/>
          <p:nvPr/>
        </p:nvSpPr>
        <p:spPr>
          <a:xfrm>
            <a:off x="6816626" y="6956971"/>
            <a:ext cx="4794238" cy="678061"/>
          </a:xfrm>
          <a:prstGeom prst="rect">
            <a:avLst/>
          </a:prstGeom>
          <a:noFill/>
          <a:ln/>
        </p:spPr>
        <p:txBody>
          <a:bodyPr wrap="square" lIns="25400" tIns="25400" rIns="25400" bIns="25400" rtlCol="0" anchor="t">
            <a:normAutofit/>
          </a:bodyPr>
          <a:lstStyle/>
          <a:p>
            <a:pPr algn="l" indent="0" marL="0">
              <a:lnSpc>
                <a:spcPct val="120000"/>
              </a:lnSpc>
              <a:buNone/>
            </a:pPr>
            <a:r>
              <a:rPr lang="en-US" sz="2100" b="1" dirty="0">
                <a:solidFill>
                  <a:srgbClr val="0D1F2D"/>
                </a:solidFill>
                <a:latin typeface="Arial" pitchFamily="34" charset="0"/>
                <a:ea typeface="Arial" pitchFamily="34" charset="-122"/>
                <a:cs typeface="Arial" pitchFamily="34" charset="-120"/>
              </a:rPr>
              <a:t>If something goes wrong — what's your plan?</a:t>
            </a:r>
            <a:endParaRPr lang="en-US" sz="2100" dirty="0"/>
          </a:p>
        </p:txBody>
      </p:sp>
      <p:sp>
        <p:nvSpPr>
          <p:cNvPr id="23" name="Text 21"/>
          <p:cNvSpPr/>
          <p:nvPr/>
        </p:nvSpPr>
        <p:spPr>
          <a:xfrm>
            <a:off x="6816626" y="7711232"/>
            <a:ext cx="4794238" cy="963662"/>
          </a:xfrm>
          <a:prstGeom prst="rect">
            <a:avLst/>
          </a:prstGeom>
          <a:noFill/>
          <a:ln/>
        </p:spPr>
        <p:txBody>
          <a:bodyPr wrap="square" lIns="25400" tIns="25400" rIns="25400" bIns="25400" rtlCol="0" anchor="t">
            <a:normAutofit/>
          </a:bodyPr>
          <a:lstStyle/>
          <a:p>
            <a:pPr algn="l" indent="0" marL="0">
              <a:lnSpc>
                <a:spcPct val="135000"/>
              </a:lnSpc>
              <a:buNone/>
            </a:pPr>
            <a:r>
              <a:rPr lang="en-US" sz="1800" dirty="0">
                <a:solidFill>
                  <a:srgbClr val="5A7A8A"/>
                </a:solidFill>
                <a:latin typeface="Arial" pitchFamily="34" charset="0"/>
                <a:ea typeface="Arial" pitchFamily="34" charset="-122"/>
                <a:cs typeface="Arial" pitchFamily="34" charset="-120"/>
              </a:rPr>
              <a:t>Who's calling 000? Where's the nearest patrolled beach or hospital? What's in your bag for a throw rescue?</a:t>
            </a:r>
            <a:endParaRPr lang="en-US" sz="1800" dirty="0"/>
          </a:p>
        </p:txBody>
      </p:sp>
      <p:sp>
        <p:nvSpPr>
          <p:cNvPr id="24" name="Shape 22"/>
          <p:cNvSpPr/>
          <p:nvPr/>
        </p:nvSpPr>
        <p:spPr>
          <a:xfrm>
            <a:off x="11995100" y="6299746"/>
            <a:ext cx="5245150" cy="3149054"/>
          </a:xfrm>
          <a:prstGeom prst="roundRect">
            <a:avLst>
              <a:gd name="adj" fmla="val 5444"/>
            </a:avLst>
          </a:prstGeom>
          <a:solidFill>
            <a:srgbClr val="FFFFFF"/>
          </a:solidFill>
          <a:ln w="9525">
            <a:solidFill>
              <a:srgbClr val="CDD9E0"/>
            </a:solidFill>
            <a:prstDash val="solid"/>
          </a:ln>
        </p:spPr>
        <p:txBody>
          <a:bodyPr/>
          <a:p/>
        </p:txBody>
      </p:sp>
      <p:sp>
        <p:nvSpPr>
          <p:cNvPr id="25" name="Text 23"/>
          <p:cNvSpPr/>
          <p:nvPr/>
        </p:nvSpPr>
        <p:spPr>
          <a:xfrm>
            <a:off x="12290375" y="6575971"/>
            <a:ext cx="4794238" cy="304800"/>
          </a:xfrm>
          <a:prstGeom prst="rect">
            <a:avLst/>
          </a:prstGeom>
          <a:noFill/>
          <a:ln/>
        </p:spPr>
        <p:txBody>
          <a:bodyPr wrap="square" lIns="25400" tIns="25400" rIns="25400" bIns="25400" rtlCol="0" anchor="t">
            <a:normAutofit/>
          </a:bodyPr>
          <a:lstStyle/>
          <a:p>
            <a:pPr algn="l" indent="0" marL="0">
              <a:lnSpc>
                <a:spcPct val="140000"/>
              </a:lnSpc>
              <a:buNone/>
            </a:pPr>
            <a:r>
              <a:rPr lang="en-US" sz="1500" b="1" spc="225" kern="0" dirty="0">
                <a:solidFill>
                  <a:srgbClr val="E65100"/>
                </a:solidFill>
                <a:latin typeface="Courier New" pitchFamily="34" charset="0"/>
                <a:ea typeface="Courier New" pitchFamily="34" charset="-122"/>
                <a:cs typeface="Courier New" pitchFamily="34" charset="-120"/>
              </a:rPr>
              <a:t>06 · Equipment</a:t>
            </a:r>
            <a:endParaRPr lang="en-US" sz="1500" dirty="0"/>
          </a:p>
        </p:txBody>
      </p:sp>
      <p:sp>
        <p:nvSpPr>
          <p:cNvPr id="26" name="Text 24"/>
          <p:cNvSpPr/>
          <p:nvPr/>
        </p:nvSpPr>
        <p:spPr>
          <a:xfrm>
            <a:off x="12290375" y="6956971"/>
            <a:ext cx="4794238" cy="358080"/>
          </a:xfrm>
          <a:prstGeom prst="rect">
            <a:avLst/>
          </a:prstGeom>
          <a:noFill/>
          <a:ln/>
        </p:spPr>
        <p:txBody>
          <a:bodyPr wrap="square" lIns="25400" tIns="25400" rIns="25400" bIns="25400" rtlCol="0" anchor="t">
            <a:normAutofit/>
          </a:bodyPr>
          <a:lstStyle/>
          <a:p>
            <a:pPr algn="l" indent="0" marL="0">
              <a:lnSpc>
                <a:spcPct val="120000"/>
              </a:lnSpc>
              <a:buNone/>
            </a:pPr>
            <a:r>
              <a:rPr lang="en-US" sz="2100" b="1" dirty="0">
                <a:solidFill>
                  <a:srgbClr val="0D1F2D"/>
                </a:solidFill>
                <a:latin typeface="Arial" pitchFamily="34" charset="0"/>
                <a:ea typeface="Arial" pitchFamily="34" charset="-122"/>
                <a:cs typeface="Arial" pitchFamily="34" charset="-120"/>
              </a:rPr>
              <a:t>What are you bringing?</a:t>
            </a:r>
            <a:endParaRPr lang="en-US" sz="2100" dirty="0"/>
          </a:p>
        </p:txBody>
      </p:sp>
      <p:sp>
        <p:nvSpPr>
          <p:cNvPr id="27" name="Text 25"/>
          <p:cNvSpPr/>
          <p:nvPr/>
        </p:nvSpPr>
        <p:spPr>
          <a:xfrm>
            <a:off x="12290375" y="7391251"/>
            <a:ext cx="4794238" cy="655141"/>
          </a:xfrm>
          <a:prstGeom prst="rect">
            <a:avLst/>
          </a:prstGeom>
          <a:noFill/>
          <a:ln/>
        </p:spPr>
        <p:txBody>
          <a:bodyPr wrap="square" lIns="25400" tIns="25400" rIns="25400" bIns="25400" rtlCol="0" anchor="t">
            <a:normAutofit/>
          </a:bodyPr>
          <a:lstStyle/>
          <a:p>
            <a:pPr algn="l" indent="0" marL="0">
              <a:lnSpc>
                <a:spcPct val="135000"/>
              </a:lnSpc>
              <a:buNone/>
            </a:pPr>
            <a:r>
              <a:rPr lang="en-US" sz="1800" dirty="0">
                <a:solidFill>
                  <a:srgbClr val="5A7A8A"/>
                </a:solidFill>
                <a:latin typeface="Arial" pitchFamily="34" charset="0"/>
                <a:ea typeface="Arial" pitchFamily="34" charset="-122"/>
                <a:cs typeface="Arial" pitchFamily="34" charset="-120"/>
              </a:rPr>
              <a:t>Phone charged? Sun protection? PFD if paddling? Rope/floating object in the car?</a:t>
            </a:r>
            <a:endParaRPr lang="en-US" sz="18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4F7F9"/>
        </a:solidFill>
      </p:bgPr>
    </p:bg>
    <p:spTree>
      <p:nvGrpSpPr>
        <p:cNvPr id="1" name=""/>
        <p:cNvGrpSpPr/>
        <p:nvPr/>
      </p:nvGrpSpPr>
      <p:grpSpPr>
        <a:xfrm>
          <a:off x="0" y="0"/>
          <a:ext cx="0" cy="0"/>
          <a:chOff x="0" y="0"/>
          <a:chExt cx="0" cy="0"/>
        </a:xfrm>
      </p:grpSpPr>
      <p:sp>
        <p:nvSpPr>
          <p:cNvPr id="2" name="Text 0"/>
          <p:cNvSpPr/>
          <p:nvPr/>
        </p:nvSpPr>
        <p:spPr>
          <a:xfrm>
            <a:off x="1047750" y="914400"/>
            <a:ext cx="16678275" cy="358080"/>
          </a:xfrm>
          <a:prstGeom prst="rect">
            <a:avLst/>
          </a:prstGeom>
          <a:noFill/>
          <a:ln/>
        </p:spPr>
        <p:txBody>
          <a:bodyPr wrap="square" lIns="25400" tIns="25400" rIns="25400" bIns="25400" rtlCol="0" anchor="t">
            <a:normAutofit/>
          </a:bodyPr>
          <a:lstStyle/>
          <a:p>
            <a:pPr algn="l" indent="0" marL="0">
              <a:lnSpc>
                <a:spcPct val="140000"/>
              </a:lnSpc>
              <a:buNone/>
            </a:pPr>
            <a:r>
              <a:rPr lang="en-US" sz="1800" spc="300" kern="0" dirty="0">
                <a:solidFill>
                  <a:srgbClr val="5A7A8A"/>
                </a:solidFill>
                <a:latin typeface="Courier New" pitchFamily="34" charset="0"/>
                <a:ea typeface="Courier New" pitchFamily="34" charset="-122"/>
                <a:cs typeface="Courier New" pitchFamily="34" charset="-120"/>
              </a:rPr>
              <a:t>ACTIVITY 6.2 · COMMUNICATION CAMPAIGN · PICK ONE</a:t>
            </a:r>
            <a:endParaRPr lang="en-US" sz="1800" dirty="0"/>
          </a:p>
        </p:txBody>
      </p:sp>
      <p:sp>
        <p:nvSpPr>
          <p:cNvPr id="3" name="Text 1"/>
          <p:cNvSpPr/>
          <p:nvPr/>
        </p:nvSpPr>
        <p:spPr>
          <a:xfrm>
            <a:off x="1047750" y="1405830"/>
            <a:ext cx="16678275" cy="1558230"/>
          </a:xfrm>
          <a:prstGeom prst="rect">
            <a:avLst/>
          </a:prstGeom>
          <a:noFill/>
          <a:ln/>
        </p:spPr>
        <p:txBody>
          <a:bodyPr wrap="square" lIns="25400" tIns="25400" rIns="25400" bIns="25400" rtlCol="0" anchor="t">
            <a:normAutofit/>
          </a:bodyPr>
          <a:lstStyle/>
          <a:p>
            <a:pPr algn="l" indent="0" marL="0">
              <a:lnSpc>
                <a:spcPct val="105000"/>
              </a:lnSpc>
              <a:buNone/>
            </a:pPr>
            <a:r>
              <a:rPr lang="en-US" sz="5700" b="1" spc="-75" kern="0" dirty="0">
                <a:solidFill>
                  <a:srgbClr val="0D1F2D"/>
                </a:solidFill>
                <a:latin typeface="Arial" pitchFamily="34" charset="0"/>
                <a:ea typeface="Arial" pitchFamily="34" charset="-122"/>
                <a:cs typeface="Arial" pitchFamily="34" charset="-120"/>
              </a:rPr>
              <a:t>Design water-safety content for a real audience</a:t>
            </a:r>
            <a:endParaRPr lang="en-US" sz="5700" dirty="0"/>
          </a:p>
        </p:txBody>
      </p:sp>
      <p:sp>
        <p:nvSpPr>
          <p:cNvPr id="4" name="Shape 2"/>
          <p:cNvSpPr/>
          <p:nvPr/>
        </p:nvSpPr>
        <p:spPr>
          <a:xfrm>
            <a:off x="1047750" y="3383161"/>
            <a:ext cx="5206901" cy="6065639"/>
          </a:xfrm>
          <a:prstGeom prst="roundRect">
            <a:avLst>
              <a:gd name="adj" fmla="val 4024"/>
            </a:avLst>
          </a:prstGeom>
          <a:solidFill>
            <a:srgbClr val="FFFFFF"/>
          </a:solidFill>
          <a:ln w="9525">
            <a:solidFill>
              <a:srgbClr val="CDD9E0"/>
            </a:solidFill>
            <a:prstDash val="solid"/>
          </a:ln>
        </p:spPr>
        <p:txBody>
          <a:bodyPr/>
          <a:p/>
        </p:txBody>
      </p:sp>
      <p:sp>
        <p:nvSpPr>
          <p:cNvPr id="5" name="Shape 3"/>
          <p:cNvSpPr/>
          <p:nvPr/>
        </p:nvSpPr>
        <p:spPr>
          <a:xfrm>
            <a:off x="1057275" y="3392686"/>
            <a:ext cx="5187851" cy="1657350"/>
          </a:xfrm>
          <a:prstGeom prst="rect">
            <a:avLst/>
          </a:prstGeom>
          <a:solidFill>
            <a:srgbClr val="1565C0"/>
          </a:solidFill>
          <a:ln/>
        </p:spPr>
        <p:txBody>
          <a:bodyPr/>
          <a:p/>
        </p:txBody>
      </p:sp>
      <p:sp>
        <p:nvSpPr>
          <p:cNvPr id="6" name="Text 4"/>
          <p:cNvSpPr/>
          <p:nvPr/>
        </p:nvSpPr>
        <p:spPr>
          <a:xfrm>
            <a:off x="1362075" y="3659386"/>
            <a:ext cx="4715598" cy="800100"/>
          </a:xfrm>
          <a:prstGeom prst="rect">
            <a:avLst/>
          </a:prstGeom>
          <a:noFill/>
          <a:ln/>
        </p:spPr>
        <p:txBody>
          <a:bodyPr wrap="square" lIns="25400" tIns="25400" rIns="25400" bIns="25400" rtlCol="0" anchor="t">
            <a:normAutofit/>
          </a:bodyPr>
          <a:lstStyle/>
          <a:p>
            <a:pPr algn="l" indent="0" marL="0">
              <a:lnSpc>
                <a:spcPct val="100000"/>
              </a:lnSpc>
              <a:buNone/>
            </a:pPr>
            <a:r>
              <a:rPr lang="en-US" sz="6000" b="1" dirty="0">
                <a:solidFill>
                  <a:srgbClr val="FFFFFF"/>
                </a:solidFill>
                <a:latin typeface="Arial" pitchFamily="34" charset="0"/>
                <a:ea typeface="Arial" pitchFamily="34" charset="-122"/>
                <a:cs typeface="Arial" pitchFamily="34" charset="-120"/>
              </a:rPr>
              <a:t>A</a:t>
            </a:r>
            <a:endParaRPr lang="en-US" sz="6000" dirty="0"/>
          </a:p>
        </p:txBody>
      </p:sp>
      <p:sp>
        <p:nvSpPr>
          <p:cNvPr id="7" name="Text 5"/>
          <p:cNvSpPr/>
          <p:nvPr/>
        </p:nvSpPr>
        <p:spPr>
          <a:xfrm>
            <a:off x="1362075" y="4516636"/>
            <a:ext cx="4715598" cy="304800"/>
          </a:xfrm>
          <a:prstGeom prst="rect">
            <a:avLst/>
          </a:prstGeom>
          <a:noFill/>
          <a:ln/>
        </p:spPr>
        <p:txBody>
          <a:bodyPr wrap="square" lIns="25400" tIns="25400" rIns="25400" bIns="25400" rtlCol="0" anchor="t">
            <a:normAutofit/>
          </a:bodyPr>
          <a:lstStyle/>
          <a:p>
            <a:pPr algn="l" indent="0" marL="0">
              <a:lnSpc>
                <a:spcPct val="140000"/>
              </a:lnSpc>
              <a:buNone/>
            </a:pPr>
            <a:r>
              <a:rPr lang="en-US" sz="1500" spc="225" kern="0" dirty="0">
                <a:solidFill>
                  <a:srgbClr val="FFFFFF">
                    <a:alpha val="80000"/>
                  </a:srgbClr>
                </a:solidFill>
                <a:latin typeface="Courier New" pitchFamily="34" charset="0"/>
                <a:ea typeface="Courier New" pitchFamily="34" charset="-122"/>
                <a:cs typeface="Courier New" pitchFamily="34" charset="-120"/>
              </a:rPr>
              <a:t>SOCIAL MEDIA</a:t>
            </a:r>
            <a:endParaRPr lang="en-US" sz="1500" dirty="0"/>
          </a:p>
        </p:txBody>
      </p:sp>
      <p:sp>
        <p:nvSpPr>
          <p:cNvPr id="8" name="Text 6"/>
          <p:cNvSpPr/>
          <p:nvPr/>
        </p:nvSpPr>
        <p:spPr>
          <a:xfrm>
            <a:off x="1362075" y="5354836"/>
            <a:ext cx="4715598" cy="381000"/>
          </a:xfrm>
          <a:prstGeom prst="rect">
            <a:avLst/>
          </a:prstGeom>
          <a:noFill/>
          <a:ln/>
        </p:spPr>
        <p:txBody>
          <a:bodyPr wrap="square" lIns="25400" tIns="25400" rIns="25400" bIns="25400" rtlCol="0" anchor="t">
            <a:normAutofit/>
          </a:bodyPr>
          <a:lstStyle/>
          <a:p>
            <a:pPr algn="l" indent="0" marL="0">
              <a:lnSpc>
                <a:spcPct val="120000"/>
              </a:lnSpc>
              <a:buNone/>
            </a:pPr>
            <a:r>
              <a:rPr lang="en-US" sz="2250" b="1" dirty="0">
                <a:solidFill>
                  <a:srgbClr val="0D1F2D"/>
                </a:solidFill>
                <a:latin typeface="Arial" pitchFamily="34" charset="0"/>
                <a:ea typeface="Arial" pitchFamily="34" charset="-122"/>
                <a:cs typeface="Arial" pitchFamily="34" charset="-120"/>
              </a:rPr>
              <a:t>For teenagers 13–17</a:t>
            </a:r>
            <a:endParaRPr lang="en-US" sz="2250" dirty="0"/>
          </a:p>
        </p:txBody>
      </p:sp>
      <p:sp>
        <p:nvSpPr>
          <p:cNvPr id="9" name="Text 7"/>
          <p:cNvSpPr/>
          <p:nvPr/>
        </p:nvSpPr>
        <p:spPr>
          <a:xfrm>
            <a:off x="1362075" y="5907286"/>
            <a:ext cx="4715598" cy="998041"/>
          </a:xfrm>
          <a:prstGeom prst="rect">
            <a:avLst/>
          </a:prstGeom>
          <a:noFill/>
          <a:ln/>
        </p:spPr>
        <p:txBody>
          <a:bodyPr wrap="square" lIns="25400" tIns="25400" rIns="25400" bIns="25400" rtlCol="0" anchor="t">
            <a:normAutofit/>
          </a:bodyPr>
          <a:lstStyle/>
          <a:p>
            <a:pPr algn="l" indent="0" marL="0">
              <a:lnSpc>
                <a:spcPct val="140000"/>
              </a:lnSpc>
              <a:buNone/>
            </a:pPr>
            <a:r>
              <a:rPr lang="en-US" sz="1800" dirty="0">
                <a:solidFill>
                  <a:srgbClr val="5A7A8A"/>
                </a:solidFill>
                <a:latin typeface="Arial" pitchFamily="34" charset="0"/>
                <a:ea typeface="Arial" pitchFamily="34" charset="-122"/>
                <a:cs typeface="Arial" pitchFamily="34" charset="-120"/>
              </a:rPr>
              <a:t>Instagram or TikTok carousel — 1 to 3 slides. Must include one Victorian statistic with its source URL and a clear call to action.</a:t>
            </a:r>
            <a:endParaRPr lang="en-US" sz="1800" dirty="0"/>
          </a:p>
        </p:txBody>
      </p:sp>
      <p:sp>
        <p:nvSpPr>
          <p:cNvPr id="10" name="Shape 8"/>
          <p:cNvSpPr/>
          <p:nvPr/>
        </p:nvSpPr>
        <p:spPr>
          <a:xfrm>
            <a:off x="6540401" y="3383161"/>
            <a:ext cx="5207050" cy="6065639"/>
          </a:xfrm>
          <a:prstGeom prst="roundRect">
            <a:avLst>
              <a:gd name="adj" fmla="val 4024"/>
            </a:avLst>
          </a:prstGeom>
          <a:solidFill>
            <a:srgbClr val="FFFFFF"/>
          </a:solidFill>
          <a:ln w="9525">
            <a:solidFill>
              <a:srgbClr val="CDD9E0"/>
            </a:solidFill>
            <a:prstDash val="solid"/>
          </a:ln>
        </p:spPr>
        <p:txBody>
          <a:bodyPr/>
          <a:p/>
        </p:txBody>
      </p:sp>
      <p:sp>
        <p:nvSpPr>
          <p:cNvPr id="11" name="Shape 9"/>
          <p:cNvSpPr/>
          <p:nvPr/>
        </p:nvSpPr>
        <p:spPr>
          <a:xfrm>
            <a:off x="6549926" y="3392686"/>
            <a:ext cx="5188000" cy="1657350"/>
          </a:xfrm>
          <a:prstGeom prst="rect">
            <a:avLst/>
          </a:prstGeom>
          <a:solidFill>
            <a:srgbClr val="1E8449"/>
          </a:solidFill>
          <a:ln/>
        </p:spPr>
        <p:txBody>
          <a:bodyPr/>
          <a:p/>
        </p:txBody>
      </p:sp>
      <p:sp>
        <p:nvSpPr>
          <p:cNvPr id="12" name="Text 10"/>
          <p:cNvSpPr/>
          <p:nvPr/>
        </p:nvSpPr>
        <p:spPr>
          <a:xfrm>
            <a:off x="6854726" y="3659386"/>
            <a:ext cx="4715752" cy="800100"/>
          </a:xfrm>
          <a:prstGeom prst="rect">
            <a:avLst/>
          </a:prstGeom>
          <a:noFill/>
          <a:ln/>
        </p:spPr>
        <p:txBody>
          <a:bodyPr wrap="square" lIns="25400" tIns="25400" rIns="25400" bIns="25400" rtlCol="0" anchor="t">
            <a:normAutofit/>
          </a:bodyPr>
          <a:lstStyle/>
          <a:p>
            <a:pPr algn="l" indent="0" marL="0">
              <a:lnSpc>
                <a:spcPct val="100000"/>
              </a:lnSpc>
              <a:buNone/>
            </a:pPr>
            <a:r>
              <a:rPr lang="en-US" sz="6000" b="1" dirty="0">
                <a:solidFill>
                  <a:srgbClr val="FFFFFF"/>
                </a:solidFill>
                <a:latin typeface="Arial" pitchFamily="34" charset="0"/>
                <a:ea typeface="Arial" pitchFamily="34" charset="-122"/>
                <a:cs typeface="Arial" pitchFamily="34" charset="-120"/>
              </a:rPr>
              <a:t>B</a:t>
            </a:r>
            <a:endParaRPr lang="en-US" sz="6000" dirty="0"/>
          </a:p>
        </p:txBody>
      </p:sp>
      <p:sp>
        <p:nvSpPr>
          <p:cNvPr id="13" name="Text 11"/>
          <p:cNvSpPr/>
          <p:nvPr/>
        </p:nvSpPr>
        <p:spPr>
          <a:xfrm>
            <a:off x="6854726" y="4516636"/>
            <a:ext cx="4715752" cy="304800"/>
          </a:xfrm>
          <a:prstGeom prst="rect">
            <a:avLst/>
          </a:prstGeom>
          <a:noFill/>
          <a:ln/>
        </p:spPr>
        <p:txBody>
          <a:bodyPr wrap="square" lIns="25400" tIns="25400" rIns="25400" bIns="25400" rtlCol="0" anchor="t">
            <a:normAutofit/>
          </a:bodyPr>
          <a:lstStyle/>
          <a:p>
            <a:pPr algn="l" indent="0" marL="0">
              <a:lnSpc>
                <a:spcPct val="140000"/>
              </a:lnSpc>
              <a:buNone/>
            </a:pPr>
            <a:r>
              <a:rPr lang="en-US" sz="1500" spc="225" kern="0" dirty="0">
                <a:solidFill>
                  <a:srgbClr val="FFFFFF">
                    <a:alpha val="80000"/>
                  </a:srgbClr>
                </a:solidFill>
                <a:latin typeface="Courier New" pitchFamily="34" charset="0"/>
                <a:ea typeface="Courier New" pitchFamily="34" charset="-122"/>
                <a:cs typeface="Courier New" pitchFamily="34" charset="-120"/>
              </a:rPr>
              <a:t>LETTER</a:t>
            </a:r>
            <a:endParaRPr lang="en-US" sz="1500" dirty="0"/>
          </a:p>
        </p:txBody>
      </p:sp>
      <p:sp>
        <p:nvSpPr>
          <p:cNvPr id="14" name="Text 12"/>
          <p:cNvSpPr/>
          <p:nvPr/>
        </p:nvSpPr>
        <p:spPr>
          <a:xfrm>
            <a:off x="6854726" y="5354836"/>
            <a:ext cx="4715752" cy="381000"/>
          </a:xfrm>
          <a:prstGeom prst="rect">
            <a:avLst/>
          </a:prstGeom>
          <a:noFill/>
          <a:ln/>
        </p:spPr>
        <p:txBody>
          <a:bodyPr wrap="square" lIns="25400" tIns="25400" rIns="25400" bIns="25400" rtlCol="0" anchor="t">
            <a:normAutofit/>
          </a:bodyPr>
          <a:lstStyle/>
          <a:p>
            <a:pPr algn="l" indent="0" marL="0">
              <a:lnSpc>
                <a:spcPct val="120000"/>
              </a:lnSpc>
              <a:buNone/>
            </a:pPr>
            <a:r>
              <a:rPr lang="en-US" sz="2250" b="1" dirty="0">
                <a:solidFill>
                  <a:srgbClr val="0D1F2D"/>
                </a:solidFill>
                <a:latin typeface="Arial" pitchFamily="34" charset="0"/>
                <a:ea typeface="Arial" pitchFamily="34" charset="-122"/>
                <a:cs typeface="Arial" pitchFamily="34" charset="-120"/>
              </a:rPr>
              <a:t>For a Year 5 student</a:t>
            </a:r>
            <a:endParaRPr lang="en-US" sz="2250" dirty="0"/>
          </a:p>
        </p:txBody>
      </p:sp>
      <p:sp>
        <p:nvSpPr>
          <p:cNvPr id="15" name="Text 13"/>
          <p:cNvSpPr/>
          <p:nvPr/>
        </p:nvSpPr>
        <p:spPr>
          <a:xfrm>
            <a:off x="6854726" y="5907286"/>
            <a:ext cx="4715752" cy="998041"/>
          </a:xfrm>
          <a:prstGeom prst="rect">
            <a:avLst/>
          </a:prstGeom>
          <a:noFill/>
          <a:ln/>
        </p:spPr>
        <p:txBody>
          <a:bodyPr wrap="square" lIns="25400" tIns="25400" rIns="25400" bIns="25400" rtlCol="0" anchor="t">
            <a:normAutofit/>
          </a:bodyPr>
          <a:lstStyle/>
          <a:p>
            <a:pPr algn="l" indent="0" marL="0">
              <a:lnSpc>
                <a:spcPct val="140000"/>
              </a:lnSpc>
              <a:buNone/>
            </a:pPr>
            <a:r>
              <a:rPr lang="en-US" sz="1800" dirty="0">
                <a:solidFill>
                  <a:srgbClr val="5A7A8A"/>
                </a:solidFill>
                <a:latin typeface="Arial" pitchFamily="34" charset="0"/>
                <a:ea typeface="Arial" pitchFamily="34" charset="-122"/>
                <a:cs typeface="Arial" pitchFamily="34" charset="-120"/>
              </a:rPr>
              <a:t>~200 words explaining the three most important things they need to know about Victorian water safety before summer.</a:t>
            </a:r>
            <a:endParaRPr lang="en-US" sz="1800" dirty="0"/>
          </a:p>
        </p:txBody>
      </p:sp>
      <p:sp>
        <p:nvSpPr>
          <p:cNvPr id="16" name="Shape 14"/>
          <p:cNvSpPr/>
          <p:nvPr/>
        </p:nvSpPr>
        <p:spPr>
          <a:xfrm>
            <a:off x="12033200" y="3383161"/>
            <a:ext cx="5207050" cy="6065639"/>
          </a:xfrm>
          <a:prstGeom prst="roundRect">
            <a:avLst>
              <a:gd name="adj" fmla="val 4024"/>
            </a:avLst>
          </a:prstGeom>
          <a:solidFill>
            <a:srgbClr val="FFFFFF"/>
          </a:solidFill>
          <a:ln w="9525">
            <a:solidFill>
              <a:srgbClr val="CDD9E0"/>
            </a:solidFill>
            <a:prstDash val="solid"/>
          </a:ln>
        </p:spPr>
        <p:txBody>
          <a:bodyPr/>
          <a:p/>
        </p:txBody>
      </p:sp>
      <p:sp>
        <p:nvSpPr>
          <p:cNvPr id="17" name="Shape 15"/>
          <p:cNvSpPr/>
          <p:nvPr/>
        </p:nvSpPr>
        <p:spPr>
          <a:xfrm>
            <a:off x="12042725" y="3392686"/>
            <a:ext cx="5188000" cy="1657350"/>
          </a:xfrm>
          <a:prstGeom prst="rect">
            <a:avLst/>
          </a:prstGeom>
          <a:solidFill>
            <a:srgbClr val="6A1B9A"/>
          </a:solidFill>
          <a:ln/>
        </p:spPr>
        <p:txBody>
          <a:bodyPr/>
          <a:p/>
        </p:txBody>
      </p:sp>
      <p:sp>
        <p:nvSpPr>
          <p:cNvPr id="18" name="Text 16"/>
          <p:cNvSpPr/>
          <p:nvPr/>
        </p:nvSpPr>
        <p:spPr>
          <a:xfrm>
            <a:off x="12347525" y="3659386"/>
            <a:ext cx="4715752" cy="800100"/>
          </a:xfrm>
          <a:prstGeom prst="rect">
            <a:avLst/>
          </a:prstGeom>
          <a:noFill/>
          <a:ln/>
        </p:spPr>
        <p:txBody>
          <a:bodyPr wrap="square" lIns="25400" tIns="25400" rIns="25400" bIns="25400" rtlCol="0" anchor="t">
            <a:normAutofit/>
          </a:bodyPr>
          <a:lstStyle/>
          <a:p>
            <a:pPr algn="l" indent="0" marL="0">
              <a:lnSpc>
                <a:spcPct val="100000"/>
              </a:lnSpc>
              <a:buNone/>
            </a:pPr>
            <a:r>
              <a:rPr lang="en-US" sz="6000" b="1" dirty="0">
                <a:solidFill>
                  <a:srgbClr val="FFFFFF"/>
                </a:solidFill>
                <a:latin typeface="Arial" pitchFamily="34" charset="0"/>
                <a:ea typeface="Arial" pitchFamily="34" charset="-122"/>
                <a:cs typeface="Arial" pitchFamily="34" charset="-120"/>
              </a:rPr>
              <a:t>C ★</a:t>
            </a:r>
            <a:endParaRPr lang="en-US" sz="6000" dirty="0"/>
          </a:p>
        </p:txBody>
      </p:sp>
      <p:sp>
        <p:nvSpPr>
          <p:cNvPr id="19" name="Text 17"/>
          <p:cNvSpPr/>
          <p:nvPr/>
        </p:nvSpPr>
        <p:spPr>
          <a:xfrm>
            <a:off x="12347525" y="4516636"/>
            <a:ext cx="4715752" cy="304800"/>
          </a:xfrm>
          <a:prstGeom prst="rect">
            <a:avLst/>
          </a:prstGeom>
          <a:noFill/>
          <a:ln/>
        </p:spPr>
        <p:txBody>
          <a:bodyPr wrap="square" lIns="25400" tIns="25400" rIns="25400" bIns="25400" rtlCol="0" anchor="t">
            <a:normAutofit/>
          </a:bodyPr>
          <a:lstStyle/>
          <a:p>
            <a:pPr algn="l" indent="0" marL="0">
              <a:lnSpc>
                <a:spcPct val="140000"/>
              </a:lnSpc>
              <a:buNone/>
            </a:pPr>
            <a:r>
              <a:rPr lang="en-US" sz="1500" spc="225" kern="0" dirty="0">
                <a:solidFill>
                  <a:srgbClr val="FFFFFF">
                    <a:alpha val="80000"/>
                  </a:srgbClr>
                </a:solidFill>
                <a:latin typeface="Courier New" pitchFamily="34" charset="0"/>
                <a:ea typeface="Courier New" pitchFamily="34" charset="-122"/>
                <a:cs typeface="Courier New" pitchFamily="34" charset="-120"/>
              </a:rPr>
              <a:t>COMMUNITY FACTSHEET</a:t>
            </a:r>
            <a:endParaRPr lang="en-US" sz="1500" dirty="0"/>
          </a:p>
        </p:txBody>
      </p:sp>
      <p:sp>
        <p:nvSpPr>
          <p:cNvPr id="20" name="Text 18"/>
          <p:cNvSpPr/>
          <p:nvPr/>
        </p:nvSpPr>
        <p:spPr>
          <a:xfrm>
            <a:off x="12347525" y="5354836"/>
            <a:ext cx="4715752" cy="381000"/>
          </a:xfrm>
          <a:prstGeom prst="rect">
            <a:avLst/>
          </a:prstGeom>
          <a:noFill/>
          <a:ln/>
        </p:spPr>
        <p:txBody>
          <a:bodyPr wrap="square" lIns="25400" tIns="25400" rIns="25400" bIns="25400" rtlCol="0" anchor="t">
            <a:normAutofit/>
          </a:bodyPr>
          <a:lstStyle/>
          <a:p>
            <a:pPr algn="l" indent="0" marL="0">
              <a:lnSpc>
                <a:spcPct val="120000"/>
              </a:lnSpc>
              <a:buNone/>
            </a:pPr>
            <a:r>
              <a:rPr lang="en-US" sz="2250" b="1" dirty="0">
                <a:solidFill>
                  <a:srgbClr val="0D1F2D"/>
                </a:solidFill>
                <a:latin typeface="Arial" pitchFamily="34" charset="0"/>
                <a:ea typeface="Arial" pitchFamily="34" charset="-122"/>
                <a:cs typeface="Arial" pitchFamily="34" charset="-120"/>
              </a:rPr>
              <a:t>For someone new to Australia</a:t>
            </a:r>
            <a:endParaRPr lang="en-US" sz="2250" dirty="0"/>
          </a:p>
        </p:txBody>
      </p:sp>
      <p:sp>
        <p:nvSpPr>
          <p:cNvPr id="21" name="Text 19"/>
          <p:cNvSpPr/>
          <p:nvPr/>
        </p:nvSpPr>
        <p:spPr>
          <a:xfrm>
            <a:off x="12347525" y="5907286"/>
            <a:ext cx="4715752" cy="998041"/>
          </a:xfrm>
          <a:prstGeom prst="rect">
            <a:avLst/>
          </a:prstGeom>
          <a:noFill/>
          <a:ln/>
        </p:spPr>
        <p:txBody>
          <a:bodyPr wrap="square" lIns="25400" tIns="25400" rIns="25400" bIns="25400" rtlCol="0" anchor="t">
            <a:normAutofit/>
          </a:bodyPr>
          <a:lstStyle/>
          <a:p>
            <a:pPr algn="l" indent="0" marL="0">
              <a:lnSpc>
                <a:spcPct val="140000"/>
              </a:lnSpc>
              <a:buNone/>
            </a:pPr>
            <a:r>
              <a:rPr lang="en-US" sz="1800" dirty="0">
                <a:solidFill>
                  <a:srgbClr val="5A7A8A"/>
                </a:solidFill>
                <a:latin typeface="Arial" pitchFamily="34" charset="0"/>
                <a:ea typeface="Arial" pitchFamily="34" charset="-122"/>
                <a:cs typeface="Arial" pitchFamily="34" charset="-120"/>
              </a:rPr>
              <a:t>Multilingual or plain-English factsheet on beach flags and Victorian waterway dangers. Five key points and two statistics.</a:t>
            </a:r>
            <a:endParaRPr lang="en-US" sz="18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4F7F9"/>
        </a:solidFill>
      </p:bgPr>
    </p:bg>
    <p:spTree>
      <p:nvGrpSpPr>
        <p:cNvPr id="1" name=""/>
        <p:cNvGrpSpPr/>
        <p:nvPr/>
      </p:nvGrpSpPr>
      <p:grpSpPr>
        <a:xfrm>
          <a:off x="0" y="0"/>
          <a:ext cx="0" cy="0"/>
          <a:chOff x="0" y="0"/>
          <a:chExt cx="0" cy="0"/>
        </a:xfrm>
      </p:grpSpPr>
      <p:sp>
        <p:nvSpPr>
          <p:cNvPr id="2" name="Text 0"/>
          <p:cNvSpPr/>
          <p:nvPr/>
        </p:nvSpPr>
        <p:spPr>
          <a:xfrm>
            <a:off x="1047750" y="914400"/>
            <a:ext cx="16678275" cy="358080"/>
          </a:xfrm>
          <a:prstGeom prst="rect">
            <a:avLst/>
          </a:prstGeom>
          <a:noFill/>
          <a:ln/>
        </p:spPr>
        <p:txBody>
          <a:bodyPr wrap="square" lIns="25400" tIns="25400" rIns="25400" bIns="25400" rtlCol="0" anchor="t">
            <a:normAutofit/>
          </a:bodyPr>
          <a:lstStyle/>
          <a:p>
            <a:pPr algn="l" indent="0" marL="0">
              <a:lnSpc>
                <a:spcPct val="140000"/>
              </a:lnSpc>
              <a:buNone/>
            </a:pPr>
            <a:r>
              <a:rPr lang="en-US" sz="1800" spc="300" kern="0" dirty="0">
                <a:solidFill>
                  <a:srgbClr val="5A7A8A"/>
                </a:solidFill>
                <a:latin typeface="Courier New" pitchFamily="34" charset="0"/>
                <a:ea typeface="Courier New" pitchFamily="34" charset="-122"/>
                <a:cs typeface="Courier New" pitchFamily="34" charset="-120"/>
              </a:rPr>
              <a:t>ASSESSMENT CRITERIA</a:t>
            </a:r>
            <a:endParaRPr lang="en-US" sz="1800" dirty="0"/>
          </a:p>
        </p:txBody>
      </p:sp>
      <p:sp>
        <p:nvSpPr>
          <p:cNvPr id="3" name="Text 1"/>
          <p:cNvSpPr/>
          <p:nvPr/>
        </p:nvSpPr>
        <p:spPr>
          <a:xfrm>
            <a:off x="1047750" y="1405830"/>
            <a:ext cx="16678275" cy="798165"/>
          </a:xfrm>
          <a:prstGeom prst="rect">
            <a:avLst/>
          </a:prstGeom>
          <a:noFill/>
          <a:ln/>
        </p:spPr>
        <p:txBody>
          <a:bodyPr wrap="square" lIns="25400" tIns="25400" rIns="25400" bIns="25400" rtlCol="0" anchor="t">
            <a:normAutofit/>
          </a:bodyPr>
          <a:lstStyle/>
          <a:p>
            <a:pPr algn="l" indent="0" marL="0">
              <a:lnSpc>
                <a:spcPct val="105000"/>
              </a:lnSpc>
              <a:buNone/>
            </a:pPr>
            <a:r>
              <a:rPr lang="en-US" sz="5700" b="1" spc="-75" kern="0" dirty="0">
                <a:solidFill>
                  <a:srgbClr val="0D1F2D"/>
                </a:solidFill>
                <a:latin typeface="Arial" pitchFamily="34" charset="0"/>
                <a:ea typeface="Arial" pitchFamily="34" charset="-122"/>
                <a:cs typeface="Arial" pitchFamily="34" charset="-120"/>
              </a:rPr>
              <a:t>What a great campaign looks like</a:t>
            </a:r>
            <a:endParaRPr lang="en-US" sz="5700" dirty="0"/>
          </a:p>
        </p:txBody>
      </p:sp>
      <p:sp>
        <p:nvSpPr>
          <p:cNvPr id="4" name="Shape 2"/>
          <p:cNvSpPr/>
          <p:nvPr/>
        </p:nvSpPr>
        <p:spPr>
          <a:xfrm>
            <a:off x="1047750" y="2623096"/>
            <a:ext cx="16192500" cy="862013"/>
          </a:xfrm>
          <a:prstGeom prst="roundRect">
            <a:avLst>
              <a:gd name="adj" fmla="val 15470"/>
            </a:avLst>
          </a:prstGeom>
          <a:solidFill>
            <a:srgbClr val="FFFFFF"/>
          </a:solidFill>
          <a:ln w="9525">
            <a:solidFill>
              <a:srgbClr val="CDD9E0"/>
            </a:solidFill>
            <a:prstDash val="solid"/>
          </a:ln>
        </p:spPr>
        <p:txBody>
          <a:bodyPr/>
          <a:p/>
        </p:txBody>
      </p:sp>
      <p:sp>
        <p:nvSpPr>
          <p:cNvPr id="5" name="Shape 3"/>
          <p:cNvSpPr/>
          <p:nvPr/>
        </p:nvSpPr>
        <p:spPr>
          <a:xfrm>
            <a:off x="1323975" y="2861221"/>
            <a:ext cx="381000" cy="381000"/>
          </a:xfrm>
          <a:prstGeom prst="roundRect">
            <a:avLst>
              <a:gd name="adj" fmla="val 20000"/>
            </a:avLst>
          </a:prstGeom>
          <a:ln w="28575">
            <a:solidFill>
              <a:srgbClr val="006494"/>
            </a:solidFill>
            <a:prstDash val="solid"/>
          </a:ln>
        </p:spPr>
        <p:txBody>
          <a:bodyPr/>
          <a:p/>
        </p:txBody>
      </p:sp>
      <p:sp>
        <p:nvSpPr>
          <p:cNvPr id="6" name="Text 4"/>
          <p:cNvSpPr/>
          <p:nvPr/>
        </p:nvSpPr>
        <p:spPr>
          <a:xfrm>
            <a:off x="2124075" y="2861221"/>
            <a:ext cx="15285149" cy="423863"/>
          </a:xfrm>
          <a:prstGeom prst="rect">
            <a:avLst/>
          </a:prstGeom>
          <a:noFill/>
          <a:ln/>
        </p:spPr>
        <p:txBody>
          <a:bodyPr wrap="square" lIns="25400" tIns="25400" rIns="25400" bIns="25400" rtlCol="0" anchor="t">
            <a:normAutofit/>
          </a:bodyPr>
          <a:lstStyle/>
          <a:p>
            <a:pPr algn="l" indent="0" marL="0">
              <a:lnSpc>
                <a:spcPct val="135000"/>
              </a:lnSpc>
              <a:buNone/>
            </a:pPr>
            <a:r>
              <a:rPr lang="en-US" sz="2250" dirty="0">
                <a:solidFill>
                  <a:srgbClr val="0D1F2D"/>
                </a:solidFill>
                <a:latin typeface="Arial" pitchFamily="34" charset="0"/>
                <a:ea typeface="Arial" pitchFamily="34" charset="-122"/>
                <a:cs typeface="Arial" pitchFamily="34" charset="-120"/>
              </a:rPr>
              <a:t>The </a:t>
            </a:r>
            <a:pPr algn="l" indent="0" marL="0">
              <a:lnSpc>
                <a:spcPct val="135000"/>
              </a:lnSpc>
              <a:buNone/>
            </a:pPr>
            <a:r>
              <a:rPr lang="en-US" sz="2250" b="1" dirty="0">
                <a:solidFill>
                  <a:srgbClr val="003554"/>
                </a:solidFill>
                <a:latin typeface="Arial" pitchFamily="34" charset="0"/>
                <a:ea typeface="Arial" pitchFamily="34" charset="-122"/>
                <a:cs typeface="Arial" pitchFamily="34" charset="-120"/>
              </a:rPr>
              <a:t>audience </a:t>
            </a:r>
            <a:pPr algn="l" indent="0" marL="0">
              <a:lnSpc>
                <a:spcPct val="135000"/>
              </a:lnSpc>
              <a:buNone/>
            </a:pPr>
            <a:r>
              <a:rPr lang="en-US" sz="2250" dirty="0">
                <a:solidFill>
                  <a:srgbClr val="0D1F2D"/>
                </a:solidFill>
                <a:latin typeface="Arial" pitchFamily="34" charset="0"/>
                <a:ea typeface="Arial" pitchFamily="34" charset="-122"/>
                <a:cs typeface="Arial" pitchFamily="34" charset="-120"/>
              </a:rPr>
              <a:t>is clear and the language fits them — a Year 5 letter doesn't read like a TikTok caption.</a:t>
            </a:r>
            <a:endParaRPr lang="en-US" sz="2250" dirty="0"/>
          </a:p>
        </p:txBody>
      </p:sp>
      <p:sp>
        <p:nvSpPr>
          <p:cNvPr id="7" name="Shape 5"/>
          <p:cNvSpPr/>
          <p:nvPr/>
        </p:nvSpPr>
        <p:spPr>
          <a:xfrm>
            <a:off x="1047750" y="3656558"/>
            <a:ext cx="16192500" cy="862013"/>
          </a:xfrm>
          <a:prstGeom prst="roundRect">
            <a:avLst>
              <a:gd name="adj" fmla="val 15470"/>
            </a:avLst>
          </a:prstGeom>
          <a:solidFill>
            <a:srgbClr val="FFFFFF"/>
          </a:solidFill>
          <a:ln w="9525">
            <a:solidFill>
              <a:srgbClr val="CDD9E0"/>
            </a:solidFill>
            <a:prstDash val="solid"/>
          </a:ln>
        </p:spPr>
        <p:txBody>
          <a:bodyPr/>
          <a:p/>
        </p:txBody>
      </p:sp>
      <p:sp>
        <p:nvSpPr>
          <p:cNvPr id="8" name="Shape 6"/>
          <p:cNvSpPr/>
          <p:nvPr/>
        </p:nvSpPr>
        <p:spPr>
          <a:xfrm>
            <a:off x="1323975" y="3894683"/>
            <a:ext cx="381000" cy="381000"/>
          </a:xfrm>
          <a:prstGeom prst="roundRect">
            <a:avLst>
              <a:gd name="adj" fmla="val 20000"/>
            </a:avLst>
          </a:prstGeom>
          <a:ln w="28575">
            <a:solidFill>
              <a:srgbClr val="006494"/>
            </a:solidFill>
            <a:prstDash val="solid"/>
          </a:ln>
        </p:spPr>
        <p:txBody>
          <a:bodyPr/>
          <a:p/>
        </p:txBody>
      </p:sp>
      <p:sp>
        <p:nvSpPr>
          <p:cNvPr id="9" name="Text 7"/>
          <p:cNvSpPr/>
          <p:nvPr/>
        </p:nvSpPr>
        <p:spPr>
          <a:xfrm>
            <a:off x="2124075" y="3894683"/>
            <a:ext cx="15285149" cy="423863"/>
          </a:xfrm>
          <a:prstGeom prst="rect">
            <a:avLst/>
          </a:prstGeom>
          <a:noFill/>
          <a:ln/>
        </p:spPr>
        <p:txBody>
          <a:bodyPr wrap="square" lIns="25400" tIns="25400" rIns="25400" bIns="25400" rtlCol="0" anchor="t">
            <a:normAutofit/>
          </a:bodyPr>
          <a:lstStyle/>
          <a:p>
            <a:pPr algn="l" indent="0" marL="0">
              <a:lnSpc>
                <a:spcPct val="135000"/>
              </a:lnSpc>
              <a:buNone/>
            </a:pPr>
            <a:r>
              <a:rPr lang="en-US" sz="2250" dirty="0">
                <a:solidFill>
                  <a:srgbClr val="0D1F2D"/>
                </a:solidFill>
                <a:latin typeface="Arial" pitchFamily="34" charset="0"/>
                <a:ea typeface="Arial" pitchFamily="34" charset="-122"/>
                <a:cs typeface="Arial" pitchFamily="34" charset="-120"/>
              </a:rPr>
              <a:t>At least </a:t>
            </a:r>
            <a:pPr algn="l" indent="0" marL="0">
              <a:lnSpc>
                <a:spcPct val="135000"/>
              </a:lnSpc>
              <a:buNone/>
            </a:pPr>
            <a:r>
              <a:rPr lang="en-US" sz="2250" b="1" dirty="0">
                <a:solidFill>
                  <a:srgbClr val="003554"/>
                </a:solidFill>
                <a:latin typeface="Arial" pitchFamily="34" charset="0"/>
                <a:ea typeface="Arial" pitchFamily="34" charset="-122"/>
                <a:cs typeface="Arial" pitchFamily="34" charset="-120"/>
              </a:rPr>
              <a:t>one accurate Victorian statistic </a:t>
            </a:r>
            <a:pPr algn="l" indent="0" marL="0">
              <a:lnSpc>
                <a:spcPct val="135000"/>
              </a:lnSpc>
              <a:buNone/>
            </a:pPr>
            <a:r>
              <a:rPr lang="en-US" sz="2250" dirty="0">
                <a:solidFill>
                  <a:srgbClr val="0D1F2D"/>
                </a:solidFill>
                <a:latin typeface="Arial" pitchFamily="34" charset="0"/>
                <a:ea typeface="Arial" pitchFamily="34" charset="-122"/>
                <a:cs typeface="Arial" pitchFamily="34" charset="-120"/>
              </a:rPr>
              <a:t>appears in the message — with the source URL cited.</a:t>
            </a:r>
            <a:endParaRPr lang="en-US" sz="2250" dirty="0"/>
          </a:p>
        </p:txBody>
      </p:sp>
      <p:sp>
        <p:nvSpPr>
          <p:cNvPr id="10" name="Shape 8"/>
          <p:cNvSpPr/>
          <p:nvPr/>
        </p:nvSpPr>
        <p:spPr>
          <a:xfrm>
            <a:off x="1047750" y="4690021"/>
            <a:ext cx="16192500" cy="862013"/>
          </a:xfrm>
          <a:prstGeom prst="roundRect">
            <a:avLst>
              <a:gd name="adj" fmla="val 15470"/>
            </a:avLst>
          </a:prstGeom>
          <a:solidFill>
            <a:srgbClr val="FFFFFF"/>
          </a:solidFill>
          <a:ln w="9525">
            <a:solidFill>
              <a:srgbClr val="CDD9E0"/>
            </a:solidFill>
            <a:prstDash val="solid"/>
          </a:ln>
        </p:spPr>
        <p:txBody>
          <a:bodyPr/>
          <a:p/>
        </p:txBody>
      </p:sp>
      <p:sp>
        <p:nvSpPr>
          <p:cNvPr id="11" name="Shape 9"/>
          <p:cNvSpPr/>
          <p:nvPr/>
        </p:nvSpPr>
        <p:spPr>
          <a:xfrm>
            <a:off x="1323975" y="4928146"/>
            <a:ext cx="381000" cy="381000"/>
          </a:xfrm>
          <a:prstGeom prst="roundRect">
            <a:avLst>
              <a:gd name="adj" fmla="val 20000"/>
            </a:avLst>
          </a:prstGeom>
          <a:ln w="28575">
            <a:solidFill>
              <a:srgbClr val="006494"/>
            </a:solidFill>
            <a:prstDash val="solid"/>
          </a:ln>
        </p:spPr>
        <p:txBody>
          <a:bodyPr/>
          <a:p/>
        </p:txBody>
      </p:sp>
      <p:sp>
        <p:nvSpPr>
          <p:cNvPr id="12" name="Text 10"/>
          <p:cNvSpPr/>
          <p:nvPr/>
        </p:nvSpPr>
        <p:spPr>
          <a:xfrm>
            <a:off x="2124075" y="4928146"/>
            <a:ext cx="15285149" cy="423863"/>
          </a:xfrm>
          <a:prstGeom prst="rect">
            <a:avLst/>
          </a:prstGeom>
          <a:noFill/>
          <a:ln/>
        </p:spPr>
        <p:txBody>
          <a:bodyPr wrap="square" lIns="25400" tIns="25400" rIns="25400" bIns="25400" rtlCol="0" anchor="t">
            <a:normAutofit/>
          </a:bodyPr>
          <a:lstStyle/>
          <a:p>
            <a:pPr algn="l" indent="0" marL="0">
              <a:lnSpc>
                <a:spcPct val="135000"/>
              </a:lnSpc>
              <a:buNone/>
            </a:pPr>
            <a:r>
              <a:rPr lang="en-US" sz="2250" dirty="0">
                <a:solidFill>
                  <a:srgbClr val="0D1F2D"/>
                </a:solidFill>
                <a:latin typeface="Arial" pitchFamily="34" charset="0"/>
                <a:ea typeface="Arial" pitchFamily="34" charset="-122"/>
                <a:cs typeface="Arial" pitchFamily="34" charset="-120"/>
              </a:rPr>
              <a:t>There's a clear </a:t>
            </a:r>
            <a:pPr algn="l" indent="0" marL="0">
              <a:lnSpc>
                <a:spcPct val="135000"/>
              </a:lnSpc>
              <a:buNone/>
            </a:pPr>
            <a:r>
              <a:rPr lang="en-US" sz="2250" b="1" dirty="0">
                <a:solidFill>
                  <a:srgbClr val="003554"/>
                </a:solidFill>
                <a:latin typeface="Arial" pitchFamily="34" charset="0"/>
                <a:ea typeface="Arial" pitchFamily="34" charset="-122"/>
                <a:cs typeface="Arial" pitchFamily="34" charset="-120"/>
              </a:rPr>
              <a:t>call to action </a:t>
            </a:r>
            <a:pPr algn="l" indent="0" marL="0">
              <a:lnSpc>
                <a:spcPct val="135000"/>
              </a:lnSpc>
              <a:buNone/>
            </a:pPr>
            <a:r>
              <a:rPr lang="en-US" sz="2250" dirty="0">
                <a:solidFill>
                  <a:srgbClr val="0D1F2D"/>
                </a:solidFill>
                <a:latin typeface="Arial" pitchFamily="34" charset="0"/>
                <a:ea typeface="Arial" pitchFamily="34" charset="-122"/>
                <a:cs typeface="Arial" pitchFamily="34" charset="-120"/>
              </a:rPr>
              <a:t>— what should the audience do, today, after seeing this?</a:t>
            </a:r>
            <a:endParaRPr lang="en-US" sz="2250" dirty="0"/>
          </a:p>
        </p:txBody>
      </p:sp>
      <p:sp>
        <p:nvSpPr>
          <p:cNvPr id="13" name="Shape 11"/>
          <p:cNvSpPr/>
          <p:nvPr/>
        </p:nvSpPr>
        <p:spPr>
          <a:xfrm>
            <a:off x="1047750" y="5723483"/>
            <a:ext cx="16192500" cy="862013"/>
          </a:xfrm>
          <a:prstGeom prst="roundRect">
            <a:avLst>
              <a:gd name="adj" fmla="val 15470"/>
            </a:avLst>
          </a:prstGeom>
          <a:solidFill>
            <a:srgbClr val="FFFFFF"/>
          </a:solidFill>
          <a:ln w="9525">
            <a:solidFill>
              <a:srgbClr val="CDD9E0"/>
            </a:solidFill>
            <a:prstDash val="solid"/>
          </a:ln>
        </p:spPr>
        <p:txBody>
          <a:bodyPr/>
          <a:p/>
        </p:txBody>
      </p:sp>
      <p:sp>
        <p:nvSpPr>
          <p:cNvPr id="14" name="Shape 12"/>
          <p:cNvSpPr/>
          <p:nvPr/>
        </p:nvSpPr>
        <p:spPr>
          <a:xfrm>
            <a:off x="1323975" y="5961608"/>
            <a:ext cx="381000" cy="381000"/>
          </a:xfrm>
          <a:prstGeom prst="roundRect">
            <a:avLst>
              <a:gd name="adj" fmla="val 20000"/>
            </a:avLst>
          </a:prstGeom>
          <a:ln w="28575">
            <a:solidFill>
              <a:srgbClr val="006494"/>
            </a:solidFill>
            <a:prstDash val="solid"/>
          </a:ln>
        </p:spPr>
        <p:txBody>
          <a:bodyPr/>
          <a:p/>
        </p:txBody>
      </p:sp>
      <p:sp>
        <p:nvSpPr>
          <p:cNvPr id="15" name="Text 13"/>
          <p:cNvSpPr/>
          <p:nvPr/>
        </p:nvSpPr>
        <p:spPr>
          <a:xfrm>
            <a:off x="2124075" y="5961608"/>
            <a:ext cx="15285149" cy="423863"/>
          </a:xfrm>
          <a:prstGeom prst="rect">
            <a:avLst/>
          </a:prstGeom>
          <a:noFill/>
          <a:ln/>
        </p:spPr>
        <p:txBody>
          <a:bodyPr wrap="square" lIns="25400" tIns="25400" rIns="25400" bIns="25400" rtlCol="0" anchor="t">
            <a:normAutofit/>
          </a:bodyPr>
          <a:lstStyle/>
          <a:p>
            <a:pPr algn="l" indent="0" marL="0">
              <a:lnSpc>
                <a:spcPct val="135000"/>
              </a:lnSpc>
              <a:buNone/>
            </a:pPr>
            <a:r>
              <a:rPr lang="en-US" sz="2250" dirty="0">
                <a:solidFill>
                  <a:srgbClr val="0D1F2D"/>
                </a:solidFill>
                <a:latin typeface="Arial" pitchFamily="34" charset="0"/>
                <a:ea typeface="Arial" pitchFamily="34" charset="-122"/>
                <a:cs typeface="Arial" pitchFamily="34" charset="-120"/>
              </a:rPr>
              <a:t>The safety message is </a:t>
            </a:r>
            <a:pPr algn="l" indent="0" marL="0">
              <a:lnSpc>
                <a:spcPct val="135000"/>
              </a:lnSpc>
              <a:buNone/>
            </a:pPr>
            <a:r>
              <a:rPr lang="en-US" sz="2250" b="1" dirty="0">
                <a:solidFill>
                  <a:srgbClr val="003554"/>
                </a:solidFill>
                <a:latin typeface="Arial" pitchFamily="34" charset="0"/>
                <a:ea typeface="Arial" pitchFamily="34" charset="-122"/>
                <a:cs typeface="Arial" pitchFamily="34" charset="-120"/>
              </a:rPr>
              <a:t>accurate </a:t>
            </a:r>
            <a:pPr algn="l" indent="0" marL="0">
              <a:lnSpc>
                <a:spcPct val="135000"/>
              </a:lnSpc>
              <a:buNone/>
            </a:pPr>
            <a:r>
              <a:rPr lang="en-US" sz="2250" dirty="0">
                <a:solidFill>
                  <a:srgbClr val="0D1F2D"/>
                </a:solidFill>
                <a:latin typeface="Arial" pitchFamily="34" charset="0"/>
                <a:ea typeface="Arial" pitchFamily="34" charset="-122"/>
                <a:cs typeface="Arial" pitchFamily="34" charset="-120"/>
              </a:rPr>
              <a:t>— uses correct vocabulary (rip, parallel, DRS ABCD, throw don't go, patrolled).</a:t>
            </a:r>
            <a:endParaRPr lang="en-US" sz="2250" dirty="0"/>
          </a:p>
        </p:txBody>
      </p:sp>
      <p:sp>
        <p:nvSpPr>
          <p:cNvPr id="16" name="Shape 14"/>
          <p:cNvSpPr/>
          <p:nvPr/>
        </p:nvSpPr>
        <p:spPr>
          <a:xfrm>
            <a:off x="1047750" y="6756946"/>
            <a:ext cx="16192500" cy="1247775"/>
          </a:xfrm>
          <a:prstGeom prst="roundRect">
            <a:avLst>
              <a:gd name="adj" fmla="val 10687"/>
            </a:avLst>
          </a:prstGeom>
          <a:solidFill>
            <a:srgbClr val="FFFFFF"/>
          </a:solidFill>
          <a:ln w="9525">
            <a:solidFill>
              <a:srgbClr val="CDD9E0"/>
            </a:solidFill>
            <a:prstDash val="solid"/>
          </a:ln>
        </p:spPr>
        <p:txBody>
          <a:bodyPr/>
          <a:p/>
        </p:txBody>
      </p:sp>
      <p:sp>
        <p:nvSpPr>
          <p:cNvPr id="17" name="Shape 15"/>
          <p:cNvSpPr/>
          <p:nvPr/>
        </p:nvSpPr>
        <p:spPr>
          <a:xfrm>
            <a:off x="1323975" y="6995071"/>
            <a:ext cx="381000" cy="381000"/>
          </a:xfrm>
          <a:prstGeom prst="roundRect">
            <a:avLst>
              <a:gd name="adj" fmla="val 20000"/>
            </a:avLst>
          </a:prstGeom>
          <a:ln w="28575">
            <a:solidFill>
              <a:srgbClr val="006494"/>
            </a:solidFill>
            <a:prstDash val="solid"/>
          </a:ln>
        </p:spPr>
        <p:txBody>
          <a:bodyPr/>
          <a:p/>
        </p:txBody>
      </p:sp>
      <p:sp>
        <p:nvSpPr>
          <p:cNvPr id="18" name="Text 16"/>
          <p:cNvSpPr/>
          <p:nvPr/>
        </p:nvSpPr>
        <p:spPr>
          <a:xfrm>
            <a:off x="2124075" y="6995071"/>
            <a:ext cx="15285149" cy="809625"/>
          </a:xfrm>
          <a:prstGeom prst="rect">
            <a:avLst/>
          </a:prstGeom>
          <a:noFill/>
          <a:ln/>
        </p:spPr>
        <p:txBody>
          <a:bodyPr wrap="square" lIns="25400" tIns="25400" rIns="25400" bIns="25400" rtlCol="0" anchor="t">
            <a:normAutofit/>
          </a:bodyPr>
          <a:lstStyle/>
          <a:p>
            <a:pPr algn="l" indent="0" marL="0">
              <a:lnSpc>
                <a:spcPct val="135000"/>
              </a:lnSpc>
              <a:buNone/>
            </a:pPr>
            <a:r>
              <a:rPr lang="en-US" sz="2250" dirty="0">
                <a:solidFill>
                  <a:srgbClr val="0D1F2D"/>
                </a:solidFill>
                <a:latin typeface="Arial" pitchFamily="34" charset="0"/>
                <a:ea typeface="Arial" pitchFamily="34" charset="-122"/>
                <a:cs typeface="Arial" pitchFamily="34" charset="-120"/>
              </a:rPr>
              <a:t>Sources are </a:t>
            </a:r>
            <a:pPr algn="l" indent="0" marL="0">
              <a:lnSpc>
                <a:spcPct val="135000"/>
              </a:lnSpc>
              <a:buNone/>
            </a:pPr>
            <a:r>
              <a:rPr lang="en-US" sz="2250" b="1" dirty="0">
                <a:solidFill>
                  <a:srgbClr val="003554"/>
                </a:solidFill>
                <a:latin typeface="Arial" pitchFamily="34" charset="0"/>
                <a:ea typeface="Arial" pitchFamily="34" charset="-122"/>
                <a:cs typeface="Arial" pitchFamily="34" charset="-120"/>
              </a:rPr>
              <a:t>credible </a:t>
            </a:r>
            <a:pPr algn="l" indent="0" marL="0">
              <a:lnSpc>
                <a:spcPct val="135000"/>
              </a:lnSpc>
              <a:buNone/>
            </a:pPr>
            <a:r>
              <a:rPr lang="en-US" sz="2250" dirty="0">
                <a:solidFill>
                  <a:srgbClr val="0D1F2D"/>
                </a:solidFill>
                <a:latin typeface="Arial" pitchFamily="34" charset="0"/>
                <a:ea typeface="Arial" pitchFamily="34" charset="-122"/>
                <a:cs typeface="Arial" pitchFamily="34" charset="-120"/>
              </a:rPr>
              <a:t>— LSV, RLSSA, Paddle Australia, Parks Victoria, BeachSafe. Not social media posts or random blogs.</a:t>
            </a:r>
            <a:endParaRPr lang="en-US" sz="2250" dirty="0"/>
          </a:p>
        </p:txBody>
      </p:sp>
      <p:sp>
        <p:nvSpPr>
          <p:cNvPr id="19" name="Shape 17"/>
          <p:cNvSpPr/>
          <p:nvPr/>
        </p:nvSpPr>
        <p:spPr>
          <a:xfrm>
            <a:off x="1047750" y="8176171"/>
            <a:ext cx="16192500" cy="862013"/>
          </a:xfrm>
          <a:prstGeom prst="roundRect">
            <a:avLst>
              <a:gd name="adj" fmla="val 15470"/>
            </a:avLst>
          </a:prstGeom>
          <a:solidFill>
            <a:srgbClr val="FFFFFF"/>
          </a:solidFill>
          <a:ln w="9525">
            <a:solidFill>
              <a:srgbClr val="CDD9E0"/>
            </a:solidFill>
            <a:prstDash val="solid"/>
          </a:ln>
        </p:spPr>
        <p:txBody>
          <a:bodyPr/>
          <a:p/>
        </p:txBody>
      </p:sp>
      <p:sp>
        <p:nvSpPr>
          <p:cNvPr id="20" name="Shape 18"/>
          <p:cNvSpPr/>
          <p:nvPr/>
        </p:nvSpPr>
        <p:spPr>
          <a:xfrm>
            <a:off x="1323975" y="8414296"/>
            <a:ext cx="381000" cy="381000"/>
          </a:xfrm>
          <a:prstGeom prst="roundRect">
            <a:avLst>
              <a:gd name="adj" fmla="val 20000"/>
            </a:avLst>
          </a:prstGeom>
          <a:ln w="28575">
            <a:solidFill>
              <a:srgbClr val="006494"/>
            </a:solidFill>
            <a:prstDash val="solid"/>
          </a:ln>
        </p:spPr>
        <p:txBody>
          <a:bodyPr/>
          <a:p/>
        </p:txBody>
      </p:sp>
      <p:sp>
        <p:nvSpPr>
          <p:cNvPr id="21" name="Text 19"/>
          <p:cNvSpPr/>
          <p:nvPr/>
        </p:nvSpPr>
        <p:spPr>
          <a:xfrm>
            <a:off x="2124075" y="8414296"/>
            <a:ext cx="15285149" cy="423863"/>
          </a:xfrm>
          <a:prstGeom prst="rect">
            <a:avLst/>
          </a:prstGeom>
          <a:noFill/>
          <a:ln/>
        </p:spPr>
        <p:txBody>
          <a:bodyPr wrap="square" lIns="25400" tIns="25400" rIns="25400" bIns="25400" rtlCol="0" anchor="t">
            <a:normAutofit/>
          </a:bodyPr>
          <a:lstStyle/>
          <a:p>
            <a:pPr algn="l" indent="0" marL="0">
              <a:lnSpc>
                <a:spcPct val="135000"/>
              </a:lnSpc>
              <a:buNone/>
            </a:pPr>
            <a:r>
              <a:rPr lang="en-US" sz="2250" dirty="0">
                <a:solidFill>
                  <a:srgbClr val="0D1F2D"/>
                </a:solidFill>
                <a:latin typeface="Arial" pitchFamily="34" charset="0"/>
                <a:ea typeface="Arial" pitchFamily="34" charset="-122"/>
                <a:cs typeface="Arial" pitchFamily="34" charset="-120"/>
              </a:rPr>
              <a:t>Personal thinking is visible — not just a copy of the poster pack. The teacher should feel </a:t>
            </a:r>
            <a:pPr algn="l" indent="0" marL="0">
              <a:lnSpc>
                <a:spcPct val="135000"/>
              </a:lnSpc>
              <a:buNone/>
            </a:pPr>
            <a:r>
              <a:rPr lang="en-US" sz="2250" b="1" dirty="0">
                <a:solidFill>
                  <a:srgbClr val="003554"/>
                </a:solidFill>
                <a:latin typeface="Arial" pitchFamily="34" charset="0"/>
                <a:ea typeface="Arial" pitchFamily="34" charset="-122"/>
                <a:cs typeface="Arial" pitchFamily="34" charset="-120"/>
              </a:rPr>
              <a:t>you wrote this</a:t>
            </a:r>
            <a:pPr algn="l" indent="0" marL="0">
              <a:lnSpc>
                <a:spcPct val="135000"/>
              </a:lnSpc>
              <a:buNone/>
            </a:pPr>
            <a:r>
              <a:rPr lang="en-US" sz="2250" dirty="0">
                <a:solidFill>
                  <a:srgbClr val="0D1F2D"/>
                </a:solidFill>
                <a:latin typeface="Arial" pitchFamily="34" charset="0"/>
                <a:ea typeface="Arial" pitchFamily="34" charset="-122"/>
                <a:cs typeface="Arial" pitchFamily="34" charset="-120"/>
              </a:rPr>
              <a:t>.</a:t>
            </a:r>
            <a:endParaRPr lang="en-US" sz="225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4F7F9"/>
        </a:solidFill>
      </p:bgPr>
    </p:bg>
    <p:spTree>
      <p:nvGrpSpPr>
        <p:cNvPr id="1" name=""/>
        <p:cNvGrpSpPr/>
        <p:nvPr/>
      </p:nvGrpSpPr>
      <p:grpSpPr>
        <a:xfrm>
          <a:off x="0" y="0"/>
          <a:ext cx="0" cy="0"/>
          <a:chOff x="0" y="0"/>
          <a:chExt cx="0" cy="0"/>
        </a:xfrm>
      </p:grpSpPr>
      <p:sp>
        <p:nvSpPr>
          <p:cNvPr id="2" name="Text 0"/>
          <p:cNvSpPr/>
          <p:nvPr/>
        </p:nvSpPr>
        <p:spPr>
          <a:xfrm>
            <a:off x="1047750" y="914400"/>
            <a:ext cx="16678275" cy="358080"/>
          </a:xfrm>
          <a:prstGeom prst="rect">
            <a:avLst/>
          </a:prstGeom>
          <a:noFill/>
          <a:ln/>
        </p:spPr>
        <p:txBody>
          <a:bodyPr wrap="square" lIns="25400" tIns="25400" rIns="25400" bIns="25400" rtlCol="0" anchor="t">
            <a:normAutofit/>
          </a:bodyPr>
          <a:lstStyle/>
          <a:p>
            <a:pPr algn="l" indent="0" marL="0">
              <a:lnSpc>
                <a:spcPct val="140000"/>
              </a:lnSpc>
              <a:buNone/>
            </a:pPr>
            <a:r>
              <a:rPr lang="en-US" sz="1800" spc="300" kern="0" dirty="0">
                <a:solidFill>
                  <a:srgbClr val="5A7A8A"/>
                </a:solidFill>
                <a:latin typeface="Courier New" pitchFamily="34" charset="0"/>
                <a:ea typeface="Courier New" pitchFamily="34" charset="-122"/>
                <a:cs typeface="Courier New" pitchFamily="34" charset="-120"/>
              </a:rPr>
              <a:t>WHERE YOUR FACTS COME FROM</a:t>
            </a:r>
            <a:endParaRPr lang="en-US" sz="1800" dirty="0"/>
          </a:p>
        </p:txBody>
      </p:sp>
      <p:sp>
        <p:nvSpPr>
          <p:cNvPr id="3" name="Text 1"/>
          <p:cNvSpPr/>
          <p:nvPr/>
        </p:nvSpPr>
        <p:spPr>
          <a:xfrm>
            <a:off x="1047750" y="1405830"/>
            <a:ext cx="16678275" cy="798165"/>
          </a:xfrm>
          <a:prstGeom prst="rect">
            <a:avLst/>
          </a:prstGeom>
          <a:noFill/>
          <a:ln/>
        </p:spPr>
        <p:txBody>
          <a:bodyPr wrap="square" lIns="25400" tIns="25400" rIns="25400" bIns="25400" rtlCol="0" anchor="t">
            <a:normAutofit/>
          </a:bodyPr>
          <a:lstStyle/>
          <a:p>
            <a:pPr algn="l" indent="0" marL="0">
              <a:lnSpc>
                <a:spcPct val="105000"/>
              </a:lnSpc>
              <a:buNone/>
            </a:pPr>
            <a:r>
              <a:rPr lang="en-US" sz="5700" b="1" spc="-75" kern="0" dirty="0">
                <a:solidFill>
                  <a:srgbClr val="0D1F2D"/>
                </a:solidFill>
                <a:latin typeface="Arial" pitchFamily="34" charset="0"/>
                <a:ea typeface="Arial" pitchFamily="34" charset="-122"/>
                <a:cs typeface="Arial" pitchFamily="34" charset="-120"/>
              </a:rPr>
              <a:t>Use these — and cite the URL</a:t>
            </a:r>
            <a:endParaRPr lang="en-US" sz="5700" dirty="0"/>
          </a:p>
        </p:txBody>
      </p:sp>
      <p:sp>
        <p:nvSpPr>
          <p:cNvPr id="4" name="Shape 2"/>
          <p:cNvSpPr/>
          <p:nvPr/>
        </p:nvSpPr>
        <p:spPr>
          <a:xfrm>
            <a:off x="1047750" y="2623096"/>
            <a:ext cx="7810500" cy="9525"/>
          </a:xfrm>
          <a:prstGeom prst="rect">
            <a:avLst/>
          </a:prstGeom>
          <a:solidFill>
            <a:srgbClr val="CDD9E0"/>
          </a:solidFill>
          <a:ln/>
        </p:spPr>
        <p:txBody>
          <a:bodyPr/>
          <a:p/>
        </p:txBody>
      </p:sp>
      <p:sp>
        <p:nvSpPr>
          <p:cNvPr id="5" name="Text 3"/>
          <p:cNvSpPr/>
          <p:nvPr/>
        </p:nvSpPr>
        <p:spPr>
          <a:xfrm>
            <a:off x="1047750" y="2842171"/>
            <a:ext cx="8044815" cy="464790"/>
          </a:xfrm>
          <a:prstGeom prst="rect">
            <a:avLst/>
          </a:prstGeom>
          <a:noFill/>
          <a:ln/>
        </p:spPr>
        <p:txBody>
          <a:bodyPr wrap="square" lIns="25400" tIns="25400" rIns="25400" bIns="25400" rtlCol="0" anchor="t">
            <a:normAutofit/>
          </a:bodyPr>
          <a:lstStyle/>
          <a:p>
            <a:pPr algn="l" indent="0" marL="0">
              <a:lnSpc>
                <a:spcPct val="140000"/>
              </a:lnSpc>
              <a:buNone/>
            </a:pPr>
            <a:r>
              <a:rPr lang="en-US" sz="2400" b="1" dirty="0">
                <a:solidFill>
                  <a:srgbClr val="003554"/>
                </a:solidFill>
                <a:latin typeface="Arial" pitchFamily="34" charset="0"/>
                <a:ea typeface="Arial" pitchFamily="34" charset="-122"/>
                <a:cs typeface="Arial" pitchFamily="34" charset="-120"/>
              </a:rPr>
              <a:t>Life Saving Victoria</a:t>
            </a:r>
            <a:endParaRPr lang="en-US" sz="2400" dirty="0"/>
          </a:p>
        </p:txBody>
      </p:sp>
      <p:sp>
        <p:nvSpPr>
          <p:cNvPr id="6" name="Text 4"/>
          <p:cNvSpPr/>
          <p:nvPr/>
        </p:nvSpPr>
        <p:spPr>
          <a:xfrm>
            <a:off x="1047750" y="3326011"/>
            <a:ext cx="8044815" cy="678061"/>
          </a:xfrm>
          <a:prstGeom prst="rect">
            <a:avLst/>
          </a:prstGeom>
          <a:noFill/>
          <a:ln/>
        </p:spPr>
        <p:txBody>
          <a:bodyPr wrap="square" lIns="25400" tIns="25400" rIns="25400" bIns="25400" rtlCol="0" anchor="t">
            <a:normAutofit/>
          </a:bodyPr>
          <a:lstStyle/>
          <a:p>
            <a:pPr algn="l" indent="0" marL="0">
              <a:lnSpc>
                <a:spcPct val="140000"/>
              </a:lnSpc>
              <a:buNone/>
            </a:pPr>
            <a:r>
              <a:rPr lang="en-US" sz="1800" spc="75" kern="0" dirty="0">
                <a:solidFill>
                  <a:srgbClr val="5A7A8A"/>
                </a:solidFill>
                <a:latin typeface="Courier New" pitchFamily="34" charset="0"/>
                <a:ea typeface="Courier New" pitchFamily="34" charset="-122"/>
                <a:cs typeface="Courier New" pitchFamily="34" charset="-120"/>
              </a:rPr>
              <a:t>lsv.com.au · lsv.com.au/research/victorian-drowning-reports</a:t>
            </a:r>
            <a:endParaRPr lang="en-US" sz="1800" dirty="0"/>
          </a:p>
        </p:txBody>
      </p:sp>
      <p:sp>
        <p:nvSpPr>
          <p:cNvPr id="7" name="Text 5"/>
          <p:cNvSpPr/>
          <p:nvPr/>
        </p:nvSpPr>
        <p:spPr>
          <a:xfrm>
            <a:off x="1047750" y="4061222"/>
            <a:ext cx="8044815" cy="358080"/>
          </a:xfrm>
          <a:prstGeom prst="rect">
            <a:avLst/>
          </a:prstGeom>
          <a:noFill/>
          <a:ln/>
        </p:spPr>
        <p:txBody>
          <a:bodyPr wrap="square" lIns="25400" tIns="25400" rIns="25400" bIns="25400" rtlCol="0" anchor="t">
            <a:normAutofit/>
          </a:bodyPr>
          <a:lstStyle/>
          <a:p>
            <a:pPr algn="l" indent="0" marL="0">
              <a:lnSpc>
                <a:spcPct val="140000"/>
              </a:lnSpc>
              <a:buNone/>
            </a:pPr>
            <a:r>
              <a:rPr lang="en-US" sz="1800" i="1" dirty="0">
                <a:solidFill>
                  <a:srgbClr val="5A7A8A"/>
                </a:solidFill>
                <a:latin typeface="Arial" pitchFamily="34" charset="0"/>
                <a:ea typeface="Arial" pitchFamily="34" charset="-122"/>
                <a:cs typeface="Arial" pitchFamily="34" charset="-120"/>
              </a:rPr>
              <a:t>Use for · Victorian drowning data, SwimSafe rules, patrolled beaches</a:t>
            </a:r>
            <a:endParaRPr lang="en-US" sz="1800" dirty="0"/>
          </a:p>
        </p:txBody>
      </p:sp>
      <p:sp>
        <p:nvSpPr>
          <p:cNvPr id="8" name="Shape 6"/>
          <p:cNvSpPr/>
          <p:nvPr/>
        </p:nvSpPr>
        <p:spPr>
          <a:xfrm>
            <a:off x="9429750" y="2623096"/>
            <a:ext cx="7810500" cy="9525"/>
          </a:xfrm>
          <a:prstGeom prst="rect">
            <a:avLst/>
          </a:prstGeom>
          <a:solidFill>
            <a:srgbClr val="CDD9E0"/>
          </a:solidFill>
          <a:ln/>
        </p:spPr>
        <p:txBody>
          <a:bodyPr/>
          <a:p/>
        </p:txBody>
      </p:sp>
      <p:sp>
        <p:nvSpPr>
          <p:cNvPr id="9" name="Text 7"/>
          <p:cNvSpPr/>
          <p:nvPr/>
        </p:nvSpPr>
        <p:spPr>
          <a:xfrm>
            <a:off x="9429750" y="2842171"/>
            <a:ext cx="8044815" cy="464790"/>
          </a:xfrm>
          <a:prstGeom prst="rect">
            <a:avLst/>
          </a:prstGeom>
          <a:noFill/>
          <a:ln/>
        </p:spPr>
        <p:txBody>
          <a:bodyPr wrap="square" lIns="25400" tIns="25400" rIns="25400" bIns="25400" rtlCol="0" anchor="t">
            <a:normAutofit/>
          </a:bodyPr>
          <a:lstStyle/>
          <a:p>
            <a:pPr algn="l" indent="0" marL="0">
              <a:lnSpc>
                <a:spcPct val="140000"/>
              </a:lnSpc>
              <a:buNone/>
            </a:pPr>
            <a:r>
              <a:rPr lang="en-US" sz="2400" b="1" dirty="0">
                <a:solidFill>
                  <a:srgbClr val="003554"/>
                </a:solidFill>
                <a:latin typeface="Arial" pitchFamily="34" charset="0"/>
                <a:ea typeface="Arial" pitchFamily="34" charset="-122"/>
                <a:cs typeface="Arial" pitchFamily="34" charset="-120"/>
              </a:rPr>
              <a:t>BeachSafe</a:t>
            </a:r>
            <a:endParaRPr lang="en-US" sz="2400" dirty="0"/>
          </a:p>
        </p:txBody>
      </p:sp>
      <p:sp>
        <p:nvSpPr>
          <p:cNvPr id="10" name="Text 8"/>
          <p:cNvSpPr/>
          <p:nvPr/>
        </p:nvSpPr>
        <p:spPr>
          <a:xfrm>
            <a:off x="9429750" y="3326011"/>
            <a:ext cx="8044815" cy="358080"/>
          </a:xfrm>
          <a:prstGeom prst="rect">
            <a:avLst/>
          </a:prstGeom>
          <a:noFill/>
          <a:ln/>
        </p:spPr>
        <p:txBody>
          <a:bodyPr wrap="square" lIns="25400" tIns="25400" rIns="25400" bIns="25400" rtlCol="0" anchor="t">
            <a:normAutofit/>
          </a:bodyPr>
          <a:lstStyle/>
          <a:p>
            <a:pPr algn="l" indent="0" marL="0">
              <a:lnSpc>
                <a:spcPct val="140000"/>
              </a:lnSpc>
              <a:buNone/>
            </a:pPr>
            <a:r>
              <a:rPr lang="en-US" sz="1800" spc="75" kern="0" dirty="0">
                <a:solidFill>
                  <a:srgbClr val="5A7A8A"/>
                </a:solidFill>
                <a:latin typeface="Courier New" pitchFamily="34" charset="0"/>
                <a:ea typeface="Courier New" pitchFamily="34" charset="-122"/>
                <a:cs typeface="Courier New" pitchFamily="34" charset="-120"/>
              </a:rPr>
              <a:t>beachsafe.org.au</a:t>
            </a:r>
            <a:endParaRPr lang="en-US" sz="1800" dirty="0"/>
          </a:p>
        </p:txBody>
      </p:sp>
      <p:sp>
        <p:nvSpPr>
          <p:cNvPr id="11" name="Text 9"/>
          <p:cNvSpPr/>
          <p:nvPr/>
        </p:nvSpPr>
        <p:spPr>
          <a:xfrm>
            <a:off x="9429750" y="3741241"/>
            <a:ext cx="8044815" cy="358080"/>
          </a:xfrm>
          <a:prstGeom prst="rect">
            <a:avLst/>
          </a:prstGeom>
          <a:noFill/>
          <a:ln/>
        </p:spPr>
        <p:txBody>
          <a:bodyPr wrap="square" lIns="25400" tIns="25400" rIns="25400" bIns="25400" rtlCol="0" anchor="t">
            <a:normAutofit/>
          </a:bodyPr>
          <a:lstStyle/>
          <a:p>
            <a:pPr algn="l" indent="0" marL="0">
              <a:lnSpc>
                <a:spcPct val="140000"/>
              </a:lnSpc>
              <a:buNone/>
            </a:pPr>
            <a:r>
              <a:rPr lang="en-US" sz="1800" i="1" dirty="0">
                <a:solidFill>
                  <a:srgbClr val="5A7A8A"/>
                </a:solidFill>
                <a:latin typeface="Arial" pitchFamily="34" charset="0"/>
                <a:ea typeface="Arial" pitchFamily="34" charset="-122"/>
                <a:cs typeface="Arial" pitchFamily="34" charset="-120"/>
              </a:rPr>
              <a:t>Use for · Finding your nearest patrolled beach &amp; live conditions</a:t>
            </a:r>
            <a:endParaRPr lang="en-US" sz="1800" dirty="0"/>
          </a:p>
        </p:txBody>
      </p:sp>
      <p:sp>
        <p:nvSpPr>
          <p:cNvPr id="12" name="Shape 10"/>
          <p:cNvSpPr/>
          <p:nvPr/>
        </p:nvSpPr>
        <p:spPr>
          <a:xfrm>
            <a:off x="1047750" y="5187851"/>
            <a:ext cx="7810500" cy="9525"/>
          </a:xfrm>
          <a:prstGeom prst="rect">
            <a:avLst/>
          </a:prstGeom>
          <a:solidFill>
            <a:srgbClr val="CDD9E0"/>
          </a:solidFill>
          <a:ln/>
        </p:spPr>
        <p:txBody>
          <a:bodyPr/>
          <a:p/>
        </p:txBody>
      </p:sp>
      <p:sp>
        <p:nvSpPr>
          <p:cNvPr id="13" name="Text 11"/>
          <p:cNvSpPr/>
          <p:nvPr/>
        </p:nvSpPr>
        <p:spPr>
          <a:xfrm>
            <a:off x="1047750" y="5406926"/>
            <a:ext cx="8044815" cy="464790"/>
          </a:xfrm>
          <a:prstGeom prst="rect">
            <a:avLst/>
          </a:prstGeom>
          <a:noFill/>
          <a:ln/>
        </p:spPr>
        <p:txBody>
          <a:bodyPr wrap="square" lIns="25400" tIns="25400" rIns="25400" bIns="25400" rtlCol="0" anchor="t">
            <a:normAutofit/>
          </a:bodyPr>
          <a:lstStyle/>
          <a:p>
            <a:pPr algn="l" indent="0" marL="0">
              <a:lnSpc>
                <a:spcPct val="140000"/>
              </a:lnSpc>
              <a:buNone/>
            </a:pPr>
            <a:r>
              <a:rPr lang="en-US" sz="2400" b="1" dirty="0">
                <a:solidFill>
                  <a:srgbClr val="003554"/>
                </a:solidFill>
                <a:latin typeface="Arial" pitchFamily="34" charset="0"/>
                <a:ea typeface="Arial" pitchFamily="34" charset="-122"/>
                <a:cs typeface="Arial" pitchFamily="34" charset="-120"/>
              </a:rPr>
              <a:t>Royal Life Saving Australia</a:t>
            </a:r>
            <a:endParaRPr lang="en-US" sz="2400" dirty="0"/>
          </a:p>
        </p:txBody>
      </p:sp>
      <p:sp>
        <p:nvSpPr>
          <p:cNvPr id="14" name="Text 12"/>
          <p:cNvSpPr/>
          <p:nvPr/>
        </p:nvSpPr>
        <p:spPr>
          <a:xfrm>
            <a:off x="1047750" y="5890766"/>
            <a:ext cx="8044815" cy="358080"/>
          </a:xfrm>
          <a:prstGeom prst="rect">
            <a:avLst/>
          </a:prstGeom>
          <a:noFill/>
          <a:ln/>
        </p:spPr>
        <p:txBody>
          <a:bodyPr wrap="square" lIns="25400" tIns="25400" rIns="25400" bIns="25400" rtlCol="0" anchor="t">
            <a:normAutofit/>
          </a:bodyPr>
          <a:lstStyle/>
          <a:p>
            <a:pPr algn="l" indent="0" marL="0">
              <a:lnSpc>
                <a:spcPct val="140000"/>
              </a:lnSpc>
              <a:buNone/>
            </a:pPr>
            <a:r>
              <a:rPr lang="en-US" sz="1800" spc="75" kern="0" dirty="0">
                <a:solidFill>
                  <a:srgbClr val="5A7A8A"/>
                </a:solidFill>
                <a:latin typeface="Courier New" pitchFamily="34" charset="0"/>
                <a:ea typeface="Courier New" pitchFamily="34" charset="-122"/>
                <a:cs typeface="Courier New" pitchFamily="34" charset="-120"/>
              </a:rPr>
              <a:t>royallifesaving.com.au</a:t>
            </a:r>
            <a:endParaRPr lang="en-US" sz="1800" dirty="0"/>
          </a:p>
        </p:txBody>
      </p:sp>
      <p:sp>
        <p:nvSpPr>
          <p:cNvPr id="15" name="Text 13"/>
          <p:cNvSpPr/>
          <p:nvPr/>
        </p:nvSpPr>
        <p:spPr>
          <a:xfrm>
            <a:off x="1047750" y="6305996"/>
            <a:ext cx="8044815" cy="358080"/>
          </a:xfrm>
          <a:prstGeom prst="rect">
            <a:avLst/>
          </a:prstGeom>
          <a:noFill/>
          <a:ln/>
        </p:spPr>
        <p:txBody>
          <a:bodyPr wrap="square" lIns="25400" tIns="25400" rIns="25400" bIns="25400" rtlCol="0" anchor="t">
            <a:normAutofit/>
          </a:bodyPr>
          <a:lstStyle/>
          <a:p>
            <a:pPr algn="l" indent="0" marL="0">
              <a:lnSpc>
                <a:spcPct val="140000"/>
              </a:lnSpc>
              <a:buNone/>
            </a:pPr>
            <a:r>
              <a:rPr lang="en-US" sz="1800" i="1" dirty="0">
                <a:solidFill>
                  <a:srgbClr val="5A7A8A"/>
                </a:solidFill>
                <a:latin typeface="Arial" pitchFamily="34" charset="0"/>
                <a:ea typeface="Arial" pitchFamily="34" charset="-122"/>
                <a:cs typeface="Arial" pitchFamily="34" charset="-120"/>
              </a:rPr>
              <a:t>Use for · National data, inland waterway safety, CPR &amp; rescue</a:t>
            </a:r>
            <a:endParaRPr lang="en-US" sz="1800" dirty="0"/>
          </a:p>
        </p:txBody>
      </p:sp>
      <p:sp>
        <p:nvSpPr>
          <p:cNvPr id="16" name="Shape 14"/>
          <p:cNvSpPr/>
          <p:nvPr/>
        </p:nvSpPr>
        <p:spPr>
          <a:xfrm>
            <a:off x="9429750" y="5187851"/>
            <a:ext cx="7810500" cy="9525"/>
          </a:xfrm>
          <a:prstGeom prst="rect">
            <a:avLst/>
          </a:prstGeom>
          <a:solidFill>
            <a:srgbClr val="CDD9E0"/>
          </a:solidFill>
          <a:ln/>
        </p:spPr>
        <p:txBody>
          <a:bodyPr/>
          <a:p/>
        </p:txBody>
      </p:sp>
      <p:sp>
        <p:nvSpPr>
          <p:cNvPr id="17" name="Text 15"/>
          <p:cNvSpPr/>
          <p:nvPr/>
        </p:nvSpPr>
        <p:spPr>
          <a:xfrm>
            <a:off x="9429750" y="5406926"/>
            <a:ext cx="8044815" cy="464790"/>
          </a:xfrm>
          <a:prstGeom prst="rect">
            <a:avLst/>
          </a:prstGeom>
          <a:noFill/>
          <a:ln/>
        </p:spPr>
        <p:txBody>
          <a:bodyPr wrap="square" lIns="25400" tIns="25400" rIns="25400" bIns="25400" rtlCol="0" anchor="t">
            <a:normAutofit/>
          </a:bodyPr>
          <a:lstStyle/>
          <a:p>
            <a:pPr algn="l" indent="0" marL="0">
              <a:lnSpc>
                <a:spcPct val="140000"/>
              </a:lnSpc>
              <a:buNone/>
            </a:pPr>
            <a:r>
              <a:rPr lang="en-US" sz="2400" b="1" dirty="0">
                <a:solidFill>
                  <a:srgbClr val="003554"/>
                </a:solidFill>
                <a:latin typeface="Arial" pitchFamily="34" charset="0"/>
                <a:ea typeface="Arial" pitchFamily="34" charset="-122"/>
                <a:cs typeface="Arial" pitchFamily="34" charset="-120"/>
              </a:rPr>
              <a:t>Paddle Australia</a:t>
            </a:r>
            <a:endParaRPr lang="en-US" sz="2400" dirty="0"/>
          </a:p>
        </p:txBody>
      </p:sp>
      <p:sp>
        <p:nvSpPr>
          <p:cNvPr id="18" name="Text 16"/>
          <p:cNvSpPr/>
          <p:nvPr/>
        </p:nvSpPr>
        <p:spPr>
          <a:xfrm>
            <a:off x="9429750" y="5890766"/>
            <a:ext cx="8044815" cy="358080"/>
          </a:xfrm>
          <a:prstGeom prst="rect">
            <a:avLst/>
          </a:prstGeom>
          <a:noFill/>
          <a:ln/>
        </p:spPr>
        <p:txBody>
          <a:bodyPr wrap="square" lIns="25400" tIns="25400" rIns="25400" bIns="25400" rtlCol="0" anchor="t">
            <a:normAutofit/>
          </a:bodyPr>
          <a:lstStyle/>
          <a:p>
            <a:pPr algn="l" indent="0" marL="0">
              <a:lnSpc>
                <a:spcPct val="140000"/>
              </a:lnSpc>
              <a:buNone/>
            </a:pPr>
            <a:r>
              <a:rPr lang="en-US" sz="1800" spc="75" kern="0" dirty="0">
                <a:solidFill>
                  <a:srgbClr val="5A7A8A"/>
                </a:solidFill>
                <a:latin typeface="Courier New" pitchFamily="34" charset="0"/>
                <a:ea typeface="Courier New" pitchFamily="34" charset="-122"/>
                <a:cs typeface="Courier New" pitchFamily="34" charset="-120"/>
              </a:rPr>
              <a:t>paddle.org.au</a:t>
            </a:r>
            <a:endParaRPr lang="en-US" sz="1800" dirty="0"/>
          </a:p>
        </p:txBody>
      </p:sp>
      <p:sp>
        <p:nvSpPr>
          <p:cNvPr id="19" name="Text 17"/>
          <p:cNvSpPr/>
          <p:nvPr/>
        </p:nvSpPr>
        <p:spPr>
          <a:xfrm>
            <a:off x="9429750" y="6305996"/>
            <a:ext cx="8044815" cy="358080"/>
          </a:xfrm>
          <a:prstGeom prst="rect">
            <a:avLst/>
          </a:prstGeom>
          <a:noFill/>
          <a:ln/>
        </p:spPr>
        <p:txBody>
          <a:bodyPr wrap="square" lIns="25400" tIns="25400" rIns="25400" bIns="25400" rtlCol="0" anchor="t">
            <a:normAutofit/>
          </a:bodyPr>
          <a:lstStyle/>
          <a:p>
            <a:pPr algn="l" indent="0" marL="0">
              <a:lnSpc>
                <a:spcPct val="140000"/>
              </a:lnSpc>
              <a:buNone/>
            </a:pPr>
            <a:r>
              <a:rPr lang="en-US" sz="1800" i="1" dirty="0">
                <a:solidFill>
                  <a:srgbClr val="5A7A8A"/>
                </a:solidFill>
                <a:latin typeface="Arial" pitchFamily="34" charset="0"/>
                <a:ea typeface="Arial" pitchFamily="34" charset="-122"/>
                <a:cs typeface="Arial" pitchFamily="34" charset="-120"/>
              </a:rPr>
              <a:t>Use for · Cold water shock, PFDs, kayak/SUP safety</a:t>
            </a:r>
            <a:endParaRPr lang="en-US" sz="1800" dirty="0"/>
          </a:p>
        </p:txBody>
      </p:sp>
      <p:sp>
        <p:nvSpPr>
          <p:cNvPr id="20" name="Shape 18"/>
          <p:cNvSpPr/>
          <p:nvPr/>
        </p:nvSpPr>
        <p:spPr>
          <a:xfrm>
            <a:off x="1047750" y="7432625"/>
            <a:ext cx="7810500" cy="9525"/>
          </a:xfrm>
          <a:prstGeom prst="rect">
            <a:avLst/>
          </a:prstGeom>
          <a:solidFill>
            <a:srgbClr val="CDD9E0"/>
          </a:solidFill>
          <a:ln/>
        </p:spPr>
        <p:txBody>
          <a:bodyPr/>
          <a:p/>
        </p:txBody>
      </p:sp>
      <p:sp>
        <p:nvSpPr>
          <p:cNvPr id="21" name="Text 19"/>
          <p:cNvSpPr/>
          <p:nvPr/>
        </p:nvSpPr>
        <p:spPr>
          <a:xfrm>
            <a:off x="1047750" y="7651700"/>
            <a:ext cx="8044815" cy="464790"/>
          </a:xfrm>
          <a:prstGeom prst="rect">
            <a:avLst/>
          </a:prstGeom>
          <a:noFill/>
          <a:ln/>
        </p:spPr>
        <p:txBody>
          <a:bodyPr wrap="square" lIns="25400" tIns="25400" rIns="25400" bIns="25400" rtlCol="0" anchor="t">
            <a:normAutofit/>
          </a:bodyPr>
          <a:lstStyle/>
          <a:p>
            <a:pPr algn="l" indent="0" marL="0">
              <a:lnSpc>
                <a:spcPct val="140000"/>
              </a:lnSpc>
              <a:buNone/>
            </a:pPr>
            <a:r>
              <a:rPr lang="en-US" sz="2400" b="1" dirty="0">
                <a:solidFill>
                  <a:srgbClr val="003554"/>
                </a:solidFill>
                <a:latin typeface="Arial" pitchFamily="34" charset="0"/>
                <a:ea typeface="Arial" pitchFamily="34" charset="-122"/>
                <a:cs typeface="Arial" pitchFamily="34" charset="-120"/>
              </a:rPr>
              <a:t>Parks Victoria</a:t>
            </a:r>
            <a:endParaRPr lang="en-US" sz="2400" dirty="0"/>
          </a:p>
        </p:txBody>
      </p:sp>
      <p:sp>
        <p:nvSpPr>
          <p:cNvPr id="22" name="Text 20"/>
          <p:cNvSpPr/>
          <p:nvPr/>
        </p:nvSpPr>
        <p:spPr>
          <a:xfrm>
            <a:off x="1047750" y="8135541"/>
            <a:ext cx="8044815" cy="358080"/>
          </a:xfrm>
          <a:prstGeom prst="rect">
            <a:avLst/>
          </a:prstGeom>
          <a:noFill/>
          <a:ln/>
        </p:spPr>
        <p:txBody>
          <a:bodyPr wrap="square" lIns="25400" tIns="25400" rIns="25400" bIns="25400" rtlCol="0" anchor="t">
            <a:normAutofit/>
          </a:bodyPr>
          <a:lstStyle/>
          <a:p>
            <a:pPr algn="l" indent="0" marL="0">
              <a:lnSpc>
                <a:spcPct val="140000"/>
              </a:lnSpc>
              <a:buNone/>
            </a:pPr>
            <a:r>
              <a:rPr lang="en-US" sz="1800" spc="75" kern="0" dirty="0">
                <a:solidFill>
                  <a:srgbClr val="5A7A8A"/>
                </a:solidFill>
                <a:latin typeface="Courier New" pitchFamily="34" charset="0"/>
                <a:ea typeface="Courier New" pitchFamily="34" charset="-122"/>
                <a:cs typeface="Courier New" pitchFamily="34" charset="-120"/>
              </a:rPr>
              <a:t>parks.vic.gov.au</a:t>
            </a:r>
            <a:endParaRPr lang="en-US" sz="1800" dirty="0"/>
          </a:p>
        </p:txBody>
      </p:sp>
      <p:sp>
        <p:nvSpPr>
          <p:cNvPr id="23" name="Text 21"/>
          <p:cNvSpPr/>
          <p:nvPr/>
        </p:nvSpPr>
        <p:spPr>
          <a:xfrm>
            <a:off x="1047750" y="8550771"/>
            <a:ext cx="8044815" cy="358080"/>
          </a:xfrm>
          <a:prstGeom prst="rect">
            <a:avLst/>
          </a:prstGeom>
          <a:noFill/>
          <a:ln/>
        </p:spPr>
        <p:txBody>
          <a:bodyPr wrap="square" lIns="25400" tIns="25400" rIns="25400" bIns="25400" rtlCol="0" anchor="t">
            <a:normAutofit/>
          </a:bodyPr>
          <a:lstStyle/>
          <a:p>
            <a:pPr algn="l" indent="0" marL="0">
              <a:lnSpc>
                <a:spcPct val="140000"/>
              </a:lnSpc>
              <a:buNone/>
            </a:pPr>
            <a:r>
              <a:rPr lang="en-US" sz="1800" i="1" dirty="0">
                <a:solidFill>
                  <a:srgbClr val="5A7A8A"/>
                </a:solidFill>
                <a:latin typeface="Arial" pitchFamily="34" charset="0"/>
                <a:ea typeface="Arial" pitchFamily="34" charset="-122"/>
                <a:cs typeface="Arial" pitchFamily="34" charset="-120"/>
              </a:rPr>
              <a:t>Use for · River, lake and reservoir hazards in Vic parks</a:t>
            </a:r>
            <a:endParaRPr lang="en-US" sz="1800" dirty="0"/>
          </a:p>
        </p:txBody>
      </p:sp>
      <p:sp>
        <p:nvSpPr>
          <p:cNvPr id="24" name="Shape 22"/>
          <p:cNvSpPr/>
          <p:nvPr/>
        </p:nvSpPr>
        <p:spPr>
          <a:xfrm>
            <a:off x="9429750" y="7432625"/>
            <a:ext cx="7810500" cy="9525"/>
          </a:xfrm>
          <a:prstGeom prst="rect">
            <a:avLst/>
          </a:prstGeom>
          <a:solidFill>
            <a:srgbClr val="CDD9E0"/>
          </a:solidFill>
          <a:ln/>
        </p:spPr>
        <p:txBody>
          <a:bodyPr/>
          <a:p/>
        </p:txBody>
      </p:sp>
      <p:sp>
        <p:nvSpPr>
          <p:cNvPr id="25" name="Text 23"/>
          <p:cNvSpPr/>
          <p:nvPr/>
        </p:nvSpPr>
        <p:spPr>
          <a:xfrm>
            <a:off x="9429750" y="7651700"/>
            <a:ext cx="8044815" cy="464790"/>
          </a:xfrm>
          <a:prstGeom prst="rect">
            <a:avLst/>
          </a:prstGeom>
          <a:noFill/>
          <a:ln/>
        </p:spPr>
        <p:txBody>
          <a:bodyPr wrap="square" lIns="25400" tIns="25400" rIns="25400" bIns="25400" rtlCol="0" anchor="t">
            <a:normAutofit/>
          </a:bodyPr>
          <a:lstStyle/>
          <a:p>
            <a:pPr algn="l" indent="0" marL="0">
              <a:lnSpc>
                <a:spcPct val="140000"/>
              </a:lnSpc>
              <a:buNone/>
            </a:pPr>
            <a:r>
              <a:rPr lang="en-US" sz="2400" b="1" dirty="0">
                <a:solidFill>
                  <a:srgbClr val="003554"/>
                </a:solidFill>
                <a:latin typeface="Arial" pitchFamily="34" charset="0"/>
                <a:ea typeface="Arial" pitchFamily="34" charset="-122"/>
                <a:cs typeface="Arial" pitchFamily="34" charset="-120"/>
              </a:rPr>
              <a:t>St John Ambulance Victoria</a:t>
            </a:r>
            <a:endParaRPr lang="en-US" sz="2400" dirty="0"/>
          </a:p>
        </p:txBody>
      </p:sp>
      <p:sp>
        <p:nvSpPr>
          <p:cNvPr id="26" name="Text 24"/>
          <p:cNvSpPr/>
          <p:nvPr/>
        </p:nvSpPr>
        <p:spPr>
          <a:xfrm>
            <a:off x="9429750" y="8135541"/>
            <a:ext cx="8044815" cy="358080"/>
          </a:xfrm>
          <a:prstGeom prst="rect">
            <a:avLst/>
          </a:prstGeom>
          <a:noFill/>
          <a:ln/>
        </p:spPr>
        <p:txBody>
          <a:bodyPr wrap="square" lIns="25400" tIns="25400" rIns="25400" bIns="25400" rtlCol="0" anchor="t">
            <a:normAutofit/>
          </a:bodyPr>
          <a:lstStyle/>
          <a:p>
            <a:pPr algn="l" indent="0" marL="0">
              <a:lnSpc>
                <a:spcPct val="140000"/>
              </a:lnSpc>
              <a:buNone/>
            </a:pPr>
            <a:r>
              <a:rPr lang="en-US" sz="1800" spc="75" kern="0" dirty="0">
                <a:solidFill>
                  <a:srgbClr val="5A7A8A"/>
                </a:solidFill>
                <a:latin typeface="Courier New" pitchFamily="34" charset="0"/>
                <a:ea typeface="Courier New" pitchFamily="34" charset="-122"/>
                <a:cs typeface="Courier New" pitchFamily="34" charset="-120"/>
              </a:rPr>
              <a:t>stjohnvic.com.au · 000 for emergencies</a:t>
            </a:r>
            <a:endParaRPr lang="en-US" sz="1800" dirty="0"/>
          </a:p>
        </p:txBody>
      </p:sp>
      <p:sp>
        <p:nvSpPr>
          <p:cNvPr id="27" name="Text 25"/>
          <p:cNvSpPr/>
          <p:nvPr/>
        </p:nvSpPr>
        <p:spPr>
          <a:xfrm>
            <a:off x="9429750" y="8550771"/>
            <a:ext cx="8044815" cy="358080"/>
          </a:xfrm>
          <a:prstGeom prst="rect">
            <a:avLst/>
          </a:prstGeom>
          <a:noFill/>
          <a:ln/>
        </p:spPr>
        <p:txBody>
          <a:bodyPr wrap="square" lIns="25400" tIns="25400" rIns="25400" bIns="25400" rtlCol="0" anchor="t">
            <a:normAutofit/>
          </a:bodyPr>
          <a:lstStyle/>
          <a:p>
            <a:pPr algn="l" indent="0" marL="0">
              <a:lnSpc>
                <a:spcPct val="140000"/>
              </a:lnSpc>
              <a:buNone/>
            </a:pPr>
            <a:r>
              <a:rPr lang="en-US" sz="1800" i="1" dirty="0">
                <a:solidFill>
                  <a:srgbClr val="5A7A8A"/>
                </a:solidFill>
                <a:latin typeface="Arial" pitchFamily="34" charset="0"/>
                <a:ea typeface="Arial" pitchFamily="34" charset="-122"/>
                <a:cs typeface="Arial" pitchFamily="34" charset="-120"/>
              </a:rPr>
              <a:t>Use for · First aid, DRS ABCD, CPR technique</a:t>
            </a:r>
            <a:endParaRPr lang="en-US" sz="18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4F7F9"/>
        </a:solidFill>
      </p:bgPr>
    </p:bg>
    <p:spTree>
      <p:nvGrpSpPr>
        <p:cNvPr id="1" name=""/>
        <p:cNvGrpSpPr/>
        <p:nvPr/>
      </p:nvGrpSpPr>
      <p:grpSpPr>
        <a:xfrm>
          <a:off x="0" y="0"/>
          <a:ext cx="0" cy="0"/>
          <a:chOff x="0" y="0"/>
          <a:chExt cx="0" cy="0"/>
        </a:xfrm>
      </p:grpSpPr>
      <p:sp>
        <p:nvSpPr>
          <p:cNvPr id="2" name="Text 0"/>
          <p:cNvSpPr/>
          <p:nvPr/>
        </p:nvSpPr>
        <p:spPr>
          <a:xfrm>
            <a:off x="1047750" y="914400"/>
            <a:ext cx="16678275" cy="358080"/>
          </a:xfrm>
          <a:prstGeom prst="rect">
            <a:avLst/>
          </a:prstGeom>
          <a:noFill/>
          <a:ln/>
        </p:spPr>
        <p:txBody>
          <a:bodyPr wrap="square" lIns="25400" tIns="25400" rIns="25400" bIns="25400" rtlCol="0" anchor="t">
            <a:normAutofit/>
          </a:bodyPr>
          <a:lstStyle/>
          <a:p>
            <a:pPr algn="l" indent="0" marL="0">
              <a:lnSpc>
                <a:spcPct val="140000"/>
              </a:lnSpc>
              <a:buNone/>
            </a:pPr>
            <a:r>
              <a:rPr lang="en-US" sz="1800" spc="300" kern="0" dirty="0">
                <a:solidFill>
                  <a:srgbClr val="5A7A8A"/>
                </a:solidFill>
                <a:latin typeface="Courier New" pitchFamily="34" charset="0"/>
                <a:ea typeface="Courier New" pitchFamily="34" charset="-122"/>
                <a:cs typeface="Courier New" pitchFamily="34" charset="-120"/>
              </a:rPr>
              <a:t>WHOLE UNIT ON ONE SLIDE</a:t>
            </a:r>
            <a:endParaRPr lang="en-US" sz="1800" dirty="0"/>
          </a:p>
        </p:txBody>
      </p:sp>
      <p:sp>
        <p:nvSpPr>
          <p:cNvPr id="3" name="Text 1"/>
          <p:cNvSpPr/>
          <p:nvPr/>
        </p:nvSpPr>
        <p:spPr>
          <a:xfrm>
            <a:off x="1047750" y="1405830"/>
            <a:ext cx="16678275" cy="798165"/>
          </a:xfrm>
          <a:prstGeom prst="rect">
            <a:avLst/>
          </a:prstGeom>
          <a:noFill/>
          <a:ln/>
        </p:spPr>
        <p:txBody>
          <a:bodyPr wrap="square" lIns="25400" tIns="25400" rIns="25400" bIns="25400" rtlCol="0" anchor="t">
            <a:normAutofit/>
          </a:bodyPr>
          <a:lstStyle/>
          <a:p>
            <a:pPr algn="l" indent="0" marL="0">
              <a:lnSpc>
                <a:spcPct val="105000"/>
              </a:lnSpc>
              <a:buNone/>
            </a:pPr>
            <a:r>
              <a:rPr lang="en-US" sz="5700" b="1" spc="-75" kern="0" dirty="0">
                <a:solidFill>
                  <a:srgbClr val="0D1F2D"/>
                </a:solidFill>
                <a:latin typeface="Arial" pitchFamily="34" charset="0"/>
                <a:ea typeface="Arial" pitchFamily="34" charset="-122"/>
                <a:cs typeface="Arial" pitchFamily="34" charset="-120"/>
              </a:rPr>
              <a:t>Five lessons. One thing each.</a:t>
            </a:r>
            <a:endParaRPr lang="en-US" sz="5700" dirty="0"/>
          </a:p>
        </p:txBody>
      </p:sp>
      <p:sp>
        <p:nvSpPr>
          <p:cNvPr id="4" name="Shape 2"/>
          <p:cNvSpPr/>
          <p:nvPr/>
        </p:nvSpPr>
        <p:spPr>
          <a:xfrm>
            <a:off x="1047750" y="2623096"/>
            <a:ext cx="3101280" cy="76200"/>
          </a:xfrm>
          <a:prstGeom prst="rect">
            <a:avLst/>
          </a:prstGeom>
          <a:solidFill>
            <a:srgbClr val="1565C0"/>
          </a:solidFill>
          <a:ln/>
        </p:spPr>
        <p:txBody>
          <a:bodyPr/>
          <a:p/>
        </p:txBody>
      </p:sp>
      <p:sp>
        <p:nvSpPr>
          <p:cNvPr id="5" name="Text 3"/>
          <p:cNvSpPr/>
          <p:nvPr/>
        </p:nvSpPr>
        <p:spPr>
          <a:xfrm>
            <a:off x="1047750" y="2908846"/>
            <a:ext cx="3194319" cy="304800"/>
          </a:xfrm>
          <a:prstGeom prst="rect">
            <a:avLst/>
          </a:prstGeom>
          <a:noFill/>
          <a:ln/>
        </p:spPr>
        <p:txBody>
          <a:bodyPr wrap="square" lIns="25400" tIns="25400" rIns="25400" bIns="25400" rtlCol="0" anchor="t">
            <a:normAutofit/>
          </a:bodyPr>
          <a:lstStyle/>
          <a:p>
            <a:pPr algn="l" indent="0" marL="0">
              <a:lnSpc>
                <a:spcPct val="140000"/>
              </a:lnSpc>
              <a:buNone/>
            </a:pPr>
            <a:r>
              <a:rPr lang="en-US" sz="1500" spc="225" kern="0" dirty="0">
                <a:solidFill>
                  <a:srgbClr val="5A7A8A"/>
                </a:solidFill>
                <a:latin typeface="Courier New" pitchFamily="34" charset="0"/>
                <a:ea typeface="Courier New" pitchFamily="34" charset="-122"/>
                <a:cs typeface="Courier New" pitchFamily="34" charset="-120"/>
              </a:rPr>
              <a:t>Lesson 01</a:t>
            </a:r>
            <a:endParaRPr lang="en-US" sz="1500" dirty="0"/>
          </a:p>
        </p:txBody>
      </p:sp>
      <p:sp>
        <p:nvSpPr>
          <p:cNvPr id="6" name="Text 4"/>
          <p:cNvSpPr/>
          <p:nvPr/>
        </p:nvSpPr>
        <p:spPr>
          <a:xfrm>
            <a:off x="1047750" y="3308896"/>
            <a:ext cx="3194319" cy="651272"/>
          </a:xfrm>
          <a:prstGeom prst="rect">
            <a:avLst/>
          </a:prstGeom>
          <a:noFill/>
          <a:ln/>
        </p:spPr>
        <p:txBody>
          <a:bodyPr wrap="square" lIns="25400" tIns="25400" rIns="25400" bIns="25400" rtlCol="0" anchor="t">
            <a:normAutofit/>
          </a:bodyPr>
          <a:lstStyle/>
          <a:p>
            <a:pPr algn="l" indent="0" marL="0">
              <a:lnSpc>
                <a:spcPct val="115000"/>
              </a:lnSpc>
              <a:buNone/>
            </a:pPr>
            <a:r>
              <a:rPr lang="en-US" sz="2100" b="1" dirty="0">
                <a:solidFill>
                  <a:srgbClr val="0D1F2D"/>
                </a:solidFill>
                <a:latin typeface="Arial" pitchFamily="34" charset="0"/>
                <a:ea typeface="Arial" pitchFamily="34" charset="-122"/>
                <a:cs typeface="Arial" pitchFamily="34" charset="-120"/>
              </a:rPr>
              <a:t>Why water safety matters here</a:t>
            </a:r>
            <a:endParaRPr lang="en-US" sz="2100" dirty="0"/>
          </a:p>
        </p:txBody>
      </p:sp>
      <p:sp>
        <p:nvSpPr>
          <p:cNvPr id="7" name="Text 5"/>
          <p:cNvSpPr/>
          <p:nvPr/>
        </p:nvSpPr>
        <p:spPr>
          <a:xfrm>
            <a:off x="901065" y="4112568"/>
            <a:ext cx="3324165" cy="2077641"/>
          </a:xfrm>
          <a:prstGeom prst="rect">
            <a:avLst/>
          </a:prstGeom>
          <a:noFill/>
          <a:ln/>
        </p:spPr>
        <p:txBody>
          <a:bodyPr wrap="square" lIns="25400" tIns="25400" rIns="25400" bIns="25400" rtlCol="0" anchor="t">
            <a:normAutofit/>
          </a:bodyPr>
          <a:lstStyle/>
          <a:p>
            <a:pPr algn="l" indent="0" marL="0">
              <a:lnSpc>
                <a:spcPct val="135000"/>
              </a:lnSpc>
              <a:buNone/>
            </a:pPr>
            <a:r>
              <a:rPr lang="en-US" sz="1650" dirty="0">
                <a:solidFill>
                  <a:srgbClr val="5A7A8A"/>
                </a:solidFill>
                <a:latin typeface="Arial" pitchFamily="34" charset="0"/>
                <a:ea typeface="Arial" pitchFamily="34" charset="-122"/>
                <a:cs typeface="Arial" pitchFamily="34" charset="-120"/>
              </a:rPr>
              <a:t>52 Victorian drownings in 2024–25</a:t>
            </a:r>
            <a:endParaRPr lang="en-US" sz="1650" dirty="0"/>
          </a:p>
          <a:p>
            <a:pPr algn="l" indent="0" marL="0">
              <a:lnSpc>
                <a:spcPct val="135000"/>
              </a:lnSpc>
              <a:buNone/>
            </a:pPr>
            <a:r>
              <a:rPr lang="en-US" sz="1650" dirty="0">
                <a:solidFill>
                  <a:srgbClr val="5A7A8A"/>
                </a:solidFill>
                <a:latin typeface="Arial" pitchFamily="34" charset="0"/>
                <a:ea typeface="Arial" pitchFamily="34" charset="-122"/>
                <a:cs typeface="Arial" pitchFamily="34" charset="-120"/>
              </a:rPr>
              <a:t>About 1 in 8 victims aged 15–24</a:t>
            </a:r>
            <a:endParaRPr lang="en-US" sz="1650" dirty="0"/>
          </a:p>
          <a:p>
            <a:pPr algn="l" indent="0" marL="0">
              <a:lnSpc>
                <a:spcPct val="135000"/>
              </a:lnSpc>
              <a:buNone/>
            </a:pPr>
            <a:r>
              <a:rPr lang="en-US" sz="1650" dirty="0">
                <a:solidFill>
                  <a:srgbClr val="5A7A8A"/>
                </a:solidFill>
                <a:latin typeface="Arial" pitchFamily="34" charset="0"/>
                <a:ea typeface="Arial" pitchFamily="34" charset="-122"/>
                <a:cs typeface="Arial" pitchFamily="34" charset="-120"/>
              </a:rPr>
              <a:t>Zero deaths in public pools</a:t>
            </a:r>
            <a:endParaRPr lang="en-US" sz="1650" dirty="0"/>
          </a:p>
          <a:p>
            <a:pPr algn="l" indent="0" marL="0">
              <a:lnSpc>
                <a:spcPct val="135000"/>
              </a:lnSpc>
              <a:buNone/>
            </a:pPr>
            <a:r>
              <a:rPr lang="en-US" sz="1650" dirty="0">
                <a:solidFill>
                  <a:srgbClr val="5A7A8A"/>
                </a:solidFill>
                <a:latin typeface="Arial" pitchFamily="34" charset="0"/>
                <a:ea typeface="Arial" pitchFamily="34" charset="-122"/>
                <a:cs typeface="Arial" pitchFamily="34" charset="-120"/>
              </a:rPr>
              <a:t>Teenage risk = peer pressure + overconfidence</a:t>
            </a:r>
            <a:endParaRPr lang="en-US" sz="1650" dirty="0"/>
          </a:p>
        </p:txBody>
      </p:sp>
      <p:sp>
        <p:nvSpPr>
          <p:cNvPr id="8" name="Shape 6"/>
          <p:cNvSpPr/>
          <p:nvPr/>
        </p:nvSpPr>
        <p:spPr>
          <a:xfrm>
            <a:off x="4320480" y="2623096"/>
            <a:ext cx="3101280" cy="76200"/>
          </a:xfrm>
          <a:prstGeom prst="rect">
            <a:avLst/>
          </a:prstGeom>
          <a:solidFill>
            <a:srgbClr val="00695C"/>
          </a:solidFill>
          <a:ln/>
        </p:spPr>
        <p:txBody>
          <a:bodyPr/>
          <a:p/>
        </p:txBody>
      </p:sp>
      <p:sp>
        <p:nvSpPr>
          <p:cNvPr id="9" name="Text 7"/>
          <p:cNvSpPr/>
          <p:nvPr/>
        </p:nvSpPr>
        <p:spPr>
          <a:xfrm>
            <a:off x="4320480" y="2908846"/>
            <a:ext cx="3194319" cy="304800"/>
          </a:xfrm>
          <a:prstGeom prst="rect">
            <a:avLst/>
          </a:prstGeom>
          <a:noFill/>
          <a:ln/>
        </p:spPr>
        <p:txBody>
          <a:bodyPr wrap="square" lIns="25400" tIns="25400" rIns="25400" bIns="25400" rtlCol="0" anchor="t">
            <a:normAutofit/>
          </a:bodyPr>
          <a:lstStyle/>
          <a:p>
            <a:pPr algn="l" indent="0" marL="0">
              <a:lnSpc>
                <a:spcPct val="140000"/>
              </a:lnSpc>
              <a:buNone/>
            </a:pPr>
            <a:r>
              <a:rPr lang="en-US" sz="1500" spc="225" kern="0" dirty="0">
                <a:solidFill>
                  <a:srgbClr val="5A7A8A"/>
                </a:solidFill>
                <a:latin typeface="Courier New" pitchFamily="34" charset="0"/>
                <a:ea typeface="Courier New" pitchFamily="34" charset="-122"/>
                <a:cs typeface="Courier New" pitchFamily="34" charset="-120"/>
              </a:rPr>
              <a:t>Lesson 02</a:t>
            </a:r>
            <a:endParaRPr lang="en-US" sz="1500" dirty="0"/>
          </a:p>
        </p:txBody>
      </p:sp>
      <p:sp>
        <p:nvSpPr>
          <p:cNvPr id="10" name="Text 8"/>
          <p:cNvSpPr/>
          <p:nvPr/>
        </p:nvSpPr>
        <p:spPr>
          <a:xfrm>
            <a:off x="4320480" y="3308896"/>
            <a:ext cx="3194319" cy="344686"/>
          </a:xfrm>
          <a:prstGeom prst="rect">
            <a:avLst/>
          </a:prstGeom>
          <a:noFill/>
          <a:ln/>
        </p:spPr>
        <p:txBody>
          <a:bodyPr wrap="square" lIns="25400" tIns="25400" rIns="25400" bIns="25400" rtlCol="0" anchor="t">
            <a:normAutofit/>
          </a:bodyPr>
          <a:lstStyle/>
          <a:p>
            <a:pPr algn="l" indent="0" marL="0">
              <a:lnSpc>
                <a:spcPct val="115000"/>
              </a:lnSpc>
              <a:buNone/>
            </a:pPr>
            <a:r>
              <a:rPr lang="en-US" sz="2100" b="1" dirty="0">
                <a:solidFill>
                  <a:srgbClr val="0D1F2D"/>
                </a:solidFill>
                <a:latin typeface="Arial" pitchFamily="34" charset="0"/>
                <a:ea typeface="Arial" pitchFamily="34" charset="-122"/>
                <a:cs typeface="Arial" pitchFamily="34" charset="-120"/>
              </a:rPr>
              <a:t>Reading the beach</a:t>
            </a:r>
            <a:endParaRPr lang="en-US" sz="2100" dirty="0"/>
          </a:p>
        </p:txBody>
      </p:sp>
      <p:sp>
        <p:nvSpPr>
          <p:cNvPr id="11" name="Text 9"/>
          <p:cNvSpPr/>
          <p:nvPr/>
        </p:nvSpPr>
        <p:spPr>
          <a:xfrm>
            <a:off x="4173795" y="3805982"/>
            <a:ext cx="3324165" cy="2077641"/>
          </a:xfrm>
          <a:prstGeom prst="rect">
            <a:avLst/>
          </a:prstGeom>
          <a:noFill/>
          <a:ln/>
        </p:spPr>
        <p:txBody>
          <a:bodyPr wrap="square" lIns="25400" tIns="25400" rIns="25400" bIns="25400" rtlCol="0" anchor="t">
            <a:normAutofit/>
          </a:bodyPr>
          <a:lstStyle/>
          <a:p>
            <a:pPr algn="l" indent="0" marL="0">
              <a:lnSpc>
                <a:spcPct val="135000"/>
              </a:lnSpc>
              <a:buNone/>
            </a:pPr>
            <a:r>
              <a:rPr lang="en-US" sz="1650" dirty="0">
                <a:solidFill>
                  <a:srgbClr val="5A7A8A"/>
                </a:solidFill>
                <a:latin typeface="Arial" pitchFamily="34" charset="0"/>
                <a:ea typeface="Arial" pitchFamily="34" charset="-122"/>
                <a:cs typeface="Arial" pitchFamily="34" charset="-120"/>
              </a:rPr>
              <a:t>Six Australian beach flags</a:t>
            </a:r>
            <a:endParaRPr lang="en-US" sz="1650" dirty="0"/>
          </a:p>
          <a:p>
            <a:pPr algn="l" indent="0" marL="0">
              <a:lnSpc>
                <a:spcPct val="135000"/>
              </a:lnSpc>
              <a:buNone/>
            </a:pPr>
            <a:r>
              <a:rPr lang="en-US" sz="1650" dirty="0">
                <a:solidFill>
                  <a:srgbClr val="5A7A8A"/>
                </a:solidFill>
                <a:latin typeface="Arial" pitchFamily="34" charset="0"/>
                <a:ea typeface="Arial" pitchFamily="34" charset="-122"/>
                <a:cs typeface="Arial" pitchFamily="34" charset="-120"/>
              </a:rPr>
              <a:t>Rip currents pull out, not under</a:t>
            </a:r>
            <a:endParaRPr lang="en-US" sz="1650" dirty="0"/>
          </a:p>
          <a:p>
            <a:pPr algn="l" indent="0" marL="0">
              <a:lnSpc>
                <a:spcPct val="135000"/>
              </a:lnSpc>
              <a:buNone/>
            </a:pPr>
            <a:r>
              <a:rPr lang="en-US" sz="1650" dirty="0">
                <a:solidFill>
                  <a:srgbClr val="5A7A8A"/>
                </a:solidFill>
                <a:latin typeface="Arial" pitchFamily="34" charset="0"/>
                <a:ea typeface="Arial" pitchFamily="34" charset="-122"/>
                <a:cs typeface="Arial" pitchFamily="34" charset="-120"/>
              </a:rPr>
              <a:t>Stay calm · float · parallel · angle in · signal</a:t>
            </a:r>
            <a:endParaRPr lang="en-US" sz="1650" dirty="0"/>
          </a:p>
          <a:p>
            <a:pPr algn="l" indent="0" marL="0">
              <a:lnSpc>
                <a:spcPct val="135000"/>
              </a:lnSpc>
              <a:buNone/>
            </a:pPr>
            <a:r>
              <a:rPr lang="en-US" sz="1650" dirty="0">
                <a:solidFill>
                  <a:srgbClr val="5A7A8A"/>
                </a:solidFill>
                <a:latin typeface="Arial" pitchFamily="34" charset="0"/>
                <a:ea typeface="Arial" pitchFamily="34" charset="-122"/>
                <a:cs typeface="Arial" pitchFamily="34" charset="-120"/>
              </a:rPr>
              <a:t>BeachSafe app before you leave home</a:t>
            </a:r>
            <a:endParaRPr lang="en-US" sz="1650" dirty="0"/>
          </a:p>
        </p:txBody>
      </p:sp>
      <p:sp>
        <p:nvSpPr>
          <p:cNvPr id="12" name="Shape 10"/>
          <p:cNvSpPr/>
          <p:nvPr/>
        </p:nvSpPr>
        <p:spPr>
          <a:xfrm>
            <a:off x="7593211" y="2623096"/>
            <a:ext cx="3101429" cy="76200"/>
          </a:xfrm>
          <a:prstGeom prst="rect">
            <a:avLst/>
          </a:prstGeom>
          <a:solidFill>
            <a:srgbClr val="B71C1C"/>
          </a:solidFill>
          <a:ln/>
        </p:spPr>
        <p:txBody>
          <a:bodyPr/>
          <a:p/>
        </p:txBody>
      </p:sp>
      <p:sp>
        <p:nvSpPr>
          <p:cNvPr id="13" name="Text 11"/>
          <p:cNvSpPr/>
          <p:nvPr/>
        </p:nvSpPr>
        <p:spPr>
          <a:xfrm>
            <a:off x="7593211" y="2908846"/>
            <a:ext cx="3194472" cy="304800"/>
          </a:xfrm>
          <a:prstGeom prst="rect">
            <a:avLst/>
          </a:prstGeom>
          <a:noFill/>
          <a:ln/>
        </p:spPr>
        <p:txBody>
          <a:bodyPr wrap="square" lIns="25400" tIns="25400" rIns="25400" bIns="25400" rtlCol="0" anchor="t">
            <a:normAutofit/>
          </a:bodyPr>
          <a:lstStyle/>
          <a:p>
            <a:pPr algn="l" indent="0" marL="0">
              <a:lnSpc>
                <a:spcPct val="140000"/>
              </a:lnSpc>
              <a:buNone/>
            </a:pPr>
            <a:r>
              <a:rPr lang="en-US" sz="1500" spc="225" kern="0" dirty="0">
                <a:solidFill>
                  <a:srgbClr val="5A7A8A"/>
                </a:solidFill>
                <a:latin typeface="Courier New" pitchFamily="34" charset="0"/>
                <a:ea typeface="Courier New" pitchFamily="34" charset="-122"/>
                <a:cs typeface="Courier New" pitchFamily="34" charset="-120"/>
              </a:rPr>
              <a:t>Lesson 03</a:t>
            </a:r>
            <a:endParaRPr lang="en-US" sz="1500" dirty="0"/>
          </a:p>
        </p:txBody>
      </p:sp>
      <p:sp>
        <p:nvSpPr>
          <p:cNvPr id="14" name="Text 12"/>
          <p:cNvSpPr/>
          <p:nvPr/>
        </p:nvSpPr>
        <p:spPr>
          <a:xfrm>
            <a:off x="7593211" y="3308896"/>
            <a:ext cx="3194472" cy="344686"/>
          </a:xfrm>
          <a:prstGeom prst="rect">
            <a:avLst/>
          </a:prstGeom>
          <a:noFill/>
          <a:ln/>
        </p:spPr>
        <p:txBody>
          <a:bodyPr wrap="square" lIns="25400" tIns="25400" rIns="25400" bIns="25400" rtlCol="0" anchor="t">
            <a:normAutofit/>
          </a:bodyPr>
          <a:lstStyle/>
          <a:p>
            <a:pPr algn="l" indent="0" marL="0">
              <a:lnSpc>
                <a:spcPct val="115000"/>
              </a:lnSpc>
              <a:buNone/>
            </a:pPr>
            <a:r>
              <a:rPr lang="en-US" sz="2100" b="1" dirty="0">
                <a:solidFill>
                  <a:srgbClr val="0D1F2D"/>
                </a:solidFill>
                <a:latin typeface="Arial" pitchFamily="34" charset="0"/>
                <a:ea typeface="Arial" pitchFamily="34" charset="-122"/>
                <a:cs typeface="Arial" pitchFamily="34" charset="-120"/>
              </a:rPr>
              <a:t>Emergency response</a:t>
            </a:r>
            <a:endParaRPr lang="en-US" sz="2100" dirty="0"/>
          </a:p>
        </p:txBody>
      </p:sp>
      <p:sp>
        <p:nvSpPr>
          <p:cNvPr id="15" name="Text 13"/>
          <p:cNvSpPr/>
          <p:nvPr/>
        </p:nvSpPr>
        <p:spPr>
          <a:xfrm>
            <a:off x="7446526" y="3805982"/>
            <a:ext cx="3324314" cy="2360414"/>
          </a:xfrm>
          <a:prstGeom prst="rect">
            <a:avLst/>
          </a:prstGeom>
          <a:noFill/>
          <a:ln/>
        </p:spPr>
        <p:txBody>
          <a:bodyPr wrap="square" lIns="25400" tIns="25400" rIns="25400" bIns="25400" rtlCol="0" anchor="t">
            <a:normAutofit/>
          </a:bodyPr>
          <a:lstStyle/>
          <a:p>
            <a:pPr algn="l" indent="0" marL="0">
              <a:lnSpc>
                <a:spcPct val="135000"/>
              </a:lnSpc>
              <a:buNone/>
            </a:pPr>
            <a:r>
              <a:rPr lang="en-US" sz="1650" dirty="0">
                <a:solidFill>
                  <a:srgbClr val="5A7A8A"/>
                </a:solidFill>
                <a:latin typeface="Arial" pitchFamily="34" charset="0"/>
                <a:ea typeface="Arial" pitchFamily="34" charset="-122"/>
                <a:cs typeface="Arial" pitchFamily="34" charset="-120"/>
              </a:rPr>
              <a:t>Throw, don't go</a:t>
            </a:r>
            <a:endParaRPr lang="en-US" sz="1650" dirty="0"/>
          </a:p>
          <a:p>
            <a:pPr algn="l" indent="0" marL="0">
              <a:lnSpc>
                <a:spcPct val="135000"/>
              </a:lnSpc>
              <a:buNone/>
            </a:pPr>
            <a:r>
              <a:rPr lang="en-US" sz="1650" dirty="0">
                <a:solidFill>
                  <a:srgbClr val="5A7A8A"/>
                </a:solidFill>
                <a:latin typeface="Arial" pitchFamily="34" charset="0"/>
                <a:ea typeface="Arial" pitchFamily="34" charset="-122"/>
                <a:cs typeface="Arial" pitchFamily="34" charset="-120"/>
              </a:rPr>
              <a:t>Hierarchy: talk · reach · throw · row · go</a:t>
            </a:r>
            <a:endParaRPr lang="en-US" sz="1650" dirty="0"/>
          </a:p>
          <a:p>
            <a:pPr algn="l" indent="0" marL="0">
              <a:lnSpc>
                <a:spcPct val="135000"/>
              </a:lnSpc>
              <a:buNone/>
            </a:pPr>
            <a:r>
              <a:rPr lang="en-US" sz="1650" dirty="0">
                <a:solidFill>
                  <a:srgbClr val="5A7A8A"/>
                </a:solidFill>
                <a:latin typeface="Arial" pitchFamily="34" charset="0"/>
                <a:ea typeface="Arial" pitchFamily="34" charset="-122"/>
                <a:cs typeface="Arial" pitchFamily="34" charset="-120"/>
              </a:rPr>
              <a:t>DRS ABCD — seven steps in order</a:t>
            </a:r>
            <a:endParaRPr lang="en-US" sz="1650" dirty="0"/>
          </a:p>
          <a:p>
            <a:pPr algn="l" indent="0" marL="0">
              <a:lnSpc>
                <a:spcPct val="135000"/>
              </a:lnSpc>
              <a:buNone/>
            </a:pPr>
            <a:r>
              <a:rPr lang="en-US" sz="1650" dirty="0">
                <a:solidFill>
                  <a:srgbClr val="5A7A8A"/>
                </a:solidFill>
                <a:latin typeface="Arial" pitchFamily="34" charset="0"/>
                <a:ea typeface="Arial" pitchFamily="34" charset="-122"/>
                <a:cs typeface="Arial" pitchFamily="34" charset="-120"/>
              </a:rPr>
              <a:t>CPR: 30 compressions + 2 breaths</a:t>
            </a:r>
            <a:endParaRPr lang="en-US" sz="1650" dirty="0"/>
          </a:p>
        </p:txBody>
      </p:sp>
      <p:sp>
        <p:nvSpPr>
          <p:cNvPr id="16" name="Shape 14"/>
          <p:cNvSpPr/>
          <p:nvPr/>
        </p:nvSpPr>
        <p:spPr>
          <a:xfrm>
            <a:off x="10866090" y="2623096"/>
            <a:ext cx="3101280" cy="76200"/>
          </a:xfrm>
          <a:prstGeom prst="rect">
            <a:avLst/>
          </a:prstGeom>
          <a:solidFill>
            <a:srgbClr val="6A1B9A"/>
          </a:solidFill>
          <a:ln/>
        </p:spPr>
        <p:txBody>
          <a:bodyPr/>
          <a:p/>
        </p:txBody>
      </p:sp>
      <p:sp>
        <p:nvSpPr>
          <p:cNvPr id="17" name="Text 15"/>
          <p:cNvSpPr/>
          <p:nvPr/>
        </p:nvSpPr>
        <p:spPr>
          <a:xfrm>
            <a:off x="10866090" y="2908846"/>
            <a:ext cx="3194319" cy="304800"/>
          </a:xfrm>
          <a:prstGeom prst="rect">
            <a:avLst/>
          </a:prstGeom>
          <a:noFill/>
          <a:ln/>
        </p:spPr>
        <p:txBody>
          <a:bodyPr wrap="square" lIns="25400" tIns="25400" rIns="25400" bIns="25400" rtlCol="0" anchor="t">
            <a:normAutofit/>
          </a:bodyPr>
          <a:lstStyle/>
          <a:p>
            <a:pPr algn="l" indent="0" marL="0">
              <a:lnSpc>
                <a:spcPct val="140000"/>
              </a:lnSpc>
              <a:buNone/>
            </a:pPr>
            <a:r>
              <a:rPr lang="en-US" sz="1500" spc="225" kern="0" dirty="0">
                <a:solidFill>
                  <a:srgbClr val="5A7A8A"/>
                </a:solidFill>
                <a:latin typeface="Courier New" pitchFamily="34" charset="0"/>
                <a:ea typeface="Courier New" pitchFamily="34" charset="-122"/>
                <a:cs typeface="Courier New" pitchFamily="34" charset="-120"/>
              </a:rPr>
              <a:t>Lesson 04</a:t>
            </a:r>
            <a:endParaRPr lang="en-US" sz="1500" dirty="0"/>
          </a:p>
        </p:txBody>
      </p:sp>
      <p:sp>
        <p:nvSpPr>
          <p:cNvPr id="18" name="Text 16"/>
          <p:cNvSpPr/>
          <p:nvPr/>
        </p:nvSpPr>
        <p:spPr>
          <a:xfrm>
            <a:off x="10866090" y="3308896"/>
            <a:ext cx="3194319" cy="344686"/>
          </a:xfrm>
          <a:prstGeom prst="rect">
            <a:avLst/>
          </a:prstGeom>
          <a:noFill/>
          <a:ln/>
        </p:spPr>
        <p:txBody>
          <a:bodyPr wrap="square" lIns="25400" tIns="25400" rIns="25400" bIns="25400" rtlCol="0" anchor="t">
            <a:normAutofit/>
          </a:bodyPr>
          <a:lstStyle/>
          <a:p>
            <a:pPr algn="l" indent="0" marL="0">
              <a:lnSpc>
                <a:spcPct val="115000"/>
              </a:lnSpc>
              <a:buNone/>
            </a:pPr>
            <a:r>
              <a:rPr lang="en-US" sz="2100" b="1" dirty="0">
                <a:solidFill>
                  <a:srgbClr val="0D1F2D"/>
                </a:solidFill>
                <a:latin typeface="Arial" pitchFamily="34" charset="0"/>
                <a:ea typeface="Arial" pitchFamily="34" charset="-122"/>
                <a:cs typeface="Arial" pitchFamily="34" charset="-120"/>
              </a:rPr>
              <a:t>Hazards &amp; decisions</a:t>
            </a:r>
            <a:endParaRPr lang="en-US" sz="2100" dirty="0"/>
          </a:p>
        </p:txBody>
      </p:sp>
      <p:sp>
        <p:nvSpPr>
          <p:cNvPr id="19" name="Text 17"/>
          <p:cNvSpPr/>
          <p:nvPr/>
        </p:nvSpPr>
        <p:spPr>
          <a:xfrm>
            <a:off x="10719405" y="3805982"/>
            <a:ext cx="3324165" cy="1794867"/>
          </a:xfrm>
          <a:prstGeom prst="rect">
            <a:avLst/>
          </a:prstGeom>
          <a:noFill/>
          <a:ln/>
        </p:spPr>
        <p:txBody>
          <a:bodyPr wrap="square" lIns="25400" tIns="25400" rIns="25400" bIns="25400" rtlCol="0" anchor="t">
            <a:normAutofit/>
          </a:bodyPr>
          <a:lstStyle/>
          <a:p>
            <a:pPr algn="l" indent="0" marL="0">
              <a:lnSpc>
                <a:spcPct val="135000"/>
              </a:lnSpc>
              <a:buNone/>
            </a:pPr>
            <a:r>
              <a:rPr lang="en-US" sz="1650" dirty="0">
                <a:solidFill>
                  <a:srgbClr val="5A7A8A"/>
                </a:solidFill>
                <a:latin typeface="Arial" pitchFamily="34" charset="0"/>
                <a:ea typeface="Arial" pitchFamily="34" charset="-122"/>
                <a:cs typeface="Arial" pitchFamily="34" charset="-120"/>
              </a:rPr>
              <a:t>Inland waterways = highest risk in Vic</a:t>
            </a:r>
            <a:endParaRPr lang="en-US" sz="1650" dirty="0"/>
          </a:p>
          <a:p>
            <a:pPr algn="l" indent="0" marL="0">
              <a:lnSpc>
                <a:spcPct val="135000"/>
              </a:lnSpc>
              <a:buNone/>
            </a:pPr>
            <a:r>
              <a:rPr lang="en-US" sz="1650" dirty="0">
                <a:solidFill>
                  <a:srgbClr val="5A7A8A"/>
                </a:solidFill>
                <a:latin typeface="Arial" pitchFamily="34" charset="0"/>
                <a:ea typeface="Arial" pitchFamily="34" charset="-122"/>
                <a:cs typeface="Arial" pitchFamily="34" charset="-120"/>
              </a:rPr>
              <a:t>The 5 SwimSafe rules</a:t>
            </a:r>
            <a:endParaRPr lang="en-US" sz="1650" dirty="0"/>
          </a:p>
          <a:p>
            <a:pPr algn="l" indent="0" marL="0">
              <a:lnSpc>
                <a:spcPct val="135000"/>
              </a:lnSpc>
              <a:buNone/>
            </a:pPr>
            <a:r>
              <a:rPr lang="en-US" sz="1650" dirty="0">
                <a:solidFill>
                  <a:srgbClr val="5A7A8A"/>
                </a:solidFill>
                <a:latin typeface="Arial" pitchFamily="34" charset="0"/>
                <a:ea typeface="Arial" pitchFamily="34" charset="-122"/>
                <a:cs typeface="Arial" pitchFamily="34" charset="-120"/>
              </a:rPr>
              <a:t>Cold water shock: 1 · 10 · 1</a:t>
            </a:r>
            <a:endParaRPr lang="en-US" sz="1650" dirty="0"/>
          </a:p>
          <a:p>
            <a:pPr algn="l" indent="0" marL="0">
              <a:lnSpc>
                <a:spcPct val="135000"/>
              </a:lnSpc>
              <a:buNone/>
            </a:pPr>
            <a:r>
              <a:rPr lang="en-US" sz="1650" dirty="0">
                <a:solidFill>
                  <a:srgbClr val="5A7A8A"/>
                </a:solidFill>
                <a:latin typeface="Arial" pitchFamily="34" charset="0"/>
                <a:ea typeface="Arial" pitchFamily="34" charset="-122"/>
                <a:cs typeface="Arial" pitchFamily="34" charset="-120"/>
              </a:rPr>
              <a:t>Alcohol + water = no</a:t>
            </a:r>
            <a:endParaRPr lang="en-US" sz="1650" dirty="0"/>
          </a:p>
        </p:txBody>
      </p:sp>
      <p:sp>
        <p:nvSpPr>
          <p:cNvPr id="20" name="Shape 18"/>
          <p:cNvSpPr/>
          <p:nvPr/>
        </p:nvSpPr>
        <p:spPr>
          <a:xfrm>
            <a:off x="14138821" y="2623096"/>
            <a:ext cx="3101429" cy="76200"/>
          </a:xfrm>
          <a:prstGeom prst="rect">
            <a:avLst/>
          </a:prstGeom>
          <a:solidFill>
            <a:srgbClr val="E65100"/>
          </a:solidFill>
          <a:ln/>
        </p:spPr>
        <p:txBody>
          <a:bodyPr/>
          <a:p/>
        </p:txBody>
      </p:sp>
      <p:sp>
        <p:nvSpPr>
          <p:cNvPr id="21" name="Text 19"/>
          <p:cNvSpPr/>
          <p:nvPr/>
        </p:nvSpPr>
        <p:spPr>
          <a:xfrm>
            <a:off x="14138821" y="2908846"/>
            <a:ext cx="3194472" cy="304800"/>
          </a:xfrm>
          <a:prstGeom prst="rect">
            <a:avLst/>
          </a:prstGeom>
          <a:noFill/>
          <a:ln/>
        </p:spPr>
        <p:txBody>
          <a:bodyPr wrap="square" lIns="25400" tIns="25400" rIns="25400" bIns="25400" rtlCol="0" anchor="t">
            <a:normAutofit/>
          </a:bodyPr>
          <a:lstStyle/>
          <a:p>
            <a:pPr algn="l" indent="0" marL="0">
              <a:lnSpc>
                <a:spcPct val="140000"/>
              </a:lnSpc>
              <a:buNone/>
            </a:pPr>
            <a:r>
              <a:rPr lang="en-US" sz="1500" spc="225" kern="0" dirty="0">
                <a:solidFill>
                  <a:srgbClr val="5A7A8A"/>
                </a:solidFill>
                <a:latin typeface="Courier New" pitchFamily="34" charset="0"/>
                <a:ea typeface="Courier New" pitchFamily="34" charset="-122"/>
                <a:cs typeface="Courier New" pitchFamily="34" charset="-120"/>
              </a:rPr>
              <a:t>Lesson 05</a:t>
            </a:r>
            <a:endParaRPr lang="en-US" sz="1500" dirty="0"/>
          </a:p>
        </p:txBody>
      </p:sp>
      <p:sp>
        <p:nvSpPr>
          <p:cNvPr id="22" name="Text 20"/>
          <p:cNvSpPr/>
          <p:nvPr/>
        </p:nvSpPr>
        <p:spPr>
          <a:xfrm>
            <a:off x="14138821" y="3308896"/>
            <a:ext cx="3194472" cy="344686"/>
          </a:xfrm>
          <a:prstGeom prst="rect">
            <a:avLst/>
          </a:prstGeom>
          <a:noFill/>
          <a:ln/>
        </p:spPr>
        <p:txBody>
          <a:bodyPr wrap="square" lIns="25400" tIns="25400" rIns="25400" bIns="25400" rtlCol="0" anchor="t">
            <a:normAutofit/>
          </a:bodyPr>
          <a:lstStyle/>
          <a:p>
            <a:pPr algn="l" indent="0" marL="0">
              <a:lnSpc>
                <a:spcPct val="115000"/>
              </a:lnSpc>
              <a:buNone/>
            </a:pPr>
            <a:r>
              <a:rPr lang="en-US" sz="2100" b="1" dirty="0">
                <a:solidFill>
                  <a:srgbClr val="0D1F2D"/>
                </a:solidFill>
                <a:latin typeface="Arial" pitchFamily="34" charset="0"/>
                <a:ea typeface="Arial" pitchFamily="34" charset="-122"/>
                <a:cs typeface="Arial" pitchFamily="34" charset="-120"/>
              </a:rPr>
              <a:t>Plan &amp; campaign</a:t>
            </a:r>
            <a:endParaRPr lang="en-US" sz="2100" dirty="0"/>
          </a:p>
        </p:txBody>
      </p:sp>
      <p:sp>
        <p:nvSpPr>
          <p:cNvPr id="23" name="Text 21"/>
          <p:cNvSpPr/>
          <p:nvPr/>
        </p:nvSpPr>
        <p:spPr>
          <a:xfrm>
            <a:off x="13992136" y="3805982"/>
            <a:ext cx="3324314" cy="2077641"/>
          </a:xfrm>
          <a:prstGeom prst="rect">
            <a:avLst/>
          </a:prstGeom>
          <a:noFill/>
          <a:ln/>
        </p:spPr>
        <p:txBody>
          <a:bodyPr wrap="square" lIns="25400" tIns="25400" rIns="25400" bIns="25400" rtlCol="0" anchor="t">
            <a:normAutofit/>
          </a:bodyPr>
          <a:lstStyle/>
          <a:p>
            <a:pPr algn="l" indent="0" marL="0">
              <a:lnSpc>
                <a:spcPct val="135000"/>
              </a:lnSpc>
              <a:buNone/>
            </a:pPr>
            <a:r>
              <a:rPr lang="en-US" sz="1650" dirty="0">
                <a:solidFill>
                  <a:srgbClr val="5A7A8A"/>
                </a:solidFill>
                <a:latin typeface="Arial" pitchFamily="34" charset="0"/>
                <a:ea typeface="Arial" pitchFamily="34" charset="-122"/>
                <a:cs typeface="Arial" pitchFamily="34" charset="-120"/>
              </a:rPr>
              <a:t>Personal action plan for your summer</a:t>
            </a:r>
            <a:endParaRPr lang="en-US" sz="1650" dirty="0"/>
          </a:p>
          <a:p>
            <a:pPr algn="l" indent="0" marL="0">
              <a:lnSpc>
                <a:spcPct val="135000"/>
              </a:lnSpc>
              <a:buNone/>
            </a:pPr>
            <a:r>
              <a:rPr lang="en-US" sz="1650" dirty="0">
                <a:solidFill>
                  <a:srgbClr val="5A7A8A"/>
                </a:solidFill>
                <a:latin typeface="Arial" pitchFamily="34" charset="0"/>
                <a:ea typeface="Arial" pitchFamily="34" charset="-122"/>
                <a:cs typeface="Arial" pitchFamily="34" charset="-120"/>
              </a:rPr>
              <a:t>Campaign for a real audience</a:t>
            </a:r>
            <a:endParaRPr lang="en-US" sz="1650" dirty="0"/>
          </a:p>
          <a:p>
            <a:pPr algn="l" indent="0" marL="0">
              <a:lnSpc>
                <a:spcPct val="135000"/>
              </a:lnSpc>
              <a:buNone/>
            </a:pPr>
            <a:r>
              <a:rPr lang="en-US" sz="1650" dirty="0">
                <a:solidFill>
                  <a:srgbClr val="5A7A8A"/>
                </a:solidFill>
                <a:latin typeface="Arial" pitchFamily="34" charset="0"/>
                <a:ea typeface="Arial" pitchFamily="34" charset="-122"/>
                <a:cs typeface="Arial" pitchFamily="34" charset="-120"/>
              </a:rPr>
              <a:t>One stat · one URL · one call to action</a:t>
            </a:r>
            <a:endParaRPr lang="en-US" sz="1650" dirty="0"/>
          </a:p>
          <a:p>
            <a:pPr algn="l" indent="0" marL="0">
              <a:lnSpc>
                <a:spcPct val="135000"/>
              </a:lnSpc>
              <a:buNone/>
            </a:pPr>
            <a:r>
              <a:rPr lang="en-US" sz="1650" dirty="0">
                <a:solidFill>
                  <a:srgbClr val="5A7A8A"/>
                </a:solidFill>
                <a:latin typeface="Arial" pitchFamily="34" charset="0"/>
                <a:ea typeface="Arial" pitchFamily="34" charset="-122"/>
                <a:cs typeface="Arial" pitchFamily="34" charset="-120"/>
              </a:rPr>
              <a:t>Credible sources only</a:t>
            </a:r>
            <a:endParaRPr lang="en-US" sz="1650" dirty="0"/>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640080"/>
            <a:ext cx="17007840" cy="9006840"/>
          </a:xfrm>
          <a:prstGeom prst="rect">
            <a:avLst/>
          </a:prstGeom>
          <a:noFill/>
        </p:spPr>
        <p:txBody>
          <a:bodyPr wrap="square">
            <a:spAutoFit/>
          </a:bodyPr>
          <a:lstStyle/>
          <a:p>
            <a:pPr>
              <a:spcAft>
                <a:spcPts val="1400"/>
              </a:spcAft>
            </a:pPr>
            <a:r>
              <a:rPr sz="2600" b="1">
                <a:solidFill>
                  <a:srgbClr val="0A1E3D"/>
                </a:solidFill>
              </a:rPr>
              <a:t>Licence &amp; Attribution</a:t>
            </a:r>
          </a:p>
          <a:p>
            <a:pPr>
              <a:spcAft>
                <a:spcPts val="1000"/>
              </a:spcAft>
            </a:pPr>
            <a:r>
              <a:rPr sz="1400" b="1">
                <a:solidFill>
                  <a:srgbClr val="1565C0"/>
                </a:solidFill>
              </a:rPr>
              <a:t>© 2026 Emilie Harrison — Swim &amp; Water Safety Teaching Hub</a:t>
            </a:r>
          </a:p>
          <a:p>
            <a:pPr>
              <a:spcAft>
                <a:spcPts val="1000"/>
              </a:spcAft>
            </a:pPr>
            <a:r>
              <a:rPr sz="1200" b="0">
                <a:solidFill>
                  <a:srgbClr val="1A2840"/>
                </a:solidFill>
              </a:rPr>
              <a:t>Licensed under Creative Commons Attribution 4.0 International (CC BY 4.0). You are free to copy, adapt, remix and redistribute this deck — including commercially — provided you credit the author and indicate any changes.</a:t>
            </a:r>
          </a:p>
          <a:p>
            <a:pPr>
              <a:spcAft>
                <a:spcPts val="1000"/>
              </a:spcAft>
            </a:pPr>
            <a:r>
              <a:rPr sz="1100" b="0">
                <a:solidFill>
                  <a:srgbClr val="5A6E8A"/>
                </a:solidFill>
              </a:rPr>
              <a:t>Attribution: "Swim &amp; Water Safety Teaching Hub" by Emilie Harrison, CC BY 4.0. Source: emilie-harrison.github.io/swim-water-safety</a:t>
            </a:r>
          </a:p>
          <a:p>
            <a:pPr>
              <a:spcAft>
                <a:spcPts val="1000"/>
              </a:spcAft>
            </a:pPr>
            <a:r>
              <a:rPr sz="1100" b="0">
                <a:solidFill>
                  <a:srgbClr val="5A6E8A"/>
                </a:solidFill>
              </a:rPr>
              <a:t>Third-party material is not covered by this licence. Content owned by Life Saving Victoria, Royal Life Saving Australia, Surf Life Saving Australia, VCAA, ACARA, AIATSIS and the Australian Resuscitation Council — including drowning data, clinical guidelines, curriculum content, logos and program names — remains with its owners.</a:t>
            </a:r>
          </a:p>
          <a:p>
            <a:pPr>
              <a:spcAft>
                <a:spcPts val="1000"/>
              </a:spcAft>
            </a:pPr>
            <a:r>
              <a:rPr sz="1000" b="0">
                <a:solidFill>
                  <a:srgbClr val="5A6E8A"/>
                </a:solidFill>
              </a:rPr>
              <a:t>Statistics: Life Saving Victoria, Victorian Drowning Report 2024–25. Deck updated September 2026.</a:t>
            </a:r>
          </a:p>
          <a:p>
            <a:pPr>
              <a:spcAft>
                <a:spcPts val="300"/>
              </a:spcAft>
            </a:pPr>
            <a:r>
              <a:rPr sz="1000">
                <a:solidFill>
                  <a:srgbClr val="5A6E8A"/>
                </a:solidFill>
              </a:rPr>
              <a:t>Data sources cited in this deck — retain these citations if you adapt it:</a:t>
            </a:r>
          </a:p>
          <a:p>
            <a:pPr>
              <a:spcAft>
                <a:spcPts val="300"/>
              </a:spcAft>
            </a:pPr>
            <a:r>
              <a:rPr sz="1000">
                <a:solidFill>
                  <a:srgbClr val="5A6E8A"/>
                </a:solidFill>
              </a:rPr>
              <a:t>• Life Saving Victoria. (2025). Victorian Drowning Report 2024–25. Life Saving Victoria: Melbourne.</a:t>
            </a:r>
          </a:p>
          <a:p>
            <a:pPr>
              <a:spcAft>
                <a:spcPts val="300"/>
              </a:spcAft>
            </a:pPr>
            <a:r>
              <a:rPr sz="1000">
                <a:solidFill>
                  <a:srgbClr val="5A6E8A"/>
                </a:solidFill>
              </a:rPr>
              <a:t>• Royal Life Saving Australia (2026). National Drowning Report 2026. RLSSA: Sydney.</a:t>
            </a:r>
          </a:p>
          <a:p>
            <a:pPr>
              <a:spcAft>
                <a:spcPts val="300"/>
              </a:spcAft>
            </a:pPr>
            <a:r>
              <a:rPr sz="1000">
                <a:solidFill>
                  <a:srgbClr val="5A6E8A"/>
                </a:solidFill>
              </a:rPr>
              <a:t>• Surf Life Saving Australia (2026). Summer Coastal Drowning Report 2025/26. SLSA: Sydney.</a:t>
            </a:r>
          </a:p>
          <a:p>
            <a:pPr>
              <a:spcAft>
                <a:spcPts val="300"/>
              </a:spcAft>
            </a:pPr>
            <a:r>
              <a:rPr sz="1000">
                <a:solidFill>
                  <a:srgbClr val="5A6E8A"/>
                </a:solidFill>
              </a:rPr>
              <a:t>These figures remain the property of the publishing organisations.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40</Slides>
  <Notes>40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40</vt:i4>
      </vt:variant>
    </vt:vector>
  </HeadingPairs>
  <TitlesOfParts>
    <vt:vector size="4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2026-05-13T11:28:48Z</dcterms:created>
  <dcterms:modified xsi:type="dcterms:W3CDTF">2026-05-13T11:28:48Z</dcterms:modified>
</cp:coreProperties>
</file>